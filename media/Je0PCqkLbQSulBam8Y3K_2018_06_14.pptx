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heme/themeOverride7.xml" ContentType="application/vnd.openxmlformats-officedocument.themeOverride+xml"/>
  <Override PartName="/ppt/theme/themeOverride12.xml" ContentType="application/vnd.openxmlformats-officedocument.themeOverr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Override5.xml" ContentType="application/vnd.openxmlformats-officedocument.themeOverride+xml"/>
  <Override PartName="/ppt/theme/themeOverride10.xml" ContentType="application/vnd.openxmlformats-officedocument.themeOverr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heme/themeOverride3.xml" ContentType="application/vnd.openxmlformats-officedocument.themeOverr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xlsx" ContentType="application/vnd.openxmlformats-officedocument.spreadsheetml.sheet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Override9.xml" ContentType="application/vnd.openxmlformats-officedocument.themeOverr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11.xml" ContentType="application/vnd.openxmlformats-officedocument.themeOverr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Override6.xml" ContentType="application/vnd.openxmlformats-officedocument.themeOverr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theme/themeOverride4.xml" ContentType="application/vnd.openxmlformats-officedocument.themeOverr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2.xml" ContentType="application/vnd.openxmlformats-officedocument.themeOverr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4"/>
  </p:notesMasterIdLst>
  <p:handoutMasterIdLst>
    <p:handoutMasterId r:id="rId25"/>
  </p:handoutMasterIdLst>
  <p:sldIdLst>
    <p:sldId id="269" r:id="rId2"/>
    <p:sldId id="257" r:id="rId3"/>
    <p:sldId id="296" r:id="rId4"/>
    <p:sldId id="298" r:id="rId5"/>
    <p:sldId id="297" r:id="rId6"/>
    <p:sldId id="299" r:id="rId7"/>
    <p:sldId id="302" r:id="rId8"/>
    <p:sldId id="301" r:id="rId9"/>
    <p:sldId id="259" r:id="rId10"/>
    <p:sldId id="316" r:id="rId11"/>
    <p:sldId id="317" r:id="rId12"/>
    <p:sldId id="318" r:id="rId13"/>
    <p:sldId id="315" r:id="rId14"/>
    <p:sldId id="319" r:id="rId15"/>
    <p:sldId id="320" r:id="rId16"/>
    <p:sldId id="305" r:id="rId17"/>
    <p:sldId id="322" r:id="rId18"/>
    <p:sldId id="323" r:id="rId19"/>
    <p:sldId id="325" r:id="rId20"/>
    <p:sldId id="313" r:id="rId21"/>
    <p:sldId id="314" r:id="rId22"/>
    <p:sldId id="324" r:id="rId2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D353"/>
    <a:srgbClr val="492CF4"/>
    <a:srgbClr val="F5652B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42" autoAdjust="0"/>
    <p:restoredTop sz="94660"/>
  </p:normalViewPr>
  <p:slideViewPr>
    <p:cSldViewPr>
      <p:cViewPr>
        <p:scale>
          <a:sx n="66" d="100"/>
          <a:sy n="66" d="100"/>
        </p:scale>
        <p:origin x="-1422" y="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Chart%20in%20Microsoft%20Office%20PowerPoint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>
              <a:defRPr/>
            </a:pPr>
            <a:r>
              <a:rPr lang="en-US" dirty="0"/>
              <a:t>Tranche</a:t>
            </a:r>
            <a:r>
              <a:rPr lang="en-US" baseline="0" dirty="0"/>
              <a:t> </a:t>
            </a:r>
            <a:r>
              <a:rPr lang="en-US" baseline="0" dirty="0" smtClean="0"/>
              <a:t>received</a:t>
            </a:r>
            <a:endParaRPr lang="en-US" dirty="0"/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dLbls>
            <c:showVal val="1"/>
          </c:dLbls>
          <c:cat>
            <c:strRef>
              <c:f>'[Chart in Microsoft Office PowerPoint]Sheet2'!$A$1:$A$3</c:f>
              <c:strCache>
                <c:ptCount val="3"/>
                <c:pt idx="0">
                  <c:v>I Tranche</c:v>
                </c:pt>
                <c:pt idx="1">
                  <c:v>II Tranche</c:v>
                </c:pt>
                <c:pt idx="2">
                  <c:v>III Tranche</c:v>
                </c:pt>
              </c:strCache>
            </c:strRef>
          </c:cat>
          <c:val>
            <c:numRef>
              <c:f>'[Chart in Microsoft Office PowerPoint]Sheet2'!$B$1:$B$3</c:f>
              <c:numCache>
                <c:formatCode>General</c:formatCode>
                <c:ptCount val="3"/>
                <c:pt idx="0">
                  <c:v>378</c:v>
                </c:pt>
                <c:pt idx="1">
                  <c:v>287</c:v>
                </c:pt>
                <c:pt idx="2">
                  <c:v>80</c:v>
                </c:pt>
              </c:numCache>
            </c:numRef>
          </c:val>
        </c:ser>
        <c:dLbls>
          <c:showVal val="1"/>
        </c:dLbls>
        <c:overlap val="-25"/>
        <c:axId val="184318208"/>
        <c:axId val="98459648"/>
      </c:barChart>
      <c:catAx>
        <c:axId val="184318208"/>
        <c:scaling>
          <c:orientation val="minMax"/>
        </c:scaling>
        <c:axPos val="b"/>
        <c:majorTickMark val="none"/>
        <c:tickLblPos val="nextTo"/>
        <c:crossAx val="98459648"/>
        <c:crosses val="autoZero"/>
        <c:auto val="1"/>
        <c:lblAlgn val="ctr"/>
        <c:lblOffset val="100"/>
      </c:catAx>
      <c:valAx>
        <c:axId val="98459648"/>
        <c:scaling>
          <c:orientation val="minMax"/>
        </c:scaling>
        <c:delete val="1"/>
        <c:axPos val="l"/>
        <c:numFmt formatCode="General" sourceLinked="1"/>
        <c:tickLblPos val="nextTo"/>
        <c:crossAx val="184318208"/>
        <c:crosses val="autoZero"/>
        <c:crossBetween val="between"/>
      </c:valAx>
    </c:plotArea>
    <c:legend>
      <c:legendPos val="t"/>
      <c:layout/>
    </c:legend>
    <c:plotVisOnly val="1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view3D>
      <c:rotX val="30"/>
      <c:perspective val="30"/>
    </c:view3D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II Tranche Received</c:v>
                </c:pt>
              </c:strCache>
            </c:strRef>
          </c:tx>
          <c:dLbls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/>
                      <a:t>Recom. </a:t>
                    </a:r>
                    <a:r>
                      <a:rPr lang="en-US"/>
                      <a:t>
21%</a:t>
                    </a:r>
                  </a:p>
                </c:rich>
              </c:tx>
              <c:showCatName val="1"/>
              <c:showPercent val="1"/>
            </c:dLbl>
            <c:showCatName val="1"/>
            <c:showPercent val="1"/>
            <c:showLeaderLines val="1"/>
          </c:dLbls>
          <c:cat>
            <c:strRef>
              <c:f>Sheet1!$A$2:$A$4</c:f>
              <c:strCache>
                <c:ptCount val="3"/>
                <c:pt idx="0">
                  <c:v>Received</c:v>
                </c:pt>
                <c:pt idx="1">
                  <c:v>Recommendation</c:v>
                </c:pt>
                <c:pt idx="2">
                  <c:v>Not started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287</c:v>
                </c:pt>
                <c:pt idx="1">
                  <c:v>80</c:v>
                </c:pt>
                <c:pt idx="2">
                  <c:v>11</c:v>
                </c:pt>
              </c:numCache>
            </c:numRef>
          </c:val>
        </c:ser>
        <c:dLbls>
          <c:showCatName val="1"/>
          <c:showPercent val="1"/>
        </c:dLbls>
      </c:pie3DChart>
    </c:plotArea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388"/>
          </a:xfrm>
          <a:prstGeom prst="rect">
            <a:avLst/>
          </a:prstGeom>
        </p:spPr>
        <p:txBody>
          <a:bodyPr vert="horz" lIns="95747" tIns="47873" rIns="95747" bIns="47873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388"/>
          </a:xfrm>
          <a:prstGeom prst="rect">
            <a:avLst/>
          </a:prstGeom>
        </p:spPr>
        <p:txBody>
          <a:bodyPr vert="horz" lIns="95747" tIns="47873" rIns="95747" bIns="47873" rtlCol="0"/>
          <a:lstStyle>
            <a:lvl1pPr algn="r">
              <a:defRPr sz="1300"/>
            </a:lvl1pPr>
          </a:lstStyle>
          <a:p>
            <a:fld id="{5EA2D2E4-CD69-4F94-94D4-283E1D548A91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173"/>
            <a:ext cx="3169920" cy="480388"/>
          </a:xfrm>
          <a:prstGeom prst="rect">
            <a:avLst/>
          </a:prstGeom>
        </p:spPr>
        <p:txBody>
          <a:bodyPr vert="horz" lIns="95747" tIns="47873" rIns="95747" bIns="47873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173"/>
            <a:ext cx="3169920" cy="480388"/>
          </a:xfrm>
          <a:prstGeom prst="rect">
            <a:avLst/>
          </a:prstGeom>
        </p:spPr>
        <p:txBody>
          <a:bodyPr vert="horz" lIns="95747" tIns="47873" rIns="95747" bIns="47873" rtlCol="0" anchor="b"/>
          <a:lstStyle>
            <a:lvl1pPr algn="r">
              <a:defRPr sz="1300"/>
            </a:lvl1pPr>
          </a:lstStyle>
          <a:p>
            <a:fld id="{D759F53C-349B-46D1-8D29-455CDF0114A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5747" tIns="47873" rIns="95747" bIns="47873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5747" tIns="47873" rIns="95747" bIns="47873" rtlCol="0"/>
          <a:lstStyle>
            <a:lvl1pPr algn="r">
              <a:defRPr sz="1300"/>
            </a:lvl1pPr>
          </a:lstStyle>
          <a:p>
            <a:fld id="{F06F9AED-F924-4E42-B50D-C20AC923FA72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747" tIns="47873" rIns="95747" bIns="4787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5747" tIns="47873" rIns="95747" bIns="47873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5747" tIns="47873" rIns="95747" bIns="47873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5747" tIns="47873" rIns="95747" bIns="47873" rtlCol="0" anchor="b"/>
          <a:lstStyle>
            <a:lvl1pPr algn="r">
              <a:defRPr sz="1300"/>
            </a:lvl1pPr>
          </a:lstStyle>
          <a:p>
            <a:fld id="{BE69644B-D08B-4EC4-A488-6743171E60B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9644B-D08B-4EC4-A488-6743171E60B3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9644B-D08B-4EC4-A488-6743171E60B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9644B-D08B-4EC4-A488-6743171E60B3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9644B-D08B-4EC4-A488-6743171E60B3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9644B-D08B-4EC4-A488-6743171E60B3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9644B-D08B-4EC4-A488-6743171E60B3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B1D0-920E-4D96-9DBD-FAF48B6904CA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EC194474-534A-4E9A-A0E0-D635AD1C44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B1D0-920E-4D96-9DBD-FAF48B6904CA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EC194474-534A-4E9A-A0E0-D635AD1C44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B1D0-920E-4D96-9DBD-FAF48B6904CA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94474-534A-4E9A-A0E0-D635AD1C44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B1D0-920E-4D96-9DBD-FAF48B6904CA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94474-534A-4E9A-A0E0-D635AD1C44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B1D0-920E-4D96-9DBD-FAF48B6904CA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EC194474-534A-4E9A-A0E0-D635AD1C44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B1D0-920E-4D96-9DBD-FAF48B6904CA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94474-534A-4E9A-A0E0-D635AD1C44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B1D0-920E-4D96-9DBD-FAF48B6904CA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94474-534A-4E9A-A0E0-D635AD1C44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B1D0-920E-4D96-9DBD-FAF48B6904CA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94474-534A-4E9A-A0E0-D635AD1C44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B1D0-920E-4D96-9DBD-FAF48B6904CA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94474-534A-4E9A-A0E0-D635AD1C44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B1D0-920E-4D96-9DBD-FAF48B6904CA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94474-534A-4E9A-A0E0-D635AD1C44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B1D0-920E-4D96-9DBD-FAF48B6904CA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94474-534A-4E9A-A0E0-D635AD1C44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3324B1D0-920E-4D96-9DBD-FAF48B6904CA}" type="datetimeFigureOut">
              <a:rPr lang="en-US" smtClean="0"/>
              <a:pPr/>
              <a:t>4/18/2018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EC194474-534A-4E9A-A0E0-D635AD1C44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4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76400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             </a:t>
            </a:r>
            <a:r>
              <a:rPr lang="en-US" sz="2400" b="1" dirty="0" smtClean="0"/>
              <a:t>Repair and reconstruction project   </a:t>
            </a:r>
            <a:br>
              <a:rPr lang="en-US" sz="2400" b="1" dirty="0" smtClean="0"/>
            </a:br>
            <a:r>
              <a:rPr lang="en-US" sz="2400" b="1" dirty="0" smtClean="0"/>
              <a:t>                           (Technical support)</a:t>
            </a:r>
            <a:br>
              <a:rPr lang="en-US" sz="2400" b="1" dirty="0" smtClean="0"/>
            </a:br>
            <a:r>
              <a:rPr lang="en-US" sz="2400" b="1" dirty="0" smtClean="0"/>
              <a:t>                              </a:t>
            </a:r>
            <a:r>
              <a:rPr lang="en-US" sz="2400" b="1" dirty="0" err="1" smtClean="0"/>
              <a:t>Gatlang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Rasuwa</a:t>
            </a:r>
            <a:endParaRPr lang="en-US" sz="3200" b="1" dirty="0">
              <a:solidFill>
                <a:srgbClr val="FF0000"/>
              </a:solidFill>
              <a:latin typeface="Preeti" pitchFamily="2" charset="0"/>
            </a:endParaRPr>
          </a:p>
        </p:txBody>
      </p:sp>
      <p:pic>
        <p:nvPicPr>
          <p:cNvPr id="6" name="Content Placeholder 5" descr="DSC00094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600200" y="1828800"/>
            <a:ext cx="6554585" cy="3773978"/>
          </a:xfr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3048000" y="2209800"/>
            <a:ext cx="4114800" cy="121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Welcome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Preeti" pitchFamily="2" charset="0"/>
              <a:ea typeface="+mj-ea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76400" y="5638800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000" b="1" cap="all" dirty="0" smtClean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latin typeface="+mj-lt"/>
                <a:ea typeface="+mj-ea"/>
                <a:cs typeface="+mj-cs"/>
              </a:rPr>
              <a:t>District exhibition</a:t>
            </a:r>
          </a:p>
          <a:p>
            <a:pPr algn="ctr"/>
            <a:r>
              <a:rPr lang="en-US" sz="2000" b="1" cap="all" dirty="0" smtClean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latin typeface="+mj-lt"/>
                <a:ea typeface="+mj-ea"/>
                <a:cs typeface="+mj-cs"/>
              </a:rPr>
              <a:t>18th April,2018 </a:t>
            </a:r>
          </a:p>
          <a:p>
            <a:pPr algn="ctr"/>
            <a:r>
              <a:rPr lang="en-US" sz="2000" b="1" cap="all" dirty="0" err="1" smtClean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latin typeface="+mj-lt"/>
                <a:ea typeface="+mj-ea"/>
                <a:cs typeface="+mj-cs"/>
              </a:rPr>
              <a:t>Dhunche</a:t>
            </a:r>
            <a:r>
              <a:rPr lang="en-US" sz="2000" b="1" cap="all" dirty="0" smtClean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2000" b="1" cap="all" dirty="0" err="1" smtClean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latin typeface="+mj-lt"/>
                <a:ea typeface="+mj-ea"/>
                <a:cs typeface="+mj-cs"/>
              </a:rPr>
              <a:t>Rasuwa</a:t>
            </a:r>
            <a:r>
              <a:rPr lang="en-US" sz="2000" b="1" cap="all" dirty="0" smtClean="0">
                <a:solidFill>
                  <a:schemeClr val="tx2"/>
                </a:solidFill>
                <a:effectLst>
                  <a:reflection blurRad="12700" stA="48000" endA="300" endPos="55000" dir="5400000" sy="-90000" algn="bl" rotWithShape="0"/>
                </a:effectLst>
                <a:latin typeface="+mj-lt"/>
                <a:ea typeface="+mj-ea"/>
                <a:cs typeface="+mj-cs"/>
              </a:rPr>
              <a:t>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0824"/>
            <a:ext cx="9144000" cy="838200"/>
          </a:xfrm>
        </p:spPr>
        <p:txBody>
          <a:bodyPr>
            <a:normAutofit/>
          </a:bodyPr>
          <a:lstStyle/>
          <a:p>
            <a:r>
              <a:rPr lang="en-US" dirty="0" smtClean="0"/>
              <a:t>   Briefing of the Project </a:t>
            </a:r>
            <a:endParaRPr lang="en-US" b="1" dirty="0">
              <a:solidFill>
                <a:srgbClr val="FF0000"/>
              </a:solidFill>
              <a:latin typeface="Preeti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8153400" cy="5715000"/>
          </a:xfrm>
        </p:spPr>
        <p:txBody>
          <a:bodyPr/>
          <a:lstStyle/>
          <a:p>
            <a:pPr marL="0" indent="0">
              <a:spcBef>
                <a:spcPts val="0"/>
              </a:spcBef>
              <a:buSzPct val="70000"/>
              <a:buNone/>
              <a:defRPr/>
            </a:pPr>
            <a:endParaRPr lang="en-US" dirty="0" smtClean="0"/>
          </a:p>
          <a:p>
            <a:pPr marL="0" indent="0">
              <a:spcBef>
                <a:spcPts val="0"/>
              </a:spcBef>
              <a:buSzPct val="70000"/>
              <a:buNone/>
              <a:defRPr/>
            </a:pPr>
            <a:r>
              <a:rPr lang="en-US" dirty="0" smtClean="0"/>
              <a:t>Title :- </a:t>
            </a:r>
            <a:r>
              <a:rPr lang="en-US" dirty="0" err="1" smtClean="0"/>
              <a:t>CarLUX</a:t>
            </a:r>
            <a:r>
              <a:rPr lang="en-US" dirty="0" smtClean="0"/>
              <a:t> Project </a:t>
            </a:r>
          </a:p>
          <a:p>
            <a:pPr marL="0" indent="0">
              <a:spcBef>
                <a:spcPts val="0"/>
              </a:spcBef>
              <a:buSzPct val="70000"/>
              <a:buNone/>
              <a:defRPr/>
            </a:pPr>
            <a:r>
              <a:rPr lang="en-US" dirty="0" smtClean="0"/>
              <a:t>Donor :- Caritas Luxemburg </a:t>
            </a:r>
          </a:p>
          <a:p>
            <a:pPr marL="0" indent="0">
              <a:spcBef>
                <a:spcPts val="0"/>
              </a:spcBef>
              <a:buSzPct val="70000"/>
              <a:buNone/>
              <a:defRPr/>
            </a:pPr>
            <a:r>
              <a:rPr lang="en-US" dirty="0" smtClean="0"/>
              <a:t>Implementing By:     ASF Nepal</a:t>
            </a:r>
          </a:p>
          <a:p>
            <a:pPr marL="0" indent="0">
              <a:spcBef>
                <a:spcPts val="0"/>
              </a:spcBef>
              <a:buSzPct val="70000"/>
              <a:buNone/>
              <a:defRPr/>
            </a:pPr>
            <a:r>
              <a:rPr lang="en-US" dirty="0" smtClean="0"/>
              <a:t>			       </a:t>
            </a:r>
            <a:r>
              <a:rPr lang="en-US" dirty="0" err="1" smtClean="0"/>
              <a:t>CRATerre</a:t>
            </a:r>
            <a:r>
              <a:rPr lang="en-US" dirty="0" smtClean="0"/>
              <a:t>                                                                           			       </a:t>
            </a:r>
            <a:r>
              <a:rPr lang="en-US" dirty="0" err="1" smtClean="0"/>
              <a:t>Pourakhi,Nepal</a:t>
            </a:r>
            <a:endParaRPr lang="en-US" dirty="0" smtClean="0"/>
          </a:p>
          <a:p>
            <a:pPr marL="0" indent="0">
              <a:spcBef>
                <a:spcPts val="0"/>
              </a:spcBef>
              <a:buSzPct val="70000"/>
              <a:buNone/>
              <a:defRPr/>
            </a:pPr>
            <a:r>
              <a:rPr lang="en-US" dirty="0" smtClean="0"/>
              <a:t> 				     		                                            </a:t>
            </a:r>
          </a:p>
          <a:p>
            <a:pPr marL="0" indent="0">
              <a:spcBef>
                <a:spcPts val="0"/>
              </a:spcBef>
              <a:buSzPct val="70000"/>
              <a:buNone/>
              <a:defRPr/>
            </a:pPr>
            <a:endParaRPr lang="en-US" dirty="0" smtClean="0"/>
          </a:p>
          <a:p>
            <a:pPr marL="0" indent="0">
              <a:spcBef>
                <a:spcPts val="0"/>
              </a:spcBef>
              <a:buSzPct val="70000"/>
              <a:buNone/>
              <a:defRPr/>
            </a:pPr>
            <a:r>
              <a:rPr lang="en-US" dirty="0" smtClean="0"/>
              <a:t>Duration :-  </a:t>
            </a:r>
            <a:r>
              <a:rPr lang="en-US" dirty="0" smtClean="0"/>
              <a:t>2 years </a:t>
            </a:r>
            <a:r>
              <a:rPr lang="en-US" dirty="0" smtClean="0"/>
              <a:t>(</a:t>
            </a:r>
            <a:r>
              <a:rPr lang="en-US" dirty="0" err="1" smtClean="0"/>
              <a:t>upto</a:t>
            </a:r>
            <a:r>
              <a:rPr lang="en-US" dirty="0" smtClean="0"/>
              <a:t> May 2019)</a:t>
            </a:r>
            <a:endParaRPr lang="en-US" dirty="0" smtClean="0"/>
          </a:p>
          <a:p>
            <a:pPr marL="0" indent="0">
              <a:spcBef>
                <a:spcPts val="0"/>
              </a:spcBef>
              <a:buSzPct val="70000"/>
              <a:buNone/>
              <a:defRPr/>
            </a:pPr>
            <a:r>
              <a:rPr lang="en-US" dirty="0" smtClean="0"/>
              <a:t>Working Area :- </a:t>
            </a:r>
            <a:r>
              <a:rPr lang="en-US" dirty="0" err="1" smtClean="0"/>
              <a:t>Gatlang</a:t>
            </a:r>
            <a:r>
              <a:rPr lang="en-US" dirty="0" smtClean="0"/>
              <a:t>, </a:t>
            </a:r>
            <a:r>
              <a:rPr lang="en-US" dirty="0" err="1" smtClean="0"/>
              <a:t>Rasuwa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pPr marL="514350" indent="-514350">
              <a:buNone/>
            </a:pPr>
            <a:endParaRPr lang="en-US" dirty="0" smtClean="0">
              <a:latin typeface="Preeti" pitchFamily="2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33400" y="2590800"/>
            <a:ext cx="34290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 smtClean="0">
                <a:latin typeface="+mj-lt"/>
                <a:ea typeface="+mj-ea"/>
                <a:cs typeface="+mj-cs"/>
              </a:rPr>
              <a:t>Supporting Partner: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reeti" pitchFamily="2" charset="0"/>
              <a:ea typeface="+mj-ea"/>
              <a:cs typeface="+mj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49934"/>
            <a:ext cx="8763000" cy="838200"/>
          </a:xfrm>
        </p:spPr>
        <p:txBody>
          <a:bodyPr>
            <a:normAutofit/>
          </a:bodyPr>
          <a:lstStyle/>
          <a:p>
            <a:r>
              <a:rPr lang="en-US" dirty="0" smtClean="0"/>
              <a:t>      Objectives of the Project </a:t>
            </a:r>
            <a:endParaRPr lang="en-US" b="1" dirty="0">
              <a:solidFill>
                <a:srgbClr val="FF0000"/>
              </a:solidFill>
              <a:latin typeface="Preeti" pitchFamily="2" charset="0"/>
            </a:endParaRPr>
          </a:p>
        </p:txBody>
      </p:sp>
      <p:pic>
        <p:nvPicPr>
          <p:cNvPr id="1027" name="Picture 3" descr="E:\Pourakhi photo\Photo\GATLANG\DSC00206.JPG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tretch>
            <a:fillRect/>
          </a:stretch>
        </p:blipFill>
        <p:spPr bwMode="auto">
          <a:xfrm>
            <a:off x="1302394" y="1554163"/>
            <a:ext cx="6691611" cy="4525962"/>
          </a:xfrm>
          <a:prstGeom prst="rect">
            <a:avLst/>
          </a:prstGeom>
          <a:noFill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355596" y="1386114"/>
            <a:ext cx="87630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GB" sz="4400" dirty="0" smtClean="0">
                <a:solidFill>
                  <a:srgbClr val="4DD353"/>
                </a:solidFill>
              </a:rPr>
              <a:t> Improve housing conditions in earthquake affected   </a:t>
            </a:r>
          </a:p>
          <a:p>
            <a:r>
              <a:rPr lang="en-GB" sz="4400" dirty="0" smtClean="0">
                <a:solidFill>
                  <a:srgbClr val="4DD353"/>
                </a:solidFill>
              </a:rPr>
              <a:t>     communities.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762000" y="5562600"/>
            <a:ext cx="77724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sz="4400" dirty="0" smtClean="0"/>
          </a:p>
        </p:txBody>
      </p:sp>
      <p:sp>
        <p:nvSpPr>
          <p:cNvPr id="8" name="Rectangle 7"/>
          <p:cNvSpPr/>
          <p:nvPr/>
        </p:nvSpPr>
        <p:spPr>
          <a:xfrm>
            <a:off x="533400" y="6074226"/>
            <a:ext cx="8077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800" dirty="0" smtClean="0">
                <a:solidFill>
                  <a:srgbClr val="4DD353"/>
                </a:solidFill>
              </a:rPr>
              <a:t> Minimized internal and international migration</a:t>
            </a:r>
            <a:r>
              <a:rPr lang="en-GB" dirty="0" smtClean="0">
                <a:solidFill>
                  <a:srgbClr val="4DD353"/>
                </a:solidFill>
              </a:rPr>
              <a:t>.</a:t>
            </a:r>
            <a:endParaRPr lang="en-US" dirty="0" smtClean="0">
              <a:solidFill>
                <a:srgbClr val="4DD353"/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84624" y="2315022"/>
            <a:ext cx="77724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GB" sz="3600" dirty="0" smtClean="0">
                <a:solidFill>
                  <a:srgbClr val="4DD353"/>
                </a:solidFill>
              </a:rPr>
              <a:t>Capacity building of mason and carpenter</a:t>
            </a:r>
            <a:r>
              <a:rPr lang="en-GB" sz="5200" dirty="0" smtClean="0">
                <a:solidFill>
                  <a:srgbClr val="4DD353"/>
                </a:solidFill>
              </a:rPr>
              <a:t>.</a:t>
            </a:r>
            <a:endParaRPr lang="en-GB" sz="4400" dirty="0" smtClean="0">
              <a:solidFill>
                <a:srgbClr val="4DD353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2422" y="4847515"/>
            <a:ext cx="8581578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900" dirty="0" smtClean="0">
                <a:solidFill>
                  <a:srgbClr val="4DD353"/>
                </a:solidFill>
              </a:rPr>
              <a:t> </a:t>
            </a:r>
            <a:r>
              <a:rPr lang="en-GB" sz="2800" dirty="0" smtClean="0">
                <a:solidFill>
                  <a:srgbClr val="4DD353"/>
                </a:solidFill>
              </a:rPr>
              <a:t>Assist  people to follow the NRA / DUDBC guidelines for construction of houses.</a:t>
            </a:r>
            <a:endParaRPr lang="en-US" sz="2900" dirty="0" smtClean="0">
              <a:solidFill>
                <a:srgbClr val="4DD353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8682"/>
            <a:ext cx="9144000" cy="838200"/>
          </a:xfrm>
        </p:spPr>
        <p:txBody>
          <a:bodyPr>
            <a:normAutofit/>
          </a:bodyPr>
          <a:lstStyle/>
          <a:p>
            <a:r>
              <a:rPr lang="en-US" dirty="0" smtClean="0"/>
              <a:t>           What we do ……</a:t>
            </a:r>
            <a:endParaRPr lang="en-US" b="1" dirty="0">
              <a:solidFill>
                <a:srgbClr val="FF0000"/>
              </a:solidFill>
              <a:latin typeface="Preeti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0424"/>
            <a:ext cx="8686800" cy="517797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GB" sz="3600" b="1" dirty="0" smtClean="0">
                <a:solidFill>
                  <a:srgbClr val="00B0F0"/>
                </a:solidFill>
              </a:rPr>
              <a:t>Construction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en-GB" dirty="0" smtClean="0"/>
              <a:t>Construction of Demo house.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en-GB" dirty="0" smtClean="0"/>
              <a:t>Local Building Culture assessment.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en-GB" dirty="0" smtClean="0"/>
              <a:t>Provide Building Design to the beneficiaries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en-GB" dirty="0" smtClean="0"/>
              <a:t>Monitoring and Supervision of house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en-GB" dirty="0" smtClean="0"/>
              <a:t>Technical assistance to the households.</a:t>
            </a:r>
          </a:p>
          <a:p>
            <a:pPr marL="514350" indent="-514350">
              <a:buNone/>
            </a:pPr>
            <a:r>
              <a:rPr lang="en-GB" sz="3000" dirty="0" smtClean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GB" sz="3500" dirty="0" smtClean="0">
                <a:solidFill>
                  <a:srgbClr val="00B0F0"/>
                </a:solidFill>
              </a:rPr>
              <a:t>.  Capacity Building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Study Local Engineering/Technique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Strengthen the capacity of Masons, Carpenters and labors through on the job trainings</a:t>
            </a:r>
            <a:endParaRPr lang="en-US" dirty="0" smtClean="0">
              <a:latin typeface="Preeti" pitchFamily="2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31796"/>
            <a:ext cx="9144000" cy="838200"/>
          </a:xfrm>
        </p:spPr>
        <p:txBody>
          <a:bodyPr>
            <a:normAutofit/>
          </a:bodyPr>
          <a:lstStyle/>
          <a:p>
            <a:r>
              <a:rPr lang="en-US" dirty="0" smtClean="0"/>
              <a:t>Continue ……</a:t>
            </a:r>
            <a:endParaRPr lang="en-US" b="1" dirty="0">
              <a:solidFill>
                <a:srgbClr val="FF0000"/>
              </a:solidFill>
              <a:latin typeface="Preeti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5334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Creating  awareness in community people about safer and better construction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Training specific for repairing/retrofitting techniques.</a:t>
            </a:r>
          </a:p>
          <a:p>
            <a:pPr>
              <a:buFont typeface="Wingdings" pitchFamily="2" charset="2"/>
              <a:buChar char="Ø"/>
            </a:pPr>
            <a:r>
              <a:rPr lang="en-GB" dirty="0" smtClean="0">
                <a:solidFill>
                  <a:srgbClr val="00B0F0"/>
                </a:solidFill>
              </a:rPr>
              <a:t>3.</a:t>
            </a:r>
            <a:r>
              <a:rPr lang="en-US" dirty="0" smtClean="0">
                <a:solidFill>
                  <a:srgbClr val="00B0F0"/>
                </a:solidFill>
              </a:rPr>
              <a:t> Financial support</a:t>
            </a:r>
          </a:p>
          <a:p>
            <a:pPr>
              <a:buFont typeface="Wingdings" pitchFamily="2" charset="2"/>
              <a:buChar char="Ø"/>
            </a:pPr>
            <a:r>
              <a:rPr lang="en-GB" dirty="0" smtClean="0"/>
              <a:t>To assure Financial support from government to the beneficiaries.</a:t>
            </a:r>
          </a:p>
          <a:p>
            <a:pPr>
              <a:buFont typeface="Wingdings" pitchFamily="2" charset="2"/>
              <a:buChar char="Ø"/>
            </a:pPr>
            <a:r>
              <a:rPr lang="en-GB" dirty="0" smtClean="0"/>
              <a:t>Support for the most vulnerable people</a:t>
            </a:r>
            <a:endParaRPr lang="en-US" dirty="0" smtClean="0">
              <a:latin typeface="Preeti" pitchFamily="2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49934"/>
            <a:ext cx="9144000" cy="838200"/>
          </a:xfrm>
        </p:spPr>
        <p:txBody>
          <a:bodyPr>
            <a:normAutofit/>
          </a:bodyPr>
          <a:lstStyle/>
          <a:p>
            <a:r>
              <a:rPr lang="en-US" dirty="0" smtClean="0"/>
              <a:t>       Scenario of </a:t>
            </a:r>
            <a:r>
              <a:rPr lang="en-US" dirty="0" err="1" smtClean="0"/>
              <a:t>Gatlang</a:t>
            </a:r>
            <a:endParaRPr lang="en-US" b="1" dirty="0">
              <a:solidFill>
                <a:srgbClr val="FF0000"/>
              </a:solidFill>
              <a:latin typeface="Preeti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6019800"/>
          </a:xfrm>
        </p:spPr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Remote part of </a:t>
            </a:r>
            <a:r>
              <a:rPr lang="en-US" dirty="0" err="1" smtClean="0"/>
              <a:t>Rasuwa</a:t>
            </a:r>
            <a:r>
              <a:rPr lang="en-US" dirty="0" smtClean="0"/>
              <a:t>; altitude of 2222m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Popular </a:t>
            </a:r>
            <a:r>
              <a:rPr lang="en-US" dirty="0" err="1" smtClean="0"/>
              <a:t>Tamang</a:t>
            </a:r>
            <a:r>
              <a:rPr lang="en-US" dirty="0" smtClean="0"/>
              <a:t> Heritage Trail</a:t>
            </a:r>
          </a:p>
          <a:p>
            <a:pPr>
              <a:buFont typeface="Wingdings" pitchFamily="2" charset="2"/>
              <a:buChar char="q"/>
            </a:pPr>
            <a:r>
              <a:rPr lang="en-GB" dirty="0" smtClean="0"/>
              <a:t>Black Beans (</a:t>
            </a:r>
            <a:r>
              <a:rPr lang="en-GB" dirty="0" err="1" smtClean="0"/>
              <a:t>Tamra</a:t>
            </a:r>
            <a:r>
              <a:rPr lang="en-GB" dirty="0" smtClean="0"/>
              <a:t>) and Potato are the staple food</a:t>
            </a:r>
          </a:p>
          <a:p>
            <a:pPr>
              <a:buFont typeface="Wingdings" pitchFamily="2" charset="2"/>
              <a:buChar char="q"/>
            </a:pPr>
            <a:r>
              <a:rPr lang="en-GB" dirty="0" smtClean="0"/>
              <a:t>Black roof (wooden roof) and Dry masonry wall</a:t>
            </a:r>
          </a:p>
          <a:p>
            <a:pPr>
              <a:buFont typeface="Wingdings" pitchFamily="2" charset="2"/>
              <a:buChar char="q"/>
            </a:pPr>
            <a:r>
              <a:rPr lang="en-GB" dirty="0" smtClean="0"/>
              <a:t>Unique methodology and construction tradition</a:t>
            </a:r>
          </a:p>
          <a:p>
            <a:pPr>
              <a:buFont typeface="Wingdings" pitchFamily="2" charset="2"/>
              <a:buChar char="q"/>
            </a:pPr>
            <a:r>
              <a:rPr lang="en-GB" dirty="0" smtClean="0"/>
              <a:t>Farming, Home stay tourism and trekking is their main occupation </a:t>
            </a:r>
          </a:p>
          <a:p>
            <a:pPr>
              <a:buFont typeface="Wingdings" pitchFamily="2" charset="2"/>
              <a:buChar char="q"/>
            </a:pPr>
            <a:r>
              <a:rPr lang="en-GB" dirty="0" smtClean="0"/>
              <a:t>Local construction materials are Stone and wood </a:t>
            </a:r>
          </a:p>
          <a:p>
            <a:pPr>
              <a:buFont typeface="Wingdings" pitchFamily="2" charset="2"/>
              <a:buChar char="q"/>
            </a:pPr>
            <a:r>
              <a:rPr lang="en-GB" dirty="0" smtClean="0"/>
              <a:t>Houses are arranged in one cluster(ward 1-6)</a:t>
            </a:r>
          </a:p>
          <a:p>
            <a:pPr marL="514350" indent="-514350">
              <a:buNone/>
            </a:pPr>
            <a:endParaRPr lang="en-US" dirty="0" smtClean="0">
              <a:latin typeface="Preeti" pitchFamily="2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4448"/>
            <a:ext cx="9144000" cy="838200"/>
          </a:xfrm>
        </p:spPr>
        <p:txBody>
          <a:bodyPr>
            <a:normAutofit/>
          </a:bodyPr>
          <a:lstStyle/>
          <a:p>
            <a:r>
              <a:rPr lang="en-US" dirty="0" smtClean="0"/>
              <a:t>Local Building Culture of </a:t>
            </a:r>
            <a:r>
              <a:rPr lang="en-US" dirty="0" err="1" smtClean="0"/>
              <a:t>Gatlang</a:t>
            </a:r>
            <a:endParaRPr lang="en-US" b="1" dirty="0">
              <a:solidFill>
                <a:srgbClr val="FF0000"/>
              </a:solidFill>
              <a:latin typeface="Preeti" pitchFamily="2" charset="0"/>
            </a:endParaRPr>
          </a:p>
        </p:txBody>
      </p:sp>
      <p:pic>
        <p:nvPicPr>
          <p:cNvPr id="2050" name="Picture 2" descr="E:\Pourakhi photo\Photo\Field visit\day 2\DSC00898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01882" y="1066800"/>
            <a:ext cx="4902200" cy="38481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228600" y="1981200"/>
            <a:ext cx="4572000" cy="3554819"/>
          </a:xfrm>
          <a:prstGeom prst="rect">
            <a:avLst/>
          </a:prstGeom>
        </p:spPr>
        <p:txBody>
          <a:bodyPr>
            <a:spAutoFit/>
          </a:bodyPr>
          <a:lstStyle/>
          <a:p>
            <a:pPr marL="514350" indent="-514350">
              <a:buFont typeface="Wingdings" pitchFamily="2" charset="2"/>
              <a:buChar char="q"/>
            </a:pPr>
            <a:r>
              <a:rPr lang="en-US" sz="2500" dirty="0" smtClean="0"/>
              <a:t>Black wooden planks</a:t>
            </a:r>
          </a:p>
          <a:p>
            <a:pPr marL="514350" indent="-514350"/>
            <a:r>
              <a:rPr lang="en-US" sz="2500" dirty="0" smtClean="0"/>
              <a:t>        on roof.</a:t>
            </a:r>
          </a:p>
          <a:p>
            <a:pPr marL="514350" indent="-514350">
              <a:buFont typeface="Wingdings" pitchFamily="2" charset="2"/>
              <a:buChar char="q"/>
            </a:pPr>
            <a:r>
              <a:rPr lang="en-US" sz="2500" dirty="0" smtClean="0"/>
              <a:t>Stone masonry wall</a:t>
            </a:r>
          </a:p>
          <a:p>
            <a:pPr marL="514350" indent="-514350"/>
            <a:r>
              <a:rPr lang="en-US" sz="2500" dirty="0" smtClean="0"/>
              <a:t>        (Dry)</a:t>
            </a:r>
          </a:p>
          <a:p>
            <a:pPr>
              <a:buFont typeface="Wingdings" pitchFamily="2" charset="2"/>
              <a:buChar char="q"/>
            </a:pPr>
            <a:r>
              <a:rPr lang="en-US" sz="2500" dirty="0" smtClean="0"/>
              <a:t>   Common wall between   </a:t>
            </a:r>
          </a:p>
          <a:p>
            <a:r>
              <a:rPr lang="en-US" sz="2500" dirty="0" smtClean="0"/>
              <a:t>       adjacent houses.</a:t>
            </a:r>
          </a:p>
          <a:p>
            <a:pPr>
              <a:buFont typeface="Wingdings" pitchFamily="2" charset="2"/>
              <a:buChar char="q"/>
            </a:pPr>
            <a:r>
              <a:rPr lang="en-US" sz="2500" dirty="0" smtClean="0"/>
              <a:t>  Big Stones in wall </a:t>
            </a:r>
          </a:p>
          <a:p>
            <a:pPr>
              <a:buFont typeface="Wingdings" pitchFamily="2" charset="2"/>
              <a:buChar char="q"/>
            </a:pPr>
            <a:r>
              <a:rPr lang="en-US" sz="2500" dirty="0" smtClean="0"/>
              <a:t>  Floor  of wooden planks </a:t>
            </a:r>
          </a:p>
          <a:p>
            <a:pPr>
              <a:buFont typeface="Wingdings" pitchFamily="2" charset="2"/>
              <a:buChar char="q"/>
            </a:pPr>
            <a:r>
              <a:rPr lang="en-US" sz="2500" dirty="0" smtClean="0"/>
              <a:t>  Ground floor for animal shed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     Activities</a:t>
            </a: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……..</a:t>
            </a:r>
            <a:endParaRPr lang="en-US" b="1" dirty="0">
              <a:solidFill>
                <a:srgbClr val="FF0000"/>
              </a:solidFill>
              <a:latin typeface="Preeti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529770"/>
            <a:ext cx="4495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1.</a:t>
            </a:r>
            <a:r>
              <a:rPr lang="en-US" sz="2000" b="1" dirty="0" smtClean="0"/>
              <a:t> </a:t>
            </a:r>
            <a:r>
              <a:rPr lang="en-US" sz="2000" dirty="0" smtClean="0"/>
              <a:t>Continuous of Parma system</a:t>
            </a:r>
          </a:p>
        </p:txBody>
      </p:sp>
      <p:pic>
        <p:nvPicPr>
          <p:cNvPr id="1026" name="Picture 2" descr="F:\Photo\Working culture and parma\parma 4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1219200"/>
            <a:ext cx="4191000" cy="2362200"/>
          </a:xfrm>
          <a:prstGeom prst="rect">
            <a:avLst/>
          </a:prstGeom>
          <a:noFill/>
        </p:spPr>
      </p:pic>
      <p:pic>
        <p:nvPicPr>
          <p:cNvPr id="8" name="Picture 7" descr="F:\Photo\Working culture and parma\parma 1.jpg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48200" y="1219200"/>
            <a:ext cx="39624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F:\Photo\Working culture and parma\IMG20171223153147.jpg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72142" y="3733800"/>
            <a:ext cx="4223658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 descr="F:\Photo\Working culture and parma\IMG20180120155100.jpg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648200" y="3730170"/>
            <a:ext cx="3962400" cy="26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91200"/>
          </a:xfrm>
        </p:spPr>
        <p:txBody>
          <a:bodyPr>
            <a:normAutofit/>
          </a:bodyPr>
          <a:lstStyle/>
          <a:p>
            <a:pPr fontAlgn="t">
              <a:buNone/>
            </a:pPr>
            <a:r>
              <a:rPr lang="en-US" b="1" dirty="0" smtClean="0"/>
              <a:t>   </a:t>
            </a:r>
          </a:p>
          <a:p>
            <a:pPr fontAlgn="t">
              <a:buNone/>
            </a:pPr>
            <a:endParaRPr lang="en-US" b="1" dirty="0"/>
          </a:p>
          <a:p>
            <a:pPr fontAlgn="t">
              <a:buNone/>
            </a:pPr>
            <a:endParaRPr lang="en-US" b="1" dirty="0" smtClean="0"/>
          </a:p>
          <a:p>
            <a:pPr fontAlgn="t">
              <a:buNone/>
            </a:pPr>
            <a:endParaRPr lang="en-US" b="1" dirty="0"/>
          </a:p>
          <a:p>
            <a:pPr fontAlgn="t">
              <a:buNone/>
            </a:pPr>
            <a:endParaRPr lang="en-US" dirty="0" smtClean="0">
              <a:latin typeface="Preeti" pitchFamily="2" charset="0"/>
            </a:endParaRPr>
          </a:p>
          <a:p>
            <a:pPr fontAlgn="t">
              <a:buNone/>
            </a:pPr>
            <a:r>
              <a:rPr lang="en-US" sz="4300" dirty="0" smtClean="0">
                <a:solidFill>
                  <a:srgbClr val="00B050"/>
                </a:solidFill>
                <a:latin typeface="Preeti" pitchFamily="2" charset="0"/>
              </a:rPr>
              <a:t> 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228600" y="381000"/>
            <a:ext cx="8610600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ct val="0"/>
              </a:spcBef>
              <a:buAutoNum type="arabicPeriod" startAt="2"/>
              <a:defRPr/>
            </a:pPr>
            <a:r>
              <a:rPr lang="en-US" sz="2000" dirty="0" smtClean="0"/>
              <a:t>Sensitize and aware People for healthy and safer house regarding  LBC    </a:t>
            </a:r>
          </a:p>
          <a:p>
            <a:pPr marL="457200" indent="-457200">
              <a:spcBef>
                <a:spcPct val="0"/>
              </a:spcBef>
              <a:defRPr/>
            </a:pPr>
            <a:r>
              <a:rPr lang="en-US" sz="2000" dirty="0" smtClean="0"/>
              <a:t>                    /Leaflet/Ten Key  message distribution </a:t>
            </a:r>
          </a:p>
          <a:p>
            <a:pPr lvl="0">
              <a:spcBef>
                <a:spcPct val="0"/>
              </a:spcBef>
              <a:defRPr/>
            </a:pPr>
            <a:r>
              <a:rPr lang="en-US" dirty="0" smtClean="0"/>
              <a:t>.</a:t>
            </a:r>
            <a:r>
              <a:rPr lang="en-US" sz="2800" dirty="0" smtClean="0">
                <a:solidFill>
                  <a:schemeClr val="tx2"/>
                </a:solidFill>
              </a:rPr>
              <a:t/>
            </a:r>
            <a:br>
              <a:rPr lang="en-US" sz="2800" dirty="0" smtClean="0">
                <a:solidFill>
                  <a:schemeClr val="tx2"/>
                </a:solidFill>
              </a:rPr>
            </a:br>
            <a:endParaRPr lang="en-US" sz="2800" dirty="0">
              <a:solidFill>
                <a:schemeClr val="tx2"/>
              </a:solidFill>
            </a:endParaRPr>
          </a:p>
        </p:txBody>
      </p:sp>
      <p:pic>
        <p:nvPicPr>
          <p:cNvPr id="6" name="Picture 2" descr="D:\carlux\docs\Photo\Community meeting 2\DSC0069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371600"/>
            <a:ext cx="3733800" cy="2628900"/>
          </a:xfrm>
          <a:prstGeom prst="rect">
            <a:avLst/>
          </a:prstGeom>
          <a:noFill/>
        </p:spPr>
      </p:pic>
      <p:pic>
        <p:nvPicPr>
          <p:cNvPr id="7" name="Picture 6" descr="C:\Users\pc\Downloads\SHAREit\A37fw\photo\IMG20180211172445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91000" y="1371600"/>
            <a:ext cx="40386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F:\Photo\Mass metting PMC and Cluster group formation\IMG20171213130914.jpg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" y="4191000"/>
            <a:ext cx="38100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F:\Photo\Mass metting PMC and Cluster group formation\IMG20171213142044.jpg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191000" y="4191000"/>
            <a:ext cx="41148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685800"/>
            <a:ext cx="8610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sz="2000" dirty="0" smtClean="0">
                <a:solidFill>
                  <a:schemeClr val="tx2"/>
                </a:solidFill>
              </a:rPr>
              <a:t>3. Technical assistance  for reconstruction</a:t>
            </a:r>
            <a:r>
              <a:rPr lang="en-US" dirty="0" smtClean="0"/>
              <a:t>.</a:t>
            </a:r>
            <a:r>
              <a:rPr lang="en-US" sz="2800" dirty="0" smtClean="0">
                <a:solidFill>
                  <a:schemeClr val="tx2"/>
                </a:solidFill>
              </a:rPr>
              <a:t/>
            </a:r>
            <a:br>
              <a:rPr lang="en-US" sz="2800" dirty="0" smtClean="0">
                <a:solidFill>
                  <a:schemeClr val="tx2"/>
                </a:solidFill>
              </a:rPr>
            </a:br>
            <a:endParaRPr lang="en-US" sz="2800" dirty="0">
              <a:solidFill>
                <a:schemeClr val="tx2"/>
              </a:solidFill>
            </a:endParaRPr>
          </a:p>
        </p:txBody>
      </p:sp>
      <p:pic>
        <p:nvPicPr>
          <p:cNvPr id="5" name="Picture 4" descr="F:\Photo\updated house\20180302_154239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295400"/>
            <a:ext cx="38862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F:\Photo\Completed and under construction of house\Completed\Assist by ASF-Pourakhi\himan sing tamang 29-6-5-0-42\IMG_20180402_080854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295400"/>
            <a:ext cx="3810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F:\Photo\Completed and under construction of house\Completed\Assist by ASF-Pourakhi\Thulo kanchaa tamang 29-6-6-0-74\IMG_20171218_132010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3810000"/>
            <a:ext cx="3962400" cy="2386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F:\Photo\Completed and under construction of house\Completed\Assist by ASF-Pourakhi\dhani prasad tamang 29-6-5-0-35\IMG_20170317_234059.jpg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3810000"/>
            <a:ext cx="38100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" y="685800"/>
            <a:ext cx="8610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sz="2000" dirty="0" smtClean="0">
                <a:solidFill>
                  <a:schemeClr val="tx2"/>
                </a:solidFill>
              </a:rPr>
              <a:t>4. Happy beneficiaries</a:t>
            </a:r>
            <a:r>
              <a:rPr lang="en-US" dirty="0" smtClean="0"/>
              <a:t>.</a:t>
            </a:r>
            <a:r>
              <a:rPr lang="en-US" sz="2800" dirty="0" smtClean="0">
                <a:solidFill>
                  <a:schemeClr val="tx2"/>
                </a:solidFill>
              </a:rPr>
              <a:t/>
            </a:r>
            <a:br>
              <a:rPr lang="en-US" sz="2800" dirty="0" smtClean="0">
                <a:solidFill>
                  <a:schemeClr val="tx2"/>
                </a:solidFill>
              </a:rPr>
            </a:br>
            <a:endParaRPr lang="en-US" sz="2800" dirty="0">
              <a:solidFill>
                <a:schemeClr val="tx2"/>
              </a:solidFill>
            </a:endParaRPr>
          </a:p>
        </p:txBody>
      </p:sp>
      <p:pic>
        <p:nvPicPr>
          <p:cNvPr id="6" name="Picture 5" descr="F:\Photo\Completed and under construction of house\Completed\Assist by ASF-Pourakhi\Yambu TMG 29-6-6-0-94\IMG_20171219_084740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295400"/>
            <a:ext cx="41910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F:\Photo\Completed and under construction of house\Completed\Assist by ASF-Pourakhi\mingmar sandu tamang 29-6-1-0-3\IMG_20170630_092450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1219200"/>
            <a:ext cx="38862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F:\Photo\Completed and under construction of house\Under construction\Assist by ASF-Pourakhi\Suku maya TMG 29-6-4-0-29\IMG_20171219_155233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3962400"/>
            <a:ext cx="4038600" cy="2407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F:\Photo\Completed and under construction of house\Under construction\Assist by ASF-Pourakhi\Dawa dakpo tmg 29-6-6-0-86\IMG_20171219_083257.jpg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3962400"/>
            <a:ext cx="4038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703938"/>
            <a:ext cx="8610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sz="2000" dirty="0" smtClean="0">
                <a:solidFill>
                  <a:schemeClr val="tx2"/>
                </a:solidFill>
              </a:rPr>
              <a:t>         5. PMC /Cluster committee formation &amp;  Mass meeting</a:t>
            </a:r>
            <a:r>
              <a:rPr lang="en-US" dirty="0" smtClean="0"/>
              <a:t>.</a:t>
            </a:r>
            <a:r>
              <a:rPr lang="en-US" sz="2800" dirty="0" smtClean="0">
                <a:solidFill>
                  <a:schemeClr val="tx2"/>
                </a:solidFill>
              </a:rPr>
              <a:t/>
            </a:r>
            <a:br>
              <a:rPr lang="en-US" sz="2800" dirty="0" smtClean="0">
                <a:solidFill>
                  <a:schemeClr val="tx2"/>
                </a:solidFill>
              </a:rPr>
            </a:br>
            <a:endParaRPr lang="en-US" sz="2800" dirty="0">
              <a:solidFill>
                <a:schemeClr val="tx2"/>
              </a:solidFill>
            </a:endParaRPr>
          </a:p>
        </p:txBody>
      </p:sp>
      <p:pic>
        <p:nvPicPr>
          <p:cNvPr id="6" name="Picture 5" descr="F:\Photo\Mass metting PMC and Cluster group formation\IMG20171213151326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211940"/>
            <a:ext cx="4114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F:\Photo\Mass metting PMC and Cluster group formation\IMG20171213152548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66772" y="1197426"/>
            <a:ext cx="38100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F:\Photo\Pourakhi Visit Jan 2018\IMG20180119094533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3882570"/>
            <a:ext cx="41148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F:\Photo\Cluster 4(ward 6) meeting\0BE35EB3-8CE1-4058-BD70-EEF867E6D95DL0001.jpg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66772" y="3886200"/>
            <a:ext cx="3810000" cy="2812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78974" y="631368"/>
            <a:ext cx="3124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6. </a:t>
            </a:r>
            <a:r>
              <a:rPr lang="en-US" sz="2000" dirty="0" smtClean="0"/>
              <a:t>Social</a:t>
            </a:r>
            <a:r>
              <a:rPr lang="en-US" sz="2400" dirty="0" smtClean="0"/>
              <a:t> Mapping</a:t>
            </a:r>
          </a:p>
        </p:txBody>
      </p:sp>
      <p:pic>
        <p:nvPicPr>
          <p:cNvPr id="5" name="Picture 1" descr="C:\Users\user\Desktop\GATLANG\DSC00709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1" y="1411506"/>
            <a:ext cx="40386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828800" y="3657600"/>
            <a:ext cx="4191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8. Well being</a:t>
            </a:r>
            <a:r>
              <a:rPr lang="en-US" sz="2800" dirty="0" smtClean="0"/>
              <a:t> </a:t>
            </a:r>
            <a:r>
              <a:rPr lang="en-US" sz="2000" dirty="0" smtClean="0"/>
              <a:t>ranking</a:t>
            </a:r>
            <a:r>
              <a:rPr lang="en-US" sz="2800" dirty="0" smtClean="0"/>
              <a:t> </a:t>
            </a:r>
          </a:p>
        </p:txBody>
      </p:sp>
      <p:pic>
        <p:nvPicPr>
          <p:cNvPr id="8" name="Picture 7" descr="F:\Photo\Photo during HH S\DSC01867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378848"/>
            <a:ext cx="39624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 descr="F:\Photo\Mass metting PMC and Cluster group formation\IMG20171213142044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" y="4191000"/>
            <a:ext cx="4114800" cy="2408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5334000" y="649506"/>
            <a:ext cx="32294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7. </a:t>
            </a:r>
            <a:r>
              <a:rPr lang="en-US" sz="2000" dirty="0" smtClean="0"/>
              <a:t>Household</a:t>
            </a:r>
            <a:r>
              <a:rPr lang="en-US" sz="2400" dirty="0" smtClean="0"/>
              <a:t> survey </a:t>
            </a:r>
          </a:p>
        </p:txBody>
      </p:sp>
      <p:pic>
        <p:nvPicPr>
          <p:cNvPr id="12" name="Picture 11" descr="F:\Photo\Wel-being ranking ward 5\IMG20180208123421.jpg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24400" y="4191000"/>
            <a:ext cx="3810000" cy="2434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609600"/>
            <a:ext cx="6324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9. Site supervision and support </a:t>
            </a:r>
          </a:p>
        </p:txBody>
      </p:sp>
      <p:pic>
        <p:nvPicPr>
          <p:cNvPr id="6" name="Picture 5" descr="F:\Photo\Site selection layout monitoring\IMG20171226094943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295400"/>
            <a:ext cx="39624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F:\Photo\Site selection layout monitoring\IMG20171013162117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5800" y="1295400"/>
            <a:ext cx="39624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F:\Photo\rpair &amp; TOT\IMG_5242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3733800"/>
            <a:ext cx="40386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F:\Photo\rpair &amp; TOT\Photo of Tot\12 th day Feb 9\IMG20180209105847.jpg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95800" y="3733800"/>
            <a:ext cx="4096351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609600"/>
            <a:ext cx="6324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10. Training of repairing houses   </a:t>
            </a:r>
          </a:p>
        </p:txBody>
      </p:sp>
      <p:pic>
        <p:nvPicPr>
          <p:cNvPr id="6" name="Picture 5" descr="F:\Photo\snowfall\IMG20180201163450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219200"/>
            <a:ext cx="41910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F:\Photo\rpair &amp; TOT\IMG_5269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1143000"/>
            <a:ext cx="3911598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762000" y="3657600"/>
            <a:ext cx="1905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 </a:t>
            </a:r>
            <a:r>
              <a:rPr lang="en-US" sz="2400" dirty="0" smtClean="0"/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3733800"/>
            <a:ext cx="1905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After</a:t>
            </a:r>
          </a:p>
        </p:txBody>
      </p:sp>
      <p:pic>
        <p:nvPicPr>
          <p:cNvPr id="13" name="Picture 12" descr="C:\Users\pc\Desktop\From Surya\58E91876-2806-4C26-8BC9-550B5E707B6BL0001.jpg"/>
          <p:cNvPicPr/>
          <p:nvPr/>
        </p:nvPicPr>
        <p:blipFill>
          <a:blip r:embed="rId4" cstate="print"/>
          <a:srcRect l="20167"/>
          <a:stretch>
            <a:fillRect/>
          </a:stretch>
        </p:blipFill>
        <p:spPr bwMode="auto">
          <a:xfrm>
            <a:off x="304800" y="4114800"/>
            <a:ext cx="2895600" cy="2438400"/>
          </a:xfrm>
          <a:prstGeom prst="rect">
            <a:avLst/>
          </a:prstGeom>
          <a:noFill/>
        </p:spPr>
      </p:pic>
      <p:pic>
        <p:nvPicPr>
          <p:cNvPr id="14" name="Picture 13" descr="F:\Photo\rpair &amp; TOT\IMG_20180216_144544.jpg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52800" y="4114800"/>
            <a:ext cx="27432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F:\Photo\rpair &amp; TOT\IMG_20180216_144421 (2).jpg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248400" y="4038600"/>
            <a:ext cx="26670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1371600"/>
            <a:ext cx="80772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600" dirty="0" smtClean="0"/>
          </a:p>
          <a:p>
            <a:endParaRPr lang="en-US" sz="3600" dirty="0" smtClean="0"/>
          </a:p>
          <a:p>
            <a:endParaRPr lang="en-US" sz="3600" dirty="0" smtClean="0"/>
          </a:p>
          <a:p>
            <a:endParaRPr lang="en-US" sz="3600" dirty="0" smtClean="0"/>
          </a:p>
          <a:p>
            <a:endParaRPr lang="en-US" sz="3600" dirty="0" smtClean="0"/>
          </a:p>
          <a:p>
            <a:endParaRPr lang="en-US" sz="3600" dirty="0" smtClean="0"/>
          </a:p>
          <a:p>
            <a:endParaRPr lang="en-US" sz="3600" dirty="0" smtClean="0"/>
          </a:p>
          <a:p>
            <a:endParaRPr lang="en-US" sz="3600" dirty="0" smtClean="0"/>
          </a:p>
          <a:p>
            <a:endParaRPr lang="en-US" sz="3600" dirty="0" smtClean="0"/>
          </a:p>
          <a:p>
            <a:endParaRPr lang="en-US" sz="3600" dirty="0"/>
          </a:p>
        </p:txBody>
      </p:sp>
      <p:sp>
        <p:nvSpPr>
          <p:cNvPr id="7" name="Rectangle 6"/>
          <p:cNvSpPr/>
          <p:nvPr/>
        </p:nvSpPr>
        <p:spPr>
          <a:xfrm>
            <a:off x="457200" y="624120"/>
            <a:ext cx="7924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8. Campaign/joint service with Local </a:t>
            </a:r>
            <a:r>
              <a:rPr lang="en-US" sz="2800" dirty="0" err="1" smtClean="0"/>
              <a:t>GoN</a:t>
            </a:r>
            <a:r>
              <a:rPr lang="en-US" sz="2800" dirty="0" smtClean="0"/>
              <a:t> bodies      </a:t>
            </a:r>
          </a:p>
        </p:txBody>
      </p:sp>
      <p:pic>
        <p:nvPicPr>
          <p:cNvPr id="9" name="Picture 8" descr="F:\Photo\Joint service jan. 2018\IMG20180113132446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524000"/>
            <a:ext cx="35814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 descr="F:\Photo\Late work at  Jan 2018\IMG20180113184543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91000" y="1600200"/>
            <a:ext cx="3971714" cy="2314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F:\Photo\Late work at  Jan 2018\IMG20180113185203.jpg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14400" y="4114800"/>
            <a:ext cx="62484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Reconstrution</a:t>
            </a:r>
            <a:r>
              <a:rPr lang="en-US" dirty="0" smtClean="0"/>
              <a:t> update</a:t>
            </a:r>
            <a:endParaRPr lang="en-US" dirty="0"/>
          </a:p>
        </p:txBody>
      </p:sp>
      <p:graphicFrame>
        <p:nvGraphicFramePr>
          <p:cNvPr id="5" name="Chart 4"/>
          <p:cNvGraphicFramePr/>
          <p:nvPr/>
        </p:nvGraphicFramePr>
        <p:xfrm>
          <a:off x="304800" y="1219200"/>
          <a:ext cx="8153400" cy="472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/>
          <p:cNvSpPr/>
          <p:nvPr/>
        </p:nvSpPr>
        <p:spPr>
          <a:xfrm>
            <a:off x="6041556" y="6092364"/>
            <a:ext cx="2895600" cy="6096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Source: EHRP </a:t>
            </a:r>
            <a:r>
              <a:rPr lang="en-US" dirty="0" err="1" smtClean="0"/>
              <a:t>Rasuwa</a:t>
            </a:r>
            <a:endParaRPr lang="en-US" dirty="0" smtClean="0"/>
          </a:p>
          <a:p>
            <a:pPr algn="ctr"/>
            <a:r>
              <a:rPr lang="en-US" dirty="0" smtClean="0"/>
              <a:t>2074/12/28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686800" cy="838200"/>
          </a:xfrm>
        </p:spPr>
        <p:txBody>
          <a:bodyPr/>
          <a:lstStyle/>
          <a:p>
            <a:r>
              <a:rPr lang="en-US" dirty="0" smtClean="0"/>
              <a:t>II tranche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04800" y="3200400"/>
          <a:ext cx="5943600" cy="28797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1371600"/>
            <a:ext cx="8229600" cy="41873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r>
              <a:rPr lang="en-US" sz="3200" dirty="0" smtClean="0">
                <a:solidFill>
                  <a:schemeClr val="tx2"/>
                </a:solidFill>
                <a:latin typeface="+mj-lt"/>
              </a:rPr>
              <a:t>Tranche received:287 HHs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r>
              <a:rPr lang="en-US" sz="3200" dirty="0" smtClean="0">
                <a:solidFill>
                  <a:schemeClr val="tx2"/>
                </a:solidFill>
                <a:latin typeface="+mj-lt"/>
              </a:rPr>
              <a:t>Recommendation(on process): 80 HHs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Not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started: 11 HHs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57800" y="5715000"/>
            <a:ext cx="2895600" cy="6096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Source: EHRP </a:t>
            </a:r>
            <a:r>
              <a:rPr lang="en-US" dirty="0" err="1" smtClean="0"/>
              <a:t>Rasuwa</a:t>
            </a:r>
            <a:endParaRPr lang="en-US" dirty="0" smtClean="0"/>
          </a:p>
          <a:p>
            <a:pPr algn="ctr"/>
            <a:r>
              <a:rPr lang="en-US" dirty="0" smtClean="0"/>
              <a:t>2074/12/28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update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smtClean="0"/>
              <a:t>I tranche received: 378 HHs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II Tranche received and </a:t>
            </a:r>
            <a:r>
              <a:rPr lang="en-US" dirty="0" err="1" smtClean="0"/>
              <a:t>recom</a:t>
            </a:r>
            <a:r>
              <a:rPr lang="en-US" dirty="0" smtClean="0"/>
              <a:t>: 371 HHs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III Tranche received and </a:t>
            </a:r>
            <a:r>
              <a:rPr lang="en-US" dirty="0" err="1" smtClean="0"/>
              <a:t>recom</a:t>
            </a:r>
            <a:r>
              <a:rPr lang="en-US" dirty="0" smtClean="0"/>
              <a:t>: 107 HHs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Construction not restarted: 7 HHs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rgbClr val="00B0F0"/>
                </a:solidFill>
              </a:rPr>
              <a:t>Challenges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91200"/>
          </a:xfrm>
        </p:spPr>
        <p:txBody>
          <a:bodyPr>
            <a:normAutofit/>
          </a:bodyPr>
          <a:lstStyle/>
          <a:p>
            <a:pPr fontAlgn="t">
              <a:buNone/>
            </a:pPr>
            <a:r>
              <a:rPr lang="en-US" b="1" dirty="0" smtClean="0"/>
              <a:t>   </a:t>
            </a:r>
          </a:p>
          <a:p>
            <a:pPr fontAlgn="t">
              <a:buNone/>
            </a:pPr>
            <a:endParaRPr lang="en-US" b="1" dirty="0"/>
          </a:p>
          <a:p>
            <a:pPr fontAlgn="t">
              <a:buNone/>
            </a:pPr>
            <a:endParaRPr lang="en-US" b="1" dirty="0" smtClean="0"/>
          </a:p>
          <a:p>
            <a:pPr fontAlgn="t">
              <a:buNone/>
            </a:pPr>
            <a:endParaRPr lang="en-US" b="1" dirty="0"/>
          </a:p>
          <a:p>
            <a:pPr fontAlgn="t">
              <a:buNone/>
            </a:pPr>
            <a:endParaRPr lang="en-US" b="1" dirty="0" smtClean="0"/>
          </a:p>
          <a:p>
            <a:pPr fontAlgn="t"/>
            <a:endParaRPr lang="en-US" dirty="0" smtClean="0">
              <a:latin typeface="Preeti" pitchFamily="2" charset="0"/>
            </a:endParaRPr>
          </a:p>
          <a:p>
            <a:pPr fontAlgn="t"/>
            <a:endParaRPr lang="en-US" dirty="0" smtClean="0">
              <a:latin typeface="Preeti" pitchFamily="2" charset="0"/>
            </a:endParaRPr>
          </a:p>
          <a:p>
            <a:pPr fontAlgn="t">
              <a:buNone/>
            </a:pPr>
            <a:r>
              <a:rPr lang="en-US" sz="4300" dirty="0" smtClean="0">
                <a:solidFill>
                  <a:srgbClr val="00B050"/>
                </a:solidFill>
                <a:latin typeface="Preeti" pitchFamily="2" charset="0"/>
              </a:rPr>
              <a:t> </a:t>
            </a:r>
            <a:endParaRPr lang="en-US" sz="4300" dirty="0">
              <a:solidFill>
                <a:srgbClr val="00B050"/>
              </a:solidFill>
              <a:latin typeface="Preeti" pitchFamily="2" charset="0"/>
            </a:endParaRPr>
          </a:p>
        </p:txBody>
      </p:sp>
      <p:pic>
        <p:nvPicPr>
          <p:cNvPr id="4" name="Content Placeholder 5" descr="DSC0009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05400" y="2046504"/>
            <a:ext cx="3810000" cy="2743200"/>
          </a:xfrm>
          <a:prstGeom prst="rect">
            <a:avLst/>
          </a:prstGeom>
        </p:spPr>
      </p:pic>
      <p:pic>
        <p:nvPicPr>
          <p:cNvPr id="5" name="Content Placeholder 6" descr="Gatlang-Rasuw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075533"/>
            <a:ext cx="3496723" cy="2743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038600" y="3153240"/>
            <a:ext cx="8382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90594" y="4909452"/>
            <a:ext cx="2362200" cy="5334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r>
              <a:rPr lang="en-US" dirty="0" smtClean="0"/>
              <a:t>Black Village</a:t>
            </a:r>
          </a:p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486400" y="4894938"/>
            <a:ext cx="2362200" cy="5334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Silver Village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98288" y="1465932"/>
            <a:ext cx="2667000" cy="5334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Old identity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0" y="1426026"/>
            <a:ext cx="2667000" cy="533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New identity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9308"/>
            <a:ext cx="8229600" cy="1066800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rgbClr val="00B0F0"/>
                </a:solidFill>
              </a:rPr>
              <a:t>Challenges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10600" cy="5638800"/>
          </a:xfrm>
        </p:spPr>
        <p:txBody>
          <a:bodyPr>
            <a:normAutofit fontScale="25000" lnSpcReduction="20000"/>
          </a:bodyPr>
          <a:lstStyle/>
          <a:p>
            <a:pPr fontAlgn="t">
              <a:buNone/>
            </a:pPr>
            <a:r>
              <a:rPr lang="en-US" b="1" dirty="0" smtClean="0"/>
              <a:t>   </a:t>
            </a:r>
          </a:p>
          <a:p>
            <a:pPr fontAlgn="t">
              <a:buFont typeface="Wingdings" pitchFamily="2" charset="2"/>
              <a:buChar char="q"/>
            </a:pPr>
            <a:endParaRPr lang="en-US" sz="7100" b="1" dirty="0" smtClean="0"/>
          </a:p>
          <a:p>
            <a:pPr fontAlgn="t">
              <a:buFont typeface="Wingdings" pitchFamily="2" charset="2"/>
              <a:buChar char="q"/>
            </a:pPr>
            <a:r>
              <a:rPr lang="en-US" sz="7100" b="1" dirty="0" smtClean="0"/>
              <a:t> </a:t>
            </a:r>
            <a:r>
              <a:rPr lang="en-US" sz="12800" b="1" dirty="0" smtClean="0"/>
              <a:t>Appropriative design for </a:t>
            </a:r>
            <a:r>
              <a:rPr lang="en-US" sz="12800" b="1" dirty="0" err="1" smtClean="0"/>
              <a:t>Gatlang</a:t>
            </a:r>
            <a:endParaRPr lang="en-US" sz="12800" b="1" dirty="0" smtClean="0"/>
          </a:p>
          <a:p>
            <a:pPr fontAlgn="t">
              <a:buFont typeface="Wingdings" pitchFamily="2" charset="2"/>
              <a:buChar char="q"/>
            </a:pPr>
            <a:r>
              <a:rPr lang="en-US" sz="12800" b="1" dirty="0" smtClean="0"/>
              <a:t> Highly Increased  in mason rate.</a:t>
            </a:r>
          </a:p>
          <a:p>
            <a:pPr fontAlgn="t">
              <a:buFont typeface="Wingdings" pitchFamily="2" charset="2"/>
              <a:buChar char="q"/>
            </a:pPr>
            <a:r>
              <a:rPr lang="en-US" sz="12800" b="1" dirty="0" smtClean="0"/>
              <a:t>Scarcity of skill mason and carpenter</a:t>
            </a:r>
          </a:p>
          <a:p>
            <a:pPr fontAlgn="t">
              <a:buFont typeface="Wingdings" pitchFamily="2" charset="2"/>
              <a:buChar char="q"/>
            </a:pPr>
            <a:r>
              <a:rPr lang="en-US" sz="12800" b="1" dirty="0" smtClean="0"/>
              <a:t>Inadequate land inside cluster</a:t>
            </a:r>
          </a:p>
          <a:p>
            <a:pPr fontAlgn="t">
              <a:buFont typeface="Wingdings" pitchFamily="2" charset="2"/>
              <a:buChar char="q"/>
            </a:pPr>
            <a:r>
              <a:rPr lang="en-US" sz="12800" b="1" dirty="0" smtClean="0"/>
              <a:t>Scarcity of good quality of wood</a:t>
            </a:r>
          </a:p>
          <a:p>
            <a:pPr fontAlgn="t">
              <a:buFont typeface="Wingdings" pitchFamily="2" charset="2"/>
              <a:buChar char="q"/>
            </a:pPr>
            <a:r>
              <a:rPr lang="en-US" sz="12800" b="1" dirty="0" smtClean="0"/>
              <a:t>Lack of quality construction materials</a:t>
            </a:r>
          </a:p>
          <a:p>
            <a:pPr fontAlgn="t">
              <a:buFont typeface="Wingdings" pitchFamily="2" charset="2"/>
              <a:buChar char="q"/>
            </a:pPr>
            <a:r>
              <a:rPr lang="en-US" sz="12800" b="1" dirty="0" smtClean="0"/>
              <a:t>High transportation rate</a:t>
            </a:r>
          </a:p>
          <a:p>
            <a:pPr fontAlgn="t">
              <a:buFont typeface="Wingdings" pitchFamily="2" charset="2"/>
              <a:buChar char="q"/>
            </a:pPr>
            <a:endParaRPr lang="en-US" sz="12800" b="1" dirty="0" smtClean="0"/>
          </a:p>
          <a:p>
            <a:pPr fontAlgn="t">
              <a:buFont typeface="Wingdings" pitchFamily="2" charset="2"/>
              <a:buChar char="q"/>
            </a:pPr>
            <a:endParaRPr lang="en-US" sz="11200" b="1" dirty="0" smtClean="0"/>
          </a:p>
          <a:p>
            <a:pPr fontAlgn="t">
              <a:buNone/>
            </a:pPr>
            <a:endParaRPr lang="en-US" sz="9600" b="1" dirty="0" smtClean="0"/>
          </a:p>
          <a:p>
            <a:pPr fontAlgn="t">
              <a:buFont typeface="Wingdings" pitchFamily="2" charset="2"/>
              <a:buChar char="q"/>
            </a:pPr>
            <a:endParaRPr lang="en-US" sz="7000" b="1" dirty="0" smtClean="0"/>
          </a:p>
          <a:p>
            <a:pPr fontAlgn="t">
              <a:buFont typeface="Wingdings" pitchFamily="2" charset="2"/>
              <a:buChar char="q"/>
            </a:pPr>
            <a:endParaRPr lang="en-US" sz="7000" b="1" dirty="0" smtClean="0"/>
          </a:p>
          <a:p>
            <a:pPr fontAlgn="t">
              <a:buFont typeface="Wingdings" pitchFamily="2" charset="2"/>
              <a:buChar char="q"/>
            </a:pPr>
            <a:endParaRPr lang="en-US" sz="4500" b="1" dirty="0"/>
          </a:p>
          <a:p>
            <a:pPr fontAlgn="t">
              <a:buNone/>
            </a:pPr>
            <a:endParaRPr lang="en-US" b="1" dirty="0" smtClean="0"/>
          </a:p>
          <a:p>
            <a:pPr fontAlgn="t">
              <a:buNone/>
            </a:pPr>
            <a:endParaRPr lang="en-US" b="1" dirty="0"/>
          </a:p>
          <a:p>
            <a:pPr fontAlgn="t">
              <a:buNone/>
            </a:pPr>
            <a:endParaRPr lang="en-US" b="1" dirty="0" smtClean="0"/>
          </a:p>
          <a:p>
            <a:pPr fontAlgn="t"/>
            <a:endParaRPr lang="en-US" dirty="0" smtClean="0">
              <a:latin typeface="Preeti" pitchFamily="2" charset="0"/>
            </a:endParaRPr>
          </a:p>
          <a:p>
            <a:pPr fontAlgn="t"/>
            <a:endParaRPr lang="en-US" dirty="0" smtClean="0">
              <a:latin typeface="Preeti" pitchFamily="2" charset="0"/>
            </a:endParaRPr>
          </a:p>
          <a:p>
            <a:pPr fontAlgn="t">
              <a:buNone/>
            </a:pPr>
            <a:r>
              <a:rPr lang="en-US" sz="4300" dirty="0" smtClean="0">
                <a:solidFill>
                  <a:srgbClr val="00B050"/>
                </a:solidFill>
                <a:latin typeface="Preeti" pitchFamily="2" charset="0"/>
              </a:rPr>
              <a:t> </a:t>
            </a:r>
            <a:endParaRPr lang="en-US" sz="4300" dirty="0">
              <a:solidFill>
                <a:srgbClr val="00B050"/>
              </a:solidFill>
              <a:latin typeface="Preeti" pitchFamily="2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0"/>
            <a:ext cx="8686800" cy="838200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pic>
        <p:nvPicPr>
          <p:cNvPr id="4" name="Content Placeholder 3" descr="C:\Users\pc\Desktop\111111images.jp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800600" y="2895600"/>
            <a:ext cx="41148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C:\Users\pc\Desktop\10101010images.jp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52400"/>
            <a:ext cx="4191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Trek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2.xml><?xml version="1.0" encoding="utf-8"?>
<a:themeOverride xmlns:a="http://schemas.openxmlformats.org/drawingml/2006/main">
  <a:clrScheme name="Trek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3.xml><?xml version="1.0" encoding="utf-8"?>
<a:themeOverride xmlns:a="http://schemas.openxmlformats.org/drawingml/2006/main">
  <a:clrScheme name="Trek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4.xml><?xml version="1.0" encoding="utf-8"?>
<a:themeOverride xmlns:a="http://schemas.openxmlformats.org/drawingml/2006/main">
  <a:clrScheme name="Trek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5.xml><?xml version="1.0" encoding="utf-8"?>
<a:themeOverride xmlns:a="http://schemas.openxmlformats.org/drawingml/2006/main">
  <a:clrScheme name="Trek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6.xml><?xml version="1.0" encoding="utf-8"?>
<a:themeOverride xmlns:a="http://schemas.openxmlformats.org/drawingml/2006/main">
  <a:clrScheme name="Trek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7.xml><?xml version="1.0" encoding="utf-8"?>
<a:themeOverride xmlns:a="http://schemas.openxmlformats.org/drawingml/2006/main">
  <a:clrScheme name="Trek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8.xml><?xml version="1.0" encoding="utf-8"?>
<a:themeOverride xmlns:a="http://schemas.openxmlformats.org/drawingml/2006/main">
  <a:clrScheme name="Trek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9.xml><?xml version="1.0" encoding="utf-8"?>
<a:themeOverride xmlns:a="http://schemas.openxmlformats.org/drawingml/2006/main">
  <a:clrScheme name="Trek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0.xml><?xml version="1.0" encoding="utf-8"?>
<a:themeOverride xmlns:a="http://schemas.openxmlformats.org/drawingml/2006/main">
  <a:clrScheme name="Trek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1.xml><?xml version="1.0" encoding="utf-8"?>
<a:themeOverride xmlns:a="http://schemas.openxmlformats.org/drawingml/2006/main">
  <a:clrScheme name="Trek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2.xml><?xml version="1.0" encoding="utf-8"?>
<a:themeOverride xmlns:a="http://schemas.openxmlformats.org/drawingml/2006/main">
  <a:clrScheme name="Trek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1433</TotalTime>
  <Words>489</Words>
  <Application>Microsoft Office PowerPoint</Application>
  <PresentationFormat>On-screen Show (4:3)</PresentationFormat>
  <Paragraphs>149</Paragraphs>
  <Slides>22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Trek</vt:lpstr>
      <vt:lpstr>             Repair and reconstruction project                               (Technical support)                               Gatlang Rasuwa</vt:lpstr>
      <vt:lpstr>   Briefing of the Project </vt:lpstr>
      <vt:lpstr>      Objectives of the Project </vt:lpstr>
      <vt:lpstr>           What we do ……</vt:lpstr>
      <vt:lpstr>Continue ……</vt:lpstr>
      <vt:lpstr>       Scenario of Gatlang</vt:lpstr>
      <vt:lpstr>Local Building Culture of Gatlang</vt:lpstr>
      <vt:lpstr>     Activities ……..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Reconstrution update</vt:lpstr>
      <vt:lpstr>II tranche</vt:lpstr>
      <vt:lpstr>New update </vt:lpstr>
      <vt:lpstr>Challenges</vt:lpstr>
      <vt:lpstr>Challenges</vt:lpstr>
      <vt:lpstr>Thank You</vt:lpstr>
    </vt:vector>
  </TitlesOfParts>
  <Company>Lumbini Computer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3fF;Ls'jf o'jf Sna tgx'F g]kfn .</dc:title>
  <dc:creator>Ramu Bhusal</dc:creator>
  <cp:lastModifiedBy>pc</cp:lastModifiedBy>
  <cp:revision>321</cp:revision>
  <dcterms:created xsi:type="dcterms:W3CDTF">2009-03-30T09:06:30Z</dcterms:created>
  <dcterms:modified xsi:type="dcterms:W3CDTF">2018-04-18T05:10:27Z</dcterms:modified>
</cp:coreProperties>
</file>