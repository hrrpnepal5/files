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13"/>
  </p:notesMasterIdLst>
  <p:handoutMasterIdLst>
    <p:handoutMasterId r:id="rId14"/>
  </p:handoutMasterIdLst>
  <p:sldIdLst>
    <p:sldId id="256" r:id="rId2"/>
    <p:sldId id="314" r:id="rId3"/>
    <p:sldId id="350" r:id="rId4"/>
    <p:sldId id="344" r:id="rId5"/>
    <p:sldId id="343" r:id="rId6"/>
    <p:sldId id="346" r:id="rId7"/>
    <p:sldId id="337" r:id="rId8"/>
    <p:sldId id="349" r:id="rId9"/>
    <p:sldId id="329" r:id="rId10"/>
    <p:sldId id="336" r:id="rId11"/>
    <p:sldId id="307" r:id="rId1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14801F-A81B-4026-BE4C-E59654CAF192}">
          <p14:sldIdLst>
            <p14:sldId id="256"/>
            <p14:sldId id="314"/>
            <p14:sldId id="350"/>
            <p14:sldId id="344"/>
            <p14:sldId id="343"/>
            <p14:sldId id="346"/>
            <p14:sldId id="337"/>
            <p14:sldId id="349"/>
            <p14:sldId id="329"/>
            <p14:sldId id="336"/>
            <p14:sldId id="30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D7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00" autoAdjust="0"/>
    <p:restoredTop sz="98957" autoAdjust="0"/>
  </p:normalViewPr>
  <p:slideViewPr>
    <p:cSldViewPr snapToGrid="0" snapToObjects="1">
      <p:cViewPr varScale="1">
        <p:scale>
          <a:sx n="72" d="100"/>
          <a:sy n="72" d="100"/>
        </p:scale>
        <p:origin x="1554" y="72"/>
      </p:cViewPr>
      <p:guideLst>
        <p:guide orient="horz" pos="2160"/>
        <p:guide pos="2880"/>
      </p:guideLst>
    </p:cSldViewPr>
  </p:slideViewPr>
  <p:outlineViewPr>
    <p:cViewPr>
      <p:scale>
        <a:sx n="33" d="100"/>
        <a:sy n="33" d="100"/>
      </p:scale>
      <p:origin x="78" y="1092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53286D82-EBA6-4F47-8138-F6FDBF4522FF}" type="datetimeFigureOut">
              <a:rPr lang="en-US" smtClean="0"/>
              <a:t>10/10/2017</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553D0072-49DD-4343-84C2-28CC796E999F}" type="slidenum">
              <a:rPr lang="en-US" smtClean="0"/>
              <a:t>‹#›</a:t>
            </a:fld>
            <a:endParaRPr lang="en-US"/>
          </a:p>
        </p:txBody>
      </p:sp>
    </p:spTree>
    <p:extLst>
      <p:ext uri="{BB962C8B-B14F-4D97-AF65-F5344CB8AC3E}">
        <p14:creationId xmlns:p14="http://schemas.microsoft.com/office/powerpoint/2010/main" val="1027410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0BB05563-2927-4C19-A36E-FE8CF09DD8FA}" type="datetimeFigureOut">
              <a:rPr lang="en-US" smtClean="0"/>
              <a:t>10/10/2017</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3EF11B0A-49F4-40E6-9EB9-78F332027D71}" type="slidenum">
              <a:rPr lang="en-US" smtClean="0"/>
              <a:t>‹#›</a:t>
            </a:fld>
            <a:endParaRPr lang="en-US"/>
          </a:p>
        </p:txBody>
      </p:sp>
    </p:spTree>
    <p:extLst>
      <p:ext uri="{BB962C8B-B14F-4D97-AF65-F5344CB8AC3E}">
        <p14:creationId xmlns:p14="http://schemas.microsoft.com/office/powerpoint/2010/main" val="266896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EF11B0A-49F4-40E6-9EB9-78F332027D71}" type="slidenum">
              <a:rPr lang="en-US" smtClean="0"/>
              <a:t>1</a:t>
            </a:fld>
            <a:endParaRPr lang="en-US"/>
          </a:p>
        </p:txBody>
      </p:sp>
    </p:spTree>
    <p:extLst>
      <p:ext uri="{BB962C8B-B14F-4D97-AF65-F5344CB8AC3E}">
        <p14:creationId xmlns:p14="http://schemas.microsoft.com/office/powerpoint/2010/main" val="1502491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fr-CH"/>
              <a:t>Fare clic per modificare stile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CH"/>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6FD21832-C3C3-408D-A70E-A17D95AD9D72}" type="datetime1">
              <a:rPr lang="en-US" smtClean="0"/>
              <a:t>10/10/2017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Content Placeholder 2"/>
          <p:cNvSpPr>
            <a:spLocks noGrp="1"/>
          </p:cNvSpPr>
          <p:nvPr>
            <p:ph idx="1"/>
          </p:nvPr>
        </p:nvSpPr>
        <p:spPr/>
        <p:txBody>
          <a:body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4" name="Date Placeholder 3"/>
          <p:cNvSpPr>
            <a:spLocks noGrp="1"/>
          </p:cNvSpPr>
          <p:nvPr>
            <p:ph type="dt" sz="half" idx="10"/>
          </p:nvPr>
        </p:nvSpPr>
        <p:spPr/>
        <p:txBody>
          <a:bodyPr/>
          <a:lstStyle/>
          <a:p>
            <a:fld id="{AF36AFD4-CFDD-43B9-B8F7-51442E92CD50}" type="datetime1">
              <a:rPr lang="en-US" smtClean="0"/>
              <a:t>10/10/2017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fr-CH"/>
              <a:t>Fare clic per modificare stile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H"/>
              <a:t>Fare clic per modificare gli stili del testo dello schema</a:t>
            </a:r>
          </a:p>
        </p:txBody>
      </p:sp>
      <p:sp>
        <p:nvSpPr>
          <p:cNvPr id="4" name="Date Placeholder 3"/>
          <p:cNvSpPr>
            <a:spLocks noGrp="1"/>
          </p:cNvSpPr>
          <p:nvPr>
            <p:ph type="dt" sz="half" idx="10"/>
          </p:nvPr>
        </p:nvSpPr>
        <p:spPr/>
        <p:txBody>
          <a:bodyPr/>
          <a:lstStyle/>
          <a:p>
            <a:fld id="{E1CEC576-A44D-4A7F-91DF-0CAA3DB7D76A}" type="datetime1">
              <a:rPr lang="en-US" smtClean="0"/>
              <a:t>10/10/2017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5" name="Date Placeholder 4"/>
          <p:cNvSpPr>
            <a:spLocks noGrp="1"/>
          </p:cNvSpPr>
          <p:nvPr>
            <p:ph type="dt" sz="half" idx="10"/>
          </p:nvPr>
        </p:nvSpPr>
        <p:spPr/>
        <p:txBody>
          <a:bodyPr/>
          <a:lstStyle/>
          <a:p>
            <a:fld id="{2F7A5BEF-861E-4F1C-9D64-DC2FF91F95D5}" type="datetime1">
              <a:rPr lang="en-US" smtClean="0"/>
              <a:t>10/10/2017</a:t>
            </a:fld>
            <a:endParaRPr lang="en-US"/>
          </a:p>
        </p:txBody>
      </p:sp>
      <p:sp>
        <p:nvSpPr>
          <p:cNvPr id="6" name="Footer Placeholder 5"/>
          <p:cNvSpPr>
            <a:spLocks noGrp="1"/>
          </p:cNvSpPr>
          <p:nvPr>
            <p:ph type="ftr" sz="quarter" idx="11"/>
          </p:nvPr>
        </p:nvSpPr>
        <p:spPr/>
        <p:txBody>
          <a:bodyPr/>
          <a:lstStyle/>
          <a:p>
            <a:r>
              <a:rPr lang="en-US"/>
              <a:t>Housing Recovery &amp; Reconstruction Platform (HRRP)</a:t>
            </a:r>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CH"/>
              <a:t>Fare clic per modificare stile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H"/>
              <a:t>Fare clic per modificare gli stili del testo dello schema</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H"/>
              <a:t>Fare clic per modificare gli stili del testo dello schema</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7" name="Date Placeholder 6"/>
          <p:cNvSpPr>
            <a:spLocks noGrp="1"/>
          </p:cNvSpPr>
          <p:nvPr>
            <p:ph type="dt" sz="half" idx="10"/>
          </p:nvPr>
        </p:nvSpPr>
        <p:spPr/>
        <p:txBody>
          <a:bodyPr/>
          <a:lstStyle/>
          <a:p>
            <a:fld id="{A7F98D36-6891-4EC2-A8A6-DF445F42BA40}" type="datetime1">
              <a:rPr lang="en-US" smtClean="0"/>
              <a:t>10/10/2017</a:t>
            </a:fld>
            <a:endParaRPr lang="en-US"/>
          </a:p>
        </p:txBody>
      </p:sp>
      <p:sp>
        <p:nvSpPr>
          <p:cNvPr id="8" name="Footer Placeholder 7"/>
          <p:cNvSpPr>
            <a:spLocks noGrp="1"/>
          </p:cNvSpPr>
          <p:nvPr>
            <p:ph type="ftr" sz="quarter" idx="11"/>
          </p:nvPr>
        </p:nvSpPr>
        <p:spPr/>
        <p:txBody>
          <a:bodyPr/>
          <a:lstStyle/>
          <a:p>
            <a:r>
              <a:rPr lang="en-US"/>
              <a:t>Housing Recovery &amp; Reconstruction Platform (HRRP)</a:t>
            </a:r>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Date Placeholder 2"/>
          <p:cNvSpPr>
            <a:spLocks noGrp="1"/>
          </p:cNvSpPr>
          <p:nvPr>
            <p:ph type="dt" sz="half" idx="10"/>
          </p:nvPr>
        </p:nvSpPr>
        <p:spPr/>
        <p:txBody>
          <a:bodyPr/>
          <a:lstStyle/>
          <a:p>
            <a:fld id="{423661E6-40D1-4B4E-8257-A0980031A3D0}" type="datetime1">
              <a:rPr lang="en-US" smtClean="0"/>
              <a:t>10/10/2017</a:t>
            </a:fld>
            <a:endParaRPr lang="en-US"/>
          </a:p>
        </p:txBody>
      </p:sp>
      <p:sp>
        <p:nvSpPr>
          <p:cNvPr id="4" name="Footer Placeholder 3"/>
          <p:cNvSpPr>
            <a:spLocks noGrp="1"/>
          </p:cNvSpPr>
          <p:nvPr>
            <p:ph type="ftr" sz="quarter" idx="11"/>
          </p:nvPr>
        </p:nvSpPr>
        <p:spPr/>
        <p:txBody>
          <a:bodyPr/>
          <a:lstStyle/>
          <a:p>
            <a:r>
              <a:rPr lang="en-US"/>
              <a:t>Housing Recovery &amp; Reconstruction Platform (HRRP)</a:t>
            </a:r>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38750A-9012-43F9-9179-0FE272000535}" type="datetime1">
              <a:rPr lang="en-US" smtClean="0"/>
              <a:t>10/10/2017</a:t>
            </a:fld>
            <a:endParaRPr lang="en-US"/>
          </a:p>
        </p:txBody>
      </p:sp>
      <p:sp>
        <p:nvSpPr>
          <p:cNvPr id="3" name="Footer Placeholder 2"/>
          <p:cNvSpPr>
            <a:spLocks noGrp="1"/>
          </p:cNvSpPr>
          <p:nvPr>
            <p:ph type="ftr" sz="quarter" idx="11"/>
          </p:nvPr>
        </p:nvSpPr>
        <p:spPr/>
        <p:txBody>
          <a:bodyPr/>
          <a:lstStyle/>
          <a:p>
            <a:r>
              <a:rPr lang="en-US"/>
              <a:t>Housing Recovery &amp; Reconstruction Platform (HRRP)</a:t>
            </a:r>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fr-CH"/>
              <a:t>Fare clic per modificare stile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H"/>
              <a:t>Fare clic per modificare gli stili del testo dello schema</a:t>
            </a:r>
          </a:p>
        </p:txBody>
      </p:sp>
      <p:sp>
        <p:nvSpPr>
          <p:cNvPr id="5" name="Date Placeholder 4"/>
          <p:cNvSpPr>
            <a:spLocks noGrp="1"/>
          </p:cNvSpPr>
          <p:nvPr>
            <p:ph type="dt" sz="half" idx="10"/>
          </p:nvPr>
        </p:nvSpPr>
        <p:spPr/>
        <p:txBody>
          <a:bodyPr/>
          <a:lstStyle/>
          <a:p>
            <a:fld id="{67B414D3-4108-4DB0-97F7-286C70DB7389}" type="datetime1">
              <a:rPr lang="en-US" smtClean="0"/>
              <a:t>10/10/2017</a:t>
            </a:fld>
            <a:endParaRPr lang="en-US"/>
          </a:p>
        </p:txBody>
      </p:sp>
      <p:sp>
        <p:nvSpPr>
          <p:cNvPr id="6" name="Footer Placeholder 5"/>
          <p:cNvSpPr>
            <a:spLocks noGrp="1"/>
          </p:cNvSpPr>
          <p:nvPr>
            <p:ph type="ftr" sz="quarter" idx="11"/>
          </p:nvPr>
        </p:nvSpPr>
        <p:spPr/>
        <p:txBody>
          <a:bodyPr/>
          <a:lstStyle/>
          <a:p>
            <a:r>
              <a:rPr lang="en-US"/>
              <a:t>Housing Recovery &amp; Reconstruction Platform (HRRP)</a:t>
            </a:r>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fr-CH"/>
              <a:t>Fare clic per modificare stile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CH"/>
              <a:t>Trascinare l'immagine su un segnaposto o fare clic sull'icona per aggiungerla</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H"/>
              <a:t>Fare clic per modificare gli stili del testo dello schema</a:t>
            </a:r>
          </a:p>
        </p:txBody>
      </p:sp>
      <p:sp>
        <p:nvSpPr>
          <p:cNvPr id="8" name="Date Placeholder 7"/>
          <p:cNvSpPr>
            <a:spLocks noGrp="1"/>
          </p:cNvSpPr>
          <p:nvPr>
            <p:ph type="dt" sz="half" idx="10"/>
          </p:nvPr>
        </p:nvSpPr>
        <p:spPr/>
        <p:txBody>
          <a:bodyPr/>
          <a:lstStyle/>
          <a:p>
            <a:fld id="{2274B755-1D85-49AA-ABC3-9FFA3A54B2DE}" type="datetime1">
              <a:rPr lang="en-US" smtClean="0"/>
              <a:t>10/10/2017</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a:t>
            </a:fld>
            <a:endParaRPr lang="en-US" dirty="0"/>
          </a:p>
        </p:txBody>
      </p:sp>
      <p:sp>
        <p:nvSpPr>
          <p:cNvPr id="10" name="Footer Placeholder 9"/>
          <p:cNvSpPr>
            <a:spLocks noGrp="1"/>
          </p:cNvSpPr>
          <p:nvPr>
            <p:ph type="ftr" sz="quarter" idx="12"/>
          </p:nvPr>
        </p:nvSpPr>
        <p:spPr/>
        <p:txBody>
          <a:bodyPr/>
          <a:lstStyle/>
          <a:p>
            <a:r>
              <a:rPr lang="en-US"/>
              <a:t>Housing Recovery &amp; Reconstruction Platform (HRRP)</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Vertical Text Placeholder 2"/>
          <p:cNvSpPr>
            <a:spLocks noGrp="1"/>
          </p:cNvSpPr>
          <p:nvPr>
            <p:ph type="body" orient="vert" idx="1"/>
          </p:nvPr>
        </p:nvSpPr>
        <p:spPr/>
        <p:txBody>
          <a:bodyPr vert="eaVert"/>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4" name="Date Placeholder 3"/>
          <p:cNvSpPr>
            <a:spLocks noGrp="1"/>
          </p:cNvSpPr>
          <p:nvPr>
            <p:ph type="dt" sz="half" idx="10"/>
          </p:nvPr>
        </p:nvSpPr>
        <p:spPr/>
        <p:txBody>
          <a:bodyPr/>
          <a:lstStyle/>
          <a:p>
            <a:fld id="{17CAA2D9-F0F6-4A6D-96AD-A9469B5781BD}" type="datetime1">
              <a:rPr lang="en-US" smtClean="0"/>
              <a:t>10/10/2017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fr-CH"/>
              <a:t>Fare clic per modificare stile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4" name="Date Placeholder 3"/>
          <p:cNvSpPr>
            <a:spLocks noGrp="1"/>
          </p:cNvSpPr>
          <p:nvPr>
            <p:ph type="dt" sz="half" idx="10"/>
          </p:nvPr>
        </p:nvSpPr>
        <p:spPr/>
        <p:txBody>
          <a:bodyPr/>
          <a:lstStyle/>
          <a:p>
            <a:fld id="{A39D39AA-2F89-4D27-B531-3F9D928D2CD5}" type="datetime1">
              <a:rPr lang="en-US" smtClean="0"/>
              <a:t>10/10/2017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fr-CH"/>
              <a:t>Fare clic per modificare stile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US"/>
              <a:t>Housing Recovery &amp; Reconstruction Platform (HRRP)</a:t>
            </a:r>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7483F6D8-BB93-492D-BEBA-9D389C7919C2}" type="datetime1">
              <a:rPr lang="en-US" smtClean="0"/>
              <a:t>10/10/2017</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sldNum="0"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857250"/>
            <a:ext cx="8425704" cy="4739459"/>
          </a:xfrm>
          <a:prstGeom prst="rect">
            <a:avLst/>
          </a:prstGeom>
        </p:spPr>
      </p:pic>
      <p:sp>
        <p:nvSpPr>
          <p:cNvPr id="2" name="Titolo 1"/>
          <p:cNvSpPr>
            <a:spLocks noGrp="1"/>
          </p:cNvSpPr>
          <p:nvPr>
            <p:ph type="ctrTitle"/>
          </p:nvPr>
        </p:nvSpPr>
        <p:spPr>
          <a:xfrm>
            <a:off x="267873" y="3382955"/>
            <a:ext cx="8785465" cy="1816099"/>
          </a:xfrm>
        </p:spPr>
        <p:txBody>
          <a:bodyPr/>
          <a:lstStyle/>
          <a:p>
            <a:br>
              <a:rPr lang="en-GB" b="1" dirty="0">
                <a:solidFill>
                  <a:schemeClr val="bg1"/>
                </a:solidFill>
                <a:latin typeface="+mn-lt"/>
              </a:rPr>
            </a:br>
            <a:br>
              <a:rPr lang="en-GB" sz="5400" b="1" dirty="0">
                <a:solidFill>
                  <a:schemeClr val="bg1"/>
                </a:solidFill>
                <a:latin typeface="+mn-lt"/>
              </a:rPr>
            </a:br>
            <a:r>
              <a:rPr lang="en-GB" sz="5400" b="1" dirty="0">
                <a:solidFill>
                  <a:schemeClr val="bg1"/>
                </a:solidFill>
                <a:latin typeface="+mn-lt"/>
              </a:rPr>
              <a:t>         NRA/HRRP GORKHA </a:t>
            </a:r>
            <a:br>
              <a:rPr lang="en-GB" sz="5400" b="1" dirty="0">
                <a:solidFill>
                  <a:schemeClr val="bg1"/>
                </a:solidFill>
                <a:latin typeface="+mn-lt"/>
              </a:rPr>
            </a:br>
            <a:r>
              <a:rPr lang="en-GB" sz="5400" b="1" dirty="0">
                <a:solidFill>
                  <a:schemeClr val="bg1"/>
                </a:solidFill>
                <a:latin typeface="+mn-lt"/>
              </a:rPr>
              <a:t>        Coordination Meeting</a:t>
            </a:r>
            <a:br>
              <a:rPr lang="en-GB" sz="5400" b="1" dirty="0">
                <a:solidFill>
                  <a:schemeClr val="bg1"/>
                </a:solidFill>
                <a:latin typeface="Arial"/>
                <a:cs typeface="Arial"/>
              </a:rPr>
            </a:br>
            <a:endParaRPr lang="en-GB" sz="5400" b="1" dirty="0">
              <a:solidFill>
                <a:schemeClr val="bg1"/>
              </a:solidFill>
              <a:latin typeface="Arial"/>
              <a:cs typeface="Arial"/>
            </a:endParaRPr>
          </a:p>
        </p:txBody>
      </p:sp>
      <p:sp>
        <p:nvSpPr>
          <p:cNvPr id="3" name="Sottotitolo 2"/>
          <p:cNvSpPr>
            <a:spLocks noGrp="1"/>
          </p:cNvSpPr>
          <p:nvPr>
            <p:ph type="subTitle" idx="1"/>
          </p:nvPr>
        </p:nvSpPr>
        <p:spPr>
          <a:xfrm>
            <a:off x="267873" y="4916080"/>
            <a:ext cx="6461760" cy="1681014"/>
          </a:xfrm>
        </p:spPr>
        <p:txBody>
          <a:bodyPr>
            <a:noAutofit/>
          </a:bodyPr>
          <a:lstStyle/>
          <a:p>
            <a:r>
              <a:rPr lang="en-GB" sz="3600" dirty="0">
                <a:solidFill>
                  <a:schemeClr val="bg1"/>
                </a:solidFill>
              </a:rPr>
              <a:t>Western Hub - Gorkha</a:t>
            </a:r>
          </a:p>
          <a:p>
            <a:endParaRPr lang="en-GB" sz="1800" dirty="0">
              <a:solidFill>
                <a:schemeClr val="tx2">
                  <a:lumMod val="50000"/>
                </a:schemeClr>
              </a:solidFill>
              <a:latin typeface="Arial"/>
              <a:cs typeface="Arial"/>
            </a:endParaRPr>
          </a:p>
        </p:txBody>
      </p:sp>
      <p:sp>
        <p:nvSpPr>
          <p:cNvPr id="4" name="Footer Placeholder 3"/>
          <p:cNvSpPr>
            <a:spLocks noGrp="1"/>
          </p:cNvSpPr>
          <p:nvPr>
            <p:ph type="ftr" sz="quarter" idx="11"/>
          </p:nvPr>
        </p:nvSpPr>
        <p:spPr>
          <a:xfrm rot="16200000">
            <a:off x="7152268" y="3614118"/>
            <a:ext cx="3236566" cy="365760"/>
          </a:xfrm>
        </p:spPr>
        <p:txBody>
          <a:bodyPr/>
          <a:lstStyle/>
          <a:p>
            <a:r>
              <a:rPr lang="en-US" dirty="0">
                <a:latin typeface="Arial"/>
                <a:cs typeface="Arial"/>
              </a:rPr>
              <a:t>Housing Recovery &amp; Reconstruction Platform (HRRP)</a:t>
            </a:r>
          </a:p>
        </p:txBody>
      </p:sp>
      <p:sp>
        <p:nvSpPr>
          <p:cNvPr id="6" name="文本框 5"/>
          <p:cNvSpPr txBox="1"/>
          <p:nvPr/>
        </p:nvSpPr>
        <p:spPr>
          <a:xfrm>
            <a:off x="4135903" y="5813790"/>
            <a:ext cx="3848998" cy="1200329"/>
          </a:xfrm>
          <a:prstGeom prst="rect">
            <a:avLst/>
          </a:prstGeom>
          <a:noFill/>
        </p:spPr>
        <p:txBody>
          <a:bodyPr wrap="square" rtlCol="0">
            <a:spAutoFit/>
          </a:bodyPr>
          <a:lstStyle/>
          <a:p>
            <a:r>
              <a:rPr lang="en-GB" altLang="zh-CN" dirty="0">
                <a:solidFill>
                  <a:schemeClr val="tx2">
                    <a:lumMod val="50000"/>
                  </a:schemeClr>
                </a:solidFill>
                <a:latin typeface="Arial"/>
                <a:cs typeface="Arial"/>
              </a:rPr>
              <a:t>10th Oct, 2017 </a:t>
            </a:r>
          </a:p>
          <a:p>
            <a:r>
              <a:rPr lang="en-GB" altLang="zh-CN" dirty="0">
                <a:solidFill>
                  <a:schemeClr val="tx2">
                    <a:lumMod val="50000"/>
                  </a:schemeClr>
                </a:solidFill>
                <a:latin typeface="Arial"/>
                <a:cs typeface="Arial"/>
              </a:rPr>
              <a:t>NRA/HRRP Coordination meeting</a:t>
            </a:r>
          </a:p>
          <a:p>
            <a:r>
              <a:rPr lang="en-GB" altLang="zh-CN" dirty="0">
                <a:solidFill>
                  <a:schemeClr val="tx2">
                    <a:lumMod val="50000"/>
                  </a:schemeClr>
                </a:solidFill>
                <a:latin typeface="Arial"/>
                <a:cs typeface="Arial"/>
              </a:rPr>
              <a:t>Gorkha</a:t>
            </a:r>
          </a:p>
          <a:p>
            <a:endParaRPr kumimoji="1" lang="zh-CN" altLang="en-US" dirty="0"/>
          </a:p>
        </p:txBody>
      </p:sp>
      <p:sp>
        <p:nvSpPr>
          <p:cNvPr id="11" name="文本框 10"/>
          <p:cNvSpPr txBox="1"/>
          <p:nvPr/>
        </p:nvSpPr>
        <p:spPr>
          <a:xfrm>
            <a:off x="7027450" y="69904"/>
            <a:ext cx="1398254" cy="707886"/>
          </a:xfrm>
          <a:prstGeom prst="rect">
            <a:avLst/>
          </a:prstGeom>
          <a:noFill/>
        </p:spPr>
        <p:txBody>
          <a:bodyPr wrap="square" rtlCol="0">
            <a:spAutoFit/>
          </a:bodyPr>
          <a:lstStyle/>
          <a:p>
            <a:r>
              <a:rPr kumimoji="1" lang="en-US" altLang="zh-CN" sz="4000" b="1" dirty="0">
                <a:solidFill>
                  <a:srgbClr val="183D7B"/>
                </a:solidFill>
                <a:latin typeface="Arial Narrow"/>
                <a:cs typeface="Arial Narrow"/>
              </a:rPr>
              <a:t>HRRP</a:t>
            </a:r>
            <a:endParaRPr kumimoji="1" lang="zh-CN" altLang="en-US" sz="4000" b="1" dirty="0">
              <a:solidFill>
                <a:srgbClr val="183D7B"/>
              </a:solidFill>
              <a:latin typeface="Arial Narrow"/>
              <a:cs typeface="Arial Narrow"/>
            </a:endParaRPr>
          </a:p>
        </p:txBody>
      </p:sp>
    </p:spTree>
    <p:extLst>
      <p:ext uri="{BB962C8B-B14F-4D97-AF65-F5344CB8AC3E}">
        <p14:creationId xmlns:p14="http://schemas.microsoft.com/office/powerpoint/2010/main" val="3533241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166" y="-189188"/>
            <a:ext cx="7620000" cy="1143000"/>
          </a:xfrm>
        </p:spPr>
        <p:txBody>
          <a:bodyPr/>
          <a:lstStyle/>
          <a:p>
            <a:r>
              <a:rPr lang="en-US" dirty="0"/>
              <a:t>Meeting Agenda</a:t>
            </a:r>
          </a:p>
        </p:txBody>
      </p:sp>
      <p:sp>
        <p:nvSpPr>
          <p:cNvPr id="3" name="Content Placeholder 2"/>
          <p:cNvSpPr>
            <a:spLocks noGrp="1"/>
          </p:cNvSpPr>
          <p:nvPr>
            <p:ph idx="1"/>
          </p:nvPr>
        </p:nvSpPr>
        <p:spPr>
          <a:xfrm>
            <a:off x="92765" y="488328"/>
            <a:ext cx="8058113" cy="6162261"/>
          </a:xfrm>
        </p:spPr>
        <p:txBody>
          <a:bodyPr>
            <a:noAutofit/>
          </a:bodyPr>
          <a:lstStyle/>
          <a:p>
            <a:pPr marL="114300" indent="0">
              <a:buNone/>
            </a:pPr>
            <a:r>
              <a:rPr lang="en-US" sz="1000" dirty="0"/>
              <a:t> </a:t>
            </a:r>
            <a:endParaRPr lang="en-US" sz="1000" b="1" dirty="0"/>
          </a:p>
          <a:p>
            <a:pPr marL="114300" lvl="0" indent="0">
              <a:buNone/>
            </a:pPr>
            <a:r>
              <a:rPr lang="en-US" sz="1600" b="1" dirty="0"/>
              <a:t>1. Introduction and Welcome</a:t>
            </a:r>
          </a:p>
          <a:p>
            <a:pPr marL="114300" lvl="0" indent="0">
              <a:buNone/>
            </a:pPr>
            <a:r>
              <a:rPr lang="en-US" sz="1600" b="1" dirty="0"/>
              <a:t>2. </a:t>
            </a:r>
            <a:r>
              <a:rPr lang="en-US" sz="1800" b="1" dirty="0"/>
              <a:t>NRA request and updates</a:t>
            </a:r>
          </a:p>
          <a:p>
            <a:pPr lvl="1">
              <a:buFont typeface="Wingdings" panose="05000000000000000000" pitchFamily="2" charset="2"/>
              <a:buChar char="ü"/>
            </a:pPr>
            <a:r>
              <a:rPr lang="en-US" sz="1600" dirty="0"/>
              <a:t>Recent media news about partners and clarification</a:t>
            </a:r>
          </a:p>
          <a:p>
            <a:pPr lvl="1">
              <a:buFont typeface="Wingdings" panose="05000000000000000000" pitchFamily="2" charset="2"/>
              <a:buChar char="ü"/>
            </a:pPr>
            <a:r>
              <a:rPr lang="en-US" sz="1600" dirty="0"/>
              <a:t>Joint Monitoring field visit and Rural/Municipality coordination meeting- (Action plan and invitation procedure) </a:t>
            </a:r>
          </a:p>
          <a:p>
            <a:pPr marL="114300" lvl="0" indent="0">
              <a:buNone/>
            </a:pPr>
            <a:r>
              <a:rPr lang="en-US" sz="1800" dirty="0"/>
              <a:t>3. </a:t>
            </a:r>
            <a:r>
              <a:rPr lang="en-US" sz="1800" b="1" dirty="0"/>
              <a:t>HRRP updates and Gaps</a:t>
            </a:r>
          </a:p>
          <a:p>
            <a:pPr lvl="1">
              <a:buFont typeface="Wingdings" panose="05000000000000000000" pitchFamily="2" charset="2"/>
              <a:buChar char="ü"/>
            </a:pPr>
            <a:r>
              <a:rPr lang="en-US" sz="1600" dirty="0"/>
              <a:t>  Skilled mason training(Maps)</a:t>
            </a:r>
          </a:p>
          <a:p>
            <a:pPr lvl="1">
              <a:buFont typeface="Wingdings" panose="05000000000000000000" pitchFamily="2" charset="2"/>
              <a:buChar char="ü"/>
            </a:pPr>
            <a:r>
              <a:rPr lang="en-US" sz="1600" dirty="0"/>
              <a:t>OJT/Vocational training (Maps)</a:t>
            </a:r>
          </a:p>
          <a:p>
            <a:pPr lvl="1">
              <a:buFont typeface="Wingdings" panose="05000000000000000000" pitchFamily="2" charset="2"/>
              <a:buChar char="ü"/>
            </a:pPr>
            <a:r>
              <a:rPr lang="en-US" sz="1600" dirty="0"/>
              <a:t>Door to door assistance (D2D) (Maps)</a:t>
            </a:r>
          </a:p>
          <a:p>
            <a:pPr lvl="1">
              <a:buFont typeface="Wingdings" panose="05000000000000000000" pitchFamily="2" charset="2"/>
              <a:buChar char="ü"/>
            </a:pPr>
            <a:r>
              <a:rPr lang="en-US" sz="1600" dirty="0"/>
              <a:t>Households and community orientation (Maps)</a:t>
            </a:r>
          </a:p>
          <a:p>
            <a:pPr lvl="1">
              <a:buFont typeface="Wingdings" panose="05000000000000000000" pitchFamily="2" charset="2"/>
              <a:buChar char="ü"/>
            </a:pPr>
            <a:r>
              <a:rPr lang="en-US" sz="1600" dirty="0"/>
              <a:t>NRA/HRRP/Partners’ Rural/Municipality focal point</a:t>
            </a:r>
          </a:p>
          <a:p>
            <a:pPr marL="114300" lvl="0" indent="0">
              <a:buNone/>
            </a:pPr>
            <a:r>
              <a:rPr lang="en-US" sz="1800" dirty="0"/>
              <a:t>4. </a:t>
            </a:r>
            <a:r>
              <a:rPr lang="en-US" sz="1800" b="1" dirty="0"/>
              <a:t>Support requested from partners</a:t>
            </a:r>
          </a:p>
          <a:p>
            <a:pPr lvl="1">
              <a:buFont typeface="Wingdings" panose="05000000000000000000" pitchFamily="2" charset="2"/>
              <a:buChar char="ü"/>
            </a:pPr>
            <a:r>
              <a:rPr lang="en-US" sz="1600" dirty="0"/>
              <a:t>Facilitation and transportation of PA agreement documents from wards to district</a:t>
            </a:r>
          </a:p>
          <a:p>
            <a:pPr lvl="1">
              <a:buFont typeface="Wingdings" panose="05000000000000000000" pitchFamily="2" charset="2"/>
              <a:buChar char="ü"/>
            </a:pPr>
            <a:r>
              <a:rPr lang="en-US" sz="1600" dirty="0"/>
              <a:t>Information flow (Tranche update) from District to rural municipality to ward level </a:t>
            </a:r>
          </a:p>
          <a:p>
            <a:pPr lvl="1">
              <a:buFont typeface="Wingdings" panose="05000000000000000000" pitchFamily="2" charset="2"/>
              <a:buChar char="ü"/>
            </a:pPr>
            <a:r>
              <a:rPr lang="en-US" sz="1600" dirty="0"/>
              <a:t>Volunteers manpower support for data entry if needed. </a:t>
            </a:r>
          </a:p>
          <a:p>
            <a:pPr marL="114300" lvl="0" indent="0">
              <a:buNone/>
            </a:pPr>
            <a:r>
              <a:rPr lang="en-US" sz="1800" dirty="0"/>
              <a:t>5.</a:t>
            </a:r>
            <a:r>
              <a:rPr lang="en-US" sz="1800" b="1" dirty="0"/>
              <a:t>Update about recent publication </a:t>
            </a:r>
          </a:p>
          <a:p>
            <a:pPr lvl="1">
              <a:buFont typeface="Wingdings" panose="05000000000000000000" pitchFamily="2" charset="2"/>
              <a:buChar char="ü"/>
            </a:pPr>
            <a:r>
              <a:rPr lang="en-US" sz="1600" dirty="0"/>
              <a:t>Hybrid structure manual</a:t>
            </a:r>
          </a:p>
          <a:p>
            <a:pPr lvl="1">
              <a:buFont typeface="Wingdings" panose="05000000000000000000" pitchFamily="2" charset="2"/>
              <a:buChar char="ü"/>
            </a:pPr>
            <a:r>
              <a:rPr lang="en-US" sz="1600" dirty="0"/>
              <a:t>Repair and retrofit manual for RCC and masonry structures. </a:t>
            </a:r>
          </a:p>
          <a:p>
            <a:pPr marL="114300" indent="0">
              <a:buNone/>
            </a:pPr>
            <a:r>
              <a:rPr lang="en-US" sz="1800" dirty="0"/>
              <a:t>6.   </a:t>
            </a:r>
            <a:r>
              <a:rPr lang="en-US" sz="1800" b="1" dirty="0"/>
              <a:t> AOB</a:t>
            </a:r>
          </a:p>
          <a:p>
            <a:pPr marL="114300" lvl="0" indent="0">
              <a:buNone/>
            </a:pPr>
            <a:endParaRPr lang="en-US" dirty="0"/>
          </a:p>
          <a:p>
            <a:endParaRPr lang="en-US" sz="1200" dirty="0"/>
          </a:p>
        </p:txBody>
      </p:sp>
      <p:sp>
        <p:nvSpPr>
          <p:cNvPr id="4" name="Footer Placeholder 3"/>
          <p:cNvSpPr>
            <a:spLocks noGrp="1"/>
          </p:cNvSpPr>
          <p:nvPr>
            <p:ph type="ftr" sz="quarter" idx="11"/>
          </p:nvPr>
        </p:nvSpPr>
        <p:spPr/>
        <p:txBody>
          <a:bodyPr/>
          <a:lstStyle/>
          <a:p>
            <a:r>
              <a:rPr lang="en-US"/>
              <a:t>Housing Recovery &amp; Reconstruction Platform (HRRP)</a:t>
            </a:r>
          </a:p>
        </p:txBody>
      </p:sp>
    </p:spTree>
    <p:extLst>
      <p:ext uri="{BB962C8B-B14F-4D97-AF65-F5344CB8AC3E}">
        <p14:creationId xmlns:p14="http://schemas.microsoft.com/office/powerpoint/2010/main" val="3206201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961A-0FB9-4DC0-B741-84A5C9E2F6FA}"/>
              </a:ext>
            </a:extLst>
          </p:cNvPr>
          <p:cNvSpPr>
            <a:spLocks noGrp="1"/>
          </p:cNvSpPr>
          <p:nvPr>
            <p:ph type="title"/>
          </p:nvPr>
        </p:nvSpPr>
        <p:spPr>
          <a:xfrm>
            <a:off x="457200" y="751717"/>
            <a:ext cx="7620000" cy="745779"/>
          </a:xfrm>
        </p:spPr>
        <p:txBody>
          <a:bodyPr/>
          <a:lstStyle/>
          <a:p>
            <a:r>
              <a:rPr lang="en-US" sz="4800" b="1" dirty="0"/>
              <a:t>NRA request and updates</a:t>
            </a:r>
            <a:br>
              <a:rPr lang="en-US" sz="4800" b="1" dirty="0"/>
            </a:br>
            <a:endParaRPr lang="en-US" dirty="0"/>
          </a:p>
        </p:txBody>
      </p:sp>
      <p:sp>
        <p:nvSpPr>
          <p:cNvPr id="3" name="Content Placeholder 2">
            <a:extLst>
              <a:ext uri="{FF2B5EF4-FFF2-40B4-BE49-F238E27FC236}">
                <a16:creationId xmlns:a16="http://schemas.microsoft.com/office/drawing/2014/main" id="{D61D8580-D698-4132-930E-075BAB597CE7}"/>
              </a:ext>
            </a:extLst>
          </p:cNvPr>
          <p:cNvSpPr>
            <a:spLocks noGrp="1"/>
          </p:cNvSpPr>
          <p:nvPr>
            <p:ph idx="1"/>
          </p:nvPr>
        </p:nvSpPr>
        <p:spPr>
          <a:xfrm>
            <a:off x="457200" y="1600200"/>
            <a:ext cx="7620000" cy="1871870"/>
          </a:xfrm>
        </p:spPr>
        <p:txBody>
          <a:bodyPr>
            <a:normAutofit fontScale="92500" lnSpcReduction="10000"/>
          </a:bodyPr>
          <a:lstStyle/>
          <a:p>
            <a:pPr lvl="1">
              <a:buFont typeface="Wingdings" panose="05000000000000000000" pitchFamily="2" charset="2"/>
              <a:buChar char="ü"/>
            </a:pPr>
            <a:r>
              <a:rPr lang="en-US" sz="2400" dirty="0"/>
              <a:t>Recent media news about partners and clarification</a:t>
            </a:r>
          </a:p>
          <a:p>
            <a:pPr lvl="1">
              <a:buFont typeface="Wingdings" panose="05000000000000000000" pitchFamily="2" charset="2"/>
              <a:buChar char="ü"/>
            </a:pPr>
            <a:r>
              <a:rPr lang="en-US" sz="2400" dirty="0"/>
              <a:t>Joint Monitoring field visit and Rural/Municipality coordination meeting- (Action plan and invitation procedure) </a:t>
            </a:r>
          </a:p>
          <a:p>
            <a:pPr lvl="1">
              <a:buFont typeface="Wingdings" panose="05000000000000000000" pitchFamily="2" charset="2"/>
              <a:buChar char="ü"/>
            </a:pPr>
            <a:r>
              <a:rPr lang="en-US" sz="2400" dirty="0"/>
              <a:t>Survey and Data collection (Tools to be provided)</a:t>
            </a:r>
          </a:p>
          <a:p>
            <a:endParaRPr lang="en-US" dirty="0"/>
          </a:p>
        </p:txBody>
      </p:sp>
      <p:sp>
        <p:nvSpPr>
          <p:cNvPr id="4" name="Footer Placeholder 3">
            <a:extLst>
              <a:ext uri="{FF2B5EF4-FFF2-40B4-BE49-F238E27FC236}">
                <a16:creationId xmlns:a16="http://schemas.microsoft.com/office/drawing/2014/main" id="{E85075E8-77EC-411C-A0FA-12FED331B7D0}"/>
              </a:ext>
            </a:extLst>
          </p:cNvPr>
          <p:cNvSpPr>
            <a:spLocks noGrp="1"/>
          </p:cNvSpPr>
          <p:nvPr>
            <p:ph type="ftr" sz="quarter" idx="11"/>
          </p:nvPr>
        </p:nvSpPr>
        <p:spPr/>
        <p:txBody>
          <a:bodyPr/>
          <a:lstStyle/>
          <a:p>
            <a:r>
              <a:rPr lang="en-US"/>
              <a:t>Housing Recovery &amp; Reconstruction Platform (HRRP)</a:t>
            </a:r>
          </a:p>
        </p:txBody>
      </p:sp>
    </p:spTree>
    <p:extLst>
      <p:ext uri="{BB962C8B-B14F-4D97-AF65-F5344CB8AC3E}">
        <p14:creationId xmlns:p14="http://schemas.microsoft.com/office/powerpoint/2010/main" val="1790483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District Activity Updates</a:t>
            </a:r>
          </a:p>
        </p:txBody>
      </p:sp>
      <p:sp>
        <p:nvSpPr>
          <p:cNvPr id="3" name="Content Placeholder 2"/>
          <p:cNvSpPr>
            <a:spLocks noGrp="1"/>
          </p:cNvSpPr>
          <p:nvPr>
            <p:ph idx="1"/>
          </p:nvPr>
        </p:nvSpPr>
        <p:spPr>
          <a:xfrm>
            <a:off x="457200" y="1417637"/>
            <a:ext cx="7620000" cy="5062675"/>
          </a:xfrm>
        </p:spPr>
        <p:txBody>
          <a:bodyPr/>
          <a:lstStyle/>
          <a:p>
            <a:r>
              <a:rPr lang="en-US" dirty="0"/>
              <a:t> Short training(Short training/Skilled Mason training)</a:t>
            </a:r>
          </a:p>
          <a:p>
            <a:pPr marL="114300" indent="0">
              <a:buNone/>
            </a:pPr>
            <a:endParaRPr lang="en-US" dirty="0"/>
          </a:p>
          <a:p>
            <a:pPr marL="114300" indent="0">
              <a:buNone/>
            </a:pPr>
            <a:endParaRPr lang="en-US" dirty="0"/>
          </a:p>
          <a:p>
            <a:pPr marL="114300" indent="0">
              <a:buNone/>
            </a:pPr>
            <a:endParaRPr lang="en-US" dirty="0"/>
          </a:p>
          <a:p>
            <a:r>
              <a:rPr lang="en-US" dirty="0"/>
              <a:t>Vocational training/OJT</a:t>
            </a:r>
          </a:p>
          <a:p>
            <a:endParaRPr lang="en-US" dirty="0"/>
          </a:p>
          <a:p>
            <a:endParaRPr lang="en-US" dirty="0"/>
          </a:p>
          <a:p>
            <a:endParaRPr lang="en-US" dirty="0"/>
          </a:p>
          <a:p>
            <a:endParaRPr lang="en-US" dirty="0"/>
          </a:p>
          <a:p>
            <a:r>
              <a:rPr lang="en-US" dirty="0"/>
              <a:t>Demonstration house construction</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7" name="Picture 6"/>
          <p:cNvPicPr>
            <a:picLocks noChangeAspect="1"/>
          </p:cNvPicPr>
          <p:nvPr/>
        </p:nvPicPr>
        <p:blipFill>
          <a:blip r:embed="rId2"/>
          <a:stretch>
            <a:fillRect/>
          </a:stretch>
        </p:blipFill>
        <p:spPr>
          <a:xfrm>
            <a:off x="922793" y="5353167"/>
            <a:ext cx="4550356" cy="1427034"/>
          </a:xfrm>
          <a:prstGeom prst="rect">
            <a:avLst/>
          </a:prstGeom>
        </p:spPr>
      </p:pic>
      <p:pic>
        <p:nvPicPr>
          <p:cNvPr id="8" name="Picture 7"/>
          <p:cNvPicPr>
            <a:picLocks noChangeAspect="1"/>
          </p:cNvPicPr>
          <p:nvPr/>
        </p:nvPicPr>
        <p:blipFill>
          <a:blip r:embed="rId3"/>
          <a:stretch>
            <a:fillRect/>
          </a:stretch>
        </p:blipFill>
        <p:spPr>
          <a:xfrm>
            <a:off x="1055311" y="1747662"/>
            <a:ext cx="4550357" cy="1475501"/>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400348022"/>
              </p:ext>
            </p:extLst>
          </p:nvPr>
        </p:nvGraphicFramePr>
        <p:xfrm>
          <a:off x="922792" y="3498575"/>
          <a:ext cx="4550355" cy="1524568"/>
        </p:xfrm>
        <a:graphic>
          <a:graphicData uri="http://schemas.openxmlformats.org/drawingml/2006/table">
            <a:tbl>
              <a:tblPr>
                <a:tableStyleId>{5C22544A-7EE6-4342-B048-85BDC9FD1C3A}</a:tableStyleId>
              </a:tblPr>
              <a:tblGrid>
                <a:gridCol w="1482650">
                  <a:extLst>
                    <a:ext uri="{9D8B030D-6E8A-4147-A177-3AD203B41FA5}">
                      <a16:colId xmlns:a16="http://schemas.microsoft.com/office/drawing/2014/main" val="551619795"/>
                    </a:ext>
                  </a:extLst>
                </a:gridCol>
                <a:gridCol w="1585055">
                  <a:extLst>
                    <a:ext uri="{9D8B030D-6E8A-4147-A177-3AD203B41FA5}">
                      <a16:colId xmlns:a16="http://schemas.microsoft.com/office/drawing/2014/main" val="3477673980"/>
                    </a:ext>
                  </a:extLst>
                </a:gridCol>
                <a:gridCol w="1482650">
                  <a:extLst>
                    <a:ext uri="{9D8B030D-6E8A-4147-A177-3AD203B41FA5}">
                      <a16:colId xmlns:a16="http://schemas.microsoft.com/office/drawing/2014/main" val="3572737017"/>
                    </a:ext>
                  </a:extLst>
                </a:gridCol>
              </a:tblGrid>
              <a:tr h="478083">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FF0000"/>
                          </a:solidFill>
                          <a:effectLst/>
                          <a:latin typeface="+mn-lt"/>
                        </a:rPr>
                        <a:t>Including</a:t>
                      </a:r>
                      <a:r>
                        <a:rPr lang="en-US" sz="1800" b="1" i="0" u="none" strike="noStrike" baseline="0" dirty="0">
                          <a:solidFill>
                            <a:srgbClr val="FF0000"/>
                          </a:solidFill>
                          <a:effectLst/>
                          <a:latin typeface="+mn-lt"/>
                        </a:rPr>
                        <a:t> EOI data</a:t>
                      </a:r>
                      <a:r>
                        <a:rPr lang="en-US" sz="1800" b="1" u="none" strike="noStrike" dirty="0">
                          <a:effectLst/>
                        </a:rPr>
                        <a:t> </a:t>
                      </a:r>
                      <a:endParaRPr lang="en-US" sz="1800" b="1" i="0" u="none" strike="noStrike" dirty="0">
                        <a:solidFill>
                          <a:srgbClr val="000000"/>
                        </a:solidFill>
                        <a:effectLst/>
                        <a:latin typeface="Verdana" panose="020B0604030504040204" pitchFamily="34" charset="0"/>
                      </a:endParaRPr>
                    </a:p>
                  </a:txBody>
                  <a:tcPr marL="9525" marR="9525" marT="9525" marB="0" anchor="b"/>
                </a:tc>
                <a:tc gridSpan="2">
                  <a:txBody>
                    <a:bodyPr/>
                    <a:lstStyle/>
                    <a:p>
                      <a:pPr algn="ctr" fontAlgn="ctr"/>
                      <a:r>
                        <a:rPr lang="en-US" sz="1800" b="1" u="none" strike="noStrike" dirty="0">
                          <a:effectLst/>
                        </a:rPr>
                        <a:t>Vocational</a:t>
                      </a:r>
                      <a:r>
                        <a:rPr lang="en-US" sz="1800" b="1" u="none" strike="noStrike" baseline="0" dirty="0">
                          <a:effectLst/>
                        </a:rPr>
                        <a:t> </a:t>
                      </a:r>
                      <a:r>
                        <a:rPr lang="en-US" sz="1800" b="1" u="none" strike="noStrike" dirty="0">
                          <a:effectLst/>
                        </a:rPr>
                        <a:t>training</a:t>
                      </a:r>
                      <a:endParaRPr lang="en-US" sz="1800" b="1" i="0" u="none" strike="noStrike" dirty="0">
                        <a:solidFill>
                          <a:srgbClr val="000000"/>
                        </a:solidFill>
                        <a:effectLst/>
                        <a:latin typeface="Verdana" panose="020B060403050404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3419755125"/>
                  </a:ext>
                </a:extLst>
              </a:tr>
              <a:tr h="638809">
                <a:tc>
                  <a:txBody>
                    <a:bodyPr/>
                    <a:lstStyle/>
                    <a:p>
                      <a:pPr algn="ctr" fontAlgn="ctr"/>
                      <a:r>
                        <a:rPr lang="en-US" sz="1800" b="1" i="0" u="none" strike="noStrike" dirty="0" err="1">
                          <a:solidFill>
                            <a:schemeClr val="dk1"/>
                          </a:solidFill>
                          <a:effectLst/>
                          <a:latin typeface="+mn-lt"/>
                        </a:rPr>
                        <a:t>Gorkha</a:t>
                      </a:r>
                      <a:endParaRPr lang="en-US" sz="1800" b="1" i="0" u="none" strike="noStrike" dirty="0">
                        <a:solidFill>
                          <a:srgbClr val="000000"/>
                        </a:solidFill>
                        <a:effectLst/>
                        <a:latin typeface="Verdana" panose="020B0604030504040204" pitchFamily="34" charset="0"/>
                      </a:endParaRPr>
                    </a:p>
                  </a:txBody>
                  <a:tcPr marL="9525" marR="9525" marT="9525" marB="0" anchor="ctr"/>
                </a:tc>
                <a:tc>
                  <a:txBody>
                    <a:bodyPr/>
                    <a:lstStyle/>
                    <a:p>
                      <a:pPr algn="ctr" fontAlgn="b"/>
                      <a:r>
                        <a:rPr lang="en-US" sz="1800" b="1" u="none" strike="noStrike" dirty="0">
                          <a:effectLst/>
                        </a:rPr>
                        <a:t>Total</a:t>
                      </a:r>
                      <a:br>
                        <a:rPr lang="en-US" sz="1800" b="1" u="none" strike="noStrike" dirty="0">
                          <a:effectLst/>
                        </a:rPr>
                      </a:br>
                      <a:r>
                        <a:rPr lang="en-US" sz="1800" b="1" u="none" strike="noStrike" dirty="0">
                          <a:effectLst/>
                        </a:rPr>
                        <a:t>Planned</a:t>
                      </a:r>
                      <a:endParaRPr lang="en-US" sz="1800" b="1" i="0" u="none" strike="noStrike" dirty="0">
                        <a:solidFill>
                          <a:srgbClr val="000000"/>
                        </a:solidFill>
                        <a:effectLst/>
                        <a:latin typeface="Verdana" panose="020B0604030504040204" pitchFamily="34" charset="0"/>
                      </a:endParaRPr>
                    </a:p>
                  </a:txBody>
                  <a:tcPr marL="9525" marR="9525" marT="9525" marB="0" anchor="b"/>
                </a:tc>
                <a:tc>
                  <a:txBody>
                    <a:bodyPr/>
                    <a:lstStyle/>
                    <a:p>
                      <a:pPr algn="ctr" fontAlgn="b"/>
                      <a:r>
                        <a:rPr lang="en-US" sz="1800" b="1" u="none" strike="noStrike" dirty="0">
                          <a:effectLst/>
                        </a:rPr>
                        <a:t>Total Reached</a:t>
                      </a:r>
                      <a:endParaRPr lang="en-US" sz="1800" b="1" i="0" u="none" strike="noStrike" dirty="0">
                        <a:solidFill>
                          <a:srgbClr val="000000"/>
                        </a:solidFill>
                        <a:effectLst/>
                        <a:latin typeface="Verdana" panose="020B0604030504040204" pitchFamily="34" charset="0"/>
                      </a:endParaRPr>
                    </a:p>
                  </a:txBody>
                  <a:tcPr marL="9525" marR="9525" marT="9525" marB="0" anchor="b"/>
                </a:tc>
                <a:extLst>
                  <a:ext uri="{0D108BD9-81ED-4DB2-BD59-A6C34878D82A}">
                    <a16:rowId xmlns:a16="http://schemas.microsoft.com/office/drawing/2014/main" val="332624371"/>
                  </a:ext>
                </a:extLst>
              </a:tr>
              <a:tr h="327594">
                <a:tc>
                  <a:txBody>
                    <a:bodyPr/>
                    <a:lstStyle/>
                    <a:p>
                      <a:pPr algn="ctr" fontAlgn="b"/>
                      <a:r>
                        <a:rPr lang="en-US" sz="1800" b="1" i="0" u="none" strike="noStrike" dirty="0">
                          <a:solidFill>
                            <a:schemeClr val="dk1"/>
                          </a:solidFill>
                          <a:effectLst/>
                          <a:latin typeface="+mn-lt"/>
                        </a:rPr>
                        <a:t>Total</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i="0" u="none" strike="noStrike" dirty="0">
                          <a:solidFill>
                            <a:srgbClr val="000000"/>
                          </a:solidFill>
                          <a:effectLst/>
                          <a:latin typeface="Calibri" panose="020F0502020204030204" pitchFamily="34" charset="0"/>
                        </a:rPr>
                        <a:t>4551</a:t>
                      </a:r>
                    </a:p>
                  </a:txBody>
                  <a:tcPr marL="9525" marR="9525" marT="9525" marB="0" anchor="b"/>
                </a:tc>
                <a:tc>
                  <a:txBody>
                    <a:bodyPr/>
                    <a:lstStyle/>
                    <a:p>
                      <a:pPr algn="ctr" fontAlgn="b"/>
                      <a:r>
                        <a:rPr lang="en-US" sz="1800" b="1" i="0" u="none" strike="noStrike" dirty="0">
                          <a:solidFill>
                            <a:schemeClr val="dk1"/>
                          </a:solidFill>
                          <a:effectLst/>
                          <a:latin typeface="+mn-lt"/>
                        </a:rPr>
                        <a:t>2059</a:t>
                      </a:r>
                      <a:endParaRPr lang="en-US"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29755105"/>
                  </a:ext>
                </a:extLst>
              </a:tr>
            </a:tbl>
          </a:graphicData>
        </a:graphic>
      </p:graphicFrame>
      <p:sp>
        <p:nvSpPr>
          <p:cNvPr id="5" name="TextBox 4">
            <a:extLst>
              <a:ext uri="{FF2B5EF4-FFF2-40B4-BE49-F238E27FC236}">
                <a16:creationId xmlns:a16="http://schemas.microsoft.com/office/drawing/2014/main" id="{97238555-2732-47A7-B625-77E7BBC5C142}"/>
              </a:ext>
            </a:extLst>
          </p:cNvPr>
          <p:cNvSpPr txBox="1"/>
          <p:nvPr/>
        </p:nvSpPr>
        <p:spPr>
          <a:xfrm>
            <a:off x="4452730" y="2772715"/>
            <a:ext cx="755374" cy="369332"/>
          </a:xfrm>
          <a:prstGeom prst="rect">
            <a:avLst/>
          </a:prstGeom>
          <a:solidFill>
            <a:schemeClr val="bg1"/>
          </a:solidFill>
        </p:spPr>
        <p:txBody>
          <a:bodyPr wrap="square" rtlCol="0">
            <a:spAutoFit/>
          </a:bodyPr>
          <a:lstStyle/>
          <a:p>
            <a:r>
              <a:rPr lang="en-US" b="1" dirty="0"/>
              <a:t>5103</a:t>
            </a:r>
          </a:p>
        </p:txBody>
      </p:sp>
      <p:sp>
        <p:nvSpPr>
          <p:cNvPr id="10" name="TextBox 9">
            <a:extLst>
              <a:ext uri="{FF2B5EF4-FFF2-40B4-BE49-F238E27FC236}">
                <a16:creationId xmlns:a16="http://schemas.microsoft.com/office/drawing/2014/main" id="{D4BDE826-0087-4B80-A6A6-96B2ABD8D252}"/>
              </a:ext>
            </a:extLst>
          </p:cNvPr>
          <p:cNvSpPr txBox="1"/>
          <p:nvPr/>
        </p:nvSpPr>
        <p:spPr>
          <a:xfrm>
            <a:off x="4452730" y="4667071"/>
            <a:ext cx="755374" cy="369332"/>
          </a:xfrm>
          <a:prstGeom prst="rect">
            <a:avLst/>
          </a:prstGeom>
          <a:solidFill>
            <a:schemeClr val="bg1"/>
          </a:solidFill>
        </p:spPr>
        <p:txBody>
          <a:bodyPr wrap="square" rtlCol="0">
            <a:spAutoFit/>
          </a:bodyPr>
          <a:lstStyle/>
          <a:p>
            <a:r>
              <a:rPr lang="en-US" b="1" dirty="0"/>
              <a:t>2094</a:t>
            </a:r>
          </a:p>
        </p:txBody>
      </p:sp>
      <p:sp>
        <p:nvSpPr>
          <p:cNvPr id="11" name="TextBox 10">
            <a:extLst>
              <a:ext uri="{FF2B5EF4-FFF2-40B4-BE49-F238E27FC236}">
                <a16:creationId xmlns:a16="http://schemas.microsoft.com/office/drawing/2014/main" id="{65E76BFE-296D-4891-A67E-C3E6F455E2AF}"/>
              </a:ext>
            </a:extLst>
          </p:cNvPr>
          <p:cNvSpPr txBox="1"/>
          <p:nvPr/>
        </p:nvSpPr>
        <p:spPr>
          <a:xfrm>
            <a:off x="4452730" y="6275992"/>
            <a:ext cx="755374" cy="369332"/>
          </a:xfrm>
          <a:prstGeom prst="rect">
            <a:avLst/>
          </a:prstGeom>
          <a:solidFill>
            <a:schemeClr val="bg1"/>
          </a:solidFill>
        </p:spPr>
        <p:txBody>
          <a:bodyPr wrap="square" rtlCol="0">
            <a:spAutoFit/>
          </a:bodyPr>
          <a:lstStyle/>
          <a:p>
            <a:r>
              <a:rPr lang="en-US" b="1" dirty="0"/>
              <a:t>94</a:t>
            </a:r>
          </a:p>
        </p:txBody>
      </p:sp>
    </p:spTree>
    <p:extLst>
      <p:ext uri="{BB962C8B-B14F-4D97-AF65-F5344CB8AC3E}">
        <p14:creationId xmlns:p14="http://schemas.microsoft.com/office/powerpoint/2010/main" val="4105385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22" y="-13253"/>
            <a:ext cx="8638028" cy="1192697"/>
          </a:xfrm>
        </p:spPr>
        <p:txBody>
          <a:bodyPr/>
          <a:lstStyle/>
          <a:p>
            <a:r>
              <a:rPr lang="en-US" dirty="0"/>
              <a:t>Door to door  (D2D)</a:t>
            </a:r>
            <a:br>
              <a:rPr lang="en-US" dirty="0"/>
            </a:br>
            <a:r>
              <a:rPr lang="en-US" dirty="0"/>
              <a:t>technical assistance- Gap VDCs</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11" name="Content Placeholder 10">
            <a:extLst>
              <a:ext uri="{FF2B5EF4-FFF2-40B4-BE49-F238E27FC236}">
                <a16:creationId xmlns:a16="http://schemas.microsoft.com/office/drawing/2014/main" id="{20B2535C-0D58-403E-8C97-30CBA010B5CA}"/>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278296" y="1238951"/>
            <a:ext cx="8116404" cy="5619049"/>
          </a:xfrm>
        </p:spPr>
      </p:pic>
    </p:spTree>
    <p:extLst>
      <p:ext uri="{BB962C8B-B14F-4D97-AF65-F5344CB8AC3E}">
        <p14:creationId xmlns:p14="http://schemas.microsoft.com/office/powerpoint/2010/main" val="2784862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t>Rural/Municipality Coordinator(Focal Point)</a:t>
            </a:r>
          </a:p>
        </p:txBody>
      </p:sp>
      <p:sp>
        <p:nvSpPr>
          <p:cNvPr id="3" name="Content Placeholder 2"/>
          <p:cNvSpPr>
            <a:spLocks noGrp="1"/>
          </p:cNvSpPr>
          <p:nvPr>
            <p:ph idx="1"/>
          </p:nvPr>
        </p:nvSpPr>
        <p:spPr/>
        <p:txBody>
          <a:bodyPr>
            <a:normAutofit fontScale="77500" lnSpcReduction="20000"/>
          </a:bodyPr>
          <a:lstStyle/>
          <a:p>
            <a:r>
              <a:rPr lang="en-US" dirty="0"/>
              <a:t>Based in Rural/Municipality to support and strengthen overall reconstruction process in coordination with HRRP/NRA/DLPIUs/POs/</a:t>
            </a:r>
            <a:r>
              <a:rPr lang="en-US" dirty="0" err="1"/>
              <a:t>Gaupalika</a:t>
            </a:r>
            <a:r>
              <a:rPr lang="en-US" dirty="0"/>
              <a:t>/</a:t>
            </a:r>
            <a:r>
              <a:rPr lang="en-US" dirty="0" err="1"/>
              <a:t>Nagarpalika</a:t>
            </a:r>
            <a:r>
              <a:rPr lang="en-US" dirty="0"/>
              <a:t>/Wards</a:t>
            </a:r>
          </a:p>
          <a:p>
            <a:r>
              <a:rPr lang="en-US" dirty="0"/>
              <a:t>Conduct regular technical coordination meeting at Rural municipality/Ward level to develop a common understanding amongst POs and government of comprehensive technical assistance and maintain uniformity in technical assistance and dissemination of information technical and general. </a:t>
            </a:r>
          </a:p>
          <a:p>
            <a:r>
              <a:rPr lang="en-US" dirty="0"/>
              <a:t>Work with POs to identify and document emerging technical issues, and submit to district level for advice, direction and advocacy. </a:t>
            </a:r>
          </a:p>
          <a:p>
            <a:r>
              <a:rPr lang="en-US" dirty="0"/>
              <a:t>Identify gaps or duplications in coverage of technical assistance, or quality issues in the implementation of technical assistance and work with the partners, government engineers, HRRP, rural municipality and NRA. </a:t>
            </a:r>
          </a:p>
          <a:p>
            <a:r>
              <a:rPr lang="en-US" dirty="0"/>
              <a:t>Provide training / capacity building opportunities for POs and </a:t>
            </a:r>
            <a:r>
              <a:rPr lang="en-US" dirty="0" err="1"/>
              <a:t>GoN</a:t>
            </a:r>
            <a:r>
              <a:rPr lang="en-US" dirty="0"/>
              <a:t> staff as required and orientation on reconstruction plan, policies, guideline and technical standards to all stakeholders. </a:t>
            </a:r>
          </a:p>
          <a:p>
            <a:r>
              <a:rPr lang="en-US" dirty="0"/>
              <a:t>Support and strengthen rural municipality’s capacity in terms of coordination, information management, technical assistance and overall reconstruction process. </a:t>
            </a:r>
          </a:p>
          <a:p>
            <a:r>
              <a:rPr lang="en-US" dirty="0"/>
              <a:t>Support NRA, HRRP, Local government and POs to develop strategy based on context and will support DLPIU engineers and POs technical staff for door to door assistance to increase compliance rate and construction rate. </a:t>
            </a:r>
          </a:p>
          <a:p>
            <a:endParaRPr lang="en-US" dirty="0"/>
          </a:p>
          <a:p>
            <a:pPr marL="114300" indent="0">
              <a:buNone/>
            </a:pPr>
            <a:endParaRPr lang="en-US" dirty="0"/>
          </a:p>
          <a:p>
            <a:endParaRPr lang="en-US" dirty="0"/>
          </a:p>
        </p:txBody>
      </p:sp>
      <p:sp>
        <p:nvSpPr>
          <p:cNvPr id="4" name="Footer Placeholder 3"/>
          <p:cNvSpPr>
            <a:spLocks noGrp="1"/>
          </p:cNvSpPr>
          <p:nvPr>
            <p:ph type="ftr" sz="quarter" idx="11"/>
          </p:nvPr>
        </p:nvSpPr>
        <p:spPr/>
        <p:txBody>
          <a:bodyPr/>
          <a:lstStyle/>
          <a:p>
            <a:r>
              <a:rPr lang="en-US"/>
              <a:t>Housing Recovery &amp; Reconstruction Platform (HRRP)</a:t>
            </a:r>
          </a:p>
        </p:txBody>
      </p:sp>
    </p:spTree>
    <p:extLst>
      <p:ext uri="{BB962C8B-B14F-4D97-AF65-F5344CB8AC3E}">
        <p14:creationId xmlns:p14="http://schemas.microsoft.com/office/powerpoint/2010/main" val="41847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Housing Recovery &amp; Reconstruction Platform (HRRP)</a:t>
            </a:r>
          </a:p>
        </p:txBody>
      </p:sp>
      <p:sp>
        <p:nvSpPr>
          <p:cNvPr id="5" name="Title 1"/>
          <p:cNvSpPr>
            <a:spLocks noGrp="1"/>
          </p:cNvSpPr>
          <p:nvPr>
            <p:ph idx="1"/>
          </p:nvPr>
        </p:nvSpPr>
        <p:spPr>
          <a:xfrm>
            <a:off x="543338" y="2239617"/>
            <a:ext cx="6824871" cy="5618922"/>
          </a:xfrm>
        </p:spPr>
        <p:txBody>
          <a:bodyPr>
            <a:normAutofit/>
          </a:bodyPr>
          <a:lstStyle/>
          <a:p>
            <a:pPr marL="114300" indent="0">
              <a:buNone/>
            </a:pPr>
            <a:r>
              <a:rPr lang="en-US" sz="4400" b="1" dirty="0"/>
              <a:t>Tranche release process presentation by EHRP/DCC </a:t>
            </a:r>
          </a:p>
        </p:txBody>
      </p:sp>
    </p:spTree>
    <p:extLst>
      <p:ext uri="{BB962C8B-B14F-4D97-AF65-F5344CB8AC3E}">
        <p14:creationId xmlns:p14="http://schemas.microsoft.com/office/powerpoint/2010/main" val="56062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375F-0EE7-4992-A70F-29105AFFF46B}"/>
              </a:ext>
            </a:extLst>
          </p:cNvPr>
          <p:cNvSpPr>
            <a:spLocks noGrp="1"/>
          </p:cNvSpPr>
          <p:nvPr>
            <p:ph type="title"/>
          </p:nvPr>
        </p:nvSpPr>
        <p:spPr>
          <a:xfrm>
            <a:off x="457200" y="846138"/>
            <a:ext cx="7620000" cy="1143000"/>
          </a:xfrm>
        </p:spPr>
        <p:txBody>
          <a:bodyPr/>
          <a:lstStyle/>
          <a:p>
            <a:r>
              <a:rPr lang="en-US" sz="4800" b="1" dirty="0"/>
              <a:t>Support requested from partners</a:t>
            </a:r>
            <a:br>
              <a:rPr lang="en-US" sz="4800" b="1" dirty="0"/>
            </a:br>
            <a:endParaRPr lang="en-US" dirty="0"/>
          </a:p>
        </p:txBody>
      </p:sp>
      <p:sp>
        <p:nvSpPr>
          <p:cNvPr id="3" name="Content Placeholder 2">
            <a:extLst>
              <a:ext uri="{FF2B5EF4-FFF2-40B4-BE49-F238E27FC236}">
                <a16:creationId xmlns:a16="http://schemas.microsoft.com/office/drawing/2014/main" id="{931BF098-E3D7-4D53-AE6D-F9FDCDF4C984}"/>
              </a:ext>
            </a:extLst>
          </p:cNvPr>
          <p:cNvSpPr>
            <a:spLocks noGrp="1"/>
          </p:cNvSpPr>
          <p:nvPr>
            <p:ph idx="1"/>
          </p:nvPr>
        </p:nvSpPr>
        <p:spPr>
          <a:xfrm>
            <a:off x="218661" y="2421835"/>
            <a:ext cx="7620000" cy="4800600"/>
          </a:xfrm>
        </p:spPr>
        <p:txBody>
          <a:bodyPr/>
          <a:lstStyle/>
          <a:p>
            <a:pPr lvl="1">
              <a:buFont typeface="Wingdings" panose="05000000000000000000" pitchFamily="2" charset="2"/>
              <a:buChar char="ü"/>
            </a:pPr>
            <a:r>
              <a:rPr lang="en-US" sz="2400" dirty="0"/>
              <a:t>Facilitation and transportation of PA agreement documents from wards to district</a:t>
            </a:r>
          </a:p>
          <a:p>
            <a:pPr lvl="1">
              <a:buFont typeface="Wingdings" panose="05000000000000000000" pitchFamily="2" charset="2"/>
              <a:buChar char="ü"/>
            </a:pPr>
            <a:r>
              <a:rPr lang="en-US" sz="2400" dirty="0"/>
              <a:t>Information flow (Tranche update) from District to rural municipality to ward level </a:t>
            </a:r>
          </a:p>
          <a:p>
            <a:pPr lvl="1">
              <a:buFont typeface="Wingdings" panose="05000000000000000000" pitchFamily="2" charset="2"/>
              <a:buChar char="ü"/>
            </a:pPr>
            <a:r>
              <a:rPr lang="en-US" sz="2400" dirty="0"/>
              <a:t>Volunteers manpower support for data entry if needed. </a:t>
            </a:r>
          </a:p>
          <a:p>
            <a:endParaRPr lang="en-US" dirty="0"/>
          </a:p>
        </p:txBody>
      </p:sp>
      <p:sp>
        <p:nvSpPr>
          <p:cNvPr id="4" name="Footer Placeholder 3">
            <a:extLst>
              <a:ext uri="{FF2B5EF4-FFF2-40B4-BE49-F238E27FC236}">
                <a16:creationId xmlns:a16="http://schemas.microsoft.com/office/drawing/2014/main" id="{1833FD12-4E54-46A0-A977-109AB371C86B}"/>
              </a:ext>
            </a:extLst>
          </p:cNvPr>
          <p:cNvSpPr>
            <a:spLocks noGrp="1"/>
          </p:cNvSpPr>
          <p:nvPr>
            <p:ph type="ftr" sz="quarter" idx="11"/>
          </p:nvPr>
        </p:nvSpPr>
        <p:spPr/>
        <p:txBody>
          <a:bodyPr/>
          <a:lstStyle/>
          <a:p>
            <a:r>
              <a:rPr lang="en-US"/>
              <a:t>Housing Recovery &amp; Reconstruction Platform (HRRP)</a:t>
            </a:r>
          </a:p>
        </p:txBody>
      </p:sp>
    </p:spTree>
    <p:extLst>
      <p:ext uri="{BB962C8B-B14F-4D97-AF65-F5344CB8AC3E}">
        <p14:creationId xmlns:p14="http://schemas.microsoft.com/office/powerpoint/2010/main" val="2842697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323" y="685655"/>
            <a:ext cx="7328451" cy="387771"/>
          </a:xfrm>
        </p:spPr>
        <p:txBody>
          <a:bodyPr/>
          <a:lstStyle/>
          <a:p>
            <a:pPr marL="114300"/>
            <a:br>
              <a:rPr lang="en-US" sz="4000" dirty="0"/>
            </a:br>
            <a:r>
              <a:rPr lang="en-US" sz="4000" dirty="0"/>
              <a:t>Update about recent publication</a:t>
            </a:r>
            <a:br>
              <a:rPr lang="en-US" sz="4000" b="1" dirty="0"/>
            </a:br>
            <a:br>
              <a:rPr lang="en-US" sz="4000" dirty="0"/>
            </a:br>
            <a:r>
              <a:rPr lang="en-US" sz="4000" dirty="0"/>
              <a:t>   </a:t>
            </a:r>
            <a:br>
              <a:rPr lang="en-US" sz="4000" dirty="0"/>
            </a:br>
            <a:endParaRPr lang="en-US" sz="4000" dirty="0"/>
          </a:p>
        </p:txBody>
      </p:sp>
      <p:sp>
        <p:nvSpPr>
          <p:cNvPr id="4" name="Footer Placeholder 3"/>
          <p:cNvSpPr>
            <a:spLocks noGrp="1"/>
          </p:cNvSpPr>
          <p:nvPr>
            <p:ph type="ftr" sz="quarter" idx="11"/>
          </p:nvPr>
        </p:nvSpPr>
        <p:spPr/>
        <p:txBody>
          <a:bodyPr/>
          <a:lstStyle/>
          <a:p>
            <a:r>
              <a:rPr lang="en-US"/>
              <a:t>Housing Recovery &amp; Reconstruction Platform (HRRP)</a:t>
            </a:r>
          </a:p>
        </p:txBody>
      </p:sp>
      <p:sp>
        <p:nvSpPr>
          <p:cNvPr id="3" name="TextBox 2"/>
          <p:cNvSpPr txBox="1"/>
          <p:nvPr/>
        </p:nvSpPr>
        <p:spPr>
          <a:xfrm flipV="1">
            <a:off x="1837945" y="657712"/>
            <a:ext cx="5181600" cy="831428"/>
          </a:xfrm>
          <a:prstGeom prst="rect">
            <a:avLst/>
          </a:prstGeom>
          <a:noFill/>
        </p:spPr>
        <p:txBody>
          <a:bodyPr wrap="square" rtlCol="0">
            <a:spAutoFit/>
          </a:bodyPr>
          <a:lstStyle/>
          <a:p>
            <a:pPr marL="114300" lvl="0"/>
            <a:br>
              <a:rPr lang="en-US" sz="2400" dirty="0"/>
            </a:br>
            <a:r>
              <a:rPr lang="en-US" sz="2400" dirty="0"/>
              <a:t>                                                                                                 </a:t>
            </a:r>
          </a:p>
        </p:txBody>
      </p:sp>
      <p:pic>
        <p:nvPicPr>
          <p:cNvPr id="6" name="Picture 5">
            <a:extLst>
              <a:ext uri="{FF2B5EF4-FFF2-40B4-BE49-F238E27FC236}">
                <a16:creationId xmlns:a16="http://schemas.microsoft.com/office/drawing/2014/main" id="{E2F2520F-C1C4-40D6-9CB4-49F9D3549AB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1826" y="879540"/>
            <a:ext cx="2961947" cy="4271652"/>
          </a:xfrm>
          <a:prstGeom prst="rect">
            <a:avLst/>
          </a:prstGeom>
        </p:spPr>
      </p:pic>
      <p:pic>
        <p:nvPicPr>
          <p:cNvPr id="8" name="Picture 7">
            <a:extLst>
              <a:ext uri="{FF2B5EF4-FFF2-40B4-BE49-F238E27FC236}">
                <a16:creationId xmlns:a16="http://schemas.microsoft.com/office/drawing/2014/main" id="{99EE53A0-87B8-4FFD-9050-250FB7D5E56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31806" y="879540"/>
            <a:ext cx="3107236" cy="4346024"/>
          </a:xfrm>
          <a:prstGeom prst="rect">
            <a:avLst/>
          </a:prstGeom>
        </p:spPr>
      </p:pic>
      <p:pic>
        <p:nvPicPr>
          <p:cNvPr id="10" name="Picture 9">
            <a:extLst>
              <a:ext uri="{FF2B5EF4-FFF2-40B4-BE49-F238E27FC236}">
                <a16:creationId xmlns:a16="http://schemas.microsoft.com/office/drawing/2014/main" id="{EAD63EBF-74DA-4EC7-A638-C3D7A9A90F4C}"/>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482698" y="1074381"/>
            <a:ext cx="2856324" cy="4076811"/>
          </a:xfrm>
          <a:prstGeom prst="rect">
            <a:avLst/>
          </a:prstGeom>
        </p:spPr>
      </p:pic>
    </p:spTree>
    <p:extLst>
      <p:ext uri="{BB962C8B-B14F-4D97-AF65-F5344CB8AC3E}">
        <p14:creationId xmlns:p14="http://schemas.microsoft.com/office/powerpoint/2010/main" val="3529691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Upcoming Orientation, trainings and program</a:t>
            </a:r>
          </a:p>
        </p:txBody>
      </p:sp>
      <p:sp>
        <p:nvSpPr>
          <p:cNvPr id="3" name="Content Placeholder 2"/>
          <p:cNvSpPr>
            <a:spLocks noGrp="1"/>
          </p:cNvSpPr>
          <p:nvPr>
            <p:ph idx="1"/>
          </p:nvPr>
        </p:nvSpPr>
        <p:spPr>
          <a:xfrm>
            <a:off x="457200" y="2057400"/>
            <a:ext cx="7321826" cy="990599"/>
          </a:xfrm>
        </p:spPr>
        <p:txBody>
          <a:bodyPr/>
          <a:lstStyle/>
          <a:p>
            <a:r>
              <a:rPr lang="en-US" dirty="0"/>
              <a:t>3 days technical social mobilization training (after </a:t>
            </a:r>
            <a:r>
              <a:rPr lang="en-US" dirty="0" err="1"/>
              <a:t>Tihar</a:t>
            </a:r>
            <a:r>
              <a:rPr lang="en-US" dirty="0"/>
              <a:t>)</a:t>
            </a:r>
          </a:p>
          <a:p>
            <a:r>
              <a:rPr lang="en-US" dirty="0"/>
              <a:t>Orientation on “ How to use HRRP IM products” </a:t>
            </a:r>
          </a:p>
          <a:p>
            <a:pPr marL="114300" indent="0">
              <a:buNone/>
            </a:pP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Housing Recovery &amp; Reconstruction Platform (HRRP)</a:t>
            </a:r>
          </a:p>
        </p:txBody>
      </p:sp>
    </p:spTree>
    <p:extLst>
      <p:ext uri="{BB962C8B-B14F-4D97-AF65-F5344CB8AC3E}">
        <p14:creationId xmlns:p14="http://schemas.microsoft.com/office/powerpoint/2010/main" val="2455740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0346" y="2653998"/>
            <a:ext cx="7620000" cy="1143000"/>
          </a:xfrm>
        </p:spPr>
        <p:txBody>
          <a:bodyPr/>
          <a:lstStyle/>
          <a:p>
            <a:r>
              <a:rPr kumimoji="1" lang="en-GB" altLang="zh-CN" dirty="0">
                <a:latin typeface="Arial"/>
                <a:cs typeface="Arial"/>
              </a:rPr>
              <a:t>		</a:t>
            </a:r>
            <a:r>
              <a:rPr kumimoji="1" lang="en-GB" altLang="zh-CN" sz="5400" dirty="0">
                <a:latin typeface="Arial"/>
                <a:cs typeface="Arial"/>
              </a:rPr>
              <a:t>Thank You!!</a:t>
            </a:r>
            <a:endParaRPr kumimoji="1" lang="zh-CN" altLang="en-US" dirty="0">
              <a:latin typeface="Arial"/>
              <a:cs typeface="Arial"/>
            </a:endParaRPr>
          </a:p>
        </p:txBody>
      </p:sp>
      <p:sp>
        <p:nvSpPr>
          <p:cNvPr id="5" name="Footer Placeholder 3"/>
          <p:cNvSpPr>
            <a:spLocks noGrp="1"/>
          </p:cNvSpPr>
          <p:nvPr>
            <p:ph type="ftr" sz="quarter" idx="11"/>
          </p:nvPr>
        </p:nvSpPr>
        <p:spPr>
          <a:xfrm rot="16200000">
            <a:off x="7152268" y="3614118"/>
            <a:ext cx="3236566" cy="365760"/>
          </a:xfrm>
        </p:spPr>
        <p:txBody>
          <a:bodyPr/>
          <a:lstStyle/>
          <a:p>
            <a:r>
              <a:rPr lang="en-US" dirty="0">
                <a:latin typeface="Arial"/>
                <a:cs typeface="Arial"/>
              </a:rPr>
              <a:t>Housing Recovery &amp; Reconstruction Platform (HRRP)</a:t>
            </a:r>
          </a:p>
        </p:txBody>
      </p:sp>
      <p:sp>
        <p:nvSpPr>
          <p:cNvPr id="9" name="文本框 8"/>
          <p:cNvSpPr txBox="1"/>
          <p:nvPr/>
        </p:nvSpPr>
        <p:spPr>
          <a:xfrm>
            <a:off x="7027450" y="69904"/>
            <a:ext cx="1398254" cy="707886"/>
          </a:xfrm>
          <a:prstGeom prst="rect">
            <a:avLst/>
          </a:prstGeom>
          <a:noFill/>
        </p:spPr>
        <p:txBody>
          <a:bodyPr wrap="square" rtlCol="0">
            <a:spAutoFit/>
          </a:bodyPr>
          <a:lstStyle/>
          <a:p>
            <a:r>
              <a:rPr kumimoji="1" lang="en-US" altLang="zh-CN" sz="4000" b="1" dirty="0">
                <a:solidFill>
                  <a:srgbClr val="183D7B"/>
                </a:solidFill>
                <a:latin typeface="Arial Narrow"/>
                <a:cs typeface="Arial Narrow"/>
              </a:rPr>
              <a:t>HRRP</a:t>
            </a:r>
            <a:endParaRPr kumimoji="1" lang="zh-CN" altLang="en-US" sz="4000" b="1" dirty="0">
              <a:solidFill>
                <a:srgbClr val="183D7B"/>
              </a:solidFill>
              <a:latin typeface="Arial Narrow"/>
              <a:cs typeface="Arial Narrow"/>
            </a:endParaRPr>
          </a:p>
        </p:txBody>
      </p:sp>
    </p:spTree>
    <p:extLst>
      <p:ext uri="{BB962C8B-B14F-4D97-AF65-F5344CB8AC3E}">
        <p14:creationId xmlns:p14="http://schemas.microsoft.com/office/powerpoint/2010/main" val="10273423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iacenz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6086</TotalTime>
  <Words>478</Words>
  <Application>Microsoft Office PowerPoint</Application>
  <PresentationFormat>On-screen Show (4:3)</PresentationFormat>
  <Paragraphs>87</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宋体</vt:lpstr>
      <vt:lpstr>Arial</vt:lpstr>
      <vt:lpstr>Arial Narrow</vt:lpstr>
      <vt:lpstr>Calibri</vt:lpstr>
      <vt:lpstr>Cambria</vt:lpstr>
      <vt:lpstr>Verdana</vt:lpstr>
      <vt:lpstr>Wingdings</vt:lpstr>
      <vt:lpstr>Adiacenza</vt:lpstr>
      <vt:lpstr>           NRA/HRRP GORKHA          Coordination Meeting </vt:lpstr>
      <vt:lpstr>Meeting Agenda</vt:lpstr>
      <vt:lpstr>NRA request and updates </vt:lpstr>
      <vt:lpstr>District Activity Updates</vt:lpstr>
      <vt:lpstr>Door to door  (D2D) technical assistance- Gap VDCs</vt:lpstr>
      <vt:lpstr>Rural/Municipality Coordinator(Focal Point)</vt:lpstr>
      <vt:lpstr>PowerPoint Presentation</vt:lpstr>
      <vt:lpstr>Support requested from partners </vt:lpstr>
      <vt:lpstr> Update about recent publication      </vt:lpstr>
      <vt:lpstr>Upcoming Orientation, trainings and program</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HRRP CSG Meeting</dc:title>
  <dc:creator>Jennifer</dc:creator>
  <cp:lastModifiedBy>Minar ThapaMagar</cp:lastModifiedBy>
  <cp:revision>260</cp:revision>
  <cp:lastPrinted>2016-02-18T08:18:45Z</cp:lastPrinted>
  <dcterms:created xsi:type="dcterms:W3CDTF">2016-01-17T05:06:47Z</dcterms:created>
  <dcterms:modified xsi:type="dcterms:W3CDTF">2017-10-10T04:47:45Z</dcterms:modified>
</cp:coreProperties>
</file>