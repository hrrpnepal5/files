
<file path=[Content_Types].xml><?xml version="1.0" encoding="utf-8"?>
<Types xmlns="http://schemas.openxmlformats.org/package/2006/content-types">
  <Default Extension="png" ContentType="image/png"/>
  <Default Extension="tmp"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76"/>
  </p:notesMasterIdLst>
  <p:handoutMasterIdLst>
    <p:handoutMasterId r:id="rId77"/>
  </p:handoutMasterIdLst>
  <p:sldIdLst>
    <p:sldId id="522" r:id="rId2"/>
    <p:sldId id="523" r:id="rId3"/>
    <p:sldId id="524" r:id="rId4"/>
    <p:sldId id="525" r:id="rId5"/>
    <p:sldId id="526" r:id="rId6"/>
    <p:sldId id="527" r:id="rId7"/>
    <p:sldId id="463" r:id="rId8"/>
    <p:sldId id="423" r:id="rId9"/>
    <p:sldId id="424" r:id="rId10"/>
    <p:sldId id="425" r:id="rId11"/>
    <p:sldId id="426" r:id="rId12"/>
    <p:sldId id="427" r:id="rId13"/>
    <p:sldId id="428" r:id="rId14"/>
    <p:sldId id="429" r:id="rId15"/>
    <p:sldId id="430" r:id="rId16"/>
    <p:sldId id="431" r:id="rId17"/>
    <p:sldId id="432" r:id="rId18"/>
    <p:sldId id="433" r:id="rId19"/>
    <p:sldId id="465" r:id="rId20"/>
    <p:sldId id="442" r:id="rId21"/>
    <p:sldId id="443" r:id="rId22"/>
    <p:sldId id="444" r:id="rId23"/>
    <p:sldId id="445" r:id="rId24"/>
    <p:sldId id="446" r:id="rId25"/>
    <p:sldId id="447" r:id="rId26"/>
    <p:sldId id="448" r:id="rId27"/>
    <p:sldId id="449" r:id="rId28"/>
    <p:sldId id="450" r:id="rId29"/>
    <p:sldId id="451" r:id="rId30"/>
    <p:sldId id="452" r:id="rId31"/>
    <p:sldId id="484" r:id="rId32"/>
    <p:sldId id="485" r:id="rId33"/>
    <p:sldId id="486" r:id="rId34"/>
    <p:sldId id="487" r:id="rId35"/>
    <p:sldId id="488" r:id="rId36"/>
    <p:sldId id="489" r:id="rId37"/>
    <p:sldId id="490" r:id="rId38"/>
    <p:sldId id="491" r:id="rId39"/>
    <p:sldId id="492" r:id="rId40"/>
    <p:sldId id="493" r:id="rId41"/>
    <p:sldId id="494" r:id="rId42"/>
    <p:sldId id="495" r:id="rId43"/>
    <p:sldId id="496" r:id="rId44"/>
    <p:sldId id="497" r:id="rId45"/>
    <p:sldId id="498" r:id="rId46"/>
    <p:sldId id="499" r:id="rId47"/>
    <p:sldId id="500" r:id="rId48"/>
    <p:sldId id="501" r:id="rId49"/>
    <p:sldId id="502" r:id="rId50"/>
    <p:sldId id="503" r:id="rId51"/>
    <p:sldId id="504" r:id="rId52"/>
    <p:sldId id="505" r:id="rId53"/>
    <p:sldId id="506" r:id="rId54"/>
    <p:sldId id="507" r:id="rId55"/>
    <p:sldId id="508" r:id="rId56"/>
    <p:sldId id="509" r:id="rId57"/>
    <p:sldId id="510" r:id="rId58"/>
    <p:sldId id="511" r:id="rId59"/>
    <p:sldId id="512" r:id="rId60"/>
    <p:sldId id="513" r:id="rId61"/>
    <p:sldId id="514" r:id="rId62"/>
    <p:sldId id="515" r:id="rId63"/>
    <p:sldId id="516" r:id="rId64"/>
    <p:sldId id="517" r:id="rId65"/>
    <p:sldId id="518" r:id="rId66"/>
    <p:sldId id="519" r:id="rId67"/>
    <p:sldId id="520" r:id="rId68"/>
    <p:sldId id="521" r:id="rId69"/>
    <p:sldId id="467" r:id="rId70"/>
    <p:sldId id="468" r:id="rId71"/>
    <p:sldId id="469" r:id="rId72"/>
    <p:sldId id="470" r:id="rId73"/>
    <p:sldId id="471" r:id="rId74"/>
    <p:sldId id="528" r:id="rId7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D7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87638" autoAdjust="0"/>
  </p:normalViewPr>
  <p:slideViewPr>
    <p:cSldViewPr snapToGrid="0" snapToObjects="1">
      <p:cViewPr varScale="1">
        <p:scale>
          <a:sx n="60" d="100"/>
          <a:sy n="60" d="100"/>
        </p:scale>
        <p:origin x="-1506" y="-90"/>
      </p:cViewPr>
      <p:guideLst>
        <p:guide orient="horz" pos="2160"/>
        <p:guide pos="2880"/>
      </p:guideLst>
    </p:cSldViewPr>
  </p:slideViewPr>
  <p:outlineViewPr>
    <p:cViewPr>
      <p:scale>
        <a:sx n="33" d="100"/>
        <a:sy n="33" d="100"/>
      </p:scale>
      <p:origin x="78" y="10926"/>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9B7B98-3098-4725-A81D-D1A9896ED1CD}" type="doc">
      <dgm:prSet loTypeId="urn:microsoft.com/office/officeart/2005/8/layout/radial1" loCatId="relationship" qsTypeId="urn:microsoft.com/office/officeart/2005/8/quickstyle/3d1" qsCatId="3D" csTypeId="urn:microsoft.com/office/officeart/2005/8/colors/accent1_2" csCatId="accent1" phldr="1"/>
      <dgm:spPr/>
      <dgm:t>
        <a:bodyPr/>
        <a:lstStyle/>
        <a:p>
          <a:endParaRPr lang="en-US"/>
        </a:p>
      </dgm:t>
    </dgm:pt>
    <dgm:pt modelId="{C43E6EAD-5906-4B4E-B37C-1E724F1F55DD}">
      <dgm:prSet phldrT="[Text]"/>
      <dgm:spPr/>
      <dgm:t>
        <a:bodyPr/>
        <a:lstStyle/>
        <a:p>
          <a:r>
            <a:rPr lang="en-US" dirty="0" smtClean="0"/>
            <a:t>Technical Assistance </a:t>
          </a:r>
          <a:endParaRPr lang="en-US" dirty="0"/>
        </a:p>
      </dgm:t>
    </dgm:pt>
    <dgm:pt modelId="{3090E96F-5DFA-4286-B633-45863478D35A}" type="parTrans" cxnId="{6B1DB70C-29D9-4BD5-93AE-6622060A9401}">
      <dgm:prSet/>
      <dgm:spPr/>
      <dgm:t>
        <a:bodyPr/>
        <a:lstStyle/>
        <a:p>
          <a:endParaRPr lang="en-US"/>
        </a:p>
      </dgm:t>
    </dgm:pt>
    <dgm:pt modelId="{873D187B-760C-4138-946C-2A806F218E8D}" type="sibTrans" cxnId="{6B1DB70C-29D9-4BD5-93AE-6622060A9401}">
      <dgm:prSet/>
      <dgm:spPr/>
      <dgm:t>
        <a:bodyPr/>
        <a:lstStyle/>
        <a:p>
          <a:endParaRPr lang="en-US"/>
        </a:p>
      </dgm:t>
    </dgm:pt>
    <dgm:pt modelId="{B0CF8F1B-32AC-4319-89D1-1249A8AB035A}">
      <dgm:prSet phldrT="[Text]" custT="1"/>
      <dgm:spPr>
        <a:ln>
          <a:noFill/>
        </a:ln>
      </dgm:spPr>
      <dgm:t>
        <a:bodyPr/>
        <a:lstStyle/>
        <a:p>
          <a:r>
            <a:rPr lang="en-US" sz="1400" dirty="0" smtClean="0"/>
            <a:t>Vocational</a:t>
          </a:r>
          <a:r>
            <a:rPr lang="en-US" sz="1000" dirty="0" smtClean="0"/>
            <a:t> </a:t>
          </a:r>
        </a:p>
        <a:p>
          <a:r>
            <a:rPr lang="en-US" sz="1000" dirty="0" smtClean="0"/>
            <a:t>Training </a:t>
          </a:r>
          <a:endParaRPr lang="en-US" sz="1000" dirty="0"/>
        </a:p>
      </dgm:t>
    </dgm:pt>
    <dgm:pt modelId="{F01BC970-A902-4F80-B6D9-FCA3DD4D5F2A}" type="parTrans" cxnId="{9F8F4391-CAB7-4FC3-A448-2F7F83FA6905}">
      <dgm:prSet/>
      <dgm:spPr/>
      <dgm:t>
        <a:bodyPr/>
        <a:lstStyle/>
        <a:p>
          <a:endParaRPr lang="en-US"/>
        </a:p>
      </dgm:t>
    </dgm:pt>
    <dgm:pt modelId="{31AC6401-42B5-4FF8-A7D1-2E692013BB5B}" type="sibTrans" cxnId="{9F8F4391-CAB7-4FC3-A448-2F7F83FA6905}">
      <dgm:prSet/>
      <dgm:spPr/>
      <dgm:t>
        <a:bodyPr/>
        <a:lstStyle/>
        <a:p>
          <a:endParaRPr lang="en-US"/>
        </a:p>
      </dgm:t>
    </dgm:pt>
    <dgm:pt modelId="{C9ADEBF2-3CB8-485C-B36B-CAA2B0CCECC4}">
      <dgm:prSet phldrT="[Text]" custT="1"/>
      <dgm:spPr/>
      <dgm:t>
        <a:bodyPr/>
        <a:lstStyle/>
        <a:p>
          <a:r>
            <a:rPr lang="en-US" sz="1400" dirty="0" smtClean="0"/>
            <a:t>Demo Construction</a:t>
          </a:r>
          <a:endParaRPr lang="en-US" sz="1400" dirty="0"/>
        </a:p>
      </dgm:t>
    </dgm:pt>
    <dgm:pt modelId="{1CE12781-A02B-4DE1-BE6C-83213CE1503D}" type="parTrans" cxnId="{346D10F8-CB0C-4C84-A7E3-ADC66236EDDC}">
      <dgm:prSet/>
      <dgm:spPr/>
      <dgm:t>
        <a:bodyPr/>
        <a:lstStyle/>
        <a:p>
          <a:endParaRPr lang="en-US"/>
        </a:p>
      </dgm:t>
    </dgm:pt>
    <dgm:pt modelId="{34466B73-FA27-4BEC-9492-D39C83B5F830}" type="sibTrans" cxnId="{346D10F8-CB0C-4C84-A7E3-ADC66236EDDC}">
      <dgm:prSet/>
      <dgm:spPr/>
      <dgm:t>
        <a:bodyPr/>
        <a:lstStyle/>
        <a:p>
          <a:endParaRPr lang="en-US"/>
        </a:p>
      </dgm:t>
    </dgm:pt>
    <dgm:pt modelId="{93CEE92B-E56C-4C5C-830C-6B27DC3B29BA}">
      <dgm:prSet phldrT="[Text]" custT="1"/>
      <dgm:spPr/>
      <dgm:t>
        <a:bodyPr/>
        <a:lstStyle/>
        <a:p>
          <a:r>
            <a:rPr lang="en-US" sz="1400" dirty="0" smtClean="0"/>
            <a:t>Orientation</a:t>
          </a:r>
          <a:endParaRPr lang="en-US" sz="1400" dirty="0"/>
        </a:p>
      </dgm:t>
    </dgm:pt>
    <dgm:pt modelId="{A0139516-4307-4DAF-9414-D4A4226920BA}" type="parTrans" cxnId="{0998896C-B242-40B4-8C81-35352D78ADAF}">
      <dgm:prSet/>
      <dgm:spPr/>
      <dgm:t>
        <a:bodyPr/>
        <a:lstStyle/>
        <a:p>
          <a:endParaRPr lang="en-US"/>
        </a:p>
      </dgm:t>
    </dgm:pt>
    <dgm:pt modelId="{82DE357E-EC59-4731-96C3-9DCD7CC65ED9}" type="sibTrans" cxnId="{0998896C-B242-40B4-8C81-35352D78ADAF}">
      <dgm:prSet/>
      <dgm:spPr/>
      <dgm:t>
        <a:bodyPr/>
        <a:lstStyle/>
        <a:p>
          <a:endParaRPr lang="en-US"/>
        </a:p>
      </dgm:t>
    </dgm:pt>
    <dgm:pt modelId="{C3CACDF5-1E8E-4450-9742-DF8CC6CFED48}">
      <dgm:prSet phldrT="[Text]" custT="1"/>
      <dgm:spPr/>
      <dgm:t>
        <a:bodyPr/>
        <a:lstStyle/>
        <a:p>
          <a:r>
            <a:rPr lang="en-US" sz="1600" dirty="0" smtClean="0"/>
            <a:t>D2D</a:t>
          </a:r>
        </a:p>
        <a:p>
          <a:r>
            <a:rPr lang="en-US" sz="1600" dirty="0" smtClean="0"/>
            <a:t>Tech   Support </a:t>
          </a:r>
          <a:endParaRPr lang="en-US" sz="1600" dirty="0"/>
        </a:p>
      </dgm:t>
    </dgm:pt>
    <dgm:pt modelId="{D6BA3181-68E4-48F5-8E02-0C28F1A8CEA0}" type="parTrans" cxnId="{27BB4C46-5B81-4142-9310-C1698AD00F61}">
      <dgm:prSet/>
      <dgm:spPr/>
      <dgm:t>
        <a:bodyPr/>
        <a:lstStyle/>
        <a:p>
          <a:endParaRPr lang="en-US"/>
        </a:p>
      </dgm:t>
    </dgm:pt>
    <dgm:pt modelId="{1996655D-BED7-471F-B376-CB7E46CE9141}" type="sibTrans" cxnId="{27BB4C46-5B81-4142-9310-C1698AD00F61}">
      <dgm:prSet/>
      <dgm:spPr/>
      <dgm:t>
        <a:bodyPr/>
        <a:lstStyle/>
        <a:p>
          <a:endParaRPr lang="en-US"/>
        </a:p>
      </dgm:t>
    </dgm:pt>
    <dgm:pt modelId="{242790EA-03D2-48F2-ADFC-164B1AEA1BD1}">
      <dgm:prSet custT="1"/>
      <dgm:spPr/>
      <dgm:t>
        <a:bodyPr/>
        <a:lstStyle/>
        <a:p>
          <a:r>
            <a:rPr lang="en-US" sz="1600" dirty="0" smtClean="0"/>
            <a:t>Short Training </a:t>
          </a:r>
          <a:endParaRPr lang="en-US" sz="1600" dirty="0"/>
        </a:p>
      </dgm:t>
    </dgm:pt>
    <dgm:pt modelId="{E33E03D8-A6BF-4B0C-B7DF-9A71B9D189A7}" type="parTrans" cxnId="{61D7D804-2590-4820-ACB5-9E222572C2B0}">
      <dgm:prSet/>
      <dgm:spPr/>
      <dgm:t>
        <a:bodyPr/>
        <a:lstStyle/>
        <a:p>
          <a:endParaRPr lang="en-US"/>
        </a:p>
      </dgm:t>
    </dgm:pt>
    <dgm:pt modelId="{657407DC-5780-480B-BB71-D3F680246400}" type="sibTrans" cxnId="{61D7D804-2590-4820-ACB5-9E222572C2B0}">
      <dgm:prSet/>
      <dgm:spPr/>
      <dgm:t>
        <a:bodyPr/>
        <a:lstStyle/>
        <a:p>
          <a:endParaRPr lang="en-US"/>
        </a:p>
      </dgm:t>
    </dgm:pt>
    <dgm:pt modelId="{B21B2585-A603-4796-8329-FB3930E96724}">
      <dgm:prSet custT="1"/>
      <dgm:spPr/>
      <dgm:t>
        <a:bodyPr/>
        <a:lstStyle/>
        <a:p>
          <a:r>
            <a:rPr lang="en-US" sz="1600" dirty="0" smtClean="0"/>
            <a:t>Helpdesk </a:t>
          </a:r>
          <a:endParaRPr lang="en-US" sz="1600" dirty="0"/>
        </a:p>
      </dgm:t>
    </dgm:pt>
    <dgm:pt modelId="{19610247-5475-4B57-840A-744D40EE4DED}" type="parTrans" cxnId="{DE834D46-2FDA-4FC4-A105-EA2D7654F7EC}">
      <dgm:prSet/>
      <dgm:spPr/>
      <dgm:t>
        <a:bodyPr/>
        <a:lstStyle/>
        <a:p>
          <a:endParaRPr lang="en-US"/>
        </a:p>
      </dgm:t>
    </dgm:pt>
    <dgm:pt modelId="{DB33CA2E-E51B-46BA-811D-05FA117B5B67}" type="sibTrans" cxnId="{DE834D46-2FDA-4FC4-A105-EA2D7654F7EC}">
      <dgm:prSet/>
      <dgm:spPr/>
      <dgm:t>
        <a:bodyPr/>
        <a:lstStyle/>
        <a:p>
          <a:endParaRPr lang="en-US"/>
        </a:p>
      </dgm:t>
    </dgm:pt>
    <dgm:pt modelId="{0A27D940-8D0F-40BC-A1EB-1B0BD2576346}" type="pres">
      <dgm:prSet presAssocID="{559B7B98-3098-4725-A81D-D1A9896ED1CD}" presName="cycle" presStyleCnt="0">
        <dgm:presLayoutVars>
          <dgm:chMax val="1"/>
          <dgm:dir/>
          <dgm:animLvl val="ctr"/>
          <dgm:resizeHandles val="exact"/>
        </dgm:presLayoutVars>
      </dgm:prSet>
      <dgm:spPr/>
      <dgm:t>
        <a:bodyPr/>
        <a:lstStyle/>
        <a:p>
          <a:endParaRPr lang="en-US"/>
        </a:p>
      </dgm:t>
    </dgm:pt>
    <dgm:pt modelId="{BA5AC3ED-17C7-42B9-8132-80E48806446E}" type="pres">
      <dgm:prSet presAssocID="{C43E6EAD-5906-4B4E-B37C-1E724F1F55DD}" presName="centerShape" presStyleLbl="node0" presStyleIdx="0" presStyleCnt="1"/>
      <dgm:spPr/>
      <dgm:t>
        <a:bodyPr/>
        <a:lstStyle/>
        <a:p>
          <a:endParaRPr lang="en-US"/>
        </a:p>
      </dgm:t>
    </dgm:pt>
    <dgm:pt modelId="{A654EB36-00CC-43B4-9491-475342E0016A}" type="pres">
      <dgm:prSet presAssocID="{F01BC970-A902-4F80-B6D9-FCA3DD4D5F2A}" presName="Name9" presStyleLbl="parChTrans1D2" presStyleIdx="0" presStyleCnt="6"/>
      <dgm:spPr/>
      <dgm:t>
        <a:bodyPr/>
        <a:lstStyle/>
        <a:p>
          <a:endParaRPr lang="en-US"/>
        </a:p>
      </dgm:t>
    </dgm:pt>
    <dgm:pt modelId="{41FC044A-678D-4276-8502-AAD5ACFF1E07}" type="pres">
      <dgm:prSet presAssocID="{F01BC970-A902-4F80-B6D9-FCA3DD4D5F2A}" presName="connTx" presStyleLbl="parChTrans1D2" presStyleIdx="0" presStyleCnt="6"/>
      <dgm:spPr/>
      <dgm:t>
        <a:bodyPr/>
        <a:lstStyle/>
        <a:p>
          <a:endParaRPr lang="en-US"/>
        </a:p>
      </dgm:t>
    </dgm:pt>
    <dgm:pt modelId="{CB6026CD-F3BC-429F-97B7-0AF00B0E3CA9}" type="pres">
      <dgm:prSet presAssocID="{B0CF8F1B-32AC-4319-89D1-1249A8AB035A}" presName="node" presStyleLbl="node1" presStyleIdx="0" presStyleCnt="6" custScaleX="77514" custScaleY="61463">
        <dgm:presLayoutVars>
          <dgm:bulletEnabled val="1"/>
        </dgm:presLayoutVars>
      </dgm:prSet>
      <dgm:spPr/>
      <dgm:t>
        <a:bodyPr/>
        <a:lstStyle/>
        <a:p>
          <a:endParaRPr lang="en-US"/>
        </a:p>
      </dgm:t>
    </dgm:pt>
    <dgm:pt modelId="{3FC24E66-24F6-4C02-A0ED-B8E13D2B330D}" type="pres">
      <dgm:prSet presAssocID="{1CE12781-A02B-4DE1-BE6C-83213CE1503D}" presName="Name9" presStyleLbl="parChTrans1D2" presStyleIdx="1" presStyleCnt="6"/>
      <dgm:spPr/>
      <dgm:t>
        <a:bodyPr/>
        <a:lstStyle/>
        <a:p>
          <a:endParaRPr lang="en-US"/>
        </a:p>
      </dgm:t>
    </dgm:pt>
    <dgm:pt modelId="{CD38086D-154F-4244-8DF1-4DF1C35A3A08}" type="pres">
      <dgm:prSet presAssocID="{1CE12781-A02B-4DE1-BE6C-83213CE1503D}" presName="connTx" presStyleLbl="parChTrans1D2" presStyleIdx="1" presStyleCnt="6"/>
      <dgm:spPr/>
      <dgm:t>
        <a:bodyPr/>
        <a:lstStyle/>
        <a:p>
          <a:endParaRPr lang="en-US"/>
        </a:p>
      </dgm:t>
    </dgm:pt>
    <dgm:pt modelId="{607AD247-E5A6-48AE-8CD7-1C05654C290C}" type="pres">
      <dgm:prSet presAssocID="{C9ADEBF2-3CB8-485C-B36B-CAA2B0CCECC4}" presName="node" presStyleLbl="node1" presStyleIdx="1" presStyleCnt="6" custScaleX="89210" custScaleY="61463" custRadScaleRad="128736" custRadScaleInc="-5489">
        <dgm:presLayoutVars>
          <dgm:bulletEnabled val="1"/>
        </dgm:presLayoutVars>
      </dgm:prSet>
      <dgm:spPr/>
      <dgm:t>
        <a:bodyPr/>
        <a:lstStyle/>
        <a:p>
          <a:endParaRPr lang="en-US"/>
        </a:p>
      </dgm:t>
    </dgm:pt>
    <dgm:pt modelId="{C56AE16A-F1B4-4FF5-A4AA-EEC8534C3A53}" type="pres">
      <dgm:prSet presAssocID="{A0139516-4307-4DAF-9414-D4A4226920BA}" presName="Name9" presStyleLbl="parChTrans1D2" presStyleIdx="2" presStyleCnt="6"/>
      <dgm:spPr/>
      <dgm:t>
        <a:bodyPr/>
        <a:lstStyle/>
        <a:p>
          <a:endParaRPr lang="en-US"/>
        </a:p>
      </dgm:t>
    </dgm:pt>
    <dgm:pt modelId="{AB4FB84C-E396-4676-940F-4B49447BEA87}" type="pres">
      <dgm:prSet presAssocID="{A0139516-4307-4DAF-9414-D4A4226920BA}" presName="connTx" presStyleLbl="parChTrans1D2" presStyleIdx="2" presStyleCnt="6"/>
      <dgm:spPr/>
      <dgm:t>
        <a:bodyPr/>
        <a:lstStyle/>
        <a:p>
          <a:endParaRPr lang="en-US"/>
        </a:p>
      </dgm:t>
    </dgm:pt>
    <dgm:pt modelId="{45FF4B01-7A2B-4524-B305-5AFED372C961}" type="pres">
      <dgm:prSet presAssocID="{93CEE92B-E56C-4C5C-830C-6B27DC3B29BA}" presName="node" presStyleLbl="node1" presStyleIdx="2" presStyleCnt="6" custScaleX="86277" custScaleY="61463" custRadScaleRad="112164" custRadScaleInc="16128">
        <dgm:presLayoutVars>
          <dgm:bulletEnabled val="1"/>
        </dgm:presLayoutVars>
      </dgm:prSet>
      <dgm:spPr/>
      <dgm:t>
        <a:bodyPr/>
        <a:lstStyle/>
        <a:p>
          <a:endParaRPr lang="en-US"/>
        </a:p>
      </dgm:t>
    </dgm:pt>
    <dgm:pt modelId="{4D1196C8-61AB-454E-8E19-9F3FEE0AE3FE}" type="pres">
      <dgm:prSet presAssocID="{19610247-5475-4B57-840A-744D40EE4DED}" presName="Name9" presStyleLbl="parChTrans1D2" presStyleIdx="3" presStyleCnt="6"/>
      <dgm:spPr/>
      <dgm:t>
        <a:bodyPr/>
        <a:lstStyle/>
        <a:p>
          <a:endParaRPr lang="en-US"/>
        </a:p>
      </dgm:t>
    </dgm:pt>
    <dgm:pt modelId="{16638504-87CD-4D5D-A55D-694A1E0896A8}" type="pres">
      <dgm:prSet presAssocID="{19610247-5475-4B57-840A-744D40EE4DED}" presName="connTx" presStyleLbl="parChTrans1D2" presStyleIdx="3" presStyleCnt="6"/>
      <dgm:spPr/>
      <dgm:t>
        <a:bodyPr/>
        <a:lstStyle/>
        <a:p>
          <a:endParaRPr lang="en-US"/>
        </a:p>
      </dgm:t>
    </dgm:pt>
    <dgm:pt modelId="{616A9AE5-AEDC-44FD-BDC5-A04878E9BF4C}" type="pres">
      <dgm:prSet presAssocID="{B21B2585-A603-4796-8329-FB3930E96724}" presName="node" presStyleLbl="node1" presStyleIdx="3" presStyleCnt="6" custScaleX="83514" custScaleY="61463" custRadScaleRad="96269" custRadScaleInc="-6002">
        <dgm:presLayoutVars>
          <dgm:bulletEnabled val="1"/>
        </dgm:presLayoutVars>
      </dgm:prSet>
      <dgm:spPr/>
      <dgm:t>
        <a:bodyPr/>
        <a:lstStyle/>
        <a:p>
          <a:endParaRPr lang="en-US"/>
        </a:p>
      </dgm:t>
    </dgm:pt>
    <dgm:pt modelId="{26E7CB63-17CF-401D-BACA-C93E2E8A755C}" type="pres">
      <dgm:prSet presAssocID="{D6BA3181-68E4-48F5-8E02-0C28F1A8CEA0}" presName="Name9" presStyleLbl="parChTrans1D2" presStyleIdx="4" presStyleCnt="6"/>
      <dgm:spPr/>
      <dgm:t>
        <a:bodyPr/>
        <a:lstStyle/>
        <a:p>
          <a:endParaRPr lang="en-US"/>
        </a:p>
      </dgm:t>
    </dgm:pt>
    <dgm:pt modelId="{08DE8737-2CA9-4942-A706-0DEDFC9E3C86}" type="pres">
      <dgm:prSet presAssocID="{D6BA3181-68E4-48F5-8E02-0C28F1A8CEA0}" presName="connTx" presStyleLbl="parChTrans1D2" presStyleIdx="4" presStyleCnt="6"/>
      <dgm:spPr/>
      <dgm:t>
        <a:bodyPr/>
        <a:lstStyle/>
        <a:p>
          <a:endParaRPr lang="en-US"/>
        </a:p>
      </dgm:t>
    </dgm:pt>
    <dgm:pt modelId="{4DF0B5C5-E67C-493C-B363-0CE125EB3E0D}" type="pres">
      <dgm:prSet presAssocID="{C3CACDF5-1E8E-4450-9742-DF8CC6CFED48}" presName="node" presStyleLbl="node1" presStyleIdx="4" presStyleCnt="6" custScaleX="61463" custScaleY="61463" custRadScaleRad="114793" custRadScaleInc="-954">
        <dgm:presLayoutVars>
          <dgm:bulletEnabled val="1"/>
        </dgm:presLayoutVars>
      </dgm:prSet>
      <dgm:spPr/>
      <dgm:t>
        <a:bodyPr/>
        <a:lstStyle/>
        <a:p>
          <a:endParaRPr lang="en-US"/>
        </a:p>
      </dgm:t>
    </dgm:pt>
    <dgm:pt modelId="{E7CEE898-3C91-43DA-A5C6-8DBFEB91EAAB}" type="pres">
      <dgm:prSet presAssocID="{E33E03D8-A6BF-4B0C-B7DF-9A71B9D189A7}" presName="Name9" presStyleLbl="parChTrans1D2" presStyleIdx="5" presStyleCnt="6"/>
      <dgm:spPr/>
      <dgm:t>
        <a:bodyPr/>
        <a:lstStyle/>
        <a:p>
          <a:endParaRPr lang="en-US"/>
        </a:p>
      </dgm:t>
    </dgm:pt>
    <dgm:pt modelId="{7C449F49-8DFE-43F8-820A-09BB838918E1}" type="pres">
      <dgm:prSet presAssocID="{E33E03D8-A6BF-4B0C-B7DF-9A71B9D189A7}" presName="connTx" presStyleLbl="parChTrans1D2" presStyleIdx="5" presStyleCnt="6"/>
      <dgm:spPr/>
      <dgm:t>
        <a:bodyPr/>
        <a:lstStyle/>
        <a:p>
          <a:endParaRPr lang="en-US"/>
        </a:p>
      </dgm:t>
    </dgm:pt>
    <dgm:pt modelId="{AE6B18F8-3744-49DC-A584-9B4EC71E9156}" type="pres">
      <dgm:prSet presAssocID="{242790EA-03D2-48F2-ADFC-164B1AEA1BD1}" presName="node" presStyleLbl="node1" presStyleIdx="5" presStyleCnt="6" custScaleX="61463" custScaleY="61463" custRadScaleRad="126386" custRadScaleInc="3965">
        <dgm:presLayoutVars>
          <dgm:bulletEnabled val="1"/>
        </dgm:presLayoutVars>
      </dgm:prSet>
      <dgm:spPr/>
      <dgm:t>
        <a:bodyPr/>
        <a:lstStyle/>
        <a:p>
          <a:endParaRPr lang="en-US"/>
        </a:p>
      </dgm:t>
    </dgm:pt>
  </dgm:ptLst>
  <dgm:cxnLst>
    <dgm:cxn modelId="{FF644032-5561-4DDA-99C5-4484F57595D8}" type="presOf" srcId="{B0CF8F1B-32AC-4319-89D1-1249A8AB035A}" destId="{CB6026CD-F3BC-429F-97B7-0AF00B0E3CA9}" srcOrd="0" destOrd="0" presId="urn:microsoft.com/office/officeart/2005/8/layout/radial1"/>
    <dgm:cxn modelId="{5FAE6615-216C-4E3B-97EF-A2169BD40803}" type="presOf" srcId="{F01BC970-A902-4F80-B6D9-FCA3DD4D5F2A}" destId="{A654EB36-00CC-43B4-9491-475342E0016A}" srcOrd="0" destOrd="0" presId="urn:microsoft.com/office/officeart/2005/8/layout/radial1"/>
    <dgm:cxn modelId="{62E82347-8CDF-4631-8AAA-74975E92E0FB}" type="presOf" srcId="{19610247-5475-4B57-840A-744D40EE4DED}" destId="{4D1196C8-61AB-454E-8E19-9F3FEE0AE3FE}" srcOrd="0" destOrd="0" presId="urn:microsoft.com/office/officeart/2005/8/layout/radial1"/>
    <dgm:cxn modelId="{BB95BAF4-9E7B-4F42-A2A2-BF30D2E39C1F}" type="presOf" srcId="{D6BA3181-68E4-48F5-8E02-0C28F1A8CEA0}" destId="{26E7CB63-17CF-401D-BACA-C93E2E8A755C}" srcOrd="0" destOrd="0" presId="urn:microsoft.com/office/officeart/2005/8/layout/radial1"/>
    <dgm:cxn modelId="{0D72427B-22D9-4AEF-BE98-56AD28FC3C57}" type="presOf" srcId="{242790EA-03D2-48F2-ADFC-164B1AEA1BD1}" destId="{AE6B18F8-3744-49DC-A584-9B4EC71E9156}" srcOrd="0" destOrd="0" presId="urn:microsoft.com/office/officeart/2005/8/layout/radial1"/>
    <dgm:cxn modelId="{FAB7E40A-A4E7-4AB4-8F7E-9D0D4A966FD1}" type="presOf" srcId="{93CEE92B-E56C-4C5C-830C-6B27DC3B29BA}" destId="{45FF4B01-7A2B-4524-B305-5AFED372C961}" srcOrd="0" destOrd="0" presId="urn:microsoft.com/office/officeart/2005/8/layout/radial1"/>
    <dgm:cxn modelId="{61D7D804-2590-4820-ACB5-9E222572C2B0}" srcId="{C43E6EAD-5906-4B4E-B37C-1E724F1F55DD}" destId="{242790EA-03D2-48F2-ADFC-164B1AEA1BD1}" srcOrd="5" destOrd="0" parTransId="{E33E03D8-A6BF-4B0C-B7DF-9A71B9D189A7}" sibTransId="{657407DC-5780-480B-BB71-D3F680246400}"/>
    <dgm:cxn modelId="{98E30402-AC68-41F2-87E3-64AE119AB82F}" type="presOf" srcId="{D6BA3181-68E4-48F5-8E02-0C28F1A8CEA0}" destId="{08DE8737-2CA9-4942-A706-0DEDFC9E3C86}" srcOrd="1" destOrd="0" presId="urn:microsoft.com/office/officeart/2005/8/layout/radial1"/>
    <dgm:cxn modelId="{97C606CC-0C9B-48C7-928C-E3B7B08E69DB}" type="presOf" srcId="{C9ADEBF2-3CB8-485C-B36B-CAA2B0CCECC4}" destId="{607AD247-E5A6-48AE-8CD7-1C05654C290C}" srcOrd="0" destOrd="0" presId="urn:microsoft.com/office/officeart/2005/8/layout/radial1"/>
    <dgm:cxn modelId="{346D10F8-CB0C-4C84-A7E3-ADC66236EDDC}" srcId="{C43E6EAD-5906-4B4E-B37C-1E724F1F55DD}" destId="{C9ADEBF2-3CB8-485C-B36B-CAA2B0CCECC4}" srcOrd="1" destOrd="0" parTransId="{1CE12781-A02B-4DE1-BE6C-83213CE1503D}" sibTransId="{34466B73-FA27-4BEC-9492-D39C83B5F830}"/>
    <dgm:cxn modelId="{0998896C-B242-40B4-8C81-35352D78ADAF}" srcId="{C43E6EAD-5906-4B4E-B37C-1E724F1F55DD}" destId="{93CEE92B-E56C-4C5C-830C-6B27DC3B29BA}" srcOrd="2" destOrd="0" parTransId="{A0139516-4307-4DAF-9414-D4A4226920BA}" sibTransId="{82DE357E-EC59-4731-96C3-9DCD7CC65ED9}"/>
    <dgm:cxn modelId="{23E8DE66-617C-4B72-9590-FF50E1275D19}" type="presOf" srcId="{B21B2585-A603-4796-8329-FB3930E96724}" destId="{616A9AE5-AEDC-44FD-BDC5-A04878E9BF4C}" srcOrd="0" destOrd="0" presId="urn:microsoft.com/office/officeart/2005/8/layout/radial1"/>
    <dgm:cxn modelId="{FB0CD10D-79F1-4882-A808-051B0B986118}" type="presOf" srcId="{A0139516-4307-4DAF-9414-D4A4226920BA}" destId="{C56AE16A-F1B4-4FF5-A4AA-EEC8534C3A53}" srcOrd="0" destOrd="0" presId="urn:microsoft.com/office/officeart/2005/8/layout/radial1"/>
    <dgm:cxn modelId="{D7B64C44-2D38-4B99-AB71-C0F9E9B3E57E}" type="presOf" srcId="{19610247-5475-4B57-840A-744D40EE4DED}" destId="{16638504-87CD-4D5D-A55D-694A1E0896A8}" srcOrd="1" destOrd="0" presId="urn:microsoft.com/office/officeart/2005/8/layout/radial1"/>
    <dgm:cxn modelId="{E7AA8049-01E9-4BF6-9412-4A148E93F8B6}" type="presOf" srcId="{1CE12781-A02B-4DE1-BE6C-83213CE1503D}" destId="{3FC24E66-24F6-4C02-A0ED-B8E13D2B330D}" srcOrd="0" destOrd="0" presId="urn:microsoft.com/office/officeart/2005/8/layout/radial1"/>
    <dgm:cxn modelId="{DE834D46-2FDA-4FC4-A105-EA2D7654F7EC}" srcId="{C43E6EAD-5906-4B4E-B37C-1E724F1F55DD}" destId="{B21B2585-A603-4796-8329-FB3930E96724}" srcOrd="3" destOrd="0" parTransId="{19610247-5475-4B57-840A-744D40EE4DED}" sibTransId="{DB33CA2E-E51B-46BA-811D-05FA117B5B67}"/>
    <dgm:cxn modelId="{87FB3719-6A37-4712-8A5D-41241DED2E65}" type="presOf" srcId="{E33E03D8-A6BF-4B0C-B7DF-9A71B9D189A7}" destId="{E7CEE898-3C91-43DA-A5C6-8DBFEB91EAAB}" srcOrd="0" destOrd="0" presId="urn:microsoft.com/office/officeart/2005/8/layout/radial1"/>
    <dgm:cxn modelId="{9F8F4391-CAB7-4FC3-A448-2F7F83FA6905}" srcId="{C43E6EAD-5906-4B4E-B37C-1E724F1F55DD}" destId="{B0CF8F1B-32AC-4319-89D1-1249A8AB035A}" srcOrd="0" destOrd="0" parTransId="{F01BC970-A902-4F80-B6D9-FCA3DD4D5F2A}" sibTransId="{31AC6401-42B5-4FF8-A7D1-2E692013BB5B}"/>
    <dgm:cxn modelId="{30439706-B1DE-42C0-8F71-41A04751C8E5}" type="presOf" srcId="{559B7B98-3098-4725-A81D-D1A9896ED1CD}" destId="{0A27D940-8D0F-40BC-A1EB-1B0BD2576346}" srcOrd="0" destOrd="0" presId="urn:microsoft.com/office/officeart/2005/8/layout/radial1"/>
    <dgm:cxn modelId="{0DBCD80F-7C99-4345-80DC-33B5F9A44DB1}" type="presOf" srcId="{A0139516-4307-4DAF-9414-D4A4226920BA}" destId="{AB4FB84C-E396-4676-940F-4B49447BEA87}" srcOrd="1" destOrd="0" presId="urn:microsoft.com/office/officeart/2005/8/layout/radial1"/>
    <dgm:cxn modelId="{6B1DB70C-29D9-4BD5-93AE-6622060A9401}" srcId="{559B7B98-3098-4725-A81D-D1A9896ED1CD}" destId="{C43E6EAD-5906-4B4E-B37C-1E724F1F55DD}" srcOrd="0" destOrd="0" parTransId="{3090E96F-5DFA-4286-B633-45863478D35A}" sibTransId="{873D187B-760C-4138-946C-2A806F218E8D}"/>
    <dgm:cxn modelId="{593E2EB2-9A3E-4406-9907-3EF73DA37C81}" type="presOf" srcId="{1CE12781-A02B-4DE1-BE6C-83213CE1503D}" destId="{CD38086D-154F-4244-8DF1-4DF1C35A3A08}" srcOrd="1" destOrd="0" presId="urn:microsoft.com/office/officeart/2005/8/layout/radial1"/>
    <dgm:cxn modelId="{27BB4C46-5B81-4142-9310-C1698AD00F61}" srcId="{C43E6EAD-5906-4B4E-B37C-1E724F1F55DD}" destId="{C3CACDF5-1E8E-4450-9742-DF8CC6CFED48}" srcOrd="4" destOrd="0" parTransId="{D6BA3181-68E4-48F5-8E02-0C28F1A8CEA0}" sibTransId="{1996655D-BED7-471F-B376-CB7E46CE9141}"/>
    <dgm:cxn modelId="{470385E5-5AD3-4181-B572-375488BE62E2}" type="presOf" srcId="{C3CACDF5-1E8E-4450-9742-DF8CC6CFED48}" destId="{4DF0B5C5-E67C-493C-B363-0CE125EB3E0D}" srcOrd="0" destOrd="0" presId="urn:microsoft.com/office/officeart/2005/8/layout/radial1"/>
    <dgm:cxn modelId="{609A93D1-0590-4872-943E-14419D8489CA}" type="presOf" srcId="{E33E03D8-A6BF-4B0C-B7DF-9A71B9D189A7}" destId="{7C449F49-8DFE-43F8-820A-09BB838918E1}" srcOrd="1" destOrd="0" presId="urn:microsoft.com/office/officeart/2005/8/layout/radial1"/>
    <dgm:cxn modelId="{0C86527F-B898-4EF6-A023-597391E9B8D2}" type="presOf" srcId="{F01BC970-A902-4F80-B6D9-FCA3DD4D5F2A}" destId="{41FC044A-678D-4276-8502-AAD5ACFF1E07}" srcOrd="1" destOrd="0" presId="urn:microsoft.com/office/officeart/2005/8/layout/radial1"/>
    <dgm:cxn modelId="{D4F5584E-28F9-450C-AD11-19A98FB4DEDA}" type="presOf" srcId="{C43E6EAD-5906-4B4E-B37C-1E724F1F55DD}" destId="{BA5AC3ED-17C7-42B9-8132-80E48806446E}" srcOrd="0" destOrd="0" presId="urn:microsoft.com/office/officeart/2005/8/layout/radial1"/>
    <dgm:cxn modelId="{D6E328F2-FF04-45F0-A0BE-D76E42108F6C}" type="presParOf" srcId="{0A27D940-8D0F-40BC-A1EB-1B0BD2576346}" destId="{BA5AC3ED-17C7-42B9-8132-80E48806446E}" srcOrd="0" destOrd="0" presId="urn:microsoft.com/office/officeart/2005/8/layout/radial1"/>
    <dgm:cxn modelId="{455393B1-4A0C-48FB-B82A-9DFC5C754BE8}" type="presParOf" srcId="{0A27D940-8D0F-40BC-A1EB-1B0BD2576346}" destId="{A654EB36-00CC-43B4-9491-475342E0016A}" srcOrd="1" destOrd="0" presId="urn:microsoft.com/office/officeart/2005/8/layout/radial1"/>
    <dgm:cxn modelId="{5341CE9A-C290-41D3-9516-73B667685A45}" type="presParOf" srcId="{A654EB36-00CC-43B4-9491-475342E0016A}" destId="{41FC044A-678D-4276-8502-AAD5ACFF1E07}" srcOrd="0" destOrd="0" presId="urn:microsoft.com/office/officeart/2005/8/layout/radial1"/>
    <dgm:cxn modelId="{845EC97D-CE0D-489F-88A8-E88FAD2C29DE}" type="presParOf" srcId="{0A27D940-8D0F-40BC-A1EB-1B0BD2576346}" destId="{CB6026CD-F3BC-429F-97B7-0AF00B0E3CA9}" srcOrd="2" destOrd="0" presId="urn:microsoft.com/office/officeart/2005/8/layout/radial1"/>
    <dgm:cxn modelId="{B5E68222-8E83-4CE9-99C6-CF8287B2B583}" type="presParOf" srcId="{0A27D940-8D0F-40BC-A1EB-1B0BD2576346}" destId="{3FC24E66-24F6-4C02-A0ED-B8E13D2B330D}" srcOrd="3" destOrd="0" presId="urn:microsoft.com/office/officeart/2005/8/layout/radial1"/>
    <dgm:cxn modelId="{3DBEC6AD-F176-4A8D-BEEF-241CE4B8EB68}" type="presParOf" srcId="{3FC24E66-24F6-4C02-A0ED-B8E13D2B330D}" destId="{CD38086D-154F-4244-8DF1-4DF1C35A3A08}" srcOrd="0" destOrd="0" presId="urn:microsoft.com/office/officeart/2005/8/layout/radial1"/>
    <dgm:cxn modelId="{C2FCE48E-CE06-4DCB-896C-1B0B3AAD4A8C}" type="presParOf" srcId="{0A27D940-8D0F-40BC-A1EB-1B0BD2576346}" destId="{607AD247-E5A6-48AE-8CD7-1C05654C290C}" srcOrd="4" destOrd="0" presId="urn:microsoft.com/office/officeart/2005/8/layout/radial1"/>
    <dgm:cxn modelId="{EE33DEF6-EE49-47D4-8803-CF72DB9D9EB1}" type="presParOf" srcId="{0A27D940-8D0F-40BC-A1EB-1B0BD2576346}" destId="{C56AE16A-F1B4-4FF5-A4AA-EEC8534C3A53}" srcOrd="5" destOrd="0" presId="urn:microsoft.com/office/officeart/2005/8/layout/radial1"/>
    <dgm:cxn modelId="{F4C9AF00-7040-4941-B7E2-02889CE67B52}" type="presParOf" srcId="{C56AE16A-F1B4-4FF5-A4AA-EEC8534C3A53}" destId="{AB4FB84C-E396-4676-940F-4B49447BEA87}" srcOrd="0" destOrd="0" presId="urn:microsoft.com/office/officeart/2005/8/layout/radial1"/>
    <dgm:cxn modelId="{16FAB085-161E-4A91-8344-009314C305BF}" type="presParOf" srcId="{0A27D940-8D0F-40BC-A1EB-1B0BD2576346}" destId="{45FF4B01-7A2B-4524-B305-5AFED372C961}" srcOrd="6" destOrd="0" presId="urn:microsoft.com/office/officeart/2005/8/layout/radial1"/>
    <dgm:cxn modelId="{6BAA4411-DA16-403D-8477-493F3718514A}" type="presParOf" srcId="{0A27D940-8D0F-40BC-A1EB-1B0BD2576346}" destId="{4D1196C8-61AB-454E-8E19-9F3FEE0AE3FE}" srcOrd="7" destOrd="0" presId="urn:microsoft.com/office/officeart/2005/8/layout/radial1"/>
    <dgm:cxn modelId="{713FB9B0-4C2A-4D6E-864E-90486603EF0E}" type="presParOf" srcId="{4D1196C8-61AB-454E-8E19-9F3FEE0AE3FE}" destId="{16638504-87CD-4D5D-A55D-694A1E0896A8}" srcOrd="0" destOrd="0" presId="urn:microsoft.com/office/officeart/2005/8/layout/radial1"/>
    <dgm:cxn modelId="{D124AC15-7F96-4983-A9AC-C70661ABD5B7}" type="presParOf" srcId="{0A27D940-8D0F-40BC-A1EB-1B0BD2576346}" destId="{616A9AE5-AEDC-44FD-BDC5-A04878E9BF4C}" srcOrd="8" destOrd="0" presId="urn:microsoft.com/office/officeart/2005/8/layout/radial1"/>
    <dgm:cxn modelId="{E0613064-D5BF-4FCE-9E13-52577E4A7C88}" type="presParOf" srcId="{0A27D940-8D0F-40BC-A1EB-1B0BD2576346}" destId="{26E7CB63-17CF-401D-BACA-C93E2E8A755C}" srcOrd="9" destOrd="0" presId="urn:microsoft.com/office/officeart/2005/8/layout/radial1"/>
    <dgm:cxn modelId="{3FB8717A-79D0-4FFE-A1B4-99FF56E7ABE8}" type="presParOf" srcId="{26E7CB63-17CF-401D-BACA-C93E2E8A755C}" destId="{08DE8737-2CA9-4942-A706-0DEDFC9E3C86}" srcOrd="0" destOrd="0" presId="urn:microsoft.com/office/officeart/2005/8/layout/radial1"/>
    <dgm:cxn modelId="{31316F61-753D-42D9-98A4-5544B5E33482}" type="presParOf" srcId="{0A27D940-8D0F-40BC-A1EB-1B0BD2576346}" destId="{4DF0B5C5-E67C-493C-B363-0CE125EB3E0D}" srcOrd="10" destOrd="0" presId="urn:microsoft.com/office/officeart/2005/8/layout/radial1"/>
    <dgm:cxn modelId="{1C18F646-1BA6-4CDE-B873-C5B6A79996D6}" type="presParOf" srcId="{0A27D940-8D0F-40BC-A1EB-1B0BD2576346}" destId="{E7CEE898-3C91-43DA-A5C6-8DBFEB91EAAB}" srcOrd="11" destOrd="0" presId="urn:microsoft.com/office/officeart/2005/8/layout/radial1"/>
    <dgm:cxn modelId="{84DD8AD8-5E23-44E1-A37D-EB8B2367B497}" type="presParOf" srcId="{E7CEE898-3C91-43DA-A5C6-8DBFEB91EAAB}" destId="{7C449F49-8DFE-43F8-820A-09BB838918E1}" srcOrd="0" destOrd="0" presId="urn:microsoft.com/office/officeart/2005/8/layout/radial1"/>
    <dgm:cxn modelId="{3293F4AA-F1A9-4284-BE59-54ED49E9F08E}" type="presParOf" srcId="{0A27D940-8D0F-40BC-A1EB-1B0BD2576346}" destId="{AE6B18F8-3744-49DC-A584-9B4EC71E9156}" srcOrd="12"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5AC3ED-17C7-42B9-8132-80E48806446E}">
      <dsp:nvSpPr>
        <dsp:cNvPr id="0" name=""/>
        <dsp:cNvSpPr/>
      </dsp:nvSpPr>
      <dsp:spPr>
        <a:xfrm>
          <a:off x="3220484" y="2123534"/>
          <a:ext cx="1614468" cy="1614468"/>
        </a:xfrm>
        <a:prstGeom prst="ellipse">
          <a:avLst/>
        </a:prstGeom>
        <a:solidFill>
          <a:schemeClr val="accent1">
            <a:hueOff val="0"/>
            <a:satOff val="0"/>
            <a:lumOff val="0"/>
            <a:alphaOff val="0"/>
          </a:schemeClr>
        </a:solidFill>
        <a:ln>
          <a:noFill/>
        </a:ln>
        <a:effectLst>
          <a:outerShdw blurRad="50800" dist="25400" algn="bl"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t>Technical Assistance </a:t>
          </a:r>
          <a:endParaRPr lang="en-US" sz="2000" kern="1200" dirty="0"/>
        </a:p>
      </dsp:txBody>
      <dsp:txXfrm>
        <a:off x="3456917" y="2359967"/>
        <a:ext cx="1141602" cy="1141602"/>
      </dsp:txXfrm>
    </dsp:sp>
    <dsp:sp modelId="{A654EB36-00CC-43B4-9491-475342E0016A}">
      <dsp:nvSpPr>
        <dsp:cNvPr id="0" name=""/>
        <dsp:cNvSpPr/>
      </dsp:nvSpPr>
      <dsp:spPr>
        <a:xfrm rot="16200000">
          <a:off x="3628725" y="1706991"/>
          <a:ext cx="797987" cy="35099"/>
        </a:xfrm>
        <a:custGeom>
          <a:avLst/>
          <a:gdLst/>
          <a:ahLst/>
          <a:cxnLst/>
          <a:rect l="0" t="0" r="0" b="0"/>
          <a:pathLst>
            <a:path>
              <a:moveTo>
                <a:pt x="0" y="17549"/>
              </a:moveTo>
              <a:lnTo>
                <a:pt x="797987" y="17549"/>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007769" y="1704591"/>
        <a:ext cx="39899" cy="39899"/>
      </dsp:txXfrm>
    </dsp:sp>
    <dsp:sp modelId="{CB6026CD-F3BC-429F-97B7-0AF00B0E3CA9}">
      <dsp:nvSpPr>
        <dsp:cNvPr id="0" name=""/>
        <dsp:cNvSpPr/>
      </dsp:nvSpPr>
      <dsp:spPr>
        <a:xfrm>
          <a:off x="3401999" y="333246"/>
          <a:ext cx="1251439" cy="992301"/>
        </a:xfrm>
        <a:prstGeom prst="ellipse">
          <a:avLst/>
        </a:prstGeom>
        <a:solidFill>
          <a:schemeClr val="accent1">
            <a:hueOff val="0"/>
            <a:satOff val="0"/>
            <a:lumOff val="0"/>
            <a:alphaOff val="0"/>
          </a:schemeClr>
        </a:solidFill>
        <a:ln>
          <a:noFill/>
        </a:ln>
        <a:effectLst>
          <a:outerShdw blurRad="50800" dist="25400" algn="bl"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Vocational</a:t>
          </a:r>
          <a:r>
            <a:rPr lang="en-US" sz="1000" kern="1200" dirty="0" smtClean="0"/>
            <a:t> </a:t>
          </a:r>
        </a:p>
        <a:p>
          <a:pPr lvl="0" algn="ctr" defTabSz="622300">
            <a:lnSpc>
              <a:spcPct val="90000"/>
            </a:lnSpc>
            <a:spcBef>
              <a:spcPct val="0"/>
            </a:spcBef>
            <a:spcAft>
              <a:spcPct val="35000"/>
            </a:spcAft>
          </a:pPr>
          <a:r>
            <a:rPr lang="en-US" sz="1000" kern="1200" dirty="0" smtClean="0"/>
            <a:t>Training </a:t>
          </a:r>
          <a:endParaRPr lang="en-US" sz="1000" kern="1200" dirty="0"/>
        </a:p>
      </dsp:txBody>
      <dsp:txXfrm>
        <a:off x="3585268" y="478565"/>
        <a:ext cx="884901" cy="701663"/>
      </dsp:txXfrm>
    </dsp:sp>
    <dsp:sp modelId="{3FC24E66-24F6-4C02-A0ED-B8E13D2B330D}">
      <dsp:nvSpPr>
        <dsp:cNvPr id="0" name=""/>
        <dsp:cNvSpPr/>
      </dsp:nvSpPr>
      <dsp:spPr>
        <a:xfrm rot="19701198">
          <a:off x="4620677" y="2157158"/>
          <a:ext cx="1267517" cy="35099"/>
        </a:xfrm>
        <a:custGeom>
          <a:avLst/>
          <a:gdLst/>
          <a:ahLst/>
          <a:cxnLst/>
          <a:rect l="0" t="0" r="0" b="0"/>
          <a:pathLst>
            <a:path>
              <a:moveTo>
                <a:pt x="0" y="17549"/>
              </a:moveTo>
              <a:lnTo>
                <a:pt x="1267517" y="17549"/>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22748" y="2143020"/>
        <a:ext cx="63375" cy="63375"/>
      </dsp:txXfrm>
    </dsp:sp>
    <dsp:sp modelId="{607AD247-E5A6-48AE-8CD7-1C05654C290C}">
      <dsp:nvSpPr>
        <dsp:cNvPr id="0" name=""/>
        <dsp:cNvSpPr/>
      </dsp:nvSpPr>
      <dsp:spPr>
        <a:xfrm>
          <a:off x="5610540" y="1015242"/>
          <a:ext cx="1440267" cy="992301"/>
        </a:xfrm>
        <a:prstGeom prst="ellipse">
          <a:avLst/>
        </a:prstGeom>
        <a:solidFill>
          <a:schemeClr val="accent1">
            <a:hueOff val="0"/>
            <a:satOff val="0"/>
            <a:lumOff val="0"/>
            <a:alphaOff val="0"/>
          </a:schemeClr>
        </a:solidFill>
        <a:ln>
          <a:noFill/>
        </a:ln>
        <a:effectLst>
          <a:outerShdw blurRad="50800" dist="25400" algn="bl"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Demo Construction</a:t>
          </a:r>
          <a:endParaRPr lang="en-US" sz="1400" kern="1200" dirty="0"/>
        </a:p>
      </dsp:txBody>
      <dsp:txXfrm>
        <a:off x="5821462" y="1160561"/>
        <a:ext cx="1018423" cy="701663"/>
      </dsp:txXfrm>
    </dsp:sp>
    <dsp:sp modelId="{C56AE16A-F1B4-4FF5-A4AA-EEC8534C3A53}">
      <dsp:nvSpPr>
        <dsp:cNvPr id="0" name=""/>
        <dsp:cNvSpPr/>
      </dsp:nvSpPr>
      <dsp:spPr>
        <a:xfrm rot="2090304">
          <a:off x="4605779" y="3643656"/>
          <a:ext cx="942799" cy="35099"/>
        </a:xfrm>
        <a:custGeom>
          <a:avLst/>
          <a:gdLst/>
          <a:ahLst/>
          <a:cxnLst/>
          <a:rect l="0" t="0" r="0" b="0"/>
          <a:pathLst>
            <a:path>
              <a:moveTo>
                <a:pt x="0" y="17549"/>
              </a:moveTo>
              <a:lnTo>
                <a:pt x="942799" y="17549"/>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53609" y="3637636"/>
        <a:ext cx="47139" cy="47139"/>
      </dsp:txXfrm>
    </dsp:sp>
    <dsp:sp modelId="{45FF4B01-7A2B-4524-B305-5AFED372C961}">
      <dsp:nvSpPr>
        <dsp:cNvPr id="0" name=""/>
        <dsp:cNvSpPr/>
      </dsp:nvSpPr>
      <dsp:spPr>
        <a:xfrm>
          <a:off x="5265794" y="3781077"/>
          <a:ext cx="1392915" cy="992301"/>
        </a:xfrm>
        <a:prstGeom prst="ellipse">
          <a:avLst/>
        </a:prstGeom>
        <a:solidFill>
          <a:schemeClr val="accent1">
            <a:hueOff val="0"/>
            <a:satOff val="0"/>
            <a:lumOff val="0"/>
            <a:alphaOff val="0"/>
          </a:schemeClr>
        </a:solidFill>
        <a:ln>
          <a:noFill/>
        </a:ln>
        <a:effectLst>
          <a:outerShdw blurRad="50800" dist="25400" algn="bl"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Orientation</a:t>
          </a:r>
          <a:endParaRPr lang="en-US" sz="1400" kern="1200" dirty="0"/>
        </a:p>
      </dsp:txBody>
      <dsp:txXfrm>
        <a:off x="5469782" y="3926396"/>
        <a:ext cx="984939" cy="701663"/>
      </dsp:txXfrm>
    </dsp:sp>
    <dsp:sp modelId="{4D1196C8-61AB-454E-8E19-9F3FEE0AE3FE}">
      <dsp:nvSpPr>
        <dsp:cNvPr id="0" name=""/>
        <dsp:cNvSpPr/>
      </dsp:nvSpPr>
      <dsp:spPr>
        <a:xfrm rot="5291964">
          <a:off x="3704650" y="4079613"/>
          <a:ext cx="719472" cy="35099"/>
        </a:xfrm>
        <a:custGeom>
          <a:avLst/>
          <a:gdLst/>
          <a:ahLst/>
          <a:cxnLst/>
          <a:rect l="0" t="0" r="0" b="0"/>
          <a:pathLst>
            <a:path>
              <a:moveTo>
                <a:pt x="0" y="17549"/>
              </a:moveTo>
              <a:lnTo>
                <a:pt x="719472" y="17549"/>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046400" y="4079176"/>
        <a:ext cx="35973" cy="35973"/>
      </dsp:txXfrm>
    </dsp:sp>
    <dsp:sp modelId="{616A9AE5-AEDC-44FD-BDC5-A04878E9BF4C}">
      <dsp:nvSpPr>
        <dsp:cNvPr id="0" name=""/>
        <dsp:cNvSpPr/>
      </dsp:nvSpPr>
      <dsp:spPr>
        <a:xfrm>
          <a:off x="3417129" y="4456589"/>
          <a:ext cx="1348307" cy="992301"/>
        </a:xfrm>
        <a:prstGeom prst="ellipse">
          <a:avLst/>
        </a:prstGeom>
        <a:solidFill>
          <a:schemeClr val="accent1">
            <a:hueOff val="0"/>
            <a:satOff val="0"/>
            <a:lumOff val="0"/>
            <a:alphaOff val="0"/>
          </a:schemeClr>
        </a:solidFill>
        <a:ln>
          <a:noFill/>
        </a:ln>
        <a:effectLst>
          <a:outerShdw blurRad="50800" dist="25400" algn="bl"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Helpdesk </a:t>
          </a:r>
          <a:endParaRPr lang="en-US" sz="1600" kern="1200" dirty="0"/>
        </a:p>
      </dsp:txBody>
      <dsp:txXfrm>
        <a:off x="3614584" y="4601908"/>
        <a:ext cx="953397" cy="701663"/>
      </dsp:txXfrm>
    </dsp:sp>
    <dsp:sp modelId="{26E7CB63-17CF-401D-BACA-C93E2E8A755C}">
      <dsp:nvSpPr>
        <dsp:cNvPr id="0" name=""/>
        <dsp:cNvSpPr/>
      </dsp:nvSpPr>
      <dsp:spPr>
        <a:xfrm rot="8982828">
          <a:off x="2297484" y="3599929"/>
          <a:ext cx="1108843" cy="35099"/>
        </a:xfrm>
        <a:custGeom>
          <a:avLst/>
          <a:gdLst/>
          <a:ahLst/>
          <a:cxnLst/>
          <a:rect l="0" t="0" r="0" b="0"/>
          <a:pathLst>
            <a:path>
              <a:moveTo>
                <a:pt x="0" y="17549"/>
              </a:moveTo>
              <a:lnTo>
                <a:pt x="1108843" y="17549"/>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2824184" y="3589757"/>
        <a:ext cx="55442" cy="55442"/>
      </dsp:txXfrm>
    </dsp:sp>
    <dsp:sp modelId="{4DF0B5C5-E67C-493C-B363-0CE125EB3E0D}">
      <dsp:nvSpPr>
        <dsp:cNvPr id="0" name=""/>
        <dsp:cNvSpPr/>
      </dsp:nvSpPr>
      <dsp:spPr>
        <a:xfrm>
          <a:off x="1448568" y="3651152"/>
          <a:ext cx="992301" cy="992301"/>
        </a:xfrm>
        <a:prstGeom prst="ellipse">
          <a:avLst/>
        </a:prstGeom>
        <a:solidFill>
          <a:schemeClr val="accent1">
            <a:hueOff val="0"/>
            <a:satOff val="0"/>
            <a:lumOff val="0"/>
            <a:alphaOff val="0"/>
          </a:schemeClr>
        </a:solidFill>
        <a:ln>
          <a:noFill/>
        </a:ln>
        <a:effectLst>
          <a:outerShdw blurRad="50800" dist="25400" algn="bl"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D2D</a:t>
          </a:r>
        </a:p>
        <a:p>
          <a:pPr lvl="0" algn="ctr" defTabSz="711200">
            <a:lnSpc>
              <a:spcPct val="90000"/>
            </a:lnSpc>
            <a:spcBef>
              <a:spcPct val="0"/>
            </a:spcBef>
            <a:spcAft>
              <a:spcPct val="35000"/>
            </a:spcAft>
          </a:pPr>
          <a:r>
            <a:rPr lang="en-US" sz="1600" kern="1200" dirty="0" smtClean="0"/>
            <a:t>Tech   Support </a:t>
          </a:r>
          <a:endParaRPr lang="en-US" sz="1600" kern="1200" dirty="0"/>
        </a:p>
      </dsp:txBody>
      <dsp:txXfrm>
        <a:off x="1593887" y="3796471"/>
        <a:ext cx="701663" cy="701663"/>
      </dsp:txXfrm>
    </dsp:sp>
    <dsp:sp modelId="{E7CEE898-3C91-43DA-A5C6-8DBFEB91EAAB}">
      <dsp:nvSpPr>
        <dsp:cNvPr id="0" name=""/>
        <dsp:cNvSpPr/>
      </dsp:nvSpPr>
      <dsp:spPr>
        <a:xfrm rot="12671370">
          <a:off x="2082450" y="2144978"/>
          <a:ext cx="1352455" cy="35099"/>
        </a:xfrm>
        <a:custGeom>
          <a:avLst/>
          <a:gdLst/>
          <a:ahLst/>
          <a:cxnLst/>
          <a:rect l="0" t="0" r="0" b="0"/>
          <a:pathLst>
            <a:path>
              <a:moveTo>
                <a:pt x="0" y="17549"/>
              </a:moveTo>
              <a:lnTo>
                <a:pt x="1352455" y="17549"/>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2724866" y="2128716"/>
        <a:ext cx="67622" cy="67622"/>
      </dsp:txXfrm>
    </dsp:sp>
    <dsp:sp modelId="{AE6B18F8-3744-49DC-A584-9B4EC71E9156}">
      <dsp:nvSpPr>
        <dsp:cNvPr id="0" name=""/>
        <dsp:cNvSpPr/>
      </dsp:nvSpPr>
      <dsp:spPr>
        <a:xfrm>
          <a:off x="1259605" y="1059237"/>
          <a:ext cx="992301" cy="992301"/>
        </a:xfrm>
        <a:prstGeom prst="ellipse">
          <a:avLst/>
        </a:prstGeom>
        <a:solidFill>
          <a:schemeClr val="accent1">
            <a:hueOff val="0"/>
            <a:satOff val="0"/>
            <a:lumOff val="0"/>
            <a:alphaOff val="0"/>
          </a:schemeClr>
        </a:solidFill>
        <a:ln>
          <a:noFill/>
        </a:ln>
        <a:effectLst>
          <a:outerShdw blurRad="50800" dist="25400" algn="bl"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Short Training </a:t>
          </a:r>
          <a:endParaRPr lang="en-US" sz="1600" kern="1200" dirty="0"/>
        </a:p>
      </dsp:txBody>
      <dsp:txXfrm>
        <a:off x="1404924" y="1204556"/>
        <a:ext cx="701663" cy="701663"/>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53286D82-EBA6-4F47-8138-F6FDBF4522FF}" type="datetimeFigureOut">
              <a:rPr lang="en-US" smtClean="0"/>
              <a:t>6/1/2017</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553D0072-49DD-4343-84C2-28CC796E999F}" type="slidenum">
              <a:rPr lang="en-US" smtClean="0"/>
              <a:t>‹#›</a:t>
            </a:fld>
            <a:endParaRPr lang="en-US"/>
          </a:p>
        </p:txBody>
      </p:sp>
    </p:spTree>
    <p:extLst>
      <p:ext uri="{BB962C8B-B14F-4D97-AF65-F5344CB8AC3E}">
        <p14:creationId xmlns:p14="http://schemas.microsoft.com/office/powerpoint/2010/main" val="1027410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0BB05563-2927-4C19-A36E-FE8CF09DD8FA}" type="datetimeFigureOut">
              <a:rPr lang="en-US" smtClean="0"/>
              <a:t>6/1/2017</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3EF11B0A-49F4-40E6-9EB9-78F332027D71}" type="slidenum">
              <a:rPr lang="en-US" smtClean="0"/>
              <a:t>‹#›</a:t>
            </a:fld>
            <a:endParaRPr lang="en-US"/>
          </a:p>
        </p:txBody>
      </p:sp>
    </p:spTree>
    <p:extLst>
      <p:ext uri="{BB962C8B-B14F-4D97-AF65-F5344CB8AC3E}">
        <p14:creationId xmlns:p14="http://schemas.microsoft.com/office/powerpoint/2010/main" val="266896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EF11B0A-49F4-40E6-9EB9-78F332027D71}" type="slidenum">
              <a:rPr lang="en-US" smtClean="0"/>
              <a:t>1</a:t>
            </a:fld>
            <a:endParaRPr lang="en-US"/>
          </a:p>
        </p:txBody>
      </p:sp>
    </p:spTree>
    <p:extLst>
      <p:ext uri="{BB962C8B-B14F-4D97-AF65-F5344CB8AC3E}">
        <p14:creationId xmlns:p14="http://schemas.microsoft.com/office/powerpoint/2010/main" val="1502491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31</a:t>
            </a:fld>
            <a:endParaRPr lang="en-US"/>
          </a:p>
        </p:txBody>
      </p:sp>
    </p:spTree>
    <p:extLst>
      <p:ext uri="{BB962C8B-B14F-4D97-AF65-F5344CB8AC3E}">
        <p14:creationId xmlns:p14="http://schemas.microsoft.com/office/powerpoint/2010/main" val="1751550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kern="100" dirty="0">
                <a:ea typeface="Calibri" panose="020F0502020204030204" pitchFamily="34" charset="0"/>
                <a:cs typeface="Arial" panose="020B0604020202020204" pitchFamily="34" charset="0"/>
              </a:rPr>
              <a:t>Slide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kern="100" dirty="0">
                <a:ea typeface="Calibri" panose="020F0502020204030204" pitchFamily="34" charset="0"/>
                <a:cs typeface="Arial" panose="020B0604020202020204" pitchFamily="34" charset="0"/>
              </a:rPr>
              <a:t>Background</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200" kern="100" dirty="0">
                <a:ea typeface="Calibri" panose="020F0502020204030204" pitchFamily="34" charset="0"/>
                <a:cs typeface="Arial" panose="020B0604020202020204" pitchFamily="34" charset="0"/>
              </a:rPr>
              <a:t>Under</a:t>
            </a:r>
            <a:r>
              <a:rPr lang="en-US" altLang="ja-JP" sz="1200" kern="100" baseline="0" dirty="0">
                <a:ea typeface="Calibri" panose="020F0502020204030204" pitchFamily="34" charset="0"/>
                <a:cs typeface="Arial" panose="020B0604020202020204" pitchFamily="34" charset="0"/>
              </a:rPr>
              <a:t> the housing reconstruction </a:t>
            </a:r>
            <a:r>
              <a:rPr lang="en-US" altLang="ja-JP" sz="1200" kern="100" baseline="0" dirty="0" err="1">
                <a:ea typeface="Calibri" panose="020F0502020204030204" pitchFamily="34" charset="0"/>
                <a:cs typeface="Arial" panose="020B0604020202020204" pitchFamily="34" charset="0"/>
              </a:rPr>
              <a:t>programme</a:t>
            </a:r>
            <a:r>
              <a:rPr lang="en-US" altLang="ja-JP" sz="1200" kern="100" baseline="0" dirty="0">
                <a:ea typeface="Calibri" panose="020F0502020204030204" pitchFamily="34" charset="0"/>
                <a:cs typeface="Arial" panose="020B0604020202020204" pitchFamily="34" charset="0"/>
              </a:rPr>
              <a:t>, the following guidelines were published by GON.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200" kern="100" baseline="0" dirty="0">
                <a:ea typeface="Calibri" panose="020F0502020204030204" pitchFamily="34" charset="0"/>
                <a:cs typeface="Arial" panose="020B0604020202020204" pitchFamily="34" charset="0"/>
              </a:rPr>
              <a:t>Design catalogue Vol.1, consists of 17 masonry building design along with their construction details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200" kern="100" baseline="0" dirty="0">
                <a:ea typeface="Calibri" panose="020F0502020204030204" pitchFamily="34" charset="0"/>
                <a:cs typeface="Arial" panose="020B0604020202020204" pitchFamily="34" charset="0"/>
              </a:rPr>
              <a:t>Minimum requirements, based upon the seismic design code NB 105</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200" kern="100" dirty="0">
                <a:ea typeface="Calibri" panose="020F0502020204030204" pitchFamily="34" charset="0"/>
                <a:cs typeface="Arial" panose="020B0604020202020204" pitchFamily="34" charset="0"/>
              </a:rPr>
              <a:t>And for inspection of </a:t>
            </a:r>
            <a:r>
              <a:rPr lang="en-US" altLang="ja-JP" sz="1200" kern="100" dirty="0" err="1">
                <a:ea typeface="Calibri" panose="020F0502020204030204" pitchFamily="34" charset="0"/>
                <a:cs typeface="Arial" panose="020B0604020202020204" pitchFamily="34" charset="0"/>
              </a:rPr>
              <a:t>underconstruction</a:t>
            </a:r>
            <a:r>
              <a:rPr lang="en-US" altLang="ja-JP" sz="1200" kern="100" dirty="0">
                <a:ea typeface="Calibri" panose="020F0502020204030204" pitchFamily="34" charset="0"/>
                <a:cs typeface="Arial" panose="020B0604020202020204" pitchFamily="34" charset="0"/>
              </a:rPr>
              <a:t> or constructed building under Housing reconstruction programme,</a:t>
            </a:r>
            <a:r>
              <a:rPr lang="en-US" altLang="ja-JP" sz="1200" kern="100" baseline="0" dirty="0">
                <a:ea typeface="Calibri" panose="020F0502020204030204" pitchFamily="34" charset="0"/>
                <a:cs typeface="Arial" panose="020B0604020202020204" pitchFamily="34" charset="0"/>
              </a:rPr>
              <a:t> Inspection SOP was published.</a:t>
            </a:r>
          </a:p>
        </p:txBody>
      </p:sp>
      <p:sp>
        <p:nvSpPr>
          <p:cNvPr id="4" name="Slide Number Placeholder 3"/>
          <p:cNvSpPr>
            <a:spLocks noGrp="1"/>
          </p:cNvSpPr>
          <p:nvPr>
            <p:ph type="sldNum" sz="quarter" idx="10"/>
          </p:nvPr>
        </p:nvSpPr>
        <p:spPr/>
        <p:txBody>
          <a:bodyPr/>
          <a:lstStyle/>
          <a:p>
            <a:fld id="{2C483AC9-C79F-4509-887F-849D3DB3EB9B}" type="slidenum">
              <a:rPr lang="en-US" smtClean="0"/>
              <a:t>32</a:t>
            </a:fld>
            <a:endParaRPr lang="en-US" dirty="0"/>
          </a:p>
        </p:txBody>
      </p:sp>
    </p:spTree>
    <p:extLst>
      <p:ext uri="{BB962C8B-B14F-4D97-AF65-F5344CB8AC3E}">
        <p14:creationId xmlns:p14="http://schemas.microsoft.com/office/powerpoint/2010/main" val="3919524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Inspection SOP:</a:t>
            </a:r>
          </a:p>
          <a:p>
            <a:pPr marL="171450" indent="-171450">
              <a:buFont typeface="Arial" panose="020B0604020202020204" pitchFamily="34" charset="0"/>
              <a:buChar char="•"/>
            </a:pPr>
            <a:r>
              <a:rPr lang="en-US" dirty="0"/>
              <a:t>In order to reconstruct the </a:t>
            </a:r>
            <a:r>
              <a:rPr lang="en-US" baseline="0" dirty="0"/>
              <a:t>buildings that was damaged by earthquake occurred on April 25</a:t>
            </a:r>
            <a:r>
              <a:rPr lang="en-US" baseline="30000" dirty="0"/>
              <a:t>th</a:t>
            </a:r>
            <a:r>
              <a:rPr lang="en-US" baseline="0" dirty="0"/>
              <a:t> 2015, National reconstruction authority has prepared the Inspection sop under Earthquake affected building reconstruction Act, 2072.</a:t>
            </a:r>
          </a:p>
          <a:p>
            <a:pPr marL="171450" indent="-171450">
              <a:buFont typeface="Arial" panose="020B0604020202020204" pitchFamily="34" charset="0"/>
              <a:buChar char="•"/>
            </a:pPr>
            <a:r>
              <a:rPr lang="en-US" baseline="0" dirty="0"/>
              <a:t>The building that needs to be strengthen or repair or reconstructed after earthquake needs to have the earthquake resistant feature.</a:t>
            </a:r>
          </a:p>
          <a:p>
            <a:pPr marL="171450" indent="-171450">
              <a:buFont typeface="Arial" panose="020B0604020202020204" pitchFamily="34" charset="0"/>
              <a:buChar char="•"/>
            </a:pPr>
            <a:r>
              <a:rPr lang="en-US" baseline="0" dirty="0"/>
              <a:t>To ensure the reconstructed building to be earthquake resistant, the inspection has been carried out into number of phases where each element of building is checked using inspection sheets. These inspection sheets has been introduced in this SOP. </a:t>
            </a:r>
          </a:p>
          <a:p>
            <a:pPr marL="171450" indent="-171450">
              <a:buFont typeface="Arial" panose="020B0604020202020204" pitchFamily="34" charset="0"/>
              <a:buChar char="•"/>
            </a:pPr>
            <a:r>
              <a:rPr lang="en-US" baseline="0" dirty="0"/>
              <a:t>It consist of the numbers of inspection forms for various typology of the buildings that needs to be used during inspection of each individual buildings.</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33</a:t>
            </a:fld>
            <a:endParaRPr lang="en-US" dirty="0"/>
          </a:p>
        </p:txBody>
      </p:sp>
    </p:spTree>
    <p:extLst>
      <p:ext uri="{BB962C8B-B14F-4D97-AF65-F5344CB8AC3E}">
        <p14:creationId xmlns:p14="http://schemas.microsoft.com/office/powerpoint/2010/main" val="1695866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Inspection steps:</a:t>
            </a:r>
          </a:p>
          <a:p>
            <a:pPr marL="171450" indent="-171450">
              <a:buFontTx/>
              <a:buChar char="-"/>
            </a:pPr>
            <a:r>
              <a:rPr lang="en-US" dirty="0"/>
              <a:t>To provide</a:t>
            </a:r>
            <a:r>
              <a:rPr lang="en-US" baseline="0" dirty="0"/>
              <a:t> the housing reconstruction grant and to ensure the earthquake resistant elements in newly constructed buildings, the inspection of the building has to be done in number of steps. </a:t>
            </a:r>
          </a:p>
          <a:p>
            <a:pPr marL="171450" indent="-171450">
              <a:buFontTx/>
              <a:buChar char="-"/>
            </a:pPr>
            <a:r>
              <a:rPr lang="en-US" baseline="0" dirty="0"/>
              <a:t>For the one and two storey building, the first inspection is carried out after the completion of plinth band and third after the completion of building.</a:t>
            </a:r>
          </a:p>
          <a:p>
            <a:pPr marL="171450" indent="-171450">
              <a:buFontTx/>
              <a:buChar char="-"/>
            </a:pPr>
            <a:r>
              <a:rPr lang="en-US" baseline="0" dirty="0"/>
              <a:t>Whereas the second inspection carried out after the completion of roof band for one storey and after completion of  floor band for two storey.</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34</a:t>
            </a:fld>
            <a:endParaRPr lang="en-US" dirty="0"/>
          </a:p>
        </p:txBody>
      </p:sp>
    </p:spTree>
    <p:extLst>
      <p:ext uri="{BB962C8B-B14F-4D97-AF65-F5344CB8AC3E}">
        <p14:creationId xmlns:p14="http://schemas.microsoft.com/office/powerpoint/2010/main" val="3277386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marL="171450" indent="-171450">
              <a:buFont typeface="Arial" panose="020B0604020202020204" pitchFamily="34" charset="0"/>
              <a:buChar char="•"/>
            </a:pPr>
            <a:r>
              <a:rPr lang="en-US" dirty="0"/>
              <a:t>Sample form of the</a:t>
            </a:r>
            <a:r>
              <a:rPr lang="en-US" baseline="0" dirty="0"/>
              <a:t> inspection.</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35</a:t>
            </a:fld>
            <a:endParaRPr lang="en-US" dirty="0"/>
          </a:p>
        </p:txBody>
      </p:sp>
    </p:spTree>
    <p:extLst>
      <p:ext uri="{BB962C8B-B14F-4D97-AF65-F5344CB8AC3E}">
        <p14:creationId xmlns:p14="http://schemas.microsoft.com/office/powerpoint/2010/main" val="82394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Sample form of the</a:t>
            </a:r>
            <a:r>
              <a:rPr lang="en-US" baseline="0" dirty="0"/>
              <a:t> correction order and re inspection.</a:t>
            </a:r>
            <a:endParaRPr lang="en-US" dirty="0"/>
          </a:p>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36</a:t>
            </a:fld>
            <a:endParaRPr lang="en-US" dirty="0"/>
          </a:p>
        </p:txBody>
      </p:sp>
    </p:spTree>
    <p:extLst>
      <p:ext uri="{BB962C8B-B14F-4D97-AF65-F5344CB8AC3E}">
        <p14:creationId xmlns:p14="http://schemas.microsoft.com/office/powerpoint/2010/main" val="4015409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pPr marL="171450" indent="-171450">
              <a:buFont typeface="Arial" panose="020B0604020202020204" pitchFamily="34" charset="0"/>
              <a:buChar char="•"/>
            </a:pPr>
            <a:r>
              <a:rPr lang="en-US" dirty="0"/>
              <a:t>Span of wall</a:t>
            </a:r>
            <a:r>
              <a:rPr lang="en-US" baseline="0" dirty="0"/>
              <a:t> is more than 4.5m</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37</a:t>
            </a:fld>
            <a:endParaRPr lang="en-US" dirty="0"/>
          </a:p>
        </p:txBody>
      </p:sp>
    </p:spTree>
    <p:extLst>
      <p:ext uri="{BB962C8B-B14F-4D97-AF65-F5344CB8AC3E}">
        <p14:creationId xmlns:p14="http://schemas.microsoft.com/office/powerpoint/2010/main" val="3401139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pPr marL="171450" indent="-171450">
              <a:buFont typeface="Arial" panose="020B0604020202020204" pitchFamily="34" charset="0"/>
              <a:buChar char="•"/>
            </a:pPr>
            <a:r>
              <a:rPr lang="en-US" dirty="0"/>
              <a:t>T- shape</a:t>
            </a:r>
          </a:p>
        </p:txBody>
      </p:sp>
      <p:sp>
        <p:nvSpPr>
          <p:cNvPr id="4" name="Slide Number Placeholder 3"/>
          <p:cNvSpPr>
            <a:spLocks noGrp="1"/>
          </p:cNvSpPr>
          <p:nvPr>
            <p:ph type="sldNum" sz="quarter" idx="10"/>
          </p:nvPr>
        </p:nvSpPr>
        <p:spPr/>
        <p:txBody>
          <a:bodyPr/>
          <a:lstStyle/>
          <a:p>
            <a:fld id="{2C483AC9-C79F-4509-887F-849D3DB3EB9B}" type="slidenum">
              <a:rPr lang="en-US" smtClean="0"/>
              <a:t>38</a:t>
            </a:fld>
            <a:endParaRPr lang="en-US" dirty="0"/>
          </a:p>
        </p:txBody>
      </p:sp>
    </p:spTree>
    <p:extLst>
      <p:ext uri="{BB962C8B-B14F-4D97-AF65-F5344CB8AC3E}">
        <p14:creationId xmlns:p14="http://schemas.microsoft.com/office/powerpoint/2010/main" val="3908645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r>
              <a:rPr lang="en-US" dirty="0"/>
              <a:t>Mix use of Building materials</a:t>
            </a:r>
          </a:p>
        </p:txBody>
      </p:sp>
      <p:sp>
        <p:nvSpPr>
          <p:cNvPr id="4" name="Slide Number Placeholder 3"/>
          <p:cNvSpPr>
            <a:spLocks noGrp="1"/>
          </p:cNvSpPr>
          <p:nvPr>
            <p:ph type="sldNum" sz="quarter" idx="10"/>
          </p:nvPr>
        </p:nvSpPr>
        <p:spPr/>
        <p:txBody>
          <a:bodyPr/>
          <a:lstStyle/>
          <a:p>
            <a:fld id="{2C483AC9-C79F-4509-887F-849D3DB3EB9B}" type="slidenum">
              <a:rPr lang="en-US" smtClean="0"/>
              <a:t>39</a:t>
            </a:fld>
            <a:endParaRPr lang="en-US" dirty="0"/>
          </a:p>
        </p:txBody>
      </p:sp>
    </p:spTree>
    <p:extLst>
      <p:ext uri="{BB962C8B-B14F-4D97-AF65-F5344CB8AC3E}">
        <p14:creationId xmlns:p14="http://schemas.microsoft.com/office/powerpoint/2010/main" val="2313376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r>
              <a:rPr lang="en-US" dirty="0"/>
              <a:t>Absence of vertical member</a:t>
            </a:r>
          </a:p>
        </p:txBody>
      </p:sp>
      <p:sp>
        <p:nvSpPr>
          <p:cNvPr id="4" name="Slide Number Placeholder 3"/>
          <p:cNvSpPr>
            <a:spLocks noGrp="1"/>
          </p:cNvSpPr>
          <p:nvPr>
            <p:ph type="sldNum" sz="quarter" idx="10"/>
          </p:nvPr>
        </p:nvSpPr>
        <p:spPr/>
        <p:txBody>
          <a:bodyPr/>
          <a:lstStyle/>
          <a:p>
            <a:fld id="{2C483AC9-C79F-4509-887F-849D3DB3EB9B}" type="slidenum">
              <a:rPr lang="en-US" smtClean="0"/>
              <a:t>40</a:t>
            </a:fld>
            <a:endParaRPr lang="en-US" dirty="0"/>
          </a:p>
        </p:txBody>
      </p:sp>
    </p:spTree>
    <p:extLst>
      <p:ext uri="{BB962C8B-B14F-4D97-AF65-F5344CB8AC3E}">
        <p14:creationId xmlns:p14="http://schemas.microsoft.com/office/powerpoint/2010/main" val="3152059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r>
              <a:rPr lang="en-US" dirty="0"/>
              <a:t>Location of vertical band: Vertical member</a:t>
            </a:r>
            <a:r>
              <a:rPr lang="en-US" baseline="0" dirty="0"/>
              <a:t> provided at different locations</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41</a:t>
            </a:fld>
            <a:endParaRPr lang="en-US" dirty="0"/>
          </a:p>
        </p:txBody>
      </p:sp>
    </p:spTree>
    <p:extLst>
      <p:ext uri="{BB962C8B-B14F-4D97-AF65-F5344CB8AC3E}">
        <p14:creationId xmlns:p14="http://schemas.microsoft.com/office/powerpoint/2010/main" val="3665266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Non-Compliant: Sill band is not below the opening/ No plinth Band</a:t>
            </a:r>
          </a:p>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42</a:t>
            </a:fld>
            <a:endParaRPr lang="en-US" dirty="0"/>
          </a:p>
        </p:txBody>
      </p:sp>
    </p:spTree>
    <p:extLst>
      <p:ext uri="{BB962C8B-B14F-4D97-AF65-F5344CB8AC3E}">
        <p14:creationId xmlns:p14="http://schemas.microsoft.com/office/powerpoint/2010/main" val="1876515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pPr marL="171450" indent="-171450">
              <a:buFont typeface="Arial" panose="020B0604020202020204" pitchFamily="34" charset="0"/>
              <a:buChar char="•"/>
            </a:pPr>
            <a:r>
              <a:rPr lang="en-US" dirty="0"/>
              <a:t>No Plinth band</a:t>
            </a:r>
          </a:p>
          <a:p>
            <a:pPr marL="171450" indent="-171450">
              <a:buFont typeface="Arial" panose="020B0604020202020204" pitchFamily="34" charset="0"/>
              <a:buChar char="•"/>
            </a:pPr>
            <a:r>
              <a:rPr lang="en-US" dirty="0"/>
              <a:t>Height</a:t>
            </a:r>
            <a:r>
              <a:rPr lang="en-US" baseline="0" dirty="0"/>
              <a:t> of Lintel band(Door and window level)</a:t>
            </a:r>
          </a:p>
          <a:p>
            <a:pPr marL="171450" indent="-171450">
              <a:buFont typeface="Arial" panose="020B0604020202020204" pitchFamily="34" charset="0"/>
              <a:buChar char="•"/>
            </a:pPr>
            <a:r>
              <a:rPr lang="en-US" baseline="0" dirty="0"/>
              <a:t>Vertical Reinforcement</a:t>
            </a:r>
          </a:p>
          <a:p>
            <a:pPr marL="171450" indent="-171450">
              <a:buFont typeface="Arial" panose="020B0604020202020204" pitchFamily="34" charset="0"/>
              <a:buChar char="•"/>
            </a:pPr>
            <a:r>
              <a:rPr lang="en-US" baseline="0" dirty="0"/>
              <a:t>Position of Opening??</a:t>
            </a:r>
          </a:p>
          <a:p>
            <a:endParaRPr lang="en-US" dirty="0"/>
          </a:p>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43</a:t>
            </a:fld>
            <a:endParaRPr lang="en-US" dirty="0"/>
          </a:p>
        </p:txBody>
      </p:sp>
    </p:spTree>
    <p:extLst>
      <p:ext uri="{BB962C8B-B14F-4D97-AF65-F5344CB8AC3E}">
        <p14:creationId xmlns:p14="http://schemas.microsoft.com/office/powerpoint/2010/main" val="2872735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Compliant?? Brick work and Band is ok but</a:t>
            </a:r>
          </a:p>
          <a:p>
            <a:r>
              <a:rPr lang="en-US" dirty="0"/>
              <a:t>Check</a:t>
            </a:r>
            <a:r>
              <a:rPr lang="en-US" baseline="0" dirty="0"/>
              <a:t> the Vertical Reinforcement material. Is it according to the specification on Minimum requirement?</a:t>
            </a:r>
          </a:p>
          <a:p>
            <a:r>
              <a:rPr lang="en-US" baseline="0" dirty="0"/>
              <a:t>Check also the level of door and window.</a:t>
            </a:r>
          </a:p>
          <a:p>
            <a:endParaRPr lang="en-US" baseline="0" dirty="0"/>
          </a:p>
          <a:p>
            <a:r>
              <a:rPr lang="en-US" baseline="0" dirty="0"/>
              <a:t>Also, it we put vertical reinforcement at corner or at connection of walls, the thickness of wall should be more than 230 mm (9 inch). </a:t>
            </a:r>
            <a:r>
              <a:rPr lang="en-US" baseline="0" dirty="0" err="1"/>
              <a:t>Copla</a:t>
            </a:r>
            <a:r>
              <a:rPr lang="en-US" baseline="0" dirty="0"/>
              <a:t> should be there.</a:t>
            </a:r>
          </a:p>
          <a:p>
            <a:endParaRPr lang="en-US" baseline="0" dirty="0"/>
          </a:p>
          <a:p>
            <a:r>
              <a:rPr lang="en-US" baseline="0" dirty="0"/>
              <a:t>So it cannot be compliant.</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44</a:t>
            </a:fld>
            <a:endParaRPr lang="en-US" dirty="0"/>
          </a:p>
        </p:txBody>
      </p:sp>
    </p:spTree>
    <p:extLst>
      <p:ext uri="{BB962C8B-B14F-4D97-AF65-F5344CB8AC3E}">
        <p14:creationId xmlns:p14="http://schemas.microsoft.com/office/powerpoint/2010/main" val="928405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200" dirty="0"/>
              <a:t>One </a:t>
            </a:r>
            <a:r>
              <a:rPr lang="en-US" altLang="ja-JP" sz="1200" dirty="0" err="1"/>
              <a:t>storey</a:t>
            </a:r>
            <a:r>
              <a:rPr lang="en-US" altLang="ja-JP" sz="1200" dirty="0"/>
              <a:t> and attic constructed by stone masonry in mud mortar.</a:t>
            </a:r>
          </a:p>
          <a:p>
            <a:pPr marL="171450" indent="-171450">
              <a:buFont typeface="Arial" panose="020B0604020202020204" pitchFamily="34" charset="0"/>
              <a:buChar char="•"/>
            </a:pPr>
            <a:endParaRPr lang="en-US" baseline="0" dirty="0"/>
          </a:p>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45</a:t>
            </a:fld>
            <a:endParaRPr lang="en-US" dirty="0"/>
          </a:p>
        </p:txBody>
      </p:sp>
    </p:spTree>
    <p:extLst>
      <p:ext uri="{BB962C8B-B14F-4D97-AF65-F5344CB8AC3E}">
        <p14:creationId xmlns:p14="http://schemas.microsoft.com/office/powerpoint/2010/main" val="3381269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a:t>
            </a:r>
            <a:r>
              <a:rPr lang="en-US" baseline="0" dirty="0"/>
              <a:t> compliant issues:</a:t>
            </a:r>
          </a:p>
          <a:p>
            <a:pPr marL="171450" indent="-171450">
              <a:buFont typeface="Arial" panose="020B0604020202020204" pitchFamily="34" charset="0"/>
              <a:buChar char="•"/>
            </a:pPr>
            <a:r>
              <a:rPr lang="en-US" baseline="0" dirty="0"/>
              <a:t>Number of </a:t>
            </a:r>
            <a:r>
              <a:rPr lang="en-US" baseline="0" dirty="0" err="1"/>
              <a:t>storey</a:t>
            </a:r>
            <a:r>
              <a:rPr lang="en-US" baseline="0" dirty="0"/>
              <a:t>.</a:t>
            </a:r>
          </a:p>
          <a:p>
            <a:pPr marL="171450" indent="-171450">
              <a:buFont typeface="Arial" panose="020B0604020202020204" pitchFamily="34" charset="0"/>
              <a:buChar char="•"/>
            </a:pPr>
            <a:r>
              <a:rPr lang="en-US" baseline="0" dirty="0"/>
              <a:t>Absence of band</a:t>
            </a:r>
          </a:p>
          <a:p>
            <a:pPr marL="171450" indent="-171450">
              <a:buFont typeface="Arial" panose="020B0604020202020204" pitchFamily="34" charset="0"/>
              <a:buChar char="•"/>
            </a:pPr>
            <a:r>
              <a:rPr lang="en-US" baseline="0" dirty="0"/>
              <a:t>Construction of load bearing wall in verandah</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46</a:t>
            </a:fld>
            <a:endParaRPr lang="en-US" dirty="0"/>
          </a:p>
        </p:txBody>
      </p:sp>
    </p:spTree>
    <p:extLst>
      <p:ext uri="{BB962C8B-B14F-4D97-AF65-F5344CB8AC3E}">
        <p14:creationId xmlns:p14="http://schemas.microsoft.com/office/powerpoint/2010/main" val="2399361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pPr marL="171450" indent="-171450">
              <a:buFont typeface="Arial" panose="020B0604020202020204" pitchFamily="34" charset="0"/>
              <a:buChar char="•"/>
            </a:pPr>
            <a:r>
              <a:rPr lang="en-US" dirty="0"/>
              <a:t>Large openings</a:t>
            </a:r>
          </a:p>
        </p:txBody>
      </p:sp>
      <p:sp>
        <p:nvSpPr>
          <p:cNvPr id="4" name="Slide Number Placeholder 3"/>
          <p:cNvSpPr>
            <a:spLocks noGrp="1"/>
          </p:cNvSpPr>
          <p:nvPr>
            <p:ph type="sldNum" sz="quarter" idx="10"/>
          </p:nvPr>
        </p:nvSpPr>
        <p:spPr/>
        <p:txBody>
          <a:bodyPr/>
          <a:lstStyle/>
          <a:p>
            <a:fld id="{2C483AC9-C79F-4509-887F-849D3DB3EB9B}" type="slidenum">
              <a:rPr lang="en-US" smtClean="0"/>
              <a:t>47</a:t>
            </a:fld>
            <a:endParaRPr lang="en-US" dirty="0"/>
          </a:p>
        </p:txBody>
      </p:sp>
    </p:spTree>
    <p:extLst>
      <p:ext uri="{BB962C8B-B14F-4D97-AF65-F5344CB8AC3E}">
        <p14:creationId xmlns:p14="http://schemas.microsoft.com/office/powerpoint/2010/main" val="3941394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Non compliant</a:t>
            </a:r>
            <a:r>
              <a:rPr lang="en-US" baseline="0" dirty="0"/>
              <a:t> issues:</a:t>
            </a:r>
          </a:p>
          <a:p>
            <a:r>
              <a:rPr lang="en-US" dirty="0"/>
              <a:t>Hybrid structure</a:t>
            </a:r>
          </a:p>
        </p:txBody>
      </p:sp>
      <p:sp>
        <p:nvSpPr>
          <p:cNvPr id="4" name="Slide Number Placeholder 3"/>
          <p:cNvSpPr>
            <a:spLocks noGrp="1"/>
          </p:cNvSpPr>
          <p:nvPr>
            <p:ph type="sldNum" sz="quarter" idx="10"/>
          </p:nvPr>
        </p:nvSpPr>
        <p:spPr/>
        <p:txBody>
          <a:bodyPr/>
          <a:lstStyle/>
          <a:p>
            <a:fld id="{2C483AC9-C79F-4509-887F-849D3DB3EB9B}" type="slidenum">
              <a:rPr lang="en-US" smtClean="0"/>
              <a:t>48</a:t>
            </a:fld>
            <a:endParaRPr lang="en-US" dirty="0"/>
          </a:p>
        </p:txBody>
      </p:sp>
    </p:spTree>
    <p:extLst>
      <p:ext uri="{BB962C8B-B14F-4D97-AF65-F5344CB8AC3E}">
        <p14:creationId xmlns:p14="http://schemas.microsoft.com/office/powerpoint/2010/main" val="98958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400" b="1" kern="100" dirty="0">
                <a:ea typeface="Calibri" panose="020F0502020204030204" pitchFamily="34" charset="0"/>
                <a:cs typeface="Arial" panose="020B0604020202020204" pitchFamily="34" charset="0"/>
              </a:rPr>
              <a:t>Slide description: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200" kern="100" dirty="0">
                <a:ea typeface="Calibri" panose="020F0502020204030204" pitchFamily="34" charset="0"/>
                <a:cs typeface="Arial" panose="020B0604020202020204" pitchFamily="34" charset="0"/>
              </a:rPr>
              <a:t>M</a:t>
            </a:r>
            <a:r>
              <a:rPr lang="ja-JP" altLang="ja-JP" sz="1200" kern="100" dirty="0">
                <a:ea typeface="Calibri" panose="020F0502020204030204" pitchFamily="34" charset="0"/>
                <a:cs typeface="Arial" panose="020B0604020202020204" pitchFamily="34" charset="0"/>
              </a:rPr>
              <a:t>any</a:t>
            </a:r>
            <a:r>
              <a:rPr lang="en-US" altLang="ja-JP" sz="1200" kern="100" dirty="0">
                <a:ea typeface="Calibri" panose="020F0502020204030204" pitchFamily="34" charset="0"/>
                <a:cs typeface="Arial" panose="020B0604020202020204" pitchFamily="34" charset="0"/>
              </a:rPr>
              <a:t> houses have been found during inspection to be </a:t>
            </a:r>
            <a:r>
              <a:rPr lang="ja-JP" altLang="ja-JP" sz="1200" kern="100" dirty="0">
                <a:solidFill>
                  <a:srgbClr val="C00000"/>
                </a:solidFill>
                <a:ea typeface="Calibri" panose="020F0502020204030204" pitchFamily="34" charset="0"/>
                <a:cs typeface="Arial" panose="020B0604020202020204" pitchFamily="34" charset="0"/>
              </a:rPr>
              <a:t>non-compliant </a:t>
            </a:r>
            <a:r>
              <a:rPr lang="en-US" altLang="ja-JP" sz="1200" kern="100" dirty="0">
                <a:solidFill>
                  <a:srgbClr val="C00000"/>
                </a:solidFill>
                <a:ea typeface="Calibri" panose="020F0502020204030204" pitchFamily="34" charset="0"/>
                <a:cs typeface="Arial" panose="020B0604020202020204" pitchFamily="34" charset="0"/>
              </a:rPr>
              <a:t>with </a:t>
            </a:r>
            <a:r>
              <a:rPr lang="en-US" altLang="ja-JP" sz="1200" kern="100" dirty="0" err="1">
                <a:solidFill>
                  <a:srgbClr val="C00000"/>
                </a:solidFill>
                <a:ea typeface="Calibri" panose="020F0502020204030204" pitchFamily="34" charset="0"/>
                <a:cs typeface="Arial" panose="020B0604020202020204" pitchFamily="34" charset="0"/>
              </a:rPr>
              <a:t>MRs</a:t>
            </a:r>
            <a:r>
              <a:rPr lang="en-US" altLang="ja-JP" sz="1200" kern="100" dirty="0" err="1">
                <a:ea typeface="Calibri" panose="020F0502020204030204" pitchFamily="34" charset="0"/>
                <a:cs typeface="Arial" panose="020B0604020202020204" pitchFamily="34" charset="0"/>
              </a:rPr>
              <a:t>.</a:t>
            </a:r>
            <a:r>
              <a:rPr lang="en-US" altLang="ja-JP" sz="1200" kern="100" dirty="0">
                <a:ea typeface="Calibri" panose="020F0502020204030204" pitchFamily="34" charset="0"/>
                <a:cs typeface="Arial" panose="020B0604020202020204" pitchFamily="34" charset="0"/>
              </a:rPr>
              <a:t>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200" kern="100" dirty="0">
                <a:ea typeface="Calibri" panose="020F0502020204030204" pitchFamily="34" charset="0"/>
                <a:cs typeface="Arial" panose="020B0604020202020204" pitchFamily="34" charset="0"/>
              </a:rPr>
              <a:t>Some houses were found to be structurally safe</a:t>
            </a:r>
            <a:r>
              <a:rPr lang="en-US" altLang="ja-JP" sz="1200" kern="100" baseline="0" dirty="0">
                <a:ea typeface="Calibri" panose="020F0502020204030204" pitchFamily="34" charset="0"/>
                <a:cs typeface="Arial" panose="020B0604020202020204" pitchFamily="34" charset="0"/>
              </a:rPr>
              <a:t> but the detail were not covered by </a:t>
            </a:r>
            <a:r>
              <a:rPr lang="en-US" altLang="ja-JP" sz="1200" kern="100" baseline="0" dirty="0" err="1">
                <a:ea typeface="Calibri" panose="020F0502020204030204" pitchFamily="34" charset="0"/>
                <a:cs typeface="Arial" panose="020B0604020202020204" pitchFamily="34" charset="0"/>
              </a:rPr>
              <a:t>MRs.</a:t>
            </a:r>
            <a:endParaRPr lang="en-US" altLang="ja-JP" sz="1200" kern="100" baseline="0" dirty="0">
              <a:ea typeface="Calibri" panose="020F0502020204030204" pitchFamily="34" charset="0"/>
              <a:cs typeface="Arial" panose="020B0604020202020204"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200" kern="100" dirty="0">
                <a:ea typeface="Calibri" panose="020F0502020204030204" pitchFamily="34" charset="0"/>
                <a:cs typeface="Arial" panose="020B0604020202020204" pitchFamily="34" charset="0"/>
              </a:rPr>
              <a:t>In order to make these houses compliance,</a:t>
            </a:r>
            <a:r>
              <a:rPr lang="ja-JP" altLang="ja-JP" sz="1200" kern="100" dirty="0">
                <a:ea typeface="Calibri" panose="020F0502020204030204" pitchFamily="34" charset="0"/>
                <a:cs typeface="Arial" panose="020B0604020202020204" pitchFamily="34" charset="0"/>
              </a:rPr>
              <a:t> </a:t>
            </a:r>
            <a:r>
              <a:rPr lang="en-US" altLang="ja-JP" sz="1200" kern="100" dirty="0">
                <a:ea typeface="Calibri" panose="020F0502020204030204" pitchFamily="34" charset="0"/>
                <a:cs typeface="Arial" panose="020B0604020202020204" pitchFamily="34" charset="0"/>
              </a:rPr>
              <a:t>corrective measures are required.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49</a:t>
            </a:fld>
            <a:endParaRPr lang="en-US" dirty="0"/>
          </a:p>
        </p:txBody>
      </p:sp>
    </p:spTree>
    <p:extLst>
      <p:ext uri="{BB962C8B-B14F-4D97-AF65-F5344CB8AC3E}">
        <p14:creationId xmlns:p14="http://schemas.microsoft.com/office/powerpoint/2010/main" val="1912773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68288" indent="0" algn="just">
              <a:buFont typeface="Wingdings" panose="05000000000000000000" pitchFamily="2" charset="2"/>
              <a:buNone/>
              <a:tabLst>
                <a:tab pos="291465" algn="l"/>
              </a:tabLst>
            </a:pPr>
            <a:r>
              <a:rPr lang="en-US" altLang="ja-JP" sz="1400" b="1" kern="100" dirty="0">
                <a:solidFill>
                  <a:srgbClr val="C00000"/>
                </a:solidFill>
                <a:ea typeface="Calibri" panose="020F0502020204030204" pitchFamily="34" charset="0"/>
                <a:cs typeface="Arial" panose="020B0604020202020204" pitchFamily="34" charset="0"/>
              </a:rPr>
              <a:t>Slide description:</a:t>
            </a:r>
          </a:p>
          <a:p>
            <a:pPr marL="439738" indent="-171450" algn="just">
              <a:buFont typeface="Arial" panose="020B0604020202020204" pitchFamily="34" charset="0"/>
              <a:buChar char="•"/>
              <a:tabLst>
                <a:tab pos="291465" algn="l"/>
              </a:tabLst>
            </a:pPr>
            <a:r>
              <a:rPr lang="en-US" altLang="ja-JP" sz="1200" kern="100" dirty="0">
                <a:solidFill>
                  <a:srgbClr val="C00000"/>
                </a:solidFill>
                <a:ea typeface="Calibri" panose="020F0502020204030204" pitchFamily="34" charset="0"/>
                <a:cs typeface="Arial" panose="020B0604020202020204" pitchFamily="34" charset="0"/>
              </a:rPr>
              <a:t>This manual </a:t>
            </a:r>
            <a:r>
              <a:rPr lang="en-US" altLang="ja-JP" sz="1200" kern="100" dirty="0">
                <a:ea typeface="Calibri" panose="020F0502020204030204" pitchFamily="34" charset="0"/>
                <a:cs typeface="Arial" panose="020B0604020202020204" pitchFamily="34" charset="0"/>
              </a:rPr>
              <a:t>has been developed to support engineers responsible for the compliance inspection process.</a:t>
            </a:r>
          </a:p>
          <a:p>
            <a:pPr marL="439738" indent="-171450" algn="just">
              <a:buFont typeface="Arial" panose="020B0604020202020204" pitchFamily="34" charset="0"/>
              <a:buChar char="•"/>
              <a:tabLst>
                <a:tab pos="291465" algn="l"/>
              </a:tabLst>
            </a:pPr>
            <a:r>
              <a:rPr lang="en-US" altLang="ja-JP" sz="1200" kern="100" dirty="0">
                <a:solidFill>
                  <a:srgbClr val="C00000"/>
                </a:solidFill>
                <a:ea typeface="Calibri" panose="020F0502020204030204" pitchFamily="34" charset="0"/>
                <a:cs typeface="Arial" panose="020B0604020202020204" pitchFamily="34" charset="0"/>
              </a:rPr>
              <a:t>The engineers </a:t>
            </a:r>
            <a:r>
              <a:rPr lang="en-US" altLang="ja-JP" sz="1200" kern="100" dirty="0">
                <a:ea typeface="Calibri" panose="020F0502020204030204" pitchFamily="34" charset="0"/>
                <a:cs typeface="Arial" panose="020B0604020202020204" pitchFamily="34" charset="0"/>
              </a:rPr>
              <a:t>will use this manual to provide advice and guidance to households for the implementation of required corrective measures. </a:t>
            </a:r>
          </a:p>
          <a:p>
            <a:pPr marL="439738" indent="-171450" algn="just">
              <a:buFont typeface="Arial" panose="020B0604020202020204" pitchFamily="34" charset="0"/>
              <a:buChar char="•"/>
              <a:tabLst>
                <a:tab pos="291465" algn="l"/>
              </a:tabLst>
            </a:pPr>
            <a:r>
              <a:rPr lang="en-US" altLang="ja-JP" sz="1200" kern="100" dirty="0">
                <a:solidFill>
                  <a:srgbClr val="C00000"/>
                </a:solidFill>
                <a:ea typeface="Calibri" panose="020F0502020204030204" pitchFamily="34" charset="0"/>
                <a:cs typeface="Arial" panose="020B0604020202020204" pitchFamily="34" charset="0"/>
              </a:rPr>
              <a:t>Home owners </a:t>
            </a:r>
            <a:r>
              <a:rPr lang="en-US" altLang="ja-JP" sz="1200" kern="100" dirty="0">
                <a:ea typeface="Calibri" panose="020F0502020204030204" pitchFamily="34" charset="0"/>
                <a:cs typeface="Arial" panose="020B0604020202020204" pitchFamily="34" charset="0"/>
              </a:rPr>
              <a:t>will need to complete these corrective measures in order to be eligible to receive the subsequent tranches of the housing reconstruction grant. </a:t>
            </a:r>
            <a:r>
              <a:rPr lang="ja-JP" altLang="ja-JP" sz="1200" kern="100" dirty="0">
                <a:ea typeface="Calibri" panose="020F0502020204030204" pitchFamily="34" charset="0"/>
                <a:cs typeface="Arial" panose="020B0604020202020204" pitchFamily="34" charset="0"/>
              </a:rPr>
              <a:t> </a:t>
            </a:r>
            <a:endParaRPr lang="en-US" altLang="ja-JP" sz="1200" kern="100" dirty="0">
              <a:ea typeface="Calibri" panose="020F050202020403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50</a:t>
            </a:fld>
            <a:endParaRPr lang="en-US" dirty="0"/>
          </a:p>
        </p:txBody>
      </p:sp>
    </p:spTree>
    <p:extLst>
      <p:ext uri="{BB962C8B-B14F-4D97-AF65-F5344CB8AC3E}">
        <p14:creationId xmlns:p14="http://schemas.microsoft.com/office/powerpoint/2010/main" val="3619809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marL="171450" indent="-171450">
              <a:buFont typeface="Arial" panose="020B0604020202020204" pitchFamily="34" charset="0"/>
              <a:buChar char="•"/>
            </a:pPr>
            <a:r>
              <a:rPr lang="en-US" dirty="0"/>
              <a:t>Correctional</a:t>
            </a:r>
            <a:r>
              <a:rPr lang="en-US" baseline="0" dirty="0"/>
              <a:t> manuals are prepared for supporting those houses which are non compliant to the minimum requirements. </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51</a:t>
            </a:fld>
            <a:endParaRPr lang="en-US" dirty="0"/>
          </a:p>
        </p:txBody>
      </p:sp>
    </p:spTree>
    <p:extLst>
      <p:ext uri="{BB962C8B-B14F-4D97-AF65-F5344CB8AC3E}">
        <p14:creationId xmlns:p14="http://schemas.microsoft.com/office/powerpoint/2010/main" val="2545917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marL="171450" indent="-171450">
              <a:buFont typeface="Arial" panose="020B0604020202020204" pitchFamily="34" charset="0"/>
              <a:buChar char="•"/>
            </a:pPr>
            <a:r>
              <a:rPr lang="en-US" dirty="0"/>
              <a:t>Correctional</a:t>
            </a:r>
            <a:r>
              <a:rPr lang="en-US" baseline="0" dirty="0"/>
              <a:t> manuals are prepared for supporting those houses which are non compliant to the minimum requirements. </a:t>
            </a:r>
          </a:p>
          <a:p>
            <a:pPr marL="0" indent="0">
              <a:buFont typeface="Arial" panose="020B0604020202020204" pitchFamily="34" charset="0"/>
              <a:buNone/>
            </a:pPr>
            <a:endParaRPr lang="en-US" baseline="0" dirty="0"/>
          </a:p>
          <a:p>
            <a:pPr marL="0" indent="0">
              <a:buFont typeface="Arial" panose="020B0604020202020204" pitchFamily="34" charset="0"/>
              <a:buNone/>
            </a:pPr>
            <a:r>
              <a:rPr lang="en-US" sz="1600" baseline="0" dirty="0">
                <a:solidFill>
                  <a:srgbClr val="FF0000"/>
                </a:solidFill>
              </a:rPr>
              <a:t>*Participants read Scope in P2, Applicability and limitations.</a:t>
            </a:r>
          </a:p>
          <a:p>
            <a:r>
              <a:rPr lang="en-US" altLang="ja-JP" dirty="0"/>
              <a:t>Applicability:</a:t>
            </a:r>
          </a:p>
          <a:p>
            <a:pPr marL="171450" indent="-171450">
              <a:buFont typeface="Arial" panose="020B0604020202020204" pitchFamily="34" charset="0"/>
              <a:buChar char="•"/>
            </a:pPr>
            <a:r>
              <a:rPr lang="en-US" altLang="ja-JP" dirty="0"/>
              <a:t>Correction and exception</a:t>
            </a:r>
            <a:r>
              <a:rPr lang="en-US" altLang="ja-JP" baseline="0" dirty="0"/>
              <a:t> Manual has been drafted to support the non compliant issues to the building which was constructed under housing reconstruction.</a:t>
            </a:r>
          </a:p>
          <a:p>
            <a:pPr marL="171450" indent="-171450">
              <a:buFont typeface="Arial" panose="020B0604020202020204" pitchFamily="34" charset="0"/>
              <a:buChar char="•"/>
            </a:pPr>
            <a:r>
              <a:rPr lang="en-US" altLang="ja-JP" baseline="0" dirty="0"/>
              <a:t>The measures that has been provided is based on NBC 105, seismic design code and ensure the structural safety.</a:t>
            </a:r>
          </a:p>
          <a:p>
            <a:pPr marL="171450" indent="-171450">
              <a:buFont typeface="Arial" panose="020B0604020202020204" pitchFamily="34" charset="0"/>
              <a:buChar char="•"/>
            </a:pPr>
            <a:r>
              <a:rPr lang="en-US" altLang="ja-JP" baseline="0" dirty="0"/>
              <a:t>These measures are applicable only for masonry residential buildings.</a:t>
            </a:r>
          </a:p>
          <a:p>
            <a:pPr marL="171450" indent="-171450">
              <a:buFont typeface="Arial" panose="020B0604020202020204" pitchFamily="34" charset="0"/>
              <a:buChar char="•"/>
            </a:pPr>
            <a:r>
              <a:rPr lang="en-US" altLang="ja-JP" baseline="0" dirty="0"/>
              <a:t>The corrective and exceptional measures that has been introduced in this manual comes after the several vigorous discussion with the technical expert team. </a:t>
            </a:r>
          </a:p>
          <a:p>
            <a:pPr marL="171450" indent="-171450">
              <a:buFont typeface="Arial" panose="020B0604020202020204" pitchFamily="34" charset="0"/>
              <a:buChar char="•"/>
            </a:pPr>
            <a:r>
              <a:rPr lang="en-US" altLang="ja-JP" baseline="0" dirty="0"/>
              <a:t>All the measures are ready to use design which was evolved after structural analysis.</a:t>
            </a:r>
          </a:p>
          <a:p>
            <a:pPr marL="171450" indent="-171450">
              <a:buFont typeface="Arial" panose="020B0604020202020204" pitchFamily="34" charset="0"/>
              <a:buChar char="•"/>
            </a:pPr>
            <a:r>
              <a:rPr lang="en-US" altLang="ja-JP" dirty="0"/>
              <a:t>Some measures mentioned in this manual are difficult to carry out in the field due</a:t>
            </a:r>
            <a:r>
              <a:rPr lang="en-US" altLang="ja-JP" baseline="0" dirty="0"/>
              <a:t> to lack of proper skill and inappropriate workmanship hence, s</a:t>
            </a:r>
            <a:r>
              <a:rPr lang="en-US" altLang="ja-JP" dirty="0"/>
              <a:t>ome corrective measures introduced in this manual are made</a:t>
            </a:r>
            <a:r>
              <a:rPr lang="en-US" altLang="ja-JP" baseline="0" dirty="0"/>
              <a:t> only </a:t>
            </a:r>
            <a:r>
              <a:rPr lang="en-US" altLang="ja-JP" dirty="0"/>
              <a:t>for advisory provision. </a:t>
            </a:r>
            <a:r>
              <a:rPr lang="en-US" altLang="ja-JP" dirty="0" err="1"/>
              <a:t>eg</a:t>
            </a:r>
            <a:r>
              <a:rPr lang="en-US" altLang="ja-JP" dirty="0"/>
              <a:t> Jacketing.</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200" b="1" dirty="0"/>
              <a:t>Slide detail</a:t>
            </a:r>
            <a:r>
              <a:rPr lang="en-US" altLang="ja-JP" sz="1200" b="1" baseline="0" dirty="0"/>
              <a:t> and description:</a:t>
            </a:r>
          </a:p>
          <a:p>
            <a:pPr marL="171450" indent="-171450">
              <a:buFont typeface="Arial" panose="020B0604020202020204" pitchFamily="34" charset="0"/>
              <a:buChar char="•"/>
            </a:pPr>
            <a:r>
              <a:rPr lang="en-US" altLang="ja-JP" dirty="0"/>
              <a:t>This corrections/ exception manual covers only load bearing masonry building</a:t>
            </a:r>
            <a:r>
              <a:rPr lang="en-US" altLang="ja-JP" baseline="0" dirty="0"/>
              <a:t> under GON housing reconstruction </a:t>
            </a:r>
            <a:r>
              <a:rPr lang="en-US" altLang="ja-JP" baseline="0" dirty="0" err="1"/>
              <a:t>programme</a:t>
            </a:r>
            <a:r>
              <a:rPr lang="en-US" altLang="ja-JP" baseline="0" dirty="0"/>
              <a:t>. </a:t>
            </a:r>
          </a:p>
          <a:p>
            <a:pPr marL="171450" indent="-171450">
              <a:buFont typeface="Arial" panose="020B0604020202020204" pitchFamily="34" charset="0"/>
              <a:buChar char="•"/>
            </a:pPr>
            <a:r>
              <a:rPr lang="en-US" altLang="ja-JP" baseline="0" dirty="0"/>
              <a:t>The corrective measures are only for building that are newly constructed or under construction.</a:t>
            </a:r>
          </a:p>
          <a:p>
            <a:pPr marL="171450" indent="-171450">
              <a:buFont typeface="Arial" panose="020B0604020202020204" pitchFamily="34" charset="0"/>
              <a:buChar char="•"/>
            </a:pPr>
            <a:r>
              <a:rPr lang="en-US" altLang="ja-JP" baseline="0" dirty="0"/>
              <a:t>Relevant for residential buildings and fall under category ‘C’ and ‘D’.</a:t>
            </a:r>
          </a:p>
          <a:p>
            <a:pPr marL="171450" indent="-171450">
              <a:buFont typeface="Arial" panose="020B0604020202020204" pitchFamily="34" charset="0"/>
              <a:buChar char="•"/>
            </a:pPr>
            <a:r>
              <a:rPr lang="en-US" altLang="ja-JP" dirty="0"/>
              <a:t>For the buildings which</a:t>
            </a:r>
            <a:r>
              <a:rPr lang="en-US" altLang="ja-JP" baseline="0" dirty="0"/>
              <a:t> falls under the </a:t>
            </a:r>
            <a:r>
              <a:rPr lang="en-US" altLang="ja-JP" dirty="0"/>
              <a:t>category ‘A’ and ‘B’, individual structural</a:t>
            </a:r>
            <a:r>
              <a:rPr lang="en-US" altLang="ja-JP" baseline="0" dirty="0"/>
              <a:t> analysis is required.</a:t>
            </a:r>
          </a:p>
          <a:p>
            <a:pPr marL="0" indent="0">
              <a:buFont typeface="Arial" panose="020B0604020202020204" pitchFamily="34" charset="0"/>
              <a:buNone/>
            </a:pPr>
            <a:endParaRPr lang="en-US" altLang="ja-JP" dirty="0"/>
          </a:p>
          <a:p>
            <a:pPr marL="171450" indent="-171450">
              <a:buFont typeface="Arial" panose="020B0604020202020204" pitchFamily="34" charset="0"/>
              <a:buChar char="•"/>
            </a:pPr>
            <a:endParaRPr lang="en-US" altLang="ja-JP"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52</a:t>
            </a:fld>
            <a:endParaRPr lang="en-US" dirty="0"/>
          </a:p>
        </p:txBody>
      </p:sp>
    </p:spTree>
    <p:extLst>
      <p:ext uri="{BB962C8B-B14F-4D97-AF65-F5344CB8AC3E}">
        <p14:creationId xmlns:p14="http://schemas.microsoft.com/office/powerpoint/2010/main" val="16649280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marL="171450" indent="-171450">
              <a:buFont typeface="Arial" panose="020B0604020202020204" pitchFamily="34" charset="0"/>
              <a:buChar char="•"/>
            </a:pPr>
            <a:r>
              <a:rPr lang="en-US" dirty="0"/>
              <a:t>Contents are three sessions.</a:t>
            </a:r>
            <a:r>
              <a:rPr lang="en-US" baseline="0" dirty="0"/>
              <a:t> Part-A: Exception and Correction, Part-B: Mitigation Measures and ANNEX.</a:t>
            </a:r>
          </a:p>
          <a:p>
            <a:pPr marL="171450" indent="-171450">
              <a:buFont typeface="Arial" panose="020B0604020202020204" pitchFamily="34" charset="0"/>
              <a:buChar char="•"/>
            </a:pPr>
            <a:r>
              <a:rPr lang="en-US" baseline="0" dirty="0"/>
              <a:t>Part-A: Exception and Correction is following items of minimum requirements.</a:t>
            </a:r>
          </a:p>
          <a:p>
            <a:pPr marL="171450" indent="-171450">
              <a:buFont typeface="Arial" panose="020B0604020202020204" pitchFamily="34" charset="0"/>
              <a:buChar char="•"/>
            </a:pPr>
            <a:r>
              <a:rPr lang="en-US" baseline="0" dirty="0"/>
              <a:t>Part-B: </a:t>
            </a:r>
            <a:r>
              <a:rPr lang="en-US" altLang="ja-JP" baseline="0" dirty="0"/>
              <a:t>: Mitigation Measures is detail of correction measures, and step by step construction procedure.</a:t>
            </a:r>
          </a:p>
          <a:p>
            <a:pPr marL="171450" indent="-171450">
              <a:buFont typeface="Arial" panose="020B0604020202020204" pitchFamily="34" charset="0"/>
              <a:buChar char="•"/>
            </a:pPr>
            <a:r>
              <a:rPr lang="en-US" baseline="0" dirty="0"/>
              <a:t>And ANNEX is samples of correction measures.</a:t>
            </a:r>
          </a:p>
        </p:txBody>
      </p:sp>
      <p:sp>
        <p:nvSpPr>
          <p:cNvPr id="4" name="Slide Number Placeholder 3"/>
          <p:cNvSpPr>
            <a:spLocks noGrp="1"/>
          </p:cNvSpPr>
          <p:nvPr>
            <p:ph type="sldNum" sz="quarter" idx="10"/>
          </p:nvPr>
        </p:nvSpPr>
        <p:spPr/>
        <p:txBody>
          <a:bodyPr/>
          <a:lstStyle/>
          <a:p>
            <a:fld id="{2C483AC9-C79F-4509-887F-849D3DB3EB9B}" type="slidenum">
              <a:rPr lang="en-US" smtClean="0"/>
              <a:t>53</a:t>
            </a:fld>
            <a:endParaRPr lang="en-US" dirty="0"/>
          </a:p>
        </p:txBody>
      </p:sp>
    </p:spTree>
    <p:extLst>
      <p:ext uri="{BB962C8B-B14F-4D97-AF65-F5344CB8AC3E}">
        <p14:creationId xmlns:p14="http://schemas.microsoft.com/office/powerpoint/2010/main" val="2951859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aseline="0" dirty="0">
                <a:solidFill>
                  <a:srgbClr val="FF0000"/>
                </a:solidFill>
              </a:rPr>
              <a:t>*Participants read definition of exception in P1.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algn="just"/>
            <a:r>
              <a:rPr lang="en-US" altLang="ja-JP" sz="1200" dirty="0"/>
              <a:t>Exception is the cases of the buildings that do not comply with MRs but are structurally safe as per NBC 105 including the cases mentioned in NBC.</a:t>
            </a:r>
          </a:p>
          <a:p>
            <a:pPr algn="just"/>
            <a:r>
              <a:rPr lang="en-US" altLang="ja-JP" sz="1200" dirty="0"/>
              <a:t>The exceptional cases were drafted by the NRA technical standardization committee on the basis of seismic requirements following NBC 105.</a:t>
            </a:r>
          </a:p>
          <a:p>
            <a:pPr algn="just"/>
            <a:r>
              <a:rPr lang="en-US" altLang="ja-JP" sz="1200" dirty="0"/>
              <a:t>Hence, when all required exception measures have been completed the building can be approved for the subsequent tranche of the housing reconstruction grant.</a:t>
            </a:r>
          </a:p>
        </p:txBody>
      </p:sp>
      <p:sp>
        <p:nvSpPr>
          <p:cNvPr id="4" name="Slide Number Placeholder 3"/>
          <p:cNvSpPr>
            <a:spLocks noGrp="1"/>
          </p:cNvSpPr>
          <p:nvPr>
            <p:ph type="sldNum" sz="quarter" idx="10"/>
          </p:nvPr>
        </p:nvSpPr>
        <p:spPr/>
        <p:txBody>
          <a:bodyPr/>
          <a:lstStyle/>
          <a:p>
            <a:fld id="{2C483AC9-C79F-4509-887F-849D3DB3EB9B}" type="slidenum">
              <a:rPr lang="en-US" smtClean="0"/>
              <a:t>54</a:t>
            </a:fld>
            <a:endParaRPr lang="en-US" dirty="0"/>
          </a:p>
        </p:txBody>
      </p:sp>
    </p:spTree>
    <p:extLst>
      <p:ext uri="{BB962C8B-B14F-4D97-AF65-F5344CB8AC3E}">
        <p14:creationId xmlns:p14="http://schemas.microsoft.com/office/powerpoint/2010/main" val="3420915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aseline="0" dirty="0">
                <a:solidFill>
                  <a:srgbClr val="FF0000"/>
                </a:solidFill>
              </a:rPr>
              <a:t>*Participants read definition of correction in P1.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Correction:</a:t>
            </a:r>
          </a:p>
          <a:p>
            <a:pPr marL="171450" indent="-171450">
              <a:buFont typeface="Arial" panose="020B0604020202020204" pitchFamily="34" charset="0"/>
              <a:buChar char="•"/>
            </a:pPr>
            <a:r>
              <a:rPr lang="en-US" dirty="0"/>
              <a:t>Corrective measured are</a:t>
            </a:r>
            <a:r>
              <a:rPr lang="en-US" baseline="0" dirty="0"/>
              <a:t> introduced to make the non compliant cases into compliant along with satisfying the seismic code 105.</a:t>
            </a:r>
          </a:p>
          <a:p>
            <a:pPr marL="171450" indent="-171450">
              <a:buFont typeface="Arial" panose="020B0604020202020204" pitchFamily="34" charset="0"/>
              <a:buChar char="•"/>
            </a:pPr>
            <a:r>
              <a:rPr lang="en-US" baseline="0" dirty="0"/>
              <a:t>Its main objective is to guide the engineers who are involved in reconstruction process and help them to fill up the correction order form.</a:t>
            </a:r>
          </a:p>
          <a:p>
            <a:pPr marL="171450" indent="-171450">
              <a:buFont typeface="Arial" panose="020B0604020202020204" pitchFamily="34" charset="0"/>
              <a:buChar char="•"/>
            </a:pPr>
            <a:r>
              <a:rPr lang="en-US" baseline="0" dirty="0"/>
              <a:t>Depending upon the non compliant cases the engineers can give the correction orders with reference to this correction manual. </a:t>
            </a:r>
          </a:p>
          <a:p>
            <a:pPr marL="171450" indent="-171450">
              <a:buFont typeface="Arial" panose="020B0604020202020204" pitchFamily="34" charset="0"/>
              <a:buChar char="•"/>
            </a:pPr>
            <a:r>
              <a:rPr lang="en-US" baseline="0" dirty="0"/>
              <a:t>The building can be considered as eligible for subsidy if all the corrective measures ordered by the engineers are carried out.</a:t>
            </a:r>
          </a:p>
          <a:p>
            <a:pPr marL="171450" indent="-171450">
              <a:buFont typeface="Arial" panose="020B0604020202020204" pitchFamily="34" charset="0"/>
              <a:buChar char="•"/>
            </a:pPr>
            <a:r>
              <a:rPr lang="en-US" baseline="0" dirty="0"/>
              <a:t>The correction mentioned in this manuals are ready to use design and can be carried out at any phase of under constructed building.</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55</a:t>
            </a:fld>
            <a:endParaRPr lang="en-US" dirty="0"/>
          </a:p>
        </p:txBody>
      </p:sp>
    </p:spTree>
    <p:extLst>
      <p:ext uri="{BB962C8B-B14F-4D97-AF65-F5344CB8AC3E}">
        <p14:creationId xmlns:p14="http://schemas.microsoft.com/office/powerpoint/2010/main" val="3991792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aseline="0" dirty="0"/>
              <a:t>Part-A of manual consists of Exception and Correction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consists</a:t>
            </a:r>
            <a:r>
              <a:rPr lang="en-US" baseline="0" dirty="0"/>
              <a:t> of</a:t>
            </a:r>
            <a:endParaRPr lang="en-US"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Minimum Requirements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Problem</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Common</a:t>
            </a:r>
            <a:r>
              <a:rPr lang="en-US" baseline="0" dirty="0"/>
              <a:t> Defects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Exception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Solution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Correction</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56</a:t>
            </a:fld>
            <a:endParaRPr lang="en-US" dirty="0"/>
          </a:p>
        </p:txBody>
      </p:sp>
    </p:spTree>
    <p:extLst>
      <p:ext uri="{BB962C8B-B14F-4D97-AF65-F5344CB8AC3E}">
        <p14:creationId xmlns:p14="http://schemas.microsoft.com/office/powerpoint/2010/main" val="3326583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Examples 1:</a:t>
            </a:r>
            <a:r>
              <a:rPr lang="en-US" baseline="0" dirty="0"/>
              <a:t> </a:t>
            </a:r>
          </a:p>
          <a:p>
            <a:pPr marL="171450" indent="-171450">
              <a:buFont typeface="Arial" panose="020B0604020202020204" pitchFamily="34" charset="0"/>
              <a:buChar char="•"/>
            </a:pPr>
            <a:r>
              <a:rPr lang="en-US" baseline="0" dirty="0"/>
              <a:t>If the vertical reinforcement in the building are missing then the addition of vertical reinforcement either from outside or inside of the buildings can be adopted. </a:t>
            </a:r>
          </a:p>
          <a:p>
            <a:pPr marL="171450" indent="-171450">
              <a:buFont typeface="Arial" panose="020B0604020202020204" pitchFamily="34" charset="0"/>
              <a:buChar char="•"/>
            </a:pPr>
            <a:r>
              <a:rPr lang="en-US" baseline="0" dirty="0"/>
              <a:t>Depending upon the availability of the materials alternative materials of reinforcement can be introduced such as </a:t>
            </a:r>
            <a:r>
              <a:rPr lang="en-US" baseline="0" dirty="0" err="1"/>
              <a:t>pp</a:t>
            </a:r>
            <a:r>
              <a:rPr lang="en-US" baseline="0" dirty="0"/>
              <a:t> band or GI wire mesh.</a:t>
            </a:r>
          </a:p>
          <a:p>
            <a:pPr marL="171450" indent="-171450">
              <a:buFont typeface="Arial" panose="020B0604020202020204" pitchFamily="34" charset="0"/>
              <a:buChar char="•"/>
            </a:pPr>
            <a:r>
              <a:rPr lang="en-US" baseline="0" dirty="0"/>
              <a:t>The detail description of the design and construction procedure is provided in the next part i.e. Part B (Mitigation measures) of the correction manual.</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57</a:t>
            </a:fld>
            <a:endParaRPr lang="en-US" dirty="0"/>
          </a:p>
        </p:txBody>
      </p:sp>
    </p:spTree>
    <p:extLst>
      <p:ext uri="{BB962C8B-B14F-4D97-AF65-F5344CB8AC3E}">
        <p14:creationId xmlns:p14="http://schemas.microsoft.com/office/powerpoint/2010/main" val="16312296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Example 2:</a:t>
            </a:r>
          </a:p>
          <a:p>
            <a:pPr marL="171450" indent="-171450">
              <a:buFont typeface="Arial" panose="020B0604020202020204" pitchFamily="34" charset="0"/>
              <a:buChar char="•"/>
            </a:pPr>
            <a:r>
              <a:rPr lang="en-US" dirty="0"/>
              <a:t>According to the minimum requirement</a:t>
            </a:r>
            <a:r>
              <a:rPr lang="en-US" baseline="0" dirty="0"/>
              <a:t> the allowable number of storey for mud masonry building with wooden band is limited to one storey whereas in real scenario people wants to construct an additional attic.</a:t>
            </a:r>
          </a:p>
          <a:p>
            <a:pPr marL="171450" indent="-171450">
              <a:buFont typeface="Arial" panose="020B0604020202020204" pitchFamily="34" charset="0"/>
              <a:buChar char="•"/>
            </a:pPr>
            <a:r>
              <a:rPr lang="en-US" baseline="0" dirty="0"/>
              <a:t>These sort of non complaint issues can be corrected by providing RC roof band instead of wooden roof band. </a:t>
            </a:r>
          </a:p>
          <a:p>
            <a:pPr marL="171450" indent="-171450">
              <a:buFont typeface="Arial" panose="020B0604020202020204" pitchFamily="34" charset="0"/>
              <a:buChar char="•"/>
            </a:pPr>
            <a:r>
              <a:rPr lang="en-US" baseline="0" dirty="0"/>
              <a:t>Alternatively, gabion wire mesh can be provided from lintel to roof level in both side of wall.</a:t>
            </a:r>
          </a:p>
          <a:p>
            <a:pPr marL="171450" indent="-171450">
              <a:buFont typeface="Arial" panose="020B0604020202020204" pitchFamily="34" charset="0"/>
              <a:buChar char="•"/>
            </a:pPr>
            <a:r>
              <a:rPr lang="en-US" baseline="0" dirty="0"/>
              <a:t>The wall above the lintel band can be strengthen by providing vertical wooden member at the suggested interval in both direction of the wall. The two wooden member shall be connected with the connector such as gabion wire.</a:t>
            </a:r>
          </a:p>
          <a:p>
            <a:pPr marL="171450" indent="-171450">
              <a:buFont typeface="Arial" panose="020B0604020202020204" pitchFamily="34" charset="0"/>
              <a:buChar char="•"/>
            </a:pPr>
            <a:r>
              <a:rPr lang="en-US" baseline="0" dirty="0"/>
              <a:t>Depending upon the availability of the materials the suitable corrective measures can be adopted.</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58</a:t>
            </a:fld>
            <a:endParaRPr lang="en-US" dirty="0"/>
          </a:p>
        </p:txBody>
      </p:sp>
    </p:spTree>
    <p:extLst>
      <p:ext uri="{BB962C8B-B14F-4D97-AF65-F5344CB8AC3E}">
        <p14:creationId xmlns:p14="http://schemas.microsoft.com/office/powerpoint/2010/main" val="34659347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Example 3: </a:t>
            </a:r>
          </a:p>
          <a:p>
            <a:pPr marL="171450" indent="-171450">
              <a:buFont typeface="Arial" panose="020B0604020202020204" pitchFamily="34" charset="0"/>
              <a:buChar char="•"/>
            </a:pPr>
            <a:r>
              <a:rPr lang="en-US" dirty="0"/>
              <a:t>Mix used of the two materials</a:t>
            </a:r>
            <a:r>
              <a:rPr lang="en-US" baseline="0" dirty="0"/>
              <a:t> can be found same building and along the same direction of the wall. Due to the improper connection between these two materials, the building is vulnerable to earthquake. Hence as an corrective measures Jacketing has been introduced with some limitations.</a:t>
            </a:r>
          </a:p>
          <a:p>
            <a:pPr marL="171450" indent="-171450">
              <a:buFont typeface="Arial" panose="020B0604020202020204" pitchFamily="34" charset="0"/>
              <a:buChar char="•"/>
            </a:pPr>
            <a:r>
              <a:rPr lang="en-US" baseline="0" dirty="0"/>
              <a:t>The building shall have all the earthquake resistant elements to use jacketing as corrective measures.</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59</a:t>
            </a:fld>
            <a:endParaRPr lang="en-US" dirty="0"/>
          </a:p>
        </p:txBody>
      </p:sp>
    </p:spTree>
    <p:extLst>
      <p:ext uri="{BB962C8B-B14F-4D97-AF65-F5344CB8AC3E}">
        <p14:creationId xmlns:p14="http://schemas.microsoft.com/office/powerpoint/2010/main" val="21713175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Exceptions:</a:t>
            </a:r>
          </a:p>
          <a:p>
            <a:pPr marL="171450" indent="-171450">
              <a:buFont typeface="Arial" panose="020B0604020202020204" pitchFamily="34" charset="0"/>
              <a:buChar char="•"/>
            </a:pPr>
            <a:r>
              <a:rPr lang="en-US" dirty="0"/>
              <a:t>Exceptional</a:t>
            </a:r>
            <a:r>
              <a:rPr lang="en-US" baseline="0" dirty="0"/>
              <a:t> cases are those cases which satisfy the seismic design code 105 but are not mentioned in minimum requirements.</a:t>
            </a:r>
          </a:p>
          <a:p>
            <a:pPr marL="171450" indent="-171450">
              <a:buFont typeface="Arial" panose="020B0604020202020204" pitchFamily="34" charset="0"/>
              <a:buChar char="•"/>
            </a:pPr>
            <a:r>
              <a:rPr lang="en-US" baseline="0" dirty="0"/>
              <a:t>If the building falls under the exceptional cases it can be consider as eligible for receiving the subsidy and are considered as compliant buildings.</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60</a:t>
            </a:fld>
            <a:endParaRPr lang="en-US" dirty="0"/>
          </a:p>
        </p:txBody>
      </p:sp>
    </p:spTree>
    <p:extLst>
      <p:ext uri="{BB962C8B-B14F-4D97-AF65-F5344CB8AC3E}">
        <p14:creationId xmlns:p14="http://schemas.microsoft.com/office/powerpoint/2010/main" val="41036422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Exception:</a:t>
            </a:r>
          </a:p>
          <a:p>
            <a:r>
              <a:rPr lang="en-US" dirty="0"/>
              <a:t>Example 1:</a:t>
            </a:r>
          </a:p>
          <a:p>
            <a:pPr marL="171450" indent="-171450">
              <a:buFont typeface="Arial" panose="020B0604020202020204" pitchFamily="34" charset="0"/>
              <a:buChar char="•"/>
            </a:pPr>
            <a:r>
              <a:rPr lang="en-US" dirty="0"/>
              <a:t>The size of the foundation is governed by the type of masonry, number of storey</a:t>
            </a:r>
            <a:r>
              <a:rPr lang="en-US" baseline="0" dirty="0"/>
              <a:t> and the typology of the soil. </a:t>
            </a:r>
          </a:p>
          <a:p>
            <a:pPr marL="171450" indent="-171450">
              <a:buFont typeface="Arial" panose="020B0604020202020204" pitchFamily="34" charset="0"/>
              <a:buChar char="•"/>
            </a:pPr>
            <a:r>
              <a:rPr lang="en-US" baseline="0" dirty="0"/>
              <a:t>The minimum requirement set the limitation for the size of the foundation.</a:t>
            </a:r>
          </a:p>
          <a:p>
            <a:pPr marL="171450" indent="-171450">
              <a:buFont typeface="Arial" panose="020B0604020202020204" pitchFamily="34" charset="0"/>
              <a:buChar char="•"/>
            </a:pPr>
            <a:r>
              <a:rPr lang="en-US" baseline="0" dirty="0"/>
              <a:t>Most of the hilly areas consist of rock bed where it is impossible to go upto the designated depth guided by minimum requirement. Hence, as an exception the depth of the foundation can be variable.</a:t>
            </a:r>
          </a:p>
          <a:p>
            <a:pPr marL="171450" indent="-171450">
              <a:buFont typeface="Arial" panose="020B0604020202020204" pitchFamily="34" charset="0"/>
              <a:buChar char="•"/>
            </a:pPr>
            <a:r>
              <a:rPr lang="en-US" baseline="0" dirty="0"/>
              <a:t>But the bottom level of the foundation must have proper level and the vertical reinforcement shall be properly anchored to the rock.</a:t>
            </a:r>
          </a:p>
          <a:p>
            <a:pPr marL="171450" indent="-171450">
              <a:buFont typeface="Arial" panose="020B0604020202020204" pitchFamily="34" charset="0"/>
              <a:buChar char="•"/>
            </a:pPr>
            <a:endParaRPr lang="en-US" baseline="0" dirty="0"/>
          </a:p>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61</a:t>
            </a:fld>
            <a:endParaRPr lang="en-US" dirty="0"/>
          </a:p>
        </p:txBody>
      </p:sp>
    </p:spTree>
    <p:extLst>
      <p:ext uri="{BB962C8B-B14F-4D97-AF65-F5344CB8AC3E}">
        <p14:creationId xmlns:p14="http://schemas.microsoft.com/office/powerpoint/2010/main" val="11075208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pPr marL="171450" indent="-171450">
              <a:buFont typeface="Arial" panose="020B0604020202020204" pitchFamily="34" charset="0"/>
              <a:buChar char="•"/>
            </a:pPr>
            <a:r>
              <a:rPr lang="en-US" dirty="0"/>
              <a:t>Minimum requirement</a:t>
            </a:r>
            <a:r>
              <a:rPr lang="en-US" baseline="0" dirty="0"/>
              <a:t> for doors and windows.</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62</a:t>
            </a:fld>
            <a:endParaRPr lang="en-US" dirty="0"/>
          </a:p>
        </p:txBody>
      </p:sp>
    </p:spTree>
    <p:extLst>
      <p:ext uri="{BB962C8B-B14F-4D97-AF65-F5344CB8AC3E}">
        <p14:creationId xmlns:p14="http://schemas.microsoft.com/office/powerpoint/2010/main" val="26640699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Exception</a:t>
            </a:r>
          </a:p>
          <a:p>
            <a:r>
              <a:rPr lang="en-US" dirty="0"/>
              <a:t>Example 2:</a:t>
            </a:r>
          </a:p>
          <a:p>
            <a:pPr marL="171450" indent="-171450">
              <a:buFont typeface="Arial" panose="020B0604020202020204" pitchFamily="34" charset="0"/>
              <a:buChar char="•"/>
            </a:pPr>
            <a:r>
              <a:rPr lang="en-US" dirty="0"/>
              <a:t>The main aim of providing</a:t>
            </a:r>
            <a:r>
              <a:rPr lang="en-US" baseline="0" dirty="0"/>
              <a:t> the vertical band is to create the box effect around the opening so that there is less chance of crack along those openings.</a:t>
            </a:r>
          </a:p>
          <a:p>
            <a:pPr marL="171450" indent="-171450">
              <a:buFont typeface="Arial" panose="020B0604020202020204" pitchFamily="34" charset="0"/>
              <a:buChar char="•"/>
            </a:pPr>
            <a:r>
              <a:rPr lang="en-US" baseline="0" dirty="0"/>
              <a:t>Since the double frame windows/Doors also helps in creating the box effect the vertical band can be ignored. Similarly, these frame shall be properly connected with the horizontal band.</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63</a:t>
            </a:fld>
            <a:endParaRPr lang="en-US" dirty="0"/>
          </a:p>
        </p:txBody>
      </p:sp>
    </p:spTree>
    <p:extLst>
      <p:ext uri="{BB962C8B-B14F-4D97-AF65-F5344CB8AC3E}">
        <p14:creationId xmlns:p14="http://schemas.microsoft.com/office/powerpoint/2010/main" val="33590760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Mitigation measures :</a:t>
            </a:r>
          </a:p>
          <a:p>
            <a:pPr marL="171450" indent="-171450">
              <a:buFont typeface="Arial" panose="020B0604020202020204" pitchFamily="34" charset="0"/>
              <a:buChar char="•"/>
            </a:pPr>
            <a:r>
              <a:rPr lang="en-US" dirty="0"/>
              <a:t>It consist of step</a:t>
            </a:r>
            <a:r>
              <a:rPr lang="en-US" baseline="0" dirty="0"/>
              <a:t> by step construction procedure of correcting the individual missing items of earthquake resistant elements.</a:t>
            </a:r>
          </a:p>
          <a:p>
            <a:pPr marL="171450" indent="-171450">
              <a:buFont typeface="Arial" panose="020B0604020202020204" pitchFamily="34" charset="0"/>
              <a:buChar char="•"/>
            </a:pPr>
            <a:r>
              <a:rPr lang="en-US" dirty="0"/>
              <a:t>All the design</a:t>
            </a:r>
            <a:r>
              <a:rPr lang="en-US" baseline="0" dirty="0"/>
              <a:t> mentioned in this section are </a:t>
            </a:r>
            <a:r>
              <a:rPr lang="en-US" dirty="0"/>
              <a:t>ready</a:t>
            </a:r>
            <a:r>
              <a:rPr lang="en-US" baseline="0" dirty="0"/>
              <a:t> to use design.</a:t>
            </a:r>
          </a:p>
          <a:p>
            <a:pPr marL="171450" indent="-171450">
              <a:buFont typeface="Arial" panose="020B0604020202020204" pitchFamily="34" charset="0"/>
              <a:buChar char="•"/>
            </a:pPr>
            <a:r>
              <a:rPr lang="en-US" baseline="0" dirty="0"/>
              <a:t>The detail description of the work need to be carried out to implement the corrective measures has been described along with the construction images.</a:t>
            </a:r>
          </a:p>
          <a:p>
            <a:pPr marL="171450" indent="-171450">
              <a:buFont typeface="Arial" panose="020B0604020202020204" pitchFamily="34" charset="0"/>
              <a:buChar char="•"/>
            </a:pPr>
            <a:r>
              <a:rPr lang="en-US" baseline="0" dirty="0"/>
              <a:t>Depending upon the non-compliant cases, site condition, workmanship and availability of the materials suitable mitigation measures can be adopted.</a:t>
            </a:r>
          </a:p>
          <a:p>
            <a:pPr marL="0" indent="0">
              <a:buFont typeface="Arial" panose="020B0604020202020204" pitchFamily="34" charset="0"/>
              <a:buNone/>
            </a:pPr>
            <a:r>
              <a:rPr lang="en-US" baseline="0" dirty="0"/>
              <a:t>Example:</a:t>
            </a:r>
          </a:p>
          <a:p>
            <a:pPr marL="0" indent="0">
              <a:buFont typeface="Arial" panose="020B0604020202020204" pitchFamily="34" charset="0"/>
              <a:buNone/>
            </a:pPr>
            <a:r>
              <a:rPr lang="en-US" baseline="0" dirty="0"/>
              <a:t>Addition of RC Horizontal band:</a:t>
            </a:r>
          </a:p>
          <a:p>
            <a:pPr marL="0" indent="0">
              <a:buFont typeface="Arial" panose="020B0604020202020204" pitchFamily="34" charset="0"/>
              <a:buNone/>
            </a:pPr>
            <a:r>
              <a:rPr lang="en-US" baseline="0" dirty="0"/>
              <a:t>Description of work:</a:t>
            </a:r>
          </a:p>
          <a:p>
            <a:pPr marL="228600" indent="-228600">
              <a:buFont typeface="Arial" panose="020B0604020202020204" pitchFamily="34" charset="0"/>
              <a:buAutoNum type="arabicPeriod"/>
            </a:pPr>
            <a:r>
              <a:rPr lang="en-US" baseline="0" dirty="0"/>
              <a:t>Surface preparation</a:t>
            </a:r>
          </a:p>
          <a:p>
            <a:pPr marL="228600" indent="-228600">
              <a:buFont typeface="Arial" panose="020B0604020202020204" pitchFamily="34" charset="0"/>
              <a:buAutoNum type="arabicPeriod"/>
            </a:pPr>
            <a:r>
              <a:rPr lang="en-US" baseline="0" dirty="0"/>
              <a:t>Placing of reinforcement </a:t>
            </a:r>
          </a:p>
          <a:p>
            <a:pPr marL="228600" indent="-228600">
              <a:buFont typeface="Arial" panose="020B0604020202020204" pitchFamily="34" charset="0"/>
              <a:buAutoNum type="arabicPeriod"/>
            </a:pPr>
            <a:r>
              <a:rPr lang="en-US" baseline="0" dirty="0"/>
              <a:t>Make holes for anchorage</a:t>
            </a:r>
          </a:p>
          <a:p>
            <a:pPr marL="0" indent="0">
              <a:buFont typeface="Arial" panose="020B0604020202020204" pitchFamily="34" charset="0"/>
              <a:buNone/>
            </a:pPr>
            <a:r>
              <a:rPr lang="en-US" baseline="0" dirty="0"/>
              <a:t>	- For through GI bar</a:t>
            </a:r>
          </a:p>
          <a:p>
            <a:pPr marL="0" indent="0">
              <a:buFont typeface="Arial" panose="020B0604020202020204" pitchFamily="34" charset="0"/>
              <a:buNone/>
            </a:pPr>
            <a:r>
              <a:rPr lang="en-US" baseline="0" dirty="0"/>
              <a:t>	- For anchorage bar</a:t>
            </a:r>
          </a:p>
          <a:p>
            <a:pPr marL="228600" indent="-228600">
              <a:buFont typeface="+mj-lt"/>
              <a:buAutoNum type="arabicPeriod" startAt="4"/>
            </a:pPr>
            <a:r>
              <a:rPr lang="en-US" baseline="0" dirty="0"/>
              <a:t>Anchor reinforcing bar mesh</a:t>
            </a:r>
          </a:p>
          <a:p>
            <a:pPr marL="228600" indent="-228600">
              <a:buFont typeface="Arial" panose="020B0604020202020204" pitchFamily="34" charset="0"/>
              <a:buAutoNum type="arabicPeriod" startAt="4"/>
            </a:pPr>
            <a:r>
              <a:rPr lang="en-US" baseline="0" dirty="0"/>
              <a:t>Application of Micro concrete.</a:t>
            </a:r>
          </a:p>
          <a:p>
            <a:pPr marL="228600" indent="-228600">
              <a:buFont typeface="Arial" panose="020B0604020202020204" pitchFamily="34" charset="0"/>
              <a:buAutoNum type="arabicPeriod" startAt="4"/>
            </a:pPr>
            <a:r>
              <a:rPr lang="en-US" baseline="0" dirty="0"/>
              <a:t>Curing of concrete </a:t>
            </a:r>
            <a:endParaRPr lang="en-US" dirty="0"/>
          </a:p>
          <a:p>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64</a:t>
            </a:fld>
            <a:endParaRPr lang="en-US" dirty="0"/>
          </a:p>
        </p:txBody>
      </p:sp>
    </p:spTree>
    <p:extLst>
      <p:ext uri="{BB962C8B-B14F-4D97-AF65-F5344CB8AC3E}">
        <p14:creationId xmlns:p14="http://schemas.microsoft.com/office/powerpoint/2010/main" val="29052072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Slide detail</a:t>
            </a:r>
            <a:r>
              <a:rPr lang="en-US" sz="1200" b="1" baseline="0" dirty="0"/>
              <a:t> and description:</a:t>
            </a:r>
          </a:p>
          <a:p>
            <a:r>
              <a:rPr lang="en-US" dirty="0"/>
              <a:t>Mitigation measures: </a:t>
            </a:r>
          </a:p>
          <a:p>
            <a:pPr marL="171450" indent="-171450">
              <a:buFont typeface="Arial" panose="020B0604020202020204" pitchFamily="34" charset="0"/>
              <a:buChar char="•"/>
            </a:pPr>
            <a:r>
              <a:rPr lang="en-US" dirty="0"/>
              <a:t>The detail</a:t>
            </a:r>
            <a:r>
              <a:rPr lang="en-US" baseline="0" dirty="0"/>
              <a:t> specification of the materials has also been described in the mitigation measures.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65</a:t>
            </a:fld>
            <a:endParaRPr lang="en-US" dirty="0"/>
          </a:p>
        </p:txBody>
      </p:sp>
    </p:spTree>
    <p:extLst>
      <p:ext uri="{BB962C8B-B14F-4D97-AF65-F5344CB8AC3E}">
        <p14:creationId xmlns:p14="http://schemas.microsoft.com/office/powerpoint/2010/main" val="13531678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t>Slide detail</a:t>
            </a:r>
            <a:r>
              <a:rPr lang="en-US" sz="1200" b="1" baseline="0" dirty="0"/>
              <a:t> and description:</a:t>
            </a:r>
          </a:p>
          <a:p>
            <a:pPr marL="171450" indent="-171450">
              <a:buFont typeface="Arial" panose="020B0604020202020204" pitchFamily="34" charset="0"/>
              <a:buChar char="•"/>
            </a:pPr>
            <a:r>
              <a:rPr lang="en-US" dirty="0"/>
              <a:t>The illustrative construction procedure is</a:t>
            </a:r>
            <a:r>
              <a:rPr lang="en-US" baseline="0" dirty="0"/>
              <a:t> also provided in the mitigation measures.</a:t>
            </a:r>
          </a:p>
          <a:p>
            <a:pPr marL="171450" indent="-171450">
              <a:buFont typeface="Arial" panose="020B0604020202020204" pitchFamily="34" charset="0"/>
              <a:buChar char="•"/>
            </a:pPr>
            <a:r>
              <a:rPr lang="en-US" baseline="0" dirty="0"/>
              <a:t>It will provide the vision of the construction steps to all the technical and non technical people.</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66</a:t>
            </a:fld>
            <a:endParaRPr lang="en-US" dirty="0"/>
          </a:p>
        </p:txBody>
      </p:sp>
    </p:spTree>
    <p:extLst>
      <p:ext uri="{BB962C8B-B14F-4D97-AF65-F5344CB8AC3E}">
        <p14:creationId xmlns:p14="http://schemas.microsoft.com/office/powerpoint/2010/main" val="18876877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400" b="1" dirty="0"/>
              <a:t>Slide detail</a:t>
            </a:r>
            <a:r>
              <a:rPr lang="en-US" sz="1400" b="1" baseline="0" dirty="0"/>
              <a:t> and description:</a:t>
            </a:r>
          </a:p>
          <a:p>
            <a:pPr marL="171450" indent="-171450">
              <a:buFont typeface="Arial" panose="020B0604020202020204" pitchFamily="34" charset="0"/>
              <a:buChar char="•"/>
            </a:pPr>
            <a:r>
              <a:rPr lang="en-US" dirty="0"/>
              <a:t>In</a:t>
            </a:r>
            <a:r>
              <a:rPr lang="en-US" baseline="0" dirty="0"/>
              <a:t> order to address the building that doesn’t comply with any of the earthquake resistant features, the corrective measures are provided in the separate section of the Manual i.e. Annex-I</a:t>
            </a:r>
          </a:p>
          <a:p>
            <a:pPr marL="171450" indent="-171450">
              <a:buFont typeface="Arial" panose="020B0604020202020204" pitchFamily="34" charset="0"/>
              <a:buChar char="•"/>
            </a:pPr>
            <a:r>
              <a:rPr lang="en-US" baseline="0" dirty="0"/>
              <a:t>It consist of providing the earthquake resistant element externally</a:t>
            </a:r>
          </a:p>
          <a:p>
            <a:pPr marL="171450" indent="-171450">
              <a:buFont typeface="Arial" panose="020B0604020202020204" pitchFamily="34" charset="0"/>
              <a:buChar char="•"/>
            </a:pPr>
            <a:r>
              <a:rPr lang="en-US" baseline="0" dirty="0"/>
              <a:t>The detail specification of the different materials used for as </a:t>
            </a:r>
            <a:r>
              <a:rPr lang="en-US" baseline="0" dirty="0" err="1"/>
              <a:t>eq</a:t>
            </a:r>
            <a:r>
              <a:rPr lang="en-US" baseline="0" dirty="0"/>
              <a:t> resistant element is provided.</a:t>
            </a:r>
          </a:p>
          <a:p>
            <a:pPr marL="171450" indent="-171450">
              <a:buFont typeface="Arial" panose="020B0604020202020204" pitchFamily="34" charset="0"/>
              <a:buChar char="•"/>
            </a:pPr>
            <a:r>
              <a:rPr lang="en-US" baseline="0" dirty="0"/>
              <a:t>Depending upon the availability of the materials and the workmanship suitable corrective measures can be adopted.</a:t>
            </a:r>
          </a:p>
          <a:p>
            <a:pPr marL="171450" indent="-171450">
              <a:buFont typeface="Arial" panose="020B0604020202020204" pitchFamily="34" charset="0"/>
              <a:buChar char="•"/>
            </a:pPr>
            <a:r>
              <a:rPr lang="en-US" baseline="0" dirty="0"/>
              <a:t>After adopting all the mentioned corrective measures the building can be approved for the subsequent tranche of the housing reconstruction grant.</a:t>
            </a:r>
          </a:p>
        </p:txBody>
      </p:sp>
      <p:sp>
        <p:nvSpPr>
          <p:cNvPr id="4" name="Slide Number Placeholder 3"/>
          <p:cNvSpPr>
            <a:spLocks noGrp="1"/>
          </p:cNvSpPr>
          <p:nvPr>
            <p:ph type="sldNum" sz="quarter" idx="10"/>
          </p:nvPr>
        </p:nvSpPr>
        <p:spPr/>
        <p:txBody>
          <a:bodyPr/>
          <a:lstStyle/>
          <a:p>
            <a:fld id="{2C483AC9-C79F-4509-887F-849D3DB3EB9B}" type="slidenum">
              <a:rPr lang="en-US" smtClean="0"/>
              <a:t>67</a:t>
            </a:fld>
            <a:endParaRPr lang="en-US" dirty="0"/>
          </a:p>
        </p:txBody>
      </p:sp>
    </p:spTree>
    <p:extLst>
      <p:ext uri="{BB962C8B-B14F-4D97-AF65-F5344CB8AC3E}">
        <p14:creationId xmlns:p14="http://schemas.microsoft.com/office/powerpoint/2010/main" val="40152372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t>Slide detail</a:t>
            </a:r>
            <a:r>
              <a:rPr lang="en-US" sz="1200" b="1" baseline="0" dirty="0"/>
              <a:t> and description:</a:t>
            </a:r>
          </a:p>
          <a:p>
            <a:pPr marL="171450" indent="-171450">
              <a:buFont typeface="Arial" panose="020B0604020202020204" pitchFamily="34" charset="0"/>
              <a:buChar char="•"/>
            </a:pPr>
            <a:r>
              <a:rPr lang="en-US" dirty="0"/>
              <a:t>Till date the detail requirement</a:t>
            </a:r>
            <a:r>
              <a:rPr lang="en-US" baseline="0" dirty="0"/>
              <a:t> for the </a:t>
            </a:r>
            <a:r>
              <a:rPr lang="en-US" dirty="0"/>
              <a:t>hybrid structure has not been drafted but</a:t>
            </a:r>
            <a:r>
              <a:rPr lang="en-US" baseline="0" dirty="0"/>
              <a:t> according to the real scenario of construction many buildings has been constructed with load bearing masonry at the ground floor and light weight structure in the first floor.</a:t>
            </a:r>
          </a:p>
          <a:p>
            <a:pPr marL="171450" indent="-171450">
              <a:buFont typeface="Arial" panose="020B0604020202020204" pitchFamily="34" charset="0"/>
              <a:buChar char="•"/>
            </a:pPr>
            <a:r>
              <a:rPr lang="en-US" baseline="0" dirty="0"/>
              <a:t>So to address these issues the connection details of these light weight materials has been mentioned in this section i.e. Annex II   </a:t>
            </a:r>
            <a:endParaRPr lang="en-US" dirty="0"/>
          </a:p>
        </p:txBody>
      </p:sp>
      <p:sp>
        <p:nvSpPr>
          <p:cNvPr id="4" name="Slide Number Placeholder 3"/>
          <p:cNvSpPr>
            <a:spLocks noGrp="1"/>
          </p:cNvSpPr>
          <p:nvPr>
            <p:ph type="sldNum" sz="quarter" idx="10"/>
          </p:nvPr>
        </p:nvSpPr>
        <p:spPr/>
        <p:txBody>
          <a:bodyPr/>
          <a:lstStyle/>
          <a:p>
            <a:fld id="{2C483AC9-C79F-4509-887F-849D3DB3EB9B}" type="slidenum">
              <a:rPr lang="en-US" smtClean="0"/>
              <a:t>68</a:t>
            </a:fld>
            <a:endParaRPr lang="en-US" dirty="0"/>
          </a:p>
        </p:txBody>
      </p:sp>
    </p:spTree>
    <p:extLst>
      <p:ext uri="{BB962C8B-B14F-4D97-AF65-F5344CB8AC3E}">
        <p14:creationId xmlns:p14="http://schemas.microsoft.com/office/powerpoint/2010/main" val="3333120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fr-CH"/>
              <a:t>Fare clic per modificare stile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CH"/>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6FD21832-C3C3-408D-A70E-A17D95AD9D72}" type="datetime1">
              <a:rPr lang="en-US" smtClean="0"/>
              <a:t>6/1/2017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Content Placeholder 2"/>
          <p:cNvSpPr>
            <a:spLocks noGrp="1"/>
          </p:cNvSpPr>
          <p:nvPr>
            <p:ph idx="1"/>
          </p:nvPr>
        </p:nvSpPr>
        <p:spPr/>
        <p:txBody>
          <a:body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4" name="Date Placeholder 3"/>
          <p:cNvSpPr>
            <a:spLocks noGrp="1"/>
          </p:cNvSpPr>
          <p:nvPr>
            <p:ph type="dt" sz="half" idx="10"/>
          </p:nvPr>
        </p:nvSpPr>
        <p:spPr/>
        <p:txBody>
          <a:bodyPr/>
          <a:lstStyle/>
          <a:p>
            <a:fld id="{AF36AFD4-CFDD-43B9-B8F7-51442E92CD50}" type="datetime1">
              <a:rPr lang="en-US" smtClean="0"/>
              <a:t>6/1/2017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fr-CH"/>
              <a:t>Fare clic per modificare stile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H"/>
              <a:t>Fare clic per modificare gli stili del testo dello schema</a:t>
            </a:r>
          </a:p>
        </p:txBody>
      </p:sp>
      <p:sp>
        <p:nvSpPr>
          <p:cNvPr id="4" name="Date Placeholder 3"/>
          <p:cNvSpPr>
            <a:spLocks noGrp="1"/>
          </p:cNvSpPr>
          <p:nvPr>
            <p:ph type="dt" sz="half" idx="10"/>
          </p:nvPr>
        </p:nvSpPr>
        <p:spPr/>
        <p:txBody>
          <a:bodyPr/>
          <a:lstStyle/>
          <a:p>
            <a:fld id="{E1CEC576-A44D-4A7F-91DF-0CAA3DB7D76A}" type="datetime1">
              <a:rPr lang="en-US" smtClean="0"/>
              <a:t>6/1/2017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5" name="Date Placeholder 4"/>
          <p:cNvSpPr>
            <a:spLocks noGrp="1"/>
          </p:cNvSpPr>
          <p:nvPr>
            <p:ph type="dt" sz="half" idx="10"/>
          </p:nvPr>
        </p:nvSpPr>
        <p:spPr/>
        <p:txBody>
          <a:bodyPr/>
          <a:lstStyle/>
          <a:p>
            <a:fld id="{2F7A5BEF-861E-4F1C-9D64-DC2FF91F95D5}" type="datetime1">
              <a:rPr lang="en-US" smtClean="0"/>
              <a:t>6/1/2017</a:t>
            </a:fld>
            <a:endParaRPr lang="en-US"/>
          </a:p>
        </p:txBody>
      </p:sp>
      <p:sp>
        <p:nvSpPr>
          <p:cNvPr id="6" name="Footer Placeholder 5"/>
          <p:cNvSpPr>
            <a:spLocks noGrp="1"/>
          </p:cNvSpPr>
          <p:nvPr>
            <p:ph type="ftr" sz="quarter" idx="11"/>
          </p:nvPr>
        </p:nvSpPr>
        <p:spPr/>
        <p:txBody>
          <a:bodyPr/>
          <a:lstStyle/>
          <a:p>
            <a:r>
              <a:rPr lang="en-US"/>
              <a:t>Housing Recovery &amp; Reconstruction Platform (HRRP)</a:t>
            </a:r>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CH"/>
              <a:t>Fare clic per modificare stile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H"/>
              <a:t>Fare clic per modificare gli stili del testo dello schema</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H"/>
              <a:t>Fare clic per modificare gli stili del testo dello schema</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7" name="Date Placeholder 6"/>
          <p:cNvSpPr>
            <a:spLocks noGrp="1"/>
          </p:cNvSpPr>
          <p:nvPr>
            <p:ph type="dt" sz="half" idx="10"/>
          </p:nvPr>
        </p:nvSpPr>
        <p:spPr/>
        <p:txBody>
          <a:bodyPr/>
          <a:lstStyle/>
          <a:p>
            <a:fld id="{A7F98D36-6891-4EC2-A8A6-DF445F42BA40}" type="datetime1">
              <a:rPr lang="en-US" smtClean="0"/>
              <a:t>6/1/2017</a:t>
            </a:fld>
            <a:endParaRPr lang="en-US"/>
          </a:p>
        </p:txBody>
      </p:sp>
      <p:sp>
        <p:nvSpPr>
          <p:cNvPr id="8" name="Footer Placeholder 7"/>
          <p:cNvSpPr>
            <a:spLocks noGrp="1"/>
          </p:cNvSpPr>
          <p:nvPr>
            <p:ph type="ftr" sz="quarter" idx="11"/>
          </p:nvPr>
        </p:nvSpPr>
        <p:spPr/>
        <p:txBody>
          <a:bodyPr/>
          <a:lstStyle/>
          <a:p>
            <a:r>
              <a:rPr lang="en-US"/>
              <a:t>Housing Recovery &amp; Reconstruction Platform (HRRP)</a:t>
            </a:r>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Date Placeholder 2"/>
          <p:cNvSpPr>
            <a:spLocks noGrp="1"/>
          </p:cNvSpPr>
          <p:nvPr>
            <p:ph type="dt" sz="half" idx="10"/>
          </p:nvPr>
        </p:nvSpPr>
        <p:spPr/>
        <p:txBody>
          <a:bodyPr/>
          <a:lstStyle/>
          <a:p>
            <a:fld id="{423661E6-40D1-4B4E-8257-A0980031A3D0}" type="datetime1">
              <a:rPr lang="en-US" smtClean="0"/>
              <a:t>6/1/2017</a:t>
            </a:fld>
            <a:endParaRPr lang="en-US"/>
          </a:p>
        </p:txBody>
      </p:sp>
      <p:sp>
        <p:nvSpPr>
          <p:cNvPr id="4" name="Footer Placeholder 3"/>
          <p:cNvSpPr>
            <a:spLocks noGrp="1"/>
          </p:cNvSpPr>
          <p:nvPr>
            <p:ph type="ftr" sz="quarter" idx="11"/>
          </p:nvPr>
        </p:nvSpPr>
        <p:spPr/>
        <p:txBody>
          <a:bodyPr/>
          <a:lstStyle/>
          <a:p>
            <a:r>
              <a:rPr lang="en-US"/>
              <a:t>Housing Recovery &amp; Reconstruction Platform (HRRP)</a:t>
            </a:r>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38750A-9012-43F9-9179-0FE272000535}" type="datetime1">
              <a:rPr lang="en-US" smtClean="0"/>
              <a:t>6/1/2017</a:t>
            </a:fld>
            <a:endParaRPr lang="en-US"/>
          </a:p>
        </p:txBody>
      </p:sp>
      <p:sp>
        <p:nvSpPr>
          <p:cNvPr id="3" name="Footer Placeholder 2"/>
          <p:cNvSpPr>
            <a:spLocks noGrp="1"/>
          </p:cNvSpPr>
          <p:nvPr>
            <p:ph type="ftr" sz="quarter" idx="11"/>
          </p:nvPr>
        </p:nvSpPr>
        <p:spPr/>
        <p:txBody>
          <a:bodyPr/>
          <a:lstStyle/>
          <a:p>
            <a:r>
              <a:rPr lang="en-US"/>
              <a:t>Housing Recovery &amp; Reconstruction Platform (HRRP)</a:t>
            </a:r>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fr-CH"/>
              <a:t>Fare clic per modificare stile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H"/>
              <a:t>Fare clic per modificare gli stili del testo dello schema</a:t>
            </a:r>
          </a:p>
        </p:txBody>
      </p:sp>
      <p:sp>
        <p:nvSpPr>
          <p:cNvPr id="5" name="Date Placeholder 4"/>
          <p:cNvSpPr>
            <a:spLocks noGrp="1"/>
          </p:cNvSpPr>
          <p:nvPr>
            <p:ph type="dt" sz="half" idx="10"/>
          </p:nvPr>
        </p:nvSpPr>
        <p:spPr/>
        <p:txBody>
          <a:bodyPr/>
          <a:lstStyle/>
          <a:p>
            <a:fld id="{67B414D3-4108-4DB0-97F7-286C70DB7389}" type="datetime1">
              <a:rPr lang="en-US" smtClean="0"/>
              <a:t>6/1/2017</a:t>
            </a:fld>
            <a:endParaRPr lang="en-US"/>
          </a:p>
        </p:txBody>
      </p:sp>
      <p:sp>
        <p:nvSpPr>
          <p:cNvPr id="6" name="Footer Placeholder 5"/>
          <p:cNvSpPr>
            <a:spLocks noGrp="1"/>
          </p:cNvSpPr>
          <p:nvPr>
            <p:ph type="ftr" sz="quarter" idx="11"/>
          </p:nvPr>
        </p:nvSpPr>
        <p:spPr/>
        <p:txBody>
          <a:bodyPr/>
          <a:lstStyle/>
          <a:p>
            <a:r>
              <a:rPr lang="en-US"/>
              <a:t>Housing Recovery &amp; Reconstruction Platform (HRRP)</a:t>
            </a:r>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fr-CH"/>
              <a:t>Fare clic per modificare stile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CH"/>
              <a:t>Trascinare l'immagine su un segnaposto o fare clic sull'icona per aggiungerla</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H"/>
              <a:t>Fare clic per modificare gli stili del testo dello schema</a:t>
            </a:r>
          </a:p>
        </p:txBody>
      </p:sp>
      <p:sp>
        <p:nvSpPr>
          <p:cNvPr id="8" name="Date Placeholder 7"/>
          <p:cNvSpPr>
            <a:spLocks noGrp="1"/>
          </p:cNvSpPr>
          <p:nvPr>
            <p:ph type="dt" sz="half" idx="10"/>
          </p:nvPr>
        </p:nvSpPr>
        <p:spPr/>
        <p:txBody>
          <a:bodyPr/>
          <a:lstStyle/>
          <a:p>
            <a:fld id="{2274B755-1D85-49AA-ABC3-9FFA3A54B2DE}" type="datetime1">
              <a:rPr lang="en-US" smtClean="0"/>
              <a:t>6/1/2017</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a:t>
            </a:fld>
            <a:endParaRPr lang="en-US" dirty="0"/>
          </a:p>
        </p:txBody>
      </p:sp>
      <p:sp>
        <p:nvSpPr>
          <p:cNvPr id="10" name="Footer Placeholder 9"/>
          <p:cNvSpPr>
            <a:spLocks noGrp="1"/>
          </p:cNvSpPr>
          <p:nvPr>
            <p:ph type="ftr" sz="quarter" idx="12"/>
          </p:nvPr>
        </p:nvSpPr>
        <p:spPr/>
        <p:txBody>
          <a:bodyPr/>
          <a:lstStyle/>
          <a:p>
            <a:r>
              <a:rPr lang="en-US"/>
              <a:t>Housing Recovery &amp; Reconstruction Platform (HRRP)</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a:t>Fare clic per modificare stile</a:t>
            </a:r>
            <a:endParaRPr lang="en-US"/>
          </a:p>
        </p:txBody>
      </p:sp>
      <p:sp>
        <p:nvSpPr>
          <p:cNvPr id="3" name="Vertical Text Placeholder 2"/>
          <p:cNvSpPr>
            <a:spLocks noGrp="1"/>
          </p:cNvSpPr>
          <p:nvPr>
            <p:ph type="body" orient="vert" idx="1"/>
          </p:nvPr>
        </p:nvSpPr>
        <p:spPr/>
        <p:txBody>
          <a:bodyPr vert="eaVert"/>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4" name="Date Placeholder 3"/>
          <p:cNvSpPr>
            <a:spLocks noGrp="1"/>
          </p:cNvSpPr>
          <p:nvPr>
            <p:ph type="dt" sz="half" idx="10"/>
          </p:nvPr>
        </p:nvSpPr>
        <p:spPr/>
        <p:txBody>
          <a:bodyPr/>
          <a:lstStyle/>
          <a:p>
            <a:fld id="{17CAA2D9-F0F6-4A6D-96AD-A9469B5781BD}" type="datetime1">
              <a:rPr lang="en-US" smtClean="0"/>
              <a:t>6/1/2017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fr-CH"/>
              <a:t>Fare clic per modificare stile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a:p>
        </p:txBody>
      </p:sp>
      <p:sp>
        <p:nvSpPr>
          <p:cNvPr id="4" name="Date Placeholder 3"/>
          <p:cNvSpPr>
            <a:spLocks noGrp="1"/>
          </p:cNvSpPr>
          <p:nvPr>
            <p:ph type="dt" sz="half" idx="10"/>
          </p:nvPr>
        </p:nvSpPr>
        <p:spPr/>
        <p:txBody>
          <a:bodyPr/>
          <a:lstStyle/>
          <a:p>
            <a:fld id="{A39D39AA-2F89-4D27-B531-3F9D928D2CD5}" type="datetime1">
              <a:rPr lang="en-US" smtClean="0"/>
              <a:t>6/1/2017</a:t>
            </a:fld>
            <a:endParaRPr lang="en-US"/>
          </a:p>
        </p:txBody>
      </p:sp>
      <p:sp>
        <p:nvSpPr>
          <p:cNvPr id="5" name="Footer Placeholder 4"/>
          <p:cNvSpPr>
            <a:spLocks noGrp="1"/>
          </p:cNvSpPr>
          <p:nvPr>
            <p:ph type="ftr" sz="quarter" idx="11"/>
          </p:nvPr>
        </p:nvSpPr>
        <p:spPr/>
        <p:txBody>
          <a:bodyPr/>
          <a:lstStyle/>
          <a:p>
            <a:r>
              <a:rPr lang="en-US"/>
              <a:t>Housing Recovery &amp; Reconstruction Platform (HRRP)</a:t>
            </a:r>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fr-CH"/>
              <a:t>Fare clic per modificare stile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US"/>
              <a:t>Housing Recovery &amp; Reconstruction Platform (HRRP)</a:t>
            </a:r>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7483F6D8-BB93-492D-BEBA-9D389C7919C2}" type="datetime1">
              <a:rPr lang="en-US" smtClean="0"/>
              <a:t>6/1/2017</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sldNum="0"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tmp"/></Relationships>
</file>

<file path=ppt/slides/_rels/slide25.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tmp"/><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tmp"/><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tmp"/><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4.emf"/><Relationship Id="rId5" Type="http://schemas.openxmlformats.org/officeDocument/2006/relationships/image" Target="../media/image33.jpeg"/><Relationship Id="rId4" Type="http://schemas.openxmlformats.org/officeDocument/2006/relationships/image" Target="../media/image32.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40.tif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53.jpeg"/></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3.jpeg"/></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7.emf"/></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5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5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71.png"/></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72.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76.jpeg"/><Relationship Id="rId4" Type="http://schemas.openxmlformats.org/officeDocument/2006/relationships/image" Target="../media/image75.png"/></Relationships>
</file>

<file path=ppt/slides/_rels/slide6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png"/></Relationships>
</file>

<file path=ppt/slides/_rels/slide66.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6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6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90.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1.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93786" y="423847"/>
            <a:ext cx="8331918" cy="4882249"/>
          </a:xfrm>
        </p:spPr>
        <p:txBody>
          <a:bodyPr/>
          <a:lstStyle/>
          <a:p>
            <a:pPr algn="ctr"/>
            <a:r>
              <a:rPr lang="en-GB" b="1" dirty="0" smtClean="0">
                <a:latin typeface="+mn-lt"/>
              </a:rPr>
              <a:t>HRRP </a:t>
            </a:r>
            <a:br>
              <a:rPr lang="en-GB" b="1" dirty="0" smtClean="0">
                <a:latin typeface="+mn-lt"/>
              </a:rPr>
            </a:br>
            <a:r>
              <a:rPr lang="en-GB" b="1" dirty="0" smtClean="0">
                <a:latin typeface="+mn-lt"/>
              </a:rPr>
              <a:t>Technical Coordination Meeting</a:t>
            </a:r>
            <a:br>
              <a:rPr lang="en-GB" b="1" dirty="0" smtClean="0">
                <a:latin typeface="+mn-lt"/>
              </a:rPr>
            </a:br>
            <a:r>
              <a:rPr lang="en-GB" sz="5400" b="1" dirty="0">
                <a:solidFill>
                  <a:schemeClr val="tx2">
                    <a:lumMod val="50000"/>
                  </a:schemeClr>
                </a:solidFill>
                <a:latin typeface="Arial"/>
                <a:cs typeface="Arial"/>
              </a:rPr>
              <a:t/>
            </a:r>
            <a:br>
              <a:rPr lang="en-GB" sz="5400" b="1" dirty="0">
                <a:solidFill>
                  <a:schemeClr val="tx2">
                    <a:lumMod val="50000"/>
                  </a:schemeClr>
                </a:solidFill>
                <a:latin typeface="Arial"/>
                <a:cs typeface="Arial"/>
              </a:rPr>
            </a:br>
            <a:endParaRPr lang="en-GB" sz="5400" b="1" dirty="0">
              <a:solidFill>
                <a:schemeClr val="tx2">
                  <a:lumMod val="50000"/>
                </a:schemeClr>
              </a:solidFill>
              <a:latin typeface="Arial"/>
              <a:cs typeface="Arial"/>
            </a:endParaRPr>
          </a:p>
        </p:txBody>
      </p:sp>
      <p:sp>
        <p:nvSpPr>
          <p:cNvPr id="3" name="Sottotitolo 2"/>
          <p:cNvSpPr>
            <a:spLocks noGrp="1"/>
          </p:cNvSpPr>
          <p:nvPr>
            <p:ph type="subTitle" idx="1"/>
          </p:nvPr>
        </p:nvSpPr>
        <p:spPr>
          <a:xfrm>
            <a:off x="685800" y="3886200"/>
            <a:ext cx="6461760" cy="1681014"/>
          </a:xfrm>
        </p:spPr>
        <p:txBody>
          <a:bodyPr>
            <a:noAutofit/>
          </a:bodyPr>
          <a:lstStyle/>
          <a:p>
            <a:endParaRPr lang="en-GB" sz="1800" b="1" dirty="0" smtClean="0">
              <a:solidFill>
                <a:schemeClr val="tx2">
                  <a:lumMod val="50000"/>
                </a:schemeClr>
              </a:solidFill>
              <a:latin typeface="Arial"/>
              <a:cs typeface="Arial"/>
            </a:endParaRPr>
          </a:p>
          <a:p>
            <a:endParaRPr lang="en-GB" sz="1800" dirty="0" smtClean="0">
              <a:solidFill>
                <a:schemeClr val="tx2">
                  <a:lumMod val="50000"/>
                </a:schemeClr>
              </a:solidFill>
              <a:latin typeface="Arial"/>
              <a:cs typeface="Arial"/>
            </a:endParaRPr>
          </a:p>
        </p:txBody>
      </p:sp>
      <p:sp>
        <p:nvSpPr>
          <p:cNvPr id="4" name="Footer Placeholder 3"/>
          <p:cNvSpPr>
            <a:spLocks noGrp="1"/>
          </p:cNvSpPr>
          <p:nvPr>
            <p:ph type="ftr" sz="quarter" idx="11"/>
          </p:nvPr>
        </p:nvSpPr>
        <p:spPr>
          <a:xfrm rot="16200000">
            <a:off x="7152268" y="3614118"/>
            <a:ext cx="3236566" cy="365760"/>
          </a:xfrm>
        </p:spPr>
        <p:txBody>
          <a:bodyPr/>
          <a:lstStyle/>
          <a:p>
            <a:r>
              <a:rPr lang="en-US" dirty="0" smtClean="0">
                <a:latin typeface="Arial"/>
                <a:cs typeface="Arial"/>
              </a:rPr>
              <a:t>Housing Recovery &amp; Reconstruction Platform (HRRP)</a:t>
            </a:r>
            <a:endParaRPr lang="en-US" dirty="0">
              <a:latin typeface="Arial"/>
              <a:cs typeface="Arial"/>
            </a:endParaRPr>
          </a:p>
        </p:txBody>
      </p:sp>
      <p:sp>
        <p:nvSpPr>
          <p:cNvPr id="6" name="文本框 5"/>
          <p:cNvSpPr txBox="1"/>
          <p:nvPr/>
        </p:nvSpPr>
        <p:spPr>
          <a:xfrm>
            <a:off x="4840014" y="5306096"/>
            <a:ext cx="3192183" cy="1384995"/>
          </a:xfrm>
          <a:prstGeom prst="rect">
            <a:avLst/>
          </a:prstGeom>
          <a:noFill/>
        </p:spPr>
        <p:txBody>
          <a:bodyPr wrap="square" rtlCol="0">
            <a:spAutoFit/>
          </a:bodyPr>
          <a:lstStyle/>
          <a:p>
            <a:r>
              <a:rPr lang="en-GB" altLang="zh-CN" sz="2800" b="1" dirty="0" smtClean="0">
                <a:solidFill>
                  <a:schemeClr val="tx2">
                    <a:lumMod val="50000"/>
                  </a:schemeClr>
                </a:solidFill>
                <a:latin typeface="Arial"/>
                <a:cs typeface="Arial"/>
              </a:rPr>
              <a:t>2</a:t>
            </a:r>
            <a:r>
              <a:rPr lang="en-GB" altLang="zh-CN" sz="2800" b="1" baseline="30000" dirty="0" smtClean="0">
                <a:solidFill>
                  <a:schemeClr val="tx2">
                    <a:lumMod val="50000"/>
                  </a:schemeClr>
                </a:solidFill>
                <a:latin typeface="Arial"/>
                <a:cs typeface="Arial"/>
              </a:rPr>
              <a:t>nd</a:t>
            </a:r>
            <a:r>
              <a:rPr lang="en-GB" altLang="zh-CN" sz="2800" b="1" dirty="0" smtClean="0">
                <a:solidFill>
                  <a:schemeClr val="tx2">
                    <a:lumMod val="50000"/>
                  </a:schemeClr>
                </a:solidFill>
                <a:latin typeface="Arial"/>
                <a:cs typeface="Arial"/>
              </a:rPr>
              <a:t>June,2017</a:t>
            </a:r>
          </a:p>
          <a:p>
            <a:r>
              <a:rPr lang="en-GB" altLang="zh-CN" sz="2800" b="1" dirty="0" smtClean="0">
                <a:solidFill>
                  <a:schemeClr val="tx2">
                    <a:lumMod val="50000"/>
                  </a:schemeClr>
                </a:solidFill>
                <a:latin typeface="Arial"/>
                <a:cs typeface="Arial"/>
              </a:rPr>
              <a:t>   Rasuwa</a:t>
            </a:r>
            <a:endParaRPr lang="en-GB" altLang="zh-CN" sz="2800" b="1" dirty="0">
              <a:solidFill>
                <a:schemeClr val="tx2">
                  <a:lumMod val="50000"/>
                </a:schemeClr>
              </a:solidFill>
              <a:latin typeface="Arial"/>
              <a:cs typeface="Arial"/>
            </a:endParaRPr>
          </a:p>
          <a:p>
            <a:endParaRPr kumimoji="1" lang="zh-CN" altLang="en-US" sz="2800" dirty="0"/>
          </a:p>
        </p:txBody>
      </p:sp>
      <p:sp>
        <p:nvSpPr>
          <p:cNvPr id="11" name="文本框 10"/>
          <p:cNvSpPr txBox="1"/>
          <p:nvPr/>
        </p:nvSpPr>
        <p:spPr>
          <a:xfrm>
            <a:off x="7027450" y="69904"/>
            <a:ext cx="1398254" cy="707886"/>
          </a:xfrm>
          <a:prstGeom prst="rect">
            <a:avLst/>
          </a:prstGeom>
          <a:noFill/>
        </p:spPr>
        <p:txBody>
          <a:bodyPr wrap="square" rtlCol="0">
            <a:spAutoFit/>
          </a:bodyPr>
          <a:lstStyle/>
          <a:p>
            <a:r>
              <a:rPr kumimoji="1" lang="en-US" altLang="zh-CN" sz="4000" b="1" dirty="0" smtClean="0">
                <a:solidFill>
                  <a:srgbClr val="183D7B"/>
                </a:solidFill>
                <a:latin typeface="Arial Narrow"/>
                <a:cs typeface="Arial Narrow"/>
              </a:rPr>
              <a:t>HRRP</a:t>
            </a:r>
            <a:endParaRPr kumimoji="1" lang="zh-CN" altLang="en-US" sz="4000" b="1" dirty="0">
              <a:solidFill>
                <a:srgbClr val="183D7B"/>
              </a:solidFill>
              <a:latin typeface="Arial Narrow"/>
              <a:cs typeface="Arial Narrow"/>
            </a:endParaRPr>
          </a:p>
        </p:txBody>
      </p:sp>
    </p:spTree>
    <p:extLst>
      <p:ext uri="{BB962C8B-B14F-4D97-AF65-F5344CB8AC3E}">
        <p14:creationId xmlns:p14="http://schemas.microsoft.com/office/powerpoint/2010/main" val="28721861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GB" altLang="zh-CN" dirty="0" smtClean="0">
                <a:latin typeface="Arial"/>
                <a:cs typeface="Arial"/>
              </a:rPr>
              <a:t>Agendas</a:t>
            </a:r>
            <a:endParaRPr kumimoji="1" lang="zh-CN" altLang="en-US" dirty="0">
              <a:latin typeface="Arial"/>
              <a:cs typeface="Arial"/>
            </a:endParaRPr>
          </a:p>
        </p:txBody>
      </p:sp>
      <p:sp>
        <p:nvSpPr>
          <p:cNvPr id="3" name="内容占位符 2"/>
          <p:cNvSpPr>
            <a:spLocks noGrp="1"/>
          </p:cNvSpPr>
          <p:nvPr>
            <p:ph idx="1"/>
          </p:nvPr>
        </p:nvSpPr>
        <p:spPr>
          <a:xfrm>
            <a:off x="457200" y="1254370"/>
            <a:ext cx="7620000" cy="5146430"/>
          </a:xfrm>
        </p:spPr>
        <p:txBody>
          <a:bodyPr>
            <a:normAutofit/>
          </a:bodyPr>
          <a:lstStyle/>
          <a:p>
            <a:pPr lvl="0" indent="-342900">
              <a:spcBef>
                <a:spcPts val="0"/>
              </a:spcBef>
              <a:buFont typeface="Wingdings" panose="05000000000000000000" pitchFamily="2" charset="2"/>
              <a:buChar char="q"/>
            </a:pPr>
            <a:r>
              <a:rPr lang="en-US" sz="2400" dirty="0" smtClean="0">
                <a:solidFill>
                  <a:schemeClr val="tx2">
                    <a:lumMod val="50000"/>
                  </a:schemeClr>
                </a:solidFill>
                <a:ea typeface="Calibri"/>
                <a:cs typeface="Times New Roman"/>
              </a:rPr>
              <a:t>Welcome</a:t>
            </a:r>
            <a:r>
              <a:rPr lang="en-US" sz="2400" dirty="0">
                <a:solidFill>
                  <a:schemeClr val="tx2">
                    <a:lumMod val="50000"/>
                  </a:schemeClr>
                </a:solidFill>
                <a:ea typeface="Calibri"/>
                <a:cs typeface="Times New Roman"/>
              </a:rPr>
              <a:t>/ Introduction </a:t>
            </a:r>
          </a:p>
          <a:p>
            <a:pPr lvl="0" indent="-342900">
              <a:spcBef>
                <a:spcPts val="0"/>
              </a:spcBef>
              <a:buFont typeface="Wingdings" panose="05000000000000000000" pitchFamily="2" charset="2"/>
              <a:buChar char="q"/>
            </a:pPr>
            <a:r>
              <a:rPr lang="en-US" sz="2400" dirty="0">
                <a:solidFill>
                  <a:schemeClr val="tx2">
                    <a:lumMod val="50000"/>
                  </a:schemeClr>
                </a:solidFill>
                <a:ea typeface="Calibri"/>
                <a:cs typeface="Times New Roman"/>
              </a:rPr>
              <a:t>Coverage of Technical Assistance In the district </a:t>
            </a:r>
          </a:p>
          <a:p>
            <a:pPr lvl="0" indent="-342900">
              <a:spcBef>
                <a:spcPts val="0"/>
              </a:spcBef>
              <a:buFont typeface="Wingdings" panose="05000000000000000000" pitchFamily="2" charset="2"/>
              <a:buChar char="q"/>
            </a:pPr>
            <a:r>
              <a:rPr lang="en-US" sz="2400" dirty="0">
                <a:solidFill>
                  <a:schemeClr val="tx2">
                    <a:lumMod val="50000"/>
                  </a:schemeClr>
                </a:solidFill>
                <a:ea typeface="Calibri"/>
                <a:cs typeface="Times New Roman"/>
              </a:rPr>
              <a:t>Design catalogue for reconstruction of earthquake resistant houses- Vol II </a:t>
            </a:r>
          </a:p>
          <a:p>
            <a:pPr lvl="0" indent="-342900">
              <a:spcBef>
                <a:spcPts val="0"/>
              </a:spcBef>
              <a:buFont typeface="Wingdings" panose="05000000000000000000" pitchFamily="2" charset="2"/>
              <a:buChar char="q"/>
            </a:pPr>
            <a:r>
              <a:rPr lang="en-US" sz="2400" dirty="0">
                <a:solidFill>
                  <a:schemeClr val="tx2">
                    <a:lumMod val="50000"/>
                  </a:schemeClr>
                </a:solidFill>
                <a:ea typeface="Calibri"/>
                <a:cs typeface="Times New Roman"/>
              </a:rPr>
              <a:t>Information of design and detailing of 11 typical non-complaint cases on RCC structure</a:t>
            </a:r>
          </a:p>
          <a:p>
            <a:pPr lvl="0" indent="-342900">
              <a:spcBef>
                <a:spcPts val="0"/>
              </a:spcBef>
              <a:buFont typeface="Wingdings" panose="05000000000000000000" pitchFamily="2" charset="2"/>
              <a:buChar char="q"/>
            </a:pPr>
            <a:r>
              <a:rPr lang="en-US" sz="2400" dirty="0">
                <a:solidFill>
                  <a:schemeClr val="tx2">
                    <a:lumMod val="50000"/>
                  </a:schemeClr>
                </a:solidFill>
                <a:ea typeface="Calibri"/>
                <a:cs typeface="Times New Roman"/>
              </a:rPr>
              <a:t>Information on correction and exception manual –</a:t>
            </a:r>
          </a:p>
          <a:p>
            <a:pPr lvl="0" indent="-342900">
              <a:spcBef>
                <a:spcPts val="0"/>
              </a:spcBef>
              <a:buFont typeface="Wingdings" panose="05000000000000000000" pitchFamily="2" charset="2"/>
              <a:buChar char="q"/>
            </a:pPr>
            <a:r>
              <a:rPr lang="en-US" sz="2400" dirty="0">
                <a:solidFill>
                  <a:schemeClr val="tx2">
                    <a:lumMod val="50000"/>
                  </a:schemeClr>
                </a:solidFill>
                <a:ea typeface="Calibri"/>
                <a:cs typeface="Times New Roman"/>
              </a:rPr>
              <a:t>Updated Inspection form on the basis of correction and exception manual </a:t>
            </a:r>
          </a:p>
          <a:p>
            <a:pPr lvl="0" indent="-342900">
              <a:spcBef>
                <a:spcPts val="0"/>
              </a:spcBef>
              <a:buFont typeface="Wingdings" panose="05000000000000000000" pitchFamily="2" charset="2"/>
              <a:buChar char="q"/>
            </a:pPr>
            <a:r>
              <a:rPr lang="en-US" sz="2400" dirty="0" smtClean="0">
                <a:solidFill>
                  <a:schemeClr val="tx2">
                    <a:lumMod val="50000"/>
                  </a:schemeClr>
                </a:solidFill>
                <a:ea typeface="Calibri"/>
                <a:cs typeface="Times New Roman"/>
              </a:rPr>
              <a:t>Technical </a:t>
            </a:r>
            <a:r>
              <a:rPr lang="en-US" sz="2400" dirty="0">
                <a:solidFill>
                  <a:schemeClr val="tx2">
                    <a:lumMod val="50000"/>
                  </a:schemeClr>
                </a:solidFill>
                <a:ea typeface="Calibri"/>
                <a:cs typeface="Times New Roman"/>
              </a:rPr>
              <a:t>assistance Challenges and Experience Sharing</a:t>
            </a:r>
            <a:r>
              <a:rPr lang="en-US" sz="2400" dirty="0" smtClean="0">
                <a:solidFill>
                  <a:schemeClr val="tx2">
                    <a:lumMod val="50000"/>
                  </a:schemeClr>
                </a:solidFill>
                <a:ea typeface="Calibri"/>
                <a:cs typeface="Times New Roman"/>
              </a:rPr>
              <a:t>.</a:t>
            </a:r>
          </a:p>
          <a:p>
            <a:pPr lvl="0" indent="-342900">
              <a:spcBef>
                <a:spcPts val="0"/>
              </a:spcBef>
              <a:buFont typeface="Wingdings" panose="05000000000000000000" pitchFamily="2" charset="2"/>
              <a:buChar char="q"/>
            </a:pPr>
            <a:r>
              <a:rPr lang="en-US" sz="2400" dirty="0" smtClean="0">
                <a:solidFill>
                  <a:schemeClr val="tx2">
                    <a:lumMod val="50000"/>
                  </a:schemeClr>
                </a:solidFill>
                <a:ea typeface="Calibri"/>
                <a:cs typeface="Times New Roman"/>
              </a:rPr>
              <a:t>Remarks from DUDBC </a:t>
            </a:r>
          </a:p>
          <a:p>
            <a:pPr lvl="0" indent="-342900">
              <a:spcBef>
                <a:spcPts val="0"/>
              </a:spcBef>
              <a:buFont typeface="Wingdings" panose="05000000000000000000" pitchFamily="2" charset="2"/>
              <a:buChar char="q"/>
            </a:pPr>
            <a:r>
              <a:rPr lang="en-US" sz="2400" dirty="0" smtClean="0">
                <a:solidFill>
                  <a:schemeClr val="tx2">
                    <a:lumMod val="50000"/>
                  </a:schemeClr>
                </a:solidFill>
                <a:ea typeface="Calibri"/>
                <a:cs typeface="Times New Roman"/>
              </a:rPr>
              <a:t>Closing remarks from NRA </a:t>
            </a:r>
            <a:endParaRPr lang="en-US" sz="2400" dirty="0">
              <a:solidFill>
                <a:schemeClr val="tx2">
                  <a:lumMod val="50000"/>
                </a:schemeClr>
              </a:solidFill>
              <a:ea typeface="Calibri"/>
              <a:cs typeface="Times New Roman"/>
            </a:endParaRPr>
          </a:p>
          <a:p>
            <a:pPr marL="0" indent="0">
              <a:spcBef>
                <a:spcPts val="0"/>
              </a:spcBef>
              <a:buNone/>
            </a:pPr>
            <a:endParaRPr lang="en-US" sz="2400" dirty="0">
              <a:ea typeface="Calibri"/>
              <a:cs typeface="Times New Roman"/>
            </a:endParaRPr>
          </a:p>
          <a:p>
            <a:pPr marL="114300" indent="0">
              <a:buNone/>
            </a:pPr>
            <a:endParaRPr kumimoji="1" lang="en-GB" altLang="zh-CN" dirty="0" smtClean="0"/>
          </a:p>
          <a:p>
            <a:endParaRPr kumimoji="1" lang="en-GB" altLang="zh-CN" dirty="0"/>
          </a:p>
          <a:p>
            <a:endParaRPr kumimoji="1" lang="zh-CN" altLang="en-US" dirty="0"/>
          </a:p>
        </p:txBody>
      </p:sp>
      <p:sp>
        <p:nvSpPr>
          <p:cNvPr id="5" name="Footer Placeholder 3"/>
          <p:cNvSpPr>
            <a:spLocks noGrp="1"/>
          </p:cNvSpPr>
          <p:nvPr>
            <p:ph type="ftr" sz="quarter" idx="11"/>
          </p:nvPr>
        </p:nvSpPr>
        <p:spPr>
          <a:xfrm rot="16200000">
            <a:off x="7152268" y="3614118"/>
            <a:ext cx="3236566" cy="365760"/>
          </a:xfrm>
        </p:spPr>
        <p:txBody>
          <a:bodyPr/>
          <a:lstStyle/>
          <a:p>
            <a:r>
              <a:rPr lang="en-US" dirty="0" smtClean="0">
                <a:latin typeface="Arial"/>
                <a:cs typeface="Arial"/>
              </a:rPr>
              <a:t>Housing Recovery &amp; Reconstruction Platform (HRRP)</a:t>
            </a:r>
            <a:endParaRPr lang="en-US" dirty="0">
              <a:latin typeface="Arial"/>
              <a:cs typeface="Arial"/>
            </a:endParaRPr>
          </a:p>
        </p:txBody>
      </p:sp>
      <p:sp>
        <p:nvSpPr>
          <p:cNvPr id="6" name="文本框 5"/>
          <p:cNvSpPr txBox="1"/>
          <p:nvPr/>
        </p:nvSpPr>
        <p:spPr>
          <a:xfrm>
            <a:off x="7027450" y="69904"/>
            <a:ext cx="1398254" cy="707886"/>
          </a:xfrm>
          <a:prstGeom prst="rect">
            <a:avLst/>
          </a:prstGeom>
          <a:noFill/>
        </p:spPr>
        <p:txBody>
          <a:bodyPr wrap="square" rtlCol="0">
            <a:spAutoFit/>
          </a:bodyPr>
          <a:lstStyle/>
          <a:p>
            <a:r>
              <a:rPr kumimoji="1" lang="en-US" altLang="zh-CN" sz="4000" b="1" dirty="0" smtClean="0">
                <a:solidFill>
                  <a:srgbClr val="183D7B"/>
                </a:solidFill>
                <a:latin typeface="Arial Narrow"/>
                <a:cs typeface="Arial Narrow"/>
              </a:rPr>
              <a:t>HRRP</a:t>
            </a:r>
            <a:endParaRPr kumimoji="1" lang="zh-CN" altLang="en-US" sz="4000" b="1" dirty="0">
              <a:solidFill>
                <a:srgbClr val="183D7B"/>
              </a:solidFill>
              <a:latin typeface="Arial Narrow"/>
              <a:cs typeface="Arial Narrow"/>
            </a:endParaRPr>
          </a:p>
        </p:txBody>
      </p:sp>
    </p:spTree>
    <p:extLst>
      <p:ext uri="{BB962C8B-B14F-4D97-AF65-F5344CB8AC3E}">
        <p14:creationId xmlns:p14="http://schemas.microsoft.com/office/powerpoint/2010/main" val="23583322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63208"/>
          </a:xfrm>
        </p:spPr>
        <p:txBody>
          <a:bodyPr/>
          <a:lstStyle/>
          <a:p>
            <a:r>
              <a:rPr lang="en-US" sz="3200" dirty="0" smtClean="0"/>
              <a:t>Enrollment Update   </a:t>
            </a:r>
            <a:endParaRPr lang="en-US" sz="3200" dirty="0"/>
          </a:p>
        </p:txBody>
      </p:sp>
      <p:sp>
        <p:nvSpPr>
          <p:cNvPr id="4" name="Footer Placeholder 3"/>
          <p:cNvSpPr>
            <a:spLocks noGrp="1"/>
          </p:cNvSpPr>
          <p:nvPr>
            <p:ph type="ftr" sz="quarter" idx="11"/>
          </p:nvPr>
        </p:nvSpPr>
        <p:spPr/>
        <p:txBody>
          <a:bodyPr/>
          <a:lstStyle/>
          <a:p>
            <a:r>
              <a:rPr lang="en-US" smtClean="0"/>
              <a:t>Housing Recovery &amp; Reconstruction Platform (HRRP)</a:t>
            </a:r>
            <a:endParaRPr lang="en-US"/>
          </a:p>
        </p:txBody>
      </p:sp>
      <p:sp>
        <p:nvSpPr>
          <p:cNvPr id="6" name="Rectangle 5"/>
          <p:cNvSpPr/>
          <p:nvPr/>
        </p:nvSpPr>
        <p:spPr>
          <a:xfrm>
            <a:off x="521675" y="2190855"/>
            <a:ext cx="1875692" cy="1090246"/>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Total Eligible</a:t>
            </a:r>
          </a:p>
          <a:p>
            <a:pPr algn="ctr"/>
            <a:r>
              <a:rPr lang="en-US" b="1" dirty="0" smtClean="0">
                <a:solidFill>
                  <a:schemeClr val="tx1"/>
                </a:solidFill>
              </a:rPr>
              <a:t>11,236HH</a:t>
            </a:r>
            <a:endParaRPr lang="en-US" b="1" dirty="0">
              <a:solidFill>
                <a:schemeClr val="tx1"/>
              </a:solidFill>
            </a:endParaRPr>
          </a:p>
        </p:txBody>
      </p:sp>
      <p:sp>
        <p:nvSpPr>
          <p:cNvPr id="17" name="Rectangle 16"/>
          <p:cNvSpPr/>
          <p:nvPr/>
        </p:nvSpPr>
        <p:spPr>
          <a:xfrm>
            <a:off x="3235570" y="2735978"/>
            <a:ext cx="1875692" cy="1090246"/>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2"/>
                </a:solidFill>
              </a:rPr>
              <a:t>2</a:t>
            </a:r>
            <a:r>
              <a:rPr lang="en-US" b="1" baseline="30000" dirty="0" smtClean="0">
                <a:solidFill>
                  <a:schemeClr val="tx2"/>
                </a:solidFill>
              </a:rPr>
              <a:t>nd</a:t>
            </a:r>
            <a:r>
              <a:rPr lang="en-US" b="1" dirty="0" smtClean="0">
                <a:solidFill>
                  <a:schemeClr val="tx2"/>
                </a:solidFill>
              </a:rPr>
              <a:t> Tranches </a:t>
            </a:r>
          </a:p>
          <a:p>
            <a:pPr algn="ctr"/>
            <a:r>
              <a:rPr lang="en-US" b="1" dirty="0" smtClean="0">
                <a:solidFill>
                  <a:schemeClr val="tx2"/>
                </a:solidFill>
              </a:rPr>
              <a:t>488HH</a:t>
            </a:r>
            <a:endParaRPr lang="en-US" b="1" dirty="0">
              <a:solidFill>
                <a:schemeClr val="tx2"/>
              </a:solidFill>
            </a:endParaRPr>
          </a:p>
        </p:txBody>
      </p:sp>
      <p:sp>
        <p:nvSpPr>
          <p:cNvPr id="18" name="Rectangle 17"/>
          <p:cNvSpPr/>
          <p:nvPr/>
        </p:nvSpPr>
        <p:spPr>
          <a:xfrm>
            <a:off x="457200" y="4300803"/>
            <a:ext cx="1875692" cy="100974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Total Enrolled</a:t>
            </a:r>
          </a:p>
          <a:p>
            <a:pPr algn="ctr"/>
            <a:r>
              <a:rPr lang="en-US" b="1" dirty="0" smtClean="0">
                <a:solidFill>
                  <a:schemeClr val="tx1"/>
                </a:solidFill>
              </a:rPr>
              <a:t>9,682HH</a:t>
            </a:r>
            <a:endParaRPr lang="en-US" b="1" dirty="0">
              <a:solidFill>
                <a:schemeClr val="tx1"/>
              </a:solidFill>
            </a:endParaRPr>
          </a:p>
        </p:txBody>
      </p:sp>
      <p:sp>
        <p:nvSpPr>
          <p:cNvPr id="19" name="Rectangle 18"/>
          <p:cNvSpPr/>
          <p:nvPr/>
        </p:nvSpPr>
        <p:spPr>
          <a:xfrm>
            <a:off x="3235570" y="1041993"/>
            <a:ext cx="1875692" cy="1090246"/>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smtClean="0">
                <a:solidFill>
                  <a:schemeClr val="tx2"/>
                </a:solidFill>
              </a:rPr>
              <a:t>     1st </a:t>
            </a:r>
            <a:r>
              <a:rPr lang="en-US" b="1" dirty="0">
                <a:solidFill>
                  <a:schemeClr val="tx2"/>
                </a:solidFill>
              </a:rPr>
              <a:t>Tranches</a:t>
            </a:r>
          </a:p>
          <a:p>
            <a:pPr lvl="0"/>
            <a:r>
              <a:rPr lang="en-US" b="1" dirty="0">
                <a:solidFill>
                  <a:schemeClr val="tx2"/>
                </a:solidFill>
              </a:rPr>
              <a:t>         </a:t>
            </a:r>
            <a:r>
              <a:rPr lang="en-US" b="1" dirty="0" smtClean="0">
                <a:solidFill>
                  <a:schemeClr val="tx2"/>
                </a:solidFill>
              </a:rPr>
              <a:t>9,109HH</a:t>
            </a:r>
            <a:endParaRPr lang="en-US" b="1" dirty="0">
              <a:solidFill>
                <a:schemeClr val="tx2"/>
              </a:solidFill>
            </a:endParaRPr>
          </a:p>
        </p:txBody>
      </p:sp>
      <p:sp>
        <p:nvSpPr>
          <p:cNvPr id="21" name="Rectangle 20"/>
          <p:cNvSpPr/>
          <p:nvPr/>
        </p:nvSpPr>
        <p:spPr>
          <a:xfrm>
            <a:off x="6377352" y="775753"/>
            <a:ext cx="1875692" cy="109024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2"/>
                </a:solidFill>
              </a:rPr>
              <a:t>Grievances Listed</a:t>
            </a:r>
          </a:p>
          <a:p>
            <a:pPr algn="ctr"/>
            <a:r>
              <a:rPr lang="en-US" b="1" dirty="0" smtClean="0">
                <a:solidFill>
                  <a:schemeClr val="tx2"/>
                </a:solidFill>
              </a:rPr>
              <a:t>1,367HH</a:t>
            </a:r>
            <a:endParaRPr lang="en-US" b="1" dirty="0">
              <a:solidFill>
                <a:schemeClr val="tx2"/>
              </a:solidFill>
            </a:endParaRPr>
          </a:p>
        </p:txBody>
      </p:sp>
      <p:sp>
        <p:nvSpPr>
          <p:cNvPr id="22" name="Rectangle 21"/>
          <p:cNvSpPr/>
          <p:nvPr/>
        </p:nvSpPr>
        <p:spPr>
          <a:xfrm>
            <a:off x="3235570" y="4652701"/>
            <a:ext cx="1875692" cy="109024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2"/>
                </a:solidFill>
              </a:rPr>
              <a:t>3</a:t>
            </a:r>
            <a:r>
              <a:rPr lang="en-US" b="1" baseline="30000" dirty="0" smtClean="0">
                <a:solidFill>
                  <a:schemeClr val="tx2"/>
                </a:solidFill>
              </a:rPr>
              <a:t>rd</a:t>
            </a:r>
            <a:r>
              <a:rPr lang="en-US" b="1" dirty="0" smtClean="0">
                <a:solidFill>
                  <a:schemeClr val="tx2"/>
                </a:solidFill>
              </a:rPr>
              <a:t> Tranches </a:t>
            </a:r>
          </a:p>
          <a:p>
            <a:pPr algn="ctr"/>
            <a:r>
              <a:rPr lang="en-US" b="1" dirty="0" smtClean="0">
                <a:solidFill>
                  <a:schemeClr val="tx2"/>
                </a:solidFill>
              </a:rPr>
              <a:t>37HH</a:t>
            </a:r>
            <a:endParaRPr lang="en-US" b="1" dirty="0">
              <a:solidFill>
                <a:schemeClr val="tx2"/>
              </a:solidFill>
            </a:endParaRPr>
          </a:p>
        </p:txBody>
      </p:sp>
      <p:sp>
        <p:nvSpPr>
          <p:cNvPr id="24" name="Rectangle 23"/>
          <p:cNvSpPr/>
          <p:nvPr/>
        </p:nvSpPr>
        <p:spPr>
          <a:xfrm>
            <a:off x="6377352" y="2242248"/>
            <a:ext cx="1875692" cy="109024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2"/>
                </a:solidFill>
              </a:rPr>
              <a:t>Grievances Addressed</a:t>
            </a:r>
          </a:p>
          <a:p>
            <a:pPr algn="ctr"/>
            <a:r>
              <a:rPr lang="en-US" b="1" dirty="0" smtClean="0">
                <a:solidFill>
                  <a:schemeClr val="tx2"/>
                </a:solidFill>
              </a:rPr>
              <a:t>1,318HH </a:t>
            </a:r>
            <a:endParaRPr lang="en-US" b="1" dirty="0">
              <a:solidFill>
                <a:schemeClr val="tx2"/>
              </a:solidFill>
            </a:endParaRPr>
          </a:p>
        </p:txBody>
      </p:sp>
    </p:spTree>
    <p:extLst>
      <p:ext uri="{BB962C8B-B14F-4D97-AF65-F5344CB8AC3E}">
        <p14:creationId xmlns:p14="http://schemas.microsoft.com/office/powerpoint/2010/main" val="1391691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46538"/>
            <a:ext cx="7951175" cy="1143000"/>
          </a:xfrm>
        </p:spPr>
        <p:txBody>
          <a:bodyPr/>
          <a:lstStyle/>
          <a:p>
            <a:r>
              <a:rPr lang="en-US" sz="3600" dirty="0" smtClean="0"/>
              <a:t>Status of Technical Assistance (HRRP 4W)</a:t>
            </a:r>
            <a:endParaRPr lang="en-US" sz="36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791801588"/>
              </p:ext>
            </p:extLst>
          </p:nvPr>
        </p:nvGraphicFramePr>
        <p:xfrm>
          <a:off x="128953" y="996462"/>
          <a:ext cx="8279422" cy="5861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6307015" y="4132326"/>
            <a:ext cx="2403231" cy="646331"/>
          </a:xfrm>
          <a:prstGeom prst="rect">
            <a:avLst/>
          </a:prstGeom>
          <a:noFill/>
        </p:spPr>
        <p:txBody>
          <a:bodyPr wrap="square" rtlCol="0">
            <a:spAutoFit/>
          </a:bodyPr>
          <a:lstStyle/>
          <a:p>
            <a:r>
              <a:rPr lang="en-US" b="1" dirty="0" smtClean="0">
                <a:solidFill>
                  <a:schemeClr val="tx2">
                    <a:lumMod val="75000"/>
                  </a:schemeClr>
                </a:solidFill>
              </a:rPr>
              <a:t>4462HH orientated across 14 VDC . </a:t>
            </a:r>
            <a:endParaRPr lang="en-US" b="1" dirty="0">
              <a:solidFill>
                <a:schemeClr val="tx2">
                  <a:lumMod val="75000"/>
                </a:schemeClr>
              </a:solidFill>
            </a:endParaRPr>
          </a:p>
        </p:txBody>
      </p:sp>
      <p:sp>
        <p:nvSpPr>
          <p:cNvPr id="8" name="TextBox 7"/>
          <p:cNvSpPr txBox="1"/>
          <p:nvPr/>
        </p:nvSpPr>
        <p:spPr>
          <a:xfrm>
            <a:off x="5530359" y="3021504"/>
            <a:ext cx="2749062" cy="646331"/>
          </a:xfrm>
          <a:prstGeom prst="rect">
            <a:avLst/>
          </a:prstGeom>
          <a:noFill/>
        </p:spPr>
        <p:txBody>
          <a:bodyPr wrap="square" rtlCol="0">
            <a:spAutoFit/>
          </a:bodyPr>
          <a:lstStyle/>
          <a:p>
            <a:r>
              <a:rPr lang="en-US" b="1" dirty="0" smtClean="0">
                <a:solidFill>
                  <a:schemeClr val="tx2">
                    <a:lumMod val="75000"/>
                  </a:schemeClr>
                </a:solidFill>
              </a:rPr>
              <a:t>86 Demo Construction across 16VDC</a:t>
            </a:r>
            <a:endParaRPr lang="en-US" b="1" dirty="0">
              <a:solidFill>
                <a:schemeClr val="tx2">
                  <a:lumMod val="75000"/>
                </a:schemeClr>
              </a:solidFill>
            </a:endParaRPr>
          </a:p>
        </p:txBody>
      </p:sp>
      <p:sp>
        <p:nvSpPr>
          <p:cNvPr id="9" name="TextBox 8"/>
          <p:cNvSpPr txBox="1"/>
          <p:nvPr/>
        </p:nvSpPr>
        <p:spPr>
          <a:xfrm>
            <a:off x="4894385" y="1473042"/>
            <a:ext cx="2491153" cy="646331"/>
          </a:xfrm>
          <a:prstGeom prst="rect">
            <a:avLst/>
          </a:prstGeom>
          <a:noFill/>
        </p:spPr>
        <p:txBody>
          <a:bodyPr wrap="square" rtlCol="0">
            <a:spAutoFit/>
          </a:bodyPr>
          <a:lstStyle/>
          <a:p>
            <a:r>
              <a:rPr lang="en-US" b="1" dirty="0" smtClean="0">
                <a:solidFill>
                  <a:schemeClr val="tx2">
                    <a:lumMod val="75000"/>
                  </a:schemeClr>
                </a:solidFill>
              </a:rPr>
              <a:t>370 individuals trained  across 13 VDC</a:t>
            </a:r>
            <a:endParaRPr lang="en-US" b="1" dirty="0">
              <a:solidFill>
                <a:schemeClr val="tx2">
                  <a:lumMod val="75000"/>
                </a:schemeClr>
              </a:solidFill>
            </a:endParaRPr>
          </a:p>
        </p:txBody>
      </p:sp>
      <p:sp>
        <p:nvSpPr>
          <p:cNvPr id="11" name="TextBox 10"/>
          <p:cNvSpPr txBox="1"/>
          <p:nvPr/>
        </p:nvSpPr>
        <p:spPr>
          <a:xfrm>
            <a:off x="164121" y="1737555"/>
            <a:ext cx="3188677" cy="646331"/>
          </a:xfrm>
          <a:prstGeom prst="rect">
            <a:avLst/>
          </a:prstGeom>
          <a:noFill/>
        </p:spPr>
        <p:txBody>
          <a:bodyPr wrap="square" rtlCol="0">
            <a:spAutoFit/>
          </a:bodyPr>
          <a:lstStyle/>
          <a:p>
            <a:r>
              <a:rPr lang="en-US" b="1" dirty="0" smtClean="0">
                <a:solidFill>
                  <a:schemeClr val="tx2">
                    <a:lumMod val="75000"/>
                  </a:schemeClr>
                </a:solidFill>
              </a:rPr>
              <a:t>838 individuals trained across 15 VDC</a:t>
            </a:r>
            <a:endParaRPr lang="en-US" b="1" dirty="0">
              <a:solidFill>
                <a:schemeClr val="tx2">
                  <a:lumMod val="75000"/>
                </a:schemeClr>
              </a:solidFill>
            </a:endParaRPr>
          </a:p>
        </p:txBody>
      </p:sp>
      <p:sp>
        <p:nvSpPr>
          <p:cNvPr id="12" name="TextBox 11"/>
          <p:cNvSpPr txBox="1"/>
          <p:nvPr/>
        </p:nvSpPr>
        <p:spPr>
          <a:xfrm>
            <a:off x="164121" y="4092797"/>
            <a:ext cx="2743200" cy="369332"/>
          </a:xfrm>
          <a:prstGeom prst="rect">
            <a:avLst/>
          </a:prstGeom>
          <a:noFill/>
        </p:spPr>
        <p:txBody>
          <a:bodyPr wrap="square" rtlCol="0">
            <a:spAutoFit/>
          </a:bodyPr>
          <a:lstStyle/>
          <a:p>
            <a:r>
              <a:rPr lang="en-US" b="1" dirty="0" smtClean="0">
                <a:solidFill>
                  <a:schemeClr val="tx2">
                    <a:lumMod val="75000"/>
                  </a:schemeClr>
                </a:solidFill>
              </a:rPr>
              <a:t>2923 HH reached in </a:t>
            </a:r>
            <a:r>
              <a:rPr lang="en-US" b="1" dirty="0">
                <a:solidFill>
                  <a:schemeClr val="tx2">
                    <a:lumMod val="75000"/>
                  </a:schemeClr>
                </a:solidFill>
              </a:rPr>
              <a:t>9</a:t>
            </a:r>
            <a:r>
              <a:rPr lang="en-US" b="1" dirty="0" smtClean="0">
                <a:solidFill>
                  <a:schemeClr val="tx2">
                    <a:lumMod val="75000"/>
                  </a:schemeClr>
                </a:solidFill>
              </a:rPr>
              <a:t>VDC</a:t>
            </a:r>
            <a:endParaRPr lang="en-US" b="1" dirty="0">
              <a:solidFill>
                <a:schemeClr val="tx2">
                  <a:lumMod val="75000"/>
                </a:schemeClr>
              </a:solidFill>
            </a:endParaRPr>
          </a:p>
        </p:txBody>
      </p:sp>
      <p:sp>
        <p:nvSpPr>
          <p:cNvPr id="13" name="TextBox 12"/>
          <p:cNvSpPr txBox="1"/>
          <p:nvPr/>
        </p:nvSpPr>
        <p:spPr>
          <a:xfrm>
            <a:off x="5530359" y="5894856"/>
            <a:ext cx="2895600" cy="646331"/>
          </a:xfrm>
          <a:prstGeom prst="rect">
            <a:avLst/>
          </a:prstGeom>
          <a:noFill/>
        </p:spPr>
        <p:txBody>
          <a:bodyPr wrap="square" rtlCol="0">
            <a:spAutoFit/>
          </a:bodyPr>
          <a:lstStyle/>
          <a:p>
            <a:r>
              <a:rPr lang="en-US" b="1" dirty="0" smtClean="0">
                <a:solidFill>
                  <a:schemeClr val="tx2">
                    <a:lumMod val="75000"/>
                  </a:schemeClr>
                </a:solidFill>
              </a:rPr>
              <a:t>6 helping desk formed in 4 VDC</a:t>
            </a:r>
            <a:endParaRPr lang="en-US" b="1" dirty="0">
              <a:solidFill>
                <a:schemeClr val="tx2">
                  <a:lumMod val="75000"/>
                </a:schemeClr>
              </a:solidFill>
            </a:endParaRPr>
          </a:p>
        </p:txBody>
      </p:sp>
      <p:sp>
        <p:nvSpPr>
          <p:cNvPr id="3" name="TextBox 2"/>
          <p:cNvSpPr txBox="1"/>
          <p:nvPr/>
        </p:nvSpPr>
        <p:spPr>
          <a:xfrm>
            <a:off x="164121" y="6191046"/>
            <a:ext cx="3481755" cy="646331"/>
          </a:xfrm>
          <a:prstGeom prst="rect">
            <a:avLst/>
          </a:prstGeom>
          <a:noFill/>
        </p:spPr>
        <p:txBody>
          <a:bodyPr wrap="square" rtlCol="0">
            <a:spAutoFit/>
          </a:bodyPr>
          <a:lstStyle/>
          <a:p>
            <a:r>
              <a:rPr lang="en-US" b="1" dirty="0" smtClean="0">
                <a:solidFill>
                  <a:schemeClr val="tx2"/>
                </a:solidFill>
              </a:rPr>
              <a:t>98 Reconstruction Coordination Committee  formed in 12 VDC </a:t>
            </a:r>
            <a:endParaRPr lang="en-US" b="1" dirty="0">
              <a:solidFill>
                <a:schemeClr val="tx2"/>
              </a:solidFill>
            </a:endParaRPr>
          </a:p>
        </p:txBody>
      </p:sp>
    </p:spTree>
    <p:extLst>
      <p:ext uri="{BB962C8B-B14F-4D97-AF65-F5344CB8AC3E}">
        <p14:creationId xmlns:p14="http://schemas.microsoft.com/office/powerpoint/2010/main" val="26634195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944562"/>
          </a:xfrm>
        </p:spPr>
        <p:txBody>
          <a:bodyPr/>
          <a:lstStyle/>
          <a:p>
            <a:r>
              <a:rPr lang="en-US" sz="3200" dirty="0" smtClean="0"/>
              <a:t>Challenges for TA </a:t>
            </a:r>
            <a:r>
              <a:rPr lang="en-US" sz="2000" dirty="0"/>
              <a:t>(</a:t>
            </a:r>
            <a:r>
              <a:rPr lang="en-US" sz="2000" dirty="0" smtClean="0"/>
              <a:t>HRRP Technical </a:t>
            </a:r>
            <a:r>
              <a:rPr lang="en-US" sz="2000" dirty="0"/>
              <a:t>Workshop ): </a:t>
            </a:r>
          </a:p>
        </p:txBody>
      </p:sp>
      <p:sp>
        <p:nvSpPr>
          <p:cNvPr id="3" name="Content Placeholder 2"/>
          <p:cNvSpPr>
            <a:spLocks noGrp="1"/>
          </p:cNvSpPr>
          <p:nvPr>
            <p:ph idx="1"/>
          </p:nvPr>
        </p:nvSpPr>
        <p:spPr>
          <a:xfrm>
            <a:off x="0" y="1600200"/>
            <a:ext cx="8077200" cy="5257800"/>
          </a:xfrm>
        </p:spPr>
        <p:txBody>
          <a:bodyPr>
            <a:noAutofit/>
          </a:bodyPr>
          <a:lstStyle/>
          <a:p>
            <a:pPr lvl="0"/>
            <a:r>
              <a:rPr lang="en-US" sz="1600" dirty="0" smtClean="0"/>
              <a:t>Minimum </a:t>
            </a:r>
            <a:r>
              <a:rPr lang="en-US" sz="1600" dirty="0"/>
              <a:t>participants form local community.</a:t>
            </a:r>
          </a:p>
          <a:p>
            <a:pPr lvl="0"/>
            <a:r>
              <a:rPr lang="en-US" sz="1600" dirty="0"/>
              <a:t>Language </a:t>
            </a:r>
            <a:r>
              <a:rPr lang="en-US" sz="1600" dirty="0" smtClean="0"/>
              <a:t>Barrier. </a:t>
            </a:r>
            <a:endParaRPr lang="en-US" sz="1600" dirty="0"/>
          </a:p>
          <a:p>
            <a:pPr lvl="0"/>
            <a:r>
              <a:rPr lang="en-US" sz="1600" dirty="0"/>
              <a:t>Community seeks incentives during the participation. </a:t>
            </a:r>
          </a:p>
          <a:p>
            <a:pPr lvl="0"/>
            <a:r>
              <a:rPr lang="en-US" sz="1600" dirty="0"/>
              <a:t>People are not interested in lecture methods of message delivery.</a:t>
            </a:r>
          </a:p>
          <a:p>
            <a:pPr lvl="0"/>
            <a:r>
              <a:rPr lang="en-US" sz="1600" dirty="0"/>
              <a:t>Follows traditional methods of construction.</a:t>
            </a:r>
          </a:p>
          <a:p>
            <a:pPr lvl="0"/>
            <a:r>
              <a:rPr lang="en-US" sz="1600" dirty="0"/>
              <a:t>Insufficient budget for the reconstruction.</a:t>
            </a:r>
          </a:p>
          <a:p>
            <a:pPr lvl="0"/>
            <a:r>
              <a:rPr lang="en-US" sz="1600" dirty="0"/>
              <a:t>Lack of technical knowledge and difficult for the beneficiaries to understand technical terminologies.</a:t>
            </a:r>
          </a:p>
          <a:p>
            <a:pPr lvl="0"/>
            <a:r>
              <a:rPr lang="en-GB" sz="1600" dirty="0" smtClean="0"/>
              <a:t>Unavailability </a:t>
            </a:r>
            <a:r>
              <a:rPr lang="en-GB" sz="1600" dirty="0"/>
              <a:t>of house owner during technical </a:t>
            </a:r>
            <a:r>
              <a:rPr lang="en-GB" sz="1600" dirty="0" smtClean="0"/>
              <a:t>inspection.</a:t>
            </a:r>
            <a:r>
              <a:rPr lang="en-US" sz="1600" dirty="0"/>
              <a:t> </a:t>
            </a:r>
          </a:p>
          <a:p>
            <a:pPr lvl="0"/>
            <a:r>
              <a:rPr lang="en-US" sz="1600" dirty="0"/>
              <a:t> </a:t>
            </a:r>
            <a:r>
              <a:rPr lang="en-US" sz="1600" dirty="0" smtClean="0"/>
              <a:t>High </a:t>
            </a:r>
            <a:r>
              <a:rPr lang="en-US" sz="1600" dirty="0"/>
              <a:t>expectation of </a:t>
            </a:r>
            <a:r>
              <a:rPr lang="en-US" sz="1600" dirty="0" smtClean="0"/>
              <a:t>labors.</a:t>
            </a:r>
            <a:endParaRPr lang="en-US" sz="1600" dirty="0"/>
          </a:p>
          <a:p>
            <a:pPr lvl="0"/>
            <a:r>
              <a:rPr lang="en-US" sz="1600" dirty="0"/>
              <a:t>Political interference regarding selecting masons.</a:t>
            </a:r>
          </a:p>
          <a:p>
            <a:pPr lvl="0"/>
            <a:r>
              <a:rPr lang="en-GB" sz="1600" dirty="0"/>
              <a:t>Follow up mechanism .</a:t>
            </a:r>
            <a:endParaRPr lang="en-US" sz="1600" dirty="0"/>
          </a:p>
          <a:p>
            <a:pPr lvl="0"/>
            <a:r>
              <a:rPr lang="en-US" sz="1600" dirty="0" smtClean="0"/>
              <a:t>Lack </a:t>
            </a:r>
            <a:r>
              <a:rPr lang="en-US" sz="1600" dirty="0"/>
              <a:t>of understanding regarding help </a:t>
            </a:r>
            <a:r>
              <a:rPr lang="en-US" sz="1600" dirty="0" smtClean="0"/>
              <a:t>desk.</a:t>
            </a:r>
            <a:endParaRPr lang="en-US" sz="1600" dirty="0"/>
          </a:p>
          <a:p>
            <a:pPr lvl="0"/>
            <a:r>
              <a:rPr lang="en-US" sz="1600" dirty="0"/>
              <a:t>Design not complied between government and partners.</a:t>
            </a:r>
          </a:p>
          <a:p>
            <a:pPr lvl="0"/>
            <a:r>
              <a:rPr lang="en-US" sz="1600" dirty="0"/>
              <a:t>Hard to convince earthquake resilient technology.</a:t>
            </a:r>
          </a:p>
          <a:p>
            <a:r>
              <a:rPr lang="en-US" sz="1600" dirty="0"/>
              <a:t>Landslide prone zone area. </a:t>
            </a:r>
          </a:p>
        </p:txBody>
      </p:sp>
      <p:sp>
        <p:nvSpPr>
          <p:cNvPr id="4" name="Footer Placeholder 3"/>
          <p:cNvSpPr>
            <a:spLocks noGrp="1"/>
          </p:cNvSpPr>
          <p:nvPr>
            <p:ph type="ftr" sz="quarter" idx="11"/>
          </p:nvPr>
        </p:nvSpPr>
        <p:spPr/>
        <p:txBody>
          <a:bodyPr/>
          <a:lstStyle/>
          <a:p>
            <a:r>
              <a:rPr lang="en-US" smtClean="0"/>
              <a:t>Housing Recovery &amp; Reconstruction Platform (HRRP)</a:t>
            </a:r>
            <a:endParaRPr lang="en-US"/>
          </a:p>
        </p:txBody>
      </p:sp>
    </p:spTree>
    <p:extLst>
      <p:ext uri="{BB962C8B-B14F-4D97-AF65-F5344CB8AC3E}">
        <p14:creationId xmlns:p14="http://schemas.microsoft.com/office/powerpoint/2010/main" val="3474222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2667000"/>
            <a:ext cx="7659687" cy="1168400"/>
          </a:xfrm>
        </p:spPr>
        <p:txBody>
          <a:bodyPr/>
          <a:lstStyle/>
          <a:p>
            <a:r>
              <a:rPr lang="en-US" dirty="0"/>
              <a:t>TECHNICAL COORDINATION BRIEFING</a:t>
            </a:r>
          </a:p>
        </p:txBody>
      </p:sp>
    </p:spTree>
    <p:extLst>
      <p:ext uri="{BB962C8B-B14F-4D97-AF65-F5344CB8AC3E}">
        <p14:creationId xmlns:p14="http://schemas.microsoft.com/office/powerpoint/2010/main" val="3373538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621598"/>
            <a:ext cx="7620000" cy="1143000"/>
          </a:xfrm>
        </p:spPr>
        <p:txBody>
          <a:bodyPr/>
          <a:lstStyle/>
          <a:p>
            <a:r>
              <a:rPr lang="en-US" dirty="0"/>
              <a:t>DUDBC Design Catalogue Vol. 2</a:t>
            </a:r>
          </a:p>
        </p:txBody>
      </p:sp>
    </p:spTree>
    <p:extLst>
      <p:ext uri="{BB962C8B-B14F-4D97-AF65-F5344CB8AC3E}">
        <p14:creationId xmlns:p14="http://schemas.microsoft.com/office/powerpoint/2010/main" val="979516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750" dirty="0"/>
              <a:t>Introduction</a:t>
            </a:r>
            <a:endParaRPr lang="en-IE" sz="3750" dirty="0"/>
          </a:p>
        </p:txBody>
      </p:sp>
      <p:sp>
        <p:nvSpPr>
          <p:cNvPr id="3" name="Content Placeholder 2"/>
          <p:cNvSpPr>
            <a:spLocks noGrp="1"/>
          </p:cNvSpPr>
          <p:nvPr>
            <p:ph idx="1"/>
          </p:nvPr>
        </p:nvSpPr>
        <p:spPr/>
        <p:txBody>
          <a:bodyPr/>
          <a:lstStyle/>
          <a:p>
            <a:pPr algn="just">
              <a:buClr>
                <a:schemeClr val="accent6">
                  <a:lumMod val="50000"/>
                </a:schemeClr>
              </a:buClr>
              <a:buSzPct val="125000"/>
            </a:pPr>
            <a:r>
              <a:rPr lang="en-IE" sz="2250" dirty="0"/>
              <a:t>DUDBC has prepared the document.</a:t>
            </a:r>
          </a:p>
          <a:p>
            <a:pPr algn="just">
              <a:buClr>
                <a:schemeClr val="accent6">
                  <a:lumMod val="50000"/>
                </a:schemeClr>
              </a:buClr>
              <a:buSzPct val="125000"/>
            </a:pPr>
            <a:r>
              <a:rPr lang="en-IE" sz="2250" dirty="0"/>
              <a:t>It covers seventeen model design following twelve technologies.</a:t>
            </a:r>
          </a:p>
          <a:p>
            <a:pPr algn="just">
              <a:buClr>
                <a:schemeClr val="accent6">
                  <a:lumMod val="50000"/>
                </a:schemeClr>
              </a:buClr>
              <a:buSzPct val="125000"/>
            </a:pPr>
            <a:r>
              <a:rPr lang="en-US" sz="2250" dirty="0"/>
              <a:t>The designs provided in this catalogue are based on calculations, model test and analytical tests as these technologies are not covered by Nepal National Building Code, 2060. </a:t>
            </a:r>
          </a:p>
          <a:p>
            <a:pPr algn="just">
              <a:buClr>
                <a:schemeClr val="accent6">
                  <a:lumMod val="50000"/>
                </a:schemeClr>
              </a:buClr>
              <a:buSzPct val="125000"/>
            </a:pPr>
            <a:r>
              <a:rPr lang="en-IE" sz="2250" dirty="0"/>
              <a:t>It covers mainly </a:t>
            </a:r>
            <a:r>
              <a:rPr lang="en-GB" sz="2250" dirty="0"/>
              <a:t>Alternative Construction Materials and Technologies.</a:t>
            </a:r>
            <a:endParaRPr lang="en-IE" sz="2250" dirty="0"/>
          </a:p>
          <a:p>
            <a:pPr algn="just">
              <a:buSzPct val="125000"/>
            </a:pPr>
            <a:endParaRPr lang="en-IE" sz="2250" dirty="0"/>
          </a:p>
          <a:p>
            <a:pPr algn="just">
              <a:buSzPct val="125000"/>
            </a:pPr>
            <a:endParaRPr lang="en-IE" sz="2250" dirty="0"/>
          </a:p>
          <a:p>
            <a:pPr algn="just">
              <a:buSzPct val="125000"/>
            </a:pPr>
            <a:endParaRPr lang="en-IE" dirty="0"/>
          </a:p>
          <a:p>
            <a:pPr algn="just">
              <a:buSzPct val="125000"/>
            </a:pPr>
            <a:endParaRPr lang="en-IE" dirty="0"/>
          </a:p>
          <a:p>
            <a:pPr algn="just">
              <a:buSzPct val="125000"/>
            </a:pPr>
            <a:endParaRPr lang="en-IE" dirty="0"/>
          </a:p>
        </p:txBody>
      </p:sp>
    </p:spTree>
    <p:extLst>
      <p:ext uri="{BB962C8B-B14F-4D97-AF65-F5344CB8AC3E}">
        <p14:creationId xmlns:p14="http://schemas.microsoft.com/office/powerpoint/2010/main" val="424777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23635"/>
            <a:ext cx="7620000" cy="1181365"/>
          </a:xfrm>
        </p:spPr>
        <p:txBody>
          <a:bodyPr/>
          <a:lstStyle/>
          <a:p>
            <a:r>
              <a:rPr lang="en-GB" sz="3000" dirty="0"/>
              <a:t>Alternative Construction Materials and Technologies.</a:t>
            </a:r>
            <a:r>
              <a:rPr lang="en-IE" sz="3000" dirty="0"/>
              <a:t/>
            </a:r>
            <a:br>
              <a:rPr lang="en-IE" sz="3000" dirty="0"/>
            </a:br>
            <a:endParaRPr lang="en-GB" dirty="0"/>
          </a:p>
        </p:txBody>
      </p:sp>
      <p:sp>
        <p:nvSpPr>
          <p:cNvPr id="3" name="Content Placeholder 2"/>
          <p:cNvSpPr>
            <a:spLocks noGrp="1"/>
          </p:cNvSpPr>
          <p:nvPr>
            <p:ph idx="1"/>
          </p:nvPr>
        </p:nvSpPr>
        <p:spPr>
          <a:xfrm>
            <a:off x="457200" y="2333625"/>
            <a:ext cx="7620000" cy="3571875"/>
          </a:xfrm>
        </p:spPr>
        <p:txBody>
          <a:bodyPr>
            <a:normAutofit/>
          </a:bodyPr>
          <a:lstStyle/>
          <a:p>
            <a:pPr algn="just">
              <a:buClr>
                <a:schemeClr val="accent6">
                  <a:lumMod val="50000"/>
                </a:schemeClr>
              </a:buClr>
              <a:buSzPct val="130000"/>
            </a:pPr>
            <a:r>
              <a:rPr lang="en-GB" sz="2250" dirty="0"/>
              <a:t>Should be Locally available</a:t>
            </a:r>
          </a:p>
          <a:p>
            <a:pPr algn="just">
              <a:buClr>
                <a:schemeClr val="accent6">
                  <a:lumMod val="50000"/>
                </a:schemeClr>
              </a:buClr>
              <a:buSzPct val="130000"/>
            </a:pPr>
            <a:endParaRPr lang="en-GB" sz="2250" dirty="0"/>
          </a:p>
          <a:p>
            <a:pPr algn="just">
              <a:buClr>
                <a:schemeClr val="accent6">
                  <a:lumMod val="50000"/>
                </a:schemeClr>
              </a:buClr>
              <a:buSzPct val="130000"/>
            </a:pPr>
            <a:r>
              <a:rPr lang="en-GB" sz="2250" dirty="0"/>
              <a:t> Production and  correction on construction method from local People.</a:t>
            </a:r>
          </a:p>
          <a:p>
            <a:pPr algn="just">
              <a:buClr>
                <a:schemeClr val="accent6">
                  <a:lumMod val="50000"/>
                </a:schemeClr>
              </a:buClr>
              <a:buSzPct val="130000"/>
            </a:pPr>
            <a:endParaRPr lang="en-GB" sz="2250" dirty="0"/>
          </a:p>
          <a:p>
            <a:pPr algn="just">
              <a:buClr>
                <a:schemeClr val="accent6">
                  <a:lumMod val="50000"/>
                </a:schemeClr>
              </a:buClr>
              <a:buSzPct val="130000"/>
            </a:pPr>
            <a:r>
              <a:rPr lang="en-GB" sz="2250" dirty="0"/>
              <a:t>Strong, Cheap &amp; durable.</a:t>
            </a:r>
          </a:p>
          <a:p>
            <a:pPr algn="just">
              <a:buClr>
                <a:schemeClr val="accent6">
                  <a:lumMod val="50000"/>
                </a:schemeClr>
              </a:buClr>
              <a:buSzPct val="130000"/>
            </a:pPr>
            <a:endParaRPr lang="en-GB" sz="2250" dirty="0"/>
          </a:p>
          <a:p>
            <a:pPr algn="just">
              <a:buClr>
                <a:schemeClr val="accent6">
                  <a:lumMod val="50000"/>
                </a:schemeClr>
              </a:buClr>
              <a:buSzPct val="130000"/>
            </a:pPr>
            <a:r>
              <a:rPr lang="en-GB" sz="2250" dirty="0"/>
              <a:t>Should  be Preferred  by Customer or house owner</a:t>
            </a:r>
          </a:p>
          <a:p>
            <a:pPr algn="just">
              <a:buSzPct val="150000"/>
            </a:pPr>
            <a:endParaRPr lang="en-GB" sz="2250" dirty="0"/>
          </a:p>
        </p:txBody>
      </p:sp>
    </p:spTree>
    <p:extLst>
      <p:ext uri="{BB962C8B-B14F-4D97-AF65-F5344CB8AC3E}">
        <p14:creationId xmlns:p14="http://schemas.microsoft.com/office/powerpoint/2010/main" val="409060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750" dirty="0"/>
              <a:t>Catalogue Objective</a:t>
            </a:r>
          </a:p>
        </p:txBody>
      </p:sp>
      <p:sp>
        <p:nvSpPr>
          <p:cNvPr id="3" name="Content Placeholder 2"/>
          <p:cNvSpPr>
            <a:spLocks noGrp="1"/>
          </p:cNvSpPr>
          <p:nvPr>
            <p:ph idx="1"/>
          </p:nvPr>
        </p:nvSpPr>
        <p:spPr>
          <a:xfrm>
            <a:off x="47625" y="1611312"/>
            <a:ext cx="8203406" cy="3000375"/>
          </a:xfrm>
        </p:spPr>
        <p:txBody>
          <a:bodyPr>
            <a:normAutofit/>
          </a:bodyPr>
          <a:lstStyle/>
          <a:p>
            <a:pPr>
              <a:buClr>
                <a:schemeClr val="accent6">
                  <a:lumMod val="50000"/>
                </a:schemeClr>
              </a:buClr>
              <a:buSzPct val="125000"/>
            </a:pPr>
            <a:endParaRPr lang="en-US" sz="2250" dirty="0"/>
          </a:p>
          <a:p>
            <a:pPr>
              <a:buClr>
                <a:schemeClr val="accent6">
                  <a:lumMod val="50000"/>
                </a:schemeClr>
              </a:buClr>
              <a:buSzPct val="125000"/>
            </a:pPr>
            <a:endParaRPr lang="en-US" sz="2250" dirty="0"/>
          </a:p>
          <a:p>
            <a:pPr marL="71438" indent="0" algn="just">
              <a:buClr>
                <a:schemeClr val="accent6">
                  <a:lumMod val="50000"/>
                </a:schemeClr>
              </a:buClr>
              <a:buSzPct val="125000"/>
              <a:buNone/>
            </a:pPr>
            <a:r>
              <a:rPr lang="en-US" sz="2250" dirty="0"/>
              <a:t>To pave way for use of alternate materials and technologies in the reconstruction process as per the principles set by Post Disaster Needs Assessment (PDNA) for housing and human settlements recovery and reconstruction.</a:t>
            </a:r>
            <a:endParaRPr lang="en-GB" sz="2250" dirty="0"/>
          </a:p>
        </p:txBody>
      </p:sp>
    </p:spTree>
    <p:extLst>
      <p:ext uri="{BB962C8B-B14F-4D97-AF65-F5344CB8AC3E}">
        <p14:creationId xmlns:p14="http://schemas.microsoft.com/office/powerpoint/2010/main" val="218224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750" dirty="0"/>
              <a:t>Catalogue Limitation</a:t>
            </a:r>
          </a:p>
        </p:txBody>
      </p:sp>
      <p:sp>
        <p:nvSpPr>
          <p:cNvPr id="3" name="Content Placeholder 2"/>
          <p:cNvSpPr>
            <a:spLocks noGrp="1"/>
          </p:cNvSpPr>
          <p:nvPr>
            <p:ph idx="1"/>
          </p:nvPr>
        </p:nvSpPr>
        <p:spPr>
          <a:xfrm>
            <a:off x="142875" y="2109107"/>
            <a:ext cx="8167688" cy="2748643"/>
          </a:xfrm>
        </p:spPr>
        <p:txBody>
          <a:bodyPr>
            <a:normAutofit/>
          </a:bodyPr>
          <a:lstStyle/>
          <a:p>
            <a:pPr marL="71438" indent="0" algn="just">
              <a:buNone/>
            </a:pPr>
            <a:r>
              <a:rPr lang="en-US" sz="2250" dirty="0"/>
              <a:t>Designs included in this catalogue can be selected and used as they are, for reconstruction of urban and rural housing . For designs, other than those included in this catalogue, detailed engineering design and approval from concerned authorities shall be done.</a:t>
            </a:r>
          </a:p>
          <a:p>
            <a:pPr marL="71438" indent="0" algn="just">
              <a:buNone/>
            </a:pPr>
            <a:endParaRPr lang="en-GB" sz="2250" dirty="0"/>
          </a:p>
        </p:txBody>
      </p:sp>
      <p:sp>
        <p:nvSpPr>
          <p:cNvPr id="4" name="Footer Placeholder 3"/>
          <p:cNvSpPr>
            <a:spLocks noGrp="1"/>
          </p:cNvSpPr>
          <p:nvPr>
            <p:ph type="ftr" sz="quarter" idx="11"/>
          </p:nvPr>
        </p:nvSpPr>
        <p:spPr>
          <a:xfrm rot="16200000">
            <a:off x="6686825" y="2817628"/>
            <a:ext cx="4167453" cy="365760"/>
          </a:xfrm>
        </p:spPr>
        <p:txBody>
          <a:bodyPr/>
          <a:lstStyle/>
          <a:p>
            <a:pPr algn="ctr"/>
            <a:r>
              <a:rPr lang="en-US" sz="1375" dirty="0"/>
              <a:t>Housing Recovery &amp; Reconstruction Platform </a:t>
            </a:r>
          </a:p>
          <a:p>
            <a:pPr algn="ctr"/>
            <a:r>
              <a:rPr lang="en-US" sz="1375" dirty="0"/>
              <a:t>(HRRP)</a:t>
            </a:r>
          </a:p>
        </p:txBody>
      </p:sp>
    </p:spTree>
    <p:extLst>
      <p:ext uri="{BB962C8B-B14F-4D97-AF65-F5344CB8AC3E}">
        <p14:creationId xmlns:p14="http://schemas.microsoft.com/office/powerpoint/2010/main" val="4223521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750" dirty="0"/>
              <a:t>Lists of Model</a:t>
            </a:r>
          </a:p>
        </p:txBody>
      </p:sp>
      <p:sp>
        <p:nvSpPr>
          <p:cNvPr id="3" name="Content Placeholder 2"/>
          <p:cNvSpPr>
            <a:spLocks noGrp="1"/>
          </p:cNvSpPr>
          <p:nvPr>
            <p:ph sz="half" idx="1"/>
          </p:nvPr>
        </p:nvSpPr>
        <p:spPr>
          <a:xfrm>
            <a:off x="95250" y="1752865"/>
            <a:ext cx="3976688" cy="4533635"/>
          </a:xfrm>
        </p:spPr>
        <p:txBody>
          <a:bodyPr>
            <a:noAutofit/>
          </a:bodyPr>
          <a:lstStyle/>
          <a:p>
            <a:pPr marL="357188" indent="-285750">
              <a:buClr>
                <a:srgbClr val="002060"/>
              </a:buClr>
              <a:buSzPct val="95000"/>
              <a:buFont typeface="+mj-lt"/>
              <a:buAutoNum type="arabicPeriod"/>
            </a:pPr>
            <a:r>
              <a:rPr lang="en-GB" sz="1563" b="1" dirty="0"/>
              <a:t>Interlocking  Brick Masonry   One Storey</a:t>
            </a:r>
          </a:p>
          <a:p>
            <a:pPr lvl="2" indent="-214313">
              <a:buClr>
                <a:schemeClr val="accent6">
                  <a:lumMod val="50000"/>
                </a:schemeClr>
              </a:buClr>
              <a:buSzPct val="95000"/>
            </a:pPr>
            <a:r>
              <a:rPr lang="en-GB" sz="1563" dirty="0"/>
              <a:t> One Storey</a:t>
            </a:r>
          </a:p>
          <a:p>
            <a:pPr lvl="2" indent="-214313">
              <a:buClr>
                <a:schemeClr val="accent6">
                  <a:lumMod val="50000"/>
                </a:schemeClr>
              </a:buClr>
              <a:buSzPct val="95000"/>
            </a:pPr>
            <a:r>
              <a:rPr lang="en-GB" sz="1563" dirty="0"/>
              <a:t> One Storey</a:t>
            </a:r>
          </a:p>
          <a:p>
            <a:pPr lvl="2" indent="-214313">
              <a:buClr>
                <a:schemeClr val="accent6">
                  <a:lumMod val="50000"/>
                </a:schemeClr>
              </a:buClr>
              <a:buSzPct val="95000"/>
            </a:pPr>
            <a:r>
              <a:rPr lang="en-GB" sz="1563" dirty="0"/>
              <a:t>  Two Storey</a:t>
            </a:r>
          </a:p>
          <a:p>
            <a:pPr marL="285750" indent="-285750">
              <a:buClr>
                <a:srgbClr val="002060"/>
              </a:buClr>
              <a:buSzPct val="95000"/>
              <a:buFont typeface="+mj-lt"/>
              <a:buAutoNum type="arabicPeriod"/>
            </a:pPr>
            <a:r>
              <a:rPr lang="en-GB" sz="1563" b="1" dirty="0"/>
              <a:t> Confined  Hollow Concrete Block Masonry</a:t>
            </a:r>
          </a:p>
          <a:p>
            <a:pPr lvl="2" indent="-214313">
              <a:buClr>
                <a:schemeClr val="accent6">
                  <a:lumMod val="50000"/>
                </a:schemeClr>
              </a:buClr>
              <a:buSzPct val="95000"/>
            </a:pPr>
            <a:r>
              <a:rPr lang="en-GB" sz="1563" b="1" dirty="0"/>
              <a:t>   </a:t>
            </a:r>
            <a:r>
              <a:rPr lang="en-GB" sz="1563" dirty="0"/>
              <a:t>Two Storey</a:t>
            </a:r>
          </a:p>
          <a:p>
            <a:pPr marL="321469" indent="-321469">
              <a:buClr>
                <a:srgbClr val="002060"/>
              </a:buClr>
              <a:buSzPct val="95000"/>
              <a:buFont typeface="+mj-lt"/>
              <a:buAutoNum type="arabicPeriod"/>
            </a:pPr>
            <a:r>
              <a:rPr lang="en-GB" sz="1563" b="1" dirty="0"/>
              <a:t>  Hollow Concrete Block Masonry</a:t>
            </a:r>
          </a:p>
          <a:p>
            <a:pPr lvl="2" indent="-214313">
              <a:buClr>
                <a:schemeClr val="accent6">
                  <a:lumMod val="50000"/>
                </a:schemeClr>
              </a:buClr>
              <a:buSzPct val="95000"/>
            </a:pPr>
            <a:r>
              <a:rPr lang="en-GB" sz="1563" dirty="0"/>
              <a:t>   Two Storey</a:t>
            </a:r>
          </a:p>
          <a:p>
            <a:pPr marL="321469" indent="-321469">
              <a:buClr>
                <a:srgbClr val="002060"/>
              </a:buClr>
              <a:buSzPct val="95000"/>
              <a:buFont typeface="+mj-lt"/>
              <a:buAutoNum type="arabicPeriod"/>
            </a:pPr>
            <a:r>
              <a:rPr lang="en-GB" sz="1563" b="1" dirty="0"/>
              <a:t>Compressed Stabilized Earth Block Masonry</a:t>
            </a:r>
          </a:p>
          <a:p>
            <a:pPr lvl="2" indent="-214313">
              <a:buClr>
                <a:schemeClr val="accent6">
                  <a:lumMod val="50000"/>
                </a:schemeClr>
              </a:buClr>
              <a:buSzPct val="95000"/>
            </a:pPr>
            <a:r>
              <a:rPr lang="en-GB" sz="1563" dirty="0"/>
              <a:t>  One Storey</a:t>
            </a:r>
          </a:p>
          <a:p>
            <a:pPr lvl="2" indent="-214313">
              <a:buClr>
                <a:schemeClr val="accent6">
                  <a:lumMod val="50000"/>
                </a:schemeClr>
              </a:buClr>
              <a:buSzPct val="95000"/>
            </a:pPr>
            <a:r>
              <a:rPr lang="en-GB" sz="1563" dirty="0"/>
              <a:t>  Two Storey </a:t>
            </a:r>
          </a:p>
          <a:p>
            <a:pPr marL="285750" indent="-285750">
              <a:buClr>
                <a:srgbClr val="002060"/>
              </a:buClr>
              <a:buSzPct val="95000"/>
              <a:buFont typeface="+mj-lt"/>
              <a:buAutoNum type="arabicPeriod"/>
            </a:pPr>
            <a:r>
              <a:rPr lang="en-GB" sz="1563" b="1" dirty="0"/>
              <a:t>Random Rubble Masonry in Mud mortar with GI wire Containment</a:t>
            </a:r>
          </a:p>
          <a:p>
            <a:pPr lvl="2" indent="-214313">
              <a:buClr>
                <a:schemeClr val="accent6">
                  <a:lumMod val="50000"/>
                </a:schemeClr>
              </a:buClr>
              <a:buSzPct val="95000"/>
            </a:pPr>
            <a:r>
              <a:rPr lang="en-GB" sz="1563" dirty="0"/>
              <a:t> One Storey</a:t>
            </a:r>
          </a:p>
          <a:p>
            <a:pPr lvl="2" indent="-214313">
              <a:buClr>
                <a:schemeClr val="accent6">
                  <a:lumMod val="50000"/>
                </a:schemeClr>
              </a:buClr>
              <a:buSzPct val="95000"/>
            </a:pPr>
            <a:r>
              <a:rPr lang="en-GB" sz="1563" dirty="0"/>
              <a:t>Two Storey</a:t>
            </a:r>
          </a:p>
          <a:p>
            <a:pPr marL="0" indent="0">
              <a:buClrTx/>
              <a:buSzPct val="135000"/>
              <a:buNone/>
            </a:pPr>
            <a:endParaRPr lang="en-GB" sz="1500" dirty="0"/>
          </a:p>
          <a:p>
            <a:pPr marL="285750" indent="-285750">
              <a:buClrTx/>
              <a:buSzPct val="135000"/>
              <a:buFont typeface="+mj-lt"/>
              <a:buAutoNum type="arabicPeriod"/>
            </a:pPr>
            <a:endParaRPr lang="en-GB" sz="1500" dirty="0"/>
          </a:p>
          <a:p>
            <a:pPr marL="0" indent="0">
              <a:buClrTx/>
              <a:buSzPct val="135000"/>
              <a:buNone/>
            </a:pPr>
            <a:r>
              <a:rPr lang="en-GB" sz="1500" dirty="0"/>
              <a:t>    </a:t>
            </a:r>
          </a:p>
          <a:p>
            <a:pPr marL="321469" indent="-321469">
              <a:buClrTx/>
              <a:buSzPct val="135000"/>
              <a:buFont typeface="+mj-lt"/>
              <a:buAutoNum type="arabicPeriod"/>
            </a:pPr>
            <a:endParaRPr lang="en-GB" sz="1500" dirty="0"/>
          </a:p>
          <a:p>
            <a:pPr marL="0" indent="0">
              <a:buClrTx/>
              <a:buSzPct val="135000"/>
              <a:buNone/>
            </a:pPr>
            <a:endParaRPr lang="en-GB" sz="1500" dirty="0"/>
          </a:p>
          <a:p>
            <a:pPr marL="0" indent="0">
              <a:buClrTx/>
              <a:buSzPct val="135000"/>
              <a:buNone/>
            </a:pPr>
            <a:endParaRPr lang="en-GB" sz="1688" dirty="0"/>
          </a:p>
          <a:p>
            <a:pPr marL="414338" lvl="2" indent="0">
              <a:buClr>
                <a:schemeClr val="accent6">
                  <a:lumMod val="50000"/>
                </a:schemeClr>
              </a:buClr>
              <a:buSzPct val="135000"/>
              <a:buNone/>
            </a:pPr>
            <a:endParaRPr lang="en-GB" sz="1563" dirty="0"/>
          </a:p>
          <a:p>
            <a:pPr marL="414338" lvl="2" indent="0">
              <a:buClr>
                <a:schemeClr val="accent6">
                  <a:lumMod val="50000"/>
                </a:schemeClr>
              </a:buClr>
              <a:buSzPct val="135000"/>
              <a:buNone/>
            </a:pPr>
            <a:endParaRPr lang="en-GB" sz="1563" dirty="0"/>
          </a:p>
          <a:p>
            <a:pPr marL="0" indent="0">
              <a:buClr>
                <a:srgbClr val="0070C0"/>
              </a:buClr>
              <a:buSzPct val="135000"/>
              <a:buNone/>
            </a:pPr>
            <a:endParaRPr lang="en-GB" sz="1563" dirty="0"/>
          </a:p>
          <a:p>
            <a:pPr marL="585788" lvl="3" indent="0">
              <a:buClr>
                <a:srgbClr val="0070C0"/>
              </a:buClr>
              <a:buSzPct val="135000"/>
              <a:buNone/>
            </a:pPr>
            <a:endParaRPr lang="en-GB" sz="1875" dirty="0"/>
          </a:p>
          <a:p>
            <a:pPr marL="585788" lvl="3" indent="0">
              <a:buClr>
                <a:schemeClr val="accent6">
                  <a:lumMod val="50000"/>
                </a:schemeClr>
              </a:buClr>
              <a:buSzPct val="135000"/>
              <a:buNone/>
            </a:pPr>
            <a:endParaRPr lang="en-GB" sz="1563" dirty="0"/>
          </a:p>
          <a:p>
            <a:endParaRPr lang="en-GB" sz="1563" dirty="0"/>
          </a:p>
          <a:p>
            <a:pPr marL="71438" indent="0">
              <a:buNone/>
            </a:pPr>
            <a:r>
              <a:rPr lang="en-GB" sz="1563" dirty="0"/>
              <a:t>       </a:t>
            </a:r>
          </a:p>
        </p:txBody>
      </p:sp>
      <p:sp>
        <p:nvSpPr>
          <p:cNvPr id="4" name="Content Placeholder 3"/>
          <p:cNvSpPr>
            <a:spLocks noGrp="1"/>
          </p:cNvSpPr>
          <p:nvPr>
            <p:ph sz="half" idx="2"/>
          </p:nvPr>
        </p:nvSpPr>
        <p:spPr>
          <a:xfrm>
            <a:off x="4429125" y="1885606"/>
            <a:ext cx="4158545" cy="4268153"/>
          </a:xfrm>
        </p:spPr>
        <p:txBody>
          <a:bodyPr>
            <a:normAutofit lnSpcReduction="10000"/>
          </a:bodyPr>
          <a:lstStyle/>
          <a:p>
            <a:pPr marL="357188" indent="-285750">
              <a:buClr>
                <a:srgbClr val="002060"/>
              </a:buClr>
              <a:buSzPct val="95000"/>
              <a:buFont typeface="+mj-lt"/>
              <a:buAutoNum type="arabicPeriod" startAt="6"/>
            </a:pPr>
            <a:r>
              <a:rPr lang="en-GB" sz="1563" b="1" dirty="0"/>
              <a:t>Bamboo and Stone Masonry Hybrid Structure</a:t>
            </a:r>
          </a:p>
          <a:p>
            <a:pPr lvl="1">
              <a:buClr>
                <a:schemeClr val="accent6">
                  <a:lumMod val="50000"/>
                </a:schemeClr>
              </a:buClr>
              <a:buSzPct val="95000"/>
            </a:pPr>
            <a:r>
              <a:rPr lang="en-GB" sz="1563" dirty="0"/>
              <a:t>Two Storey</a:t>
            </a:r>
          </a:p>
          <a:p>
            <a:pPr marL="392906" indent="-321469">
              <a:buClr>
                <a:srgbClr val="002060"/>
              </a:buClr>
              <a:buSzPct val="95000"/>
              <a:buFont typeface="+mj-lt"/>
              <a:buAutoNum type="arabicPeriod" startAt="6"/>
            </a:pPr>
            <a:r>
              <a:rPr lang="en-GB" sz="1563" b="1" dirty="0"/>
              <a:t>Rat Trap Bond Masonry</a:t>
            </a:r>
          </a:p>
          <a:p>
            <a:pPr lvl="1">
              <a:buClr>
                <a:schemeClr val="accent6">
                  <a:lumMod val="50000"/>
                </a:schemeClr>
              </a:buClr>
              <a:buSzPct val="95000"/>
            </a:pPr>
            <a:r>
              <a:rPr lang="en-GB" sz="1563" dirty="0"/>
              <a:t>One Storey</a:t>
            </a:r>
          </a:p>
          <a:p>
            <a:pPr marL="392906" indent="-321469">
              <a:buClr>
                <a:srgbClr val="002060"/>
              </a:buClr>
              <a:buSzPct val="95000"/>
              <a:buFont typeface="+mj-lt"/>
              <a:buAutoNum type="arabicPeriod" startAt="8"/>
            </a:pPr>
            <a:r>
              <a:rPr lang="en-GB" sz="1563" b="1" dirty="0"/>
              <a:t>Earth Bag Masonry</a:t>
            </a:r>
          </a:p>
          <a:p>
            <a:pPr lvl="1">
              <a:buClr>
                <a:schemeClr val="accent6">
                  <a:lumMod val="50000"/>
                </a:schemeClr>
              </a:buClr>
              <a:buSzPct val="95000"/>
            </a:pPr>
            <a:r>
              <a:rPr lang="en-GB" sz="1563" dirty="0"/>
              <a:t>One Storey</a:t>
            </a:r>
          </a:p>
          <a:p>
            <a:pPr marL="392906" indent="-321469">
              <a:buClr>
                <a:srgbClr val="002060"/>
              </a:buClr>
              <a:buSzPct val="95000"/>
              <a:buFont typeface="+mj-lt"/>
              <a:buAutoNum type="arabicPeriod" startAt="9"/>
            </a:pPr>
            <a:r>
              <a:rPr lang="en-GB" sz="1563" b="1" dirty="0"/>
              <a:t>Light Gauge Steel Structure</a:t>
            </a:r>
          </a:p>
          <a:p>
            <a:pPr lvl="1">
              <a:buClr>
                <a:schemeClr val="accent6">
                  <a:lumMod val="50000"/>
                </a:schemeClr>
              </a:buClr>
              <a:buSzPct val="95000"/>
            </a:pPr>
            <a:r>
              <a:rPr lang="en-GB" sz="1563" dirty="0"/>
              <a:t>One Storey</a:t>
            </a:r>
          </a:p>
          <a:p>
            <a:pPr lvl="1">
              <a:buClr>
                <a:schemeClr val="accent6">
                  <a:lumMod val="50000"/>
                </a:schemeClr>
              </a:buClr>
              <a:buSzPct val="95000"/>
            </a:pPr>
            <a:r>
              <a:rPr lang="en-GB" sz="1563" dirty="0"/>
              <a:t>Two Storey</a:t>
            </a:r>
          </a:p>
          <a:p>
            <a:pPr marL="392906" indent="-321469">
              <a:buClr>
                <a:srgbClr val="002060"/>
              </a:buClr>
              <a:buSzPct val="95000"/>
              <a:buFont typeface="+mj-lt"/>
              <a:buAutoNum type="arabicPeriod" startAt="9"/>
            </a:pPr>
            <a:r>
              <a:rPr lang="en-GB" sz="1563" b="1" dirty="0"/>
              <a:t>Steel Structure</a:t>
            </a:r>
          </a:p>
          <a:p>
            <a:pPr lvl="1">
              <a:buClr>
                <a:schemeClr val="accent6">
                  <a:lumMod val="50000"/>
                </a:schemeClr>
              </a:buClr>
              <a:buSzPct val="95000"/>
            </a:pPr>
            <a:r>
              <a:rPr lang="en-GB" sz="1563" dirty="0"/>
              <a:t>Two Storey</a:t>
            </a:r>
          </a:p>
          <a:p>
            <a:pPr marL="392906" indent="-321469">
              <a:buClr>
                <a:srgbClr val="002060"/>
              </a:buClr>
              <a:buSzPct val="95000"/>
              <a:buFont typeface="+mj-lt"/>
              <a:buAutoNum type="arabicPeriod" startAt="9"/>
            </a:pPr>
            <a:r>
              <a:rPr lang="en-GB" sz="1563" b="1" dirty="0"/>
              <a:t>Timber Structure</a:t>
            </a:r>
          </a:p>
          <a:p>
            <a:pPr lvl="1">
              <a:buClr>
                <a:schemeClr val="accent6">
                  <a:lumMod val="50000"/>
                </a:schemeClr>
              </a:buClr>
              <a:buSzPct val="95000"/>
            </a:pPr>
            <a:r>
              <a:rPr lang="en-GB" sz="1563" dirty="0"/>
              <a:t>Two Storey</a:t>
            </a:r>
          </a:p>
          <a:p>
            <a:pPr marL="392906" indent="-321469">
              <a:buClr>
                <a:srgbClr val="002060"/>
              </a:buClr>
              <a:buSzPct val="95000"/>
              <a:buFont typeface="+mj-lt"/>
              <a:buAutoNum type="arabicPeriod" startAt="9"/>
            </a:pPr>
            <a:r>
              <a:rPr lang="en-GB" sz="1563" b="1" dirty="0"/>
              <a:t>Debris Block Masonry</a:t>
            </a:r>
          </a:p>
          <a:p>
            <a:pPr lvl="1">
              <a:buClr>
                <a:schemeClr val="accent6">
                  <a:lumMod val="50000"/>
                </a:schemeClr>
              </a:buClr>
              <a:buSzPct val="95000"/>
            </a:pPr>
            <a:r>
              <a:rPr lang="en-GB" sz="1563" dirty="0"/>
              <a:t>Two Storey</a:t>
            </a:r>
          </a:p>
          <a:p>
            <a:pPr lvl="1">
              <a:buSzPct val="90000"/>
            </a:pPr>
            <a:endParaRPr lang="en-GB" sz="1563" dirty="0"/>
          </a:p>
          <a:p>
            <a:pPr marL="71438" indent="0">
              <a:buNone/>
            </a:pPr>
            <a:endParaRPr lang="en-GB" dirty="0"/>
          </a:p>
          <a:p>
            <a:pPr marL="392906" indent="-321469">
              <a:buFont typeface="+mj-lt"/>
              <a:buAutoNum type="arabicPeriod" startAt="9"/>
            </a:pPr>
            <a:endParaRPr lang="en-GB" dirty="0"/>
          </a:p>
          <a:p>
            <a:pPr marL="71438" indent="0">
              <a:buNone/>
            </a:pPr>
            <a:endParaRPr lang="en-GB" dirty="0"/>
          </a:p>
          <a:p>
            <a:pPr marL="71438" indent="0">
              <a:buNone/>
            </a:pPr>
            <a:endParaRPr lang="en-GB" dirty="0"/>
          </a:p>
          <a:p>
            <a:pPr marL="71438" indent="0">
              <a:buNone/>
            </a:pPr>
            <a:endParaRPr lang="en-GB" dirty="0"/>
          </a:p>
        </p:txBody>
      </p:sp>
      <p:sp>
        <p:nvSpPr>
          <p:cNvPr id="5" name="Footer Placeholder 4"/>
          <p:cNvSpPr>
            <a:spLocks noGrp="1"/>
          </p:cNvSpPr>
          <p:nvPr>
            <p:ph type="ftr" sz="quarter" idx="11"/>
          </p:nvPr>
        </p:nvSpPr>
        <p:spPr>
          <a:xfrm rot="16200000">
            <a:off x="6948762" y="3079565"/>
            <a:ext cx="3643578" cy="365760"/>
          </a:xfrm>
        </p:spPr>
        <p:txBody>
          <a:bodyPr/>
          <a:lstStyle/>
          <a:p>
            <a:pPr algn="ctr"/>
            <a:r>
              <a:rPr lang="en-US" sz="1375" dirty="0"/>
              <a:t>Housing Recovery &amp; Reconstruction Platform (HRRP)</a:t>
            </a:r>
          </a:p>
        </p:txBody>
      </p:sp>
    </p:spTree>
    <p:extLst>
      <p:ext uri="{BB962C8B-B14F-4D97-AF65-F5344CB8AC3E}">
        <p14:creationId xmlns:p14="http://schemas.microsoft.com/office/powerpoint/2010/main" val="1945891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pPr algn="ctr"/>
            <a:r>
              <a:rPr lang="en-GB" dirty="0"/>
              <a:t>Model details</a:t>
            </a:r>
          </a:p>
        </p:txBody>
      </p:sp>
      <p:sp>
        <p:nvSpPr>
          <p:cNvPr id="12" name="Content Placeholder 11"/>
          <p:cNvSpPr>
            <a:spLocks noGrp="1"/>
          </p:cNvSpPr>
          <p:nvPr>
            <p:ph idx="1"/>
          </p:nvPr>
        </p:nvSpPr>
        <p:spPr>
          <a:xfrm>
            <a:off x="457200" y="1905000"/>
            <a:ext cx="5513485" cy="4000500"/>
          </a:xfrm>
        </p:spPr>
        <p:txBody>
          <a:bodyPr/>
          <a:lstStyle/>
          <a:p>
            <a:pPr marL="357188" indent="-285750">
              <a:buClrTx/>
              <a:buFont typeface="+mj-lt"/>
              <a:buAutoNum type="arabicPeriod"/>
            </a:pPr>
            <a:r>
              <a:rPr lang="en-GB" sz="1875" u="sng" dirty="0">
                <a:solidFill>
                  <a:srgbClr val="002060"/>
                </a:solidFill>
              </a:rPr>
              <a:t>Interlocking  Brick Masonry   One Storey</a:t>
            </a:r>
          </a:p>
          <a:p>
            <a:pPr marL="71438" indent="0" algn="just">
              <a:buNone/>
            </a:pPr>
            <a:r>
              <a:rPr lang="en-US" sz="1875" dirty="0"/>
              <a:t>Interlock Brick Technology consists of specially designed unburnt bricks with tongue and groove features that allows bricks to interlock each other in masonry and thereby reduces mortar usage</a:t>
            </a:r>
            <a:r>
              <a:rPr lang="en-US" sz="1563" dirty="0"/>
              <a:t>. </a:t>
            </a:r>
          </a:p>
          <a:p>
            <a:pPr marL="71438" indent="0" algn="just">
              <a:buNone/>
            </a:pPr>
            <a:endParaRPr lang="en-US" sz="1563" dirty="0"/>
          </a:p>
          <a:p>
            <a:pPr marL="357188" indent="-285750" algn="just">
              <a:buFont typeface="+mj-lt"/>
              <a:buAutoNum type="arabicPeriod" startAt="2"/>
            </a:pPr>
            <a:r>
              <a:rPr lang="en-GB" sz="1875" u="sng" dirty="0">
                <a:solidFill>
                  <a:srgbClr val="002060"/>
                </a:solidFill>
              </a:rPr>
              <a:t>Confined  Hollow Concrete Block Masonry</a:t>
            </a:r>
          </a:p>
          <a:p>
            <a:pPr marL="71438" indent="0">
              <a:buNone/>
            </a:pPr>
            <a:r>
              <a:rPr lang="en-US" sz="2000" dirty="0"/>
              <a:t>Hollow concrete block walls carry the seismic loads and the Reinforced Concrete Columns of minimal size are used </a:t>
            </a:r>
            <a:r>
              <a:rPr lang="en-GB" sz="2000" dirty="0"/>
              <a:t>to confine the walls.</a:t>
            </a:r>
            <a:endParaRPr lang="en-GB" sz="1875" u="sng" dirty="0">
              <a:solidFill>
                <a:srgbClr val="002060"/>
              </a:solidFill>
            </a:endParaRPr>
          </a:p>
        </p:txBody>
      </p:sp>
      <p:sp>
        <p:nvSpPr>
          <p:cNvPr id="5" name="Footer Placeholder 4"/>
          <p:cNvSpPr>
            <a:spLocks noGrp="1"/>
          </p:cNvSpPr>
          <p:nvPr>
            <p:ph type="ftr" sz="quarter" idx="11"/>
          </p:nvPr>
        </p:nvSpPr>
        <p:spPr>
          <a:xfrm rot="16200000">
            <a:off x="7104867" y="3235669"/>
            <a:ext cx="3331369" cy="365760"/>
          </a:xfrm>
        </p:spPr>
        <p:txBody>
          <a:bodyPr/>
          <a:lstStyle/>
          <a:p>
            <a:pPr algn="ctr"/>
            <a:r>
              <a:rPr lang="en-US" sz="1375" dirty="0"/>
              <a:t>Housing Recovery &amp; Reconstruction Platform (HRRP)</a:t>
            </a:r>
          </a:p>
        </p:txBody>
      </p:sp>
      <p:pic>
        <p:nvPicPr>
          <p:cNvPr id="13" name="Picture 12"/>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970685" y="1752865"/>
            <a:ext cx="2389681" cy="1714500"/>
          </a:xfrm>
          <a:prstGeom prst="rect">
            <a:avLst/>
          </a:prstGeom>
        </p:spPr>
      </p:pic>
      <p:pic>
        <p:nvPicPr>
          <p:cNvPr id="14" name="Picture 13"/>
          <p:cNvPicPr>
            <a:picLocks noChangeAspect="1"/>
          </p:cNvPicPr>
          <p:nvPr/>
        </p:nvPicPr>
        <p:blipFill rotWithShape="1">
          <a:blip r:embed="rId3" cstate="email">
            <a:extLst>
              <a:ext uri="{28A0092B-C50C-407E-A947-70E740481C1C}">
                <a14:useLocalDpi xmlns:a14="http://schemas.microsoft.com/office/drawing/2010/main" val="0"/>
              </a:ext>
            </a:extLst>
          </a:blip>
          <a:srcRect l="18351" t="2143" r="17968" b="3585"/>
          <a:stretch/>
        </p:blipFill>
        <p:spPr>
          <a:xfrm>
            <a:off x="6084093" y="3762375"/>
            <a:ext cx="1952626" cy="1571625"/>
          </a:xfrm>
          <a:prstGeom prst="rect">
            <a:avLst/>
          </a:prstGeom>
        </p:spPr>
      </p:pic>
    </p:spTree>
    <p:extLst>
      <p:ext uri="{BB962C8B-B14F-4D97-AF65-F5344CB8AC3E}">
        <p14:creationId xmlns:p14="http://schemas.microsoft.com/office/powerpoint/2010/main" val="1818262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Model details Contd.</a:t>
            </a:r>
          </a:p>
        </p:txBody>
      </p:sp>
      <p:sp>
        <p:nvSpPr>
          <p:cNvPr id="3" name="Content Placeholder 2"/>
          <p:cNvSpPr>
            <a:spLocks noGrp="1"/>
          </p:cNvSpPr>
          <p:nvPr>
            <p:ph idx="1"/>
          </p:nvPr>
        </p:nvSpPr>
        <p:spPr>
          <a:xfrm>
            <a:off x="457200" y="1905000"/>
            <a:ext cx="5686425" cy="4000500"/>
          </a:xfrm>
        </p:spPr>
        <p:txBody>
          <a:bodyPr>
            <a:normAutofit/>
          </a:bodyPr>
          <a:lstStyle/>
          <a:p>
            <a:pPr marL="357188" indent="-285750">
              <a:buClrTx/>
              <a:buFont typeface="+mj-lt"/>
              <a:buAutoNum type="arabicPeriod" startAt="3"/>
            </a:pPr>
            <a:r>
              <a:rPr lang="en-GB" sz="1875" u="sng" dirty="0">
                <a:solidFill>
                  <a:srgbClr val="002060"/>
                </a:solidFill>
              </a:rPr>
              <a:t>Hollow Concrete Block Masonry</a:t>
            </a:r>
          </a:p>
          <a:p>
            <a:pPr marL="71438" indent="0" algn="just">
              <a:buNone/>
            </a:pPr>
            <a:r>
              <a:rPr lang="en-US" sz="2000" dirty="0"/>
              <a:t>Load bearing structure of hollow concrete blocks are seen as a good alternative to conventional brick masonry as they can be locally manufactured, cheaper and environment </a:t>
            </a:r>
            <a:r>
              <a:rPr lang="en-GB" sz="2000" dirty="0"/>
              <a:t>friendly.</a:t>
            </a:r>
          </a:p>
          <a:p>
            <a:pPr marL="71438" indent="0" algn="just">
              <a:buNone/>
            </a:pPr>
            <a:endParaRPr lang="en-GB" sz="2000" u="sng" dirty="0">
              <a:solidFill>
                <a:srgbClr val="002060"/>
              </a:solidFill>
            </a:endParaRPr>
          </a:p>
          <a:p>
            <a:pPr marL="392906" indent="-321469">
              <a:buClrTx/>
              <a:buFont typeface="+mj-lt"/>
              <a:buAutoNum type="arabicPeriod" startAt="4"/>
            </a:pPr>
            <a:r>
              <a:rPr lang="en-GB" sz="1875" u="sng" dirty="0">
                <a:solidFill>
                  <a:srgbClr val="002060"/>
                </a:solidFill>
              </a:rPr>
              <a:t>Compressed Stabilized Earth Block Masonry</a:t>
            </a:r>
          </a:p>
          <a:p>
            <a:pPr marL="71438" indent="0" algn="just">
              <a:buNone/>
            </a:pPr>
            <a:r>
              <a:rPr lang="en-US" sz="2000" dirty="0"/>
              <a:t>Compressed Stabilized Earth Block </a:t>
            </a:r>
            <a:r>
              <a:rPr lang="en-US" sz="2000" b="1" dirty="0"/>
              <a:t>(CSEB) </a:t>
            </a:r>
            <a:r>
              <a:rPr lang="en-US" sz="2000" dirty="0"/>
              <a:t>Technology makes use of mud as a predominant building material. The properties of soil used are improved by using stabilizers like cement. This Block is prepared by machine.</a:t>
            </a:r>
            <a:endParaRPr lang="en-GB" dirty="0"/>
          </a:p>
        </p:txBody>
      </p:sp>
      <p:sp>
        <p:nvSpPr>
          <p:cNvPr id="4" name="Footer Placeholder 3"/>
          <p:cNvSpPr>
            <a:spLocks noGrp="1"/>
          </p:cNvSpPr>
          <p:nvPr>
            <p:ph type="ftr" sz="quarter" idx="11"/>
          </p:nvPr>
        </p:nvSpPr>
        <p:spPr>
          <a:xfrm rot="16200000">
            <a:off x="7104867" y="3235669"/>
            <a:ext cx="3331369" cy="365760"/>
          </a:xfrm>
        </p:spPr>
        <p:txBody>
          <a:bodyPr/>
          <a:lstStyle/>
          <a:p>
            <a:pPr algn="ctr"/>
            <a:r>
              <a:rPr lang="en-US" sz="1375" dirty="0"/>
              <a:t>Housing Recovery &amp; Reconstruction Platform (HRRP)</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4571" t="15476" r="9998" b="9524"/>
          <a:stretch/>
        </p:blipFill>
        <p:spPr>
          <a:xfrm>
            <a:off x="6645320" y="1905000"/>
            <a:ext cx="1440656" cy="1500188"/>
          </a:xfrm>
          <a:prstGeom prst="rect">
            <a:avLst/>
          </a:prstGeom>
        </p:spPr>
      </p:pic>
      <p:pic>
        <p:nvPicPr>
          <p:cNvPr id="6" name="Picture 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355623" y="3905250"/>
            <a:ext cx="1981200" cy="1485900"/>
          </a:xfrm>
          <a:prstGeom prst="rect">
            <a:avLst/>
          </a:prstGeom>
        </p:spPr>
      </p:pic>
    </p:spTree>
    <p:extLst>
      <p:ext uri="{BB962C8B-B14F-4D97-AF65-F5344CB8AC3E}">
        <p14:creationId xmlns:p14="http://schemas.microsoft.com/office/powerpoint/2010/main" val="1932313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Model details Contd.</a:t>
            </a:r>
          </a:p>
        </p:txBody>
      </p:sp>
      <p:sp>
        <p:nvSpPr>
          <p:cNvPr id="3" name="Content Placeholder 2"/>
          <p:cNvSpPr>
            <a:spLocks noGrp="1"/>
          </p:cNvSpPr>
          <p:nvPr>
            <p:ph idx="1"/>
          </p:nvPr>
        </p:nvSpPr>
        <p:spPr>
          <a:xfrm>
            <a:off x="457200" y="1905000"/>
            <a:ext cx="5103019" cy="4000500"/>
          </a:xfrm>
        </p:spPr>
        <p:txBody>
          <a:bodyPr>
            <a:normAutofit/>
          </a:bodyPr>
          <a:lstStyle/>
          <a:p>
            <a:pPr marL="392906" indent="-321469">
              <a:buFont typeface="+mj-lt"/>
              <a:buAutoNum type="arabicPeriod" startAt="5"/>
            </a:pPr>
            <a:r>
              <a:rPr lang="en-GB" sz="1875" u="sng" dirty="0">
                <a:solidFill>
                  <a:srgbClr val="002060"/>
                </a:solidFill>
              </a:rPr>
              <a:t>Random Rubble Masonry in Mud mortar with GI wire Containment</a:t>
            </a:r>
          </a:p>
          <a:p>
            <a:pPr marL="71438" indent="0" algn="just">
              <a:buNone/>
            </a:pPr>
            <a:r>
              <a:rPr lang="en-US" sz="1875" dirty="0"/>
              <a:t>This technology is an improvement on random rubble masonry structure by introduction of GI containment wires. GI wire prevent from flexural failure and delamination of walls.</a:t>
            </a:r>
            <a:endParaRPr lang="en-GB" sz="1875" u="sng" dirty="0">
              <a:solidFill>
                <a:srgbClr val="002060"/>
              </a:solidFill>
            </a:endParaRPr>
          </a:p>
          <a:p>
            <a:pPr marL="392906" indent="-321469">
              <a:buFont typeface="+mj-lt"/>
              <a:buAutoNum type="arabicPeriod" startAt="6"/>
            </a:pPr>
            <a:r>
              <a:rPr lang="en-GB" sz="1875" u="sng" dirty="0">
                <a:solidFill>
                  <a:srgbClr val="002060"/>
                </a:solidFill>
              </a:rPr>
              <a:t>Bamboo and Stone Masonry Hybrid Structure</a:t>
            </a:r>
          </a:p>
          <a:p>
            <a:pPr marL="71438" indent="0" algn="just">
              <a:buNone/>
            </a:pPr>
            <a:r>
              <a:rPr lang="en-US" sz="1875" dirty="0"/>
              <a:t>Local bamboo </a:t>
            </a:r>
            <a:r>
              <a:rPr lang="en-US" sz="1875" i="1" dirty="0"/>
              <a:t>(</a:t>
            </a:r>
            <a:r>
              <a:rPr lang="en-US" sz="1875" i="1" dirty="0" err="1"/>
              <a:t>Banbusa</a:t>
            </a:r>
            <a:r>
              <a:rPr lang="en-US" sz="1875" i="1" dirty="0"/>
              <a:t> </a:t>
            </a:r>
            <a:r>
              <a:rPr lang="en-US" sz="1875" i="1" dirty="0" err="1"/>
              <a:t>Nutans</a:t>
            </a:r>
            <a:r>
              <a:rPr lang="en-US" sz="1875" i="1" dirty="0"/>
              <a:t>), seasoned and treated, is used in a structural </a:t>
            </a:r>
            <a:r>
              <a:rPr lang="en-US" sz="1875" dirty="0"/>
              <a:t>frame with bamboo wattle and daub panels as walls on the upper floor. The frame is surrounded with a wall in Stone Masonry with Mud Mortar on the ground floor of the house.</a:t>
            </a:r>
            <a:endParaRPr lang="en-GB" sz="1875" u="sng" dirty="0">
              <a:solidFill>
                <a:srgbClr val="002060"/>
              </a:solidFill>
            </a:endParaRPr>
          </a:p>
        </p:txBody>
      </p:sp>
      <p:sp>
        <p:nvSpPr>
          <p:cNvPr id="4" name="Footer Placeholder 3"/>
          <p:cNvSpPr>
            <a:spLocks noGrp="1"/>
          </p:cNvSpPr>
          <p:nvPr>
            <p:ph type="ftr" sz="quarter" idx="11"/>
          </p:nvPr>
        </p:nvSpPr>
        <p:spPr>
          <a:xfrm rot="16200000">
            <a:off x="6984481" y="3115284"/>
            <a:ext cx="3572141" cy="365760"/>
          </a:xfrm>
        </p:spPr>
        <p:txBody>
          <a:bodyPr/>
          <a:lstStyle/>
          <a:p>
            <a:pPr algn="ctr"/>
            <a:r>
              <a:rPr lang="en-US" sz="1375" dirty="0"/>
              <a:t>Housing Recovery &amp; Reconstruction Platform (HRRP)</a:t>
            </a:r>
          </a:p>
        </p:txBody>
      </p:sp>
      <p:pic>
        <p:nvPicPr>
          <p:cNvPr id="5" name="Pictur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560219" y="1905000"/>
            <a:ext cx="2563931" cy="1543050"/>
          </a:xfrm>
          <a:prstGeom prst="rect">
            <a:avLst/>
          </a:prstGeom>
        </p:spPr>
      </p:pic>
      <p:pic>
        <p:nvPicPr>
          <p:cNvPr id="6" name="Picture 5"/>
          <p:cNvPicPr>
            <a:picLocks noChangeAspect="1"/>
          </p:cNvPicPr>
          <p:nvPr/>
        </p:nvPicPr>
        <p:blipFill rotWithShape="1">
          <a:blip r:embed="rId3" cstate="email">
            <a:extLst>
              <a:ext uri="{28A0092B-C50C-407E-A947-70E740481C1C}">
                <a14:useLocalDpi xmlns:a14="http://schemas.microsoft.com/office/drawing/2010/main" val="0"/>
              </a:ext>
            </a:extLst>
          </a:blip>
          <a:srcRect l="9854" r="9096"/>
          <a:stretch/>
        </p:blipFill>
        <p:spPr>
          <a:xfrm>
            <a:off x="5576212" y="3795590"/>
            <a:ext cx="2547938" cy="1762371"/>
          </a:xfrm>
          <a:prstGeom prst="rect">
            <a:avLst/>
          </a:prstGeom>
        </p:spPr>
      </p:pic>
    </p:spTree>
    <p:extLst>
      <p:ext uri="{BB962C8B-B14F-4D97-AF65-F5344CB8AC3E}">
        <p14:creationId xmlns:p14="http://schemas.microsoft.com/office/powerpoint/2010/main" val="1217127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Model details Contd.</a:t>
            </a:r>
          </a:p>
        </p:txBody>
      </p:sp>
      <p:sp>
        <p:nvSpPr>
          <p:cNvPr id="3" name="Content Placeholder 2"/>
          <p:cNvSpPr>
            <a:spLocks noGrp="1"/>
          </p:cNvSpPr>
          <p:nvPr>
            <p:ph idx="1"/>
          </p:nvPr>
        </p:nvSpPr>
        <p:spPr>
          <a:xfrm>
            <a:off x="0" y="1881187"/>
            <a:ext cx="5226844" cy="4405313"/>
          </a:xfrm>
        </p:spPr>
        <p:txBody>
          <a:bodyPr>
            <a:normAutofit fontScale="92500" lnSpcReduction="10000"/>
          </a:bodyPr>
          <a:lstStyle/>
          <a:p>
            <a:pPr marL="392906" indent="-321469">
              <a:buFont typeface="+mj-lt"/>
              <a:buAutoNum type="arabicPeriod" startAt="7"/>
            </a:pPr>
            <a:r>
              <a:rPr lang="en-GB" sz="1875" u="sng" dirty="0">
                <a:solidFill>
                  <a:srgbClr val="002060"/>
                </a:solidFill>
              </a:rPr>
              <a:t>Rat Trap Bond Masonry</a:t>
            </a:r>
          </a:p>
          <a:p>
            <a:pPr marL="71438" indent="0" algn="just">
              <a:buNone/>
            </a:pPr>
            <a:r>
              <a:rPr lang="en-US" sz="2000" dirty="0"/>
              <a:t>Rat-Trap Bond is a modular type of masonry construction in which bricks are laid on edge, thereby creating internal cavity within the wall. The cavity improves the thermal behavior of the wall and significantly reduces the quantity of brick and mortar in the masonry</a:t>
            </a:r>
            <a:endParaRPr lang="en-GB" sz="1875" u="sng" dirty="0">
              <a:solidFill>
                <a:srgbClr val="002060"/>
              </a:solidFill>
            </a:endParaRPr>
          </a:p>
          <a:p>
            <a:pPr marL="392906" indent="-321469">
              <a:buFont typeface="+mj-lt"/>
              <a:buAutoNum type="arabicPeriod" startAt="7"/>
            </a:pPr>
            <a:endParaRPr lang="en-GB" sz="1875" u="sng" dirty="0">
              <a:solidFill>
                <a:srgbClr val="002060"/>
              </a:solidFill>
            </a:endParaRPr>
          </a:p>
          <a:p>
            <a:pPr marL="392906" indent="-321469">
              <a:buFont typeface="+mj-lt"/>
              <a:buAutoNum type="arabicPeriod" startAt="8"/>
            </a:pPr>
            <a:r>
              <a:rPr lang="en-GB" sz="1875" u="sng" dirty="0">
                <a:solidFill>
                  <a:srgbClr val="002060"/>
                </a:solidFill>
              </a:rPr>
              <a:t>Earth Bag Masonry</a:t>
            </a:r>
          </a:p>
          <a:p>
            <a:pPr marL="71438" indent="0" algn="just">
              <a:buNone/>
            </a:pPr>
            <a:r>
              <a:rPr lang="en-US" sz="1875" dirty="0"/>
              <a:t>Earth bag technology is a simple, inexpensive and sustainable method for building structures using ordinary soil </a:t>
            </a:r>
            <a:r>
              <a:rPr lang="en-GB" sz="1875" dirty="0"/>
              <a:t>found at construction site.</a:t>
            </a:r>
            <a:r>
              <a:rPr lang="en-US" sz="1875" dirty="0"/>
              <a:t>The technology consists of Polypropylene bags filled with locally available soil, laid similarly to masonry with barbed wire serving as a mortar and provides tensile as well as shear strength.</a:t>
            </a:r>
            <a:endParaRPr lang="en-GB" sz="1875" dirty="0"/>
          </a:p>
        </p:txBody>
      </p:sp>
      <p:sp>
        <p:nvSpPr>
          <p:cNvPr id="4" name="Footer Placeholder 3"/>
          <p:cNvSpPr>
            <a:spLocks noGrp="1"/>
          </p:cNvSpPr>
          <p:nvPr>
            <p:ph type="ftr" sz="quarter" idx="11"/>
          </p:nvPr>
        </p:nvSpPr>
        <p:spPr>
          <a:xfrm rot="16200000">
            <a:off x="7104867" y="3235669"/>
            <a:ext cx="3331369" cy="365760"/>
          </a:xfrm>
        </p:spPr>
        <p:txBody>
          <a:bodyPr/>
          <a:lstStyle/>
          <a:p>
            <a:pPr algn="ctr"/>
            <a:r>
              <a:rPr lang="en-US" sz="1375"/>
              <a:t>Housing Recovery &amp; Reconstruction Platform (HRRP)</a:t>
            </a:r>
            <a:endParaRPr lang="en-US" sz="1375" dirty="0"/>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val="0"/>
              </a:ext>
            </a:extLst>
          </a:blip>
          <a:srcRect l="8152" r="21509" b="17956"/>
          <a:stretch/>
        </p:blipFill>
        <p:spPr>
          <a:xfrm>
            <a:off x="5226844" y="1752865"/>
            <a:ext cx="2881313" cy="2080948"/>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2639" t="5000" r="13155" b="20001"/>
          <a:stretch/>
        </p:blipFill>
        <p:spPr>
          <a:xfrm>
            <a:off x="5649164" y="4226719"/>
            <a:ext cx="2698750" cy="1428750"/>
          </a:xfrm>
          <a:prstGeom prst="rect">
            <a:avLst/>
          </a:prstGeom>
        </p:spPr>
      </p:pic>
    </p:spTree>
    <p:extLst>
      <p:ext uri="{BB962C8B-B14F-4D97-AF65-F5344CB8AC3E}">
        <p14:creationId xmlns:p14="http://schemas.microsoft.com/office/powerpoint/2010/main" val="3240964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Model details Contd.</a:t>
            </a:r>
          </a:p>
        </p:txBody>
      </p:sp>
      <p:sp>
        <p:nvSpPr>
          <p:cNvPr id="3" name="Content Placeholder 2"/>
          <p:cNvSpPr>
            <a:spLocks noGrp="1"/>
          </p:cNvSpPr>
          <p:nvPr>
            <p:ph idx="1"/>
          </p:nvPr>
        </p:nvSpPr>
        <p:spPr>
          <a:xfrm>
            <a:off x="147637" y="1905000"/>
            <a:ext cx="4626769" cy="4000500"/>
          </a:xfrm>
        </p:spPr>
        <p:txBody>
          <a:bodyPr>
            <a:normAutofit fontScale="92500" lnSpcReduction="20000"/>
          </a:bodyPr>
          <a:lstStyle/>
          <a:p>
            <a:pPr marL="392906" indent="-321469">
              <a:buFont typeface="+mj-lt"/>
              <a:buAutoNum type="arabicPeriod" startAt="9"/>
            </a:pPr>
            <a:r>
              <a:rPr lang="en-GB" sz="1875" u="sng" dirty="0">
                <a:solidFill>
                  <a:srgbClr val="0070C0"/>
                </a:solidFill>
              </a:rPr>
              <a:t>Light Gauge Steel Structure</a:t>
            </a:r>
          </a:p>
          <a:p>
            <a:pPr marL="71438" indent="0" algn="just">
              <a:buNone/>
            </a:pPr>
            <a:r>
              <a:rPr lang="en-US" sz="2000" dirty="0"/>
              <a:t>It consisting thin steel sections cladded with light gauge steel panel, Cellular light weight concrete, Cement fiber board, gypsum board or calcium silicate board.</a:t>
            </a:r>
          </a:p>
          <a:p>
            <a:pPr marL="71438" indent="0" algn="just">
              <a:buNone/>
            </a:pPr>
            <a:endParaRPr lang="en-US" sz="2000" u="sng" dirty="0">
              <a:solidFill>
                <a:srgbClr val="0070C0"/>
              </a:solidFill>
            </a:endParaRPr>
          </a:p>
          <a:p>
            <a:pPr marL="392906" indent="-321469" algn="just">
              <a:buFont typeface="+mj-lt"/>
              <a:buAutoNum type="arabicPeriod" startAt="10"/>
            </a:pPr>
            <a:r>
              <a:rPr lang="en-GB" sz="1875" u="sng" dirty="0">
                <a:solidFill>
                  <a:srgbClr val="0070C0"/>
                </a:solidFill>
              </a:rPr>
              <a:t>Steel Structure</a:t>
            </a:r>
          </a:p>
          <a:p>
            <a:pPr marL="71438" indent="0" algn="just">
              <a:buNone/>
            </a:pPr>
            <a:r>
              <a:rPr lang="en-US" sz="2000" dirty="0"/>
              <a:t>It’s structural system consisting of mild steel columns and beams to make steel moment resisting frame system. Both the gravity and lateral load is resisted by moment resisting frame. The floor system is made of profile metal decking system over which the thin layer of RCC is laid. The roofing system consists of MS Steel tubes truss</a:t>
            </a:r>
            <a:r>
              <a:rPr lang="en-GB" sz="2000" dirty="0"/>
              <a:t>with CGI Sheet.</a:t>
            </a:r>
            <a:endParaRPr lang="en-GB" sz="1875" u="sng" dirty="0">
              <a:solidFill>
                <a:srgbClr val="0070C0"/>
              </a:solidFill>
            </a:endParaRPr>
          </a:p>
        </p:txBody>
      </p:sp>
      <p:sp>
        <p:nvSpPr>
          <p:cNvPr id="4" name="Footer Placeholder 3"/>
          <p:cNvSpPr>
            <a:spLocks noGrp="1"/>
          </p:cNvSpPr>
          <p:nvPr>
            <p:ph type="ftr" sz="quarter" idx="11"/>
          </p:nvPr>
        </p:nvSpPr>
        <p:spPr>
          <a:xfrm rot="16200000">
            <a:off x="7057242" y="3188044"/>
            <a:ext cx="3426619" cy="365760"/>
          </a:xfrm>
        </p:spPr>
        <p:txBody>
          <a:bodyPr/>
          <a:lstStyle/>
          <a:p>
            <a:pPr algn="ctr"/>
            <a:r>
              <a:rPr lang="en-US" sz="1375" dirty="0"/>
              <a:t>Housing Recovery &amp; Reconstruction Platform (HRRP)</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val="0"/>
              </a:ext>
            </a:extLst>
          </a:blip>
          <a:srcRect l="-1378" r="1"/>
          <a:stretch/>
        </p:blipFill>
        <p:spPr>
          <a:xfrm>
            <a:off x="4805472" y="1657615"/>
            <a:ext cx="3271728" cy="1885950"/>
          </a:xfrm>
          <a:prstGeom prst="rect">
            <a:avLst/>
          </a:prstGeom>
        </p:spPr>
      </p:pic>
      <p:pic>
        <p:nvPicPr>
          <p:cNvPr id="6" name="Picture 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036969" y="3638550"/>
            <a:ext cx="2808734" cy="2286000"/>
          </a:xfrm>
          <a:prstGeom prst="rect">
            <a:avLst/>
          </a:prstGeom>
        </p:spPr>
      </p:pic>
    </p:spTree>
    <p:extLst>
      <p:ext uri="{BB962C8B-B14F-4D97-AF65-F5344CB8AC3E}">
        <p14:creationId xmlns:p14="http://schemas.microsoft.com/office/powerpoint/2010/main" val="1482061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Model details Contd.</a:t>
            </a:r>
          </a:p>
        </p:txBody>
      </p:sp>
      <p:sp>
        <p:nvSpPr>
          <p:cNvPr id="3" name="Content Placeholder 2"/>
          <p:cNvSpPr>
            <a:spLocks noGrp="1"/>
          </p:cNvSpPr>
          <p:nvPr>
            <p:ph idx="1"/>
          </p:nvPr>
        </p:nvSpPr>
        <p:spPr>
          <a:xfrm>
            <a:off x="457200" y="1905000"/>
            <a:ext cx="4757738" cy="4000500"/>
          </a:xfrm>
        </p:spPr>
        <p:txBody>
          <a:bodyPr/>
          <a:lstStyle/>
          <a:p>
            <a:endParaRPr lang="en-GB" dirty="0"/>
          </a:p>
          <a:p>
            <a:endParaRPr lang="en-GB" dirty="0"/>
          </a:p>
          <a:p>
            <a:pPr marL="71438" indent="0" algn="just">
              <a:buNone/>
            </a:pPr>
            <a:r>
              <a:rPr lang="en-US" sz="1875" dirty="0"/>
              <a:t>It’s structural system consisting of timber studs (vertical members) and horizontal member load bearing </a:t>
            </a:r>
            <a:r>
              <a:rPr lang="en-GB" sz="1875" dirty="0"/>
              <a:t>system. </a:t>
            </a:r>
            <a:r>
              <a:rPr lang="en-US" sz="1875" dirty="0"/>
              <a:t>The timber planks are used as light weight partition walls.</a:t>
            </a:r>
          </a:p>
          <a:p>
            <a:pPr marL="71438" indent="0" algn="just">
              <a:buNone/>
            </a:pPr>
            <a:endParaRPr lang="en-US" sz="1875" dirty="0"/>
          </a:p>
          <a:p>
            <a:pPr marL="392906" indent="-321469" defTabSz="849078">
              <a:buClr>
                <a:srgbClr val="002060"/>
              </a:buClr>
              <a:buSzPct val="95000"/>
              <a:buFont typeface="+mj-lt"/>
              <a:buAutoNum type="arabicPeriod" startAt="12"/>
            </a:pPr>
            <a:r>
              <a:rPr lang="en-GB" sz="1875" u="sng" dirty="0">
                <a:solidFill>
                  <a:srgbClr val="0070C0"/>
                </a:solidFill>
              </a:rPr>
              <a:t>Debris Block Masonry</a:t>
            </a:r>
          </a:p>
          <a:p>
            <a:pPr marL="71438" indent="0" algn="just">
              <a:buNone/>
            </a:pPr>
            <a:r>
              <a:rPr lang="en-US" sz="2000" dirty="0"/>
              <a:t>The technology proposes residence construction with block made from stone or brick debris stabilized with cement.</a:t>
            </a:r>
            <a:endParaRPr lang="en-US" sz="1875" dirty="0"/>
          </a:p>
          <a:p>
            <a:pPr marL="71438" indent="0" algn="just">
              <a:buNone/>
            </a:pPr>
            <a:endParaRPr lang="en-GB" sz="1875" dirty="0"/>
          </a:p>
        </p:txBody>
      </p:sp>
      <p:sp>
        <p:nvSpPr>
          <p:cNvPr id="4" name="Footer Placeholder 3"/>
          <p:cNvSpPr>
            <a:spLocks noGrp="1"/>
          </p:cNvSpPr>
          <p:nvPr>
            <p:ph type="ftr" sz="quarter" idx="11"/>
          </p:nvPr>
        </p:nvSpPr>
        <p:spPr>
          <a:xfrm rot="16200000">
            <a:off x="6936856" y="3067659"/>
            <a:ext cx="3667391" cy="365760"/>
          </a:xfrm>
        </p:spPr>
        <p:txBody>
          <a:bodyPr/>
          <a:lstStyle/>
          <a:p>
            <a:pPr algn="ctr"/>
            <a:r>
              <a:rPr lang="en-US" sz="1375" dirty="0"/>
              <a:t>Housing Recovery &amp; Reconstruction Platform (HRRP)</a:t>
            </a:r>
          </a:p>
        </p:txBody>
      </p:sp>
      <p:sp>
        <p:nvSpPr>
          <p:cNvPr id="5" name="Rectangle 4"/>
          <p:cNvSpPr/>
          <p:nvPr/>
        </p:nvSpPr>
        <p:spPr>
          <a:xfrm>
            <a:off x="572449" y="2003431"/>
            <a:ext cx="2238498" cy="380873"/>
          </a:xfrm>
          <a:prstGeom prst="rect">
            <a:avLst/>
          </a:prstGeom>
        </p:spPr>
        <p:txBody>
          <a:bodyPr wrap="none">
            <a:spAutoFit/>
          </a:bodyPr>
          <a:lstStyle/>
          <a:p>
            <a:pPr marL="392906" indent="-321469">
              <a:buClr>
                <a:srgbClr val="002060"/>
              </a:buClr>
              <a:buSzPct val="95000"/>
              <a:buFont typeface="+mj-lt"/>
              <a:buAutoNum type="arabicPeriod" startAt="11"/>
            </a:pPr>
            <a:r>
              <a:rPr lang="en-GB" sz="1875" u="sng" dirty="0">
                <a:solidFill>
                  <a:srgbClr val="0070C0"/>
                </a:solidFill>
              </a:rPr>
              <a:t>Timber Structure</a:t>
            </a:r>
          </a:p>
        </p:txBody>
      </p:sp>
      <p:pic>
        <p:nvPicPr>
          <p:cNvPr id="6" name="Pictur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78956" y="1754717"/>
            <a:ext cx="2813493" cy="2343150"/>
          </a:xfrm>
          <a:prstGeom prst="rect">
            <a:avLst/>
          </a:prstGeom>
        </p:spPr>
      </p:pic>
      <p:pic>
        <p:nvPicPr>
          <p:cNvPr id="7" name="Picture 6"/>
          <p:cNvPicPr>
            <a:picLocks noChangeAspect="1"/>
          </p:cNvPicPr>
          <p:nvPr/>
        </p:nvPicPr>
        <p:blipFill rotWithShape="1">
          <a:blip r:embed="rId3" cstate="email">
            <a:extLst>
              <a:ext uri="{28A0092B-C50C-407E-A947-70E740481C1C}">
                <a14:useLocalDpi xmlns:a14="http://schemas.microsoft.com/office/drawing/2010/main" val="0"/>
              </a:ext>
            </a:extLst>
          </a:blip>
          <a:srcRect l="13144" t="7729" r="10676"/>
          <a:stretch/>
        </p:blipFill>
        <p:spPr>
          <a:xfrm>
            <a:off x="5378956" y="4226718"/>
            <a:ext cx="2857501" cy="1538256"/>
          </a:xfrm>
          <a:prstGeom prst="rect">
            <a:avLst/>
          </a:prstGeom>
        </p:spPr>
      </p:pic>
    </p:spTree>
    <p:extLst>
      <p:ext uri="{BB962C8B-B14F-4D97-AF65-F5344CB8AC3E}">
        <p14:creationId xmlns:p14="http://schemas.microsoft.com/office/powerpoint/2010/main" val="1583822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79120" y="2621598"/>
            <a:ext cx="7620000" cy="1143000"/>
          </a:xfrm>
        </p:spPr>
        <p:txBody>
          <a:bodyPr/>
          <a:lstStyle/>
          <a:p>
            <a:pPr algn="ctr"/>
            <a:r>
              <a:rPr lang="en-US" dirty="0"/>
              <a:t>Review of Typical Non-Compliant RCC Structures</a:t>
            </a:r>
          </a:p>
        </p:txBody>
      </p:sp>
      <p:sp>
        <p:nvSpPr>
          <p:cNvPr id="4" name="Footer Placeholder 3"/>
          <p:cNvSpPr>
            <a:spLocks noGrp="1"/>
          </p:cNvSpPr>
          <p:nvPr>
            <p:ph type="ftr" sz="quarter" idx="11"/>
          </p:nvPr>
        </p:nvSpPr>
        <p:spPr/>
        <p:txBody>
          <a:bodyPr/>
          <a:lstStyle/>
          <a:p>
            <a:r>
              <a:rPr lang="en-US"/>
              <a:t>Housing Recovery &amp; Reconstruction Platform (HRRP)</a:t>
            </a:r>
            <a:endParaRPr lang="en-US" dirty="0"/>
          </a:p>
        </p:txBody>
      </p:sp>
    </p:spTree>
    <p:extLst>
      <p:ext uri="{BB962C8B-B14F-4D97-AF65-F5344CB8AC3E}">
        <p14:creationId xmlns:p14="http://schemas.microsoft.com/office/powerpoint/2010/main" val="2351357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Content (cases:-</a:t>
            </a:r>
          </a:p>
        </p:txBody>
      </p:sp>
      <p:sp>
        <p:nvSpPr>
          <p:cNvPr id="4" name="Footer Placeholder 3"/>
          <p:cNvSpPr>
            <a:spLocks noGrp="1"/>
          </p:cNvSpPr>
          <p:nvPr>
            <p:ph type="ftr" sz="quarter" idx="11"/>
          </p:nvPr>
        </p:nvSpPr>
        <p:spPr/>
        <p:txBody>
          <a:bodyPr/>
          <a:lstStyle/>
          <a:p>
            <a:r>
              <a:rPr lang="en-US"/>
              <a:t>Housing Recovery &amp; Reconstruction Platform (HRRP)</a:t>
            </a:r>
          </a:p>
        </p:txBody>
      </p:sp>
      <p:sp>
        <p:nvSpPr>
          <p:cNvPr id="6" name="Content Placeholder 2"/>
          <p:cNvSpPr txBox="1">
            <a:spLocks/>
          </p:cNvSpPr>
          <p:nvPr/>
        </p:nvSpPr>
        <p:spPr>
          <a:xfrm>
            <a:off x="-404880" y="301655"/>
            <a:ext cx="9084188" cy="5746877"/>
          </a:xfrm>
          <a:prstGeom prst="rect">
            <a:avLst/>
          </a:prstGeom>
        </p:spPr>
        <p:txBody>
          <a:bodyPr vert="horz" lIns="91440" tIns="45720" rIns="91440" bIns="45720" rtlCol="0" anchor="b">
            <a:no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marL="935038" indent="-571500" algn="just">
              <a:spcAft>
                <a:spcPts val="0"/>
              </a:spcAf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Cantilever 1.5 m long</a:t>
            </a:r>
          </a:p>
          <a:p>
            <a:pPr marL="935038" indent="-571500" algn="just">
              <a:spcAft>
                <a:spcPts val="0"/>
              </a:spcAf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1x2 , 1x3, 1x4 bays</a:t>
            </a:r>
          </a:p>
          <a:p>
            <a:pPr marL="935038" indent="-571500" algn="just">
              <a:spcAft>
                <a:spcPts val="0"/>
              </a:spcAft>
              <a:buFont typeface="Arial" panose="020B0604020202020204" pitchFamily="34" charset="0"/>
              <a:buChar char="•"/>
              <a:tabLst>
                <a:tab pos="291465" algn="l"/>
              </a:tabLst>
            </a:pPr>
            <a:r>
              <a:rPr lang="ja-JP" altLang="ja-JP" sz="3600" kern="100" dirty="0">
                <a:solidFill>
                  <a:schemeClr val="tx1"/>
                </a:solidFill>
                <a:latin typeface="Tahoma" panose="020B0604030504040204" pitchFamily="34" charset="0"/>
                <a:ea typeface="Calibri" panose="020F0502020204030204" pitchFamily="34" charset="0"/>
                <a:cs typeface="Tahoma" panose="020B0604030504040204" pitchFamily="34" charset="0"/>
              </a:rPr>
              <a:t> </a:t>
            </a:r>
            <a:r>
              <a:rPr lang="en-US" altLang="ja-JP" sz="3600" kern="100" dirty="0">
                <a:solidFill>
                  <a:schemeClr val="tx1"/>
                </a:solidFill>
                <a:latin typeface="Tahoma" panose="020B0604030504040204" pitchFamily="34" charset="0"/>
                <a:ea typeface="Calibri" panose="020F0502020204030204" pitchFamily="34" charset="0"/>
                <a:cs typeface="Tahoma" panose="020B0604030504040204" pitchFamily="34" charset="0"/>
              </a:rPr>
              <a:t>1x1 bay, two side eccentric footing</a:t>
            </a:r>
          </a:p>
          <a:p>
            <a:pPr marL="935038" indent="-571500" algn="jus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Room size (4.5mx4.5m) &amp; (5.5mx3.5m</a:t>
            </a:r>
          </a:p>
          <a:p>
            <a:pPr marL="935038" indent="-571500" algn="jus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Column at Centre of grid missing</a:t>
            </a:r>
          </a:p>
          <a:p>
            <a:pPr marL="935038" indent="-571500" algn="jus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Passage 1.5m </a:t>
            </a:r>
          </a:p>
          <a:p>
            <a:pPr marL="935038" indent="-571500" algn="jus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Footings at differential level</a:t>
            </a:r>
          </a:p>
          <a:p>
            <a:pPr marL="935038" indent="-571500" algn="jus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Column size 9”x12” </a:t>
            </a:r>
          </a:p>
        </p:txBody>
      </p:sp>
    </p:spTree>
    <p:extLst>
      <p:ext uri="{BB962C8B-B14F-4D97-AF65-F5344CB8AC3E}">
        <p14:creationId xmlns:p14="http://schemas.microsoft.com/office/powerpoint/2010/main" val="2145344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6115" y="361950"/>
            <a:ext cx="8265886" cy="6362700"/>
          </a:xfrm>
        </p:spPr>
        <p:txBody>
          <a:bodyPr>
            <a:noAutofit/>
          </a:bodyPr>
          <a:lstStyle/>
          <a:p>
            <a:r>
              <a:rPr lang="en-US" sz="3600" cap="all" spc="-100" dirty="0">
                <a:solidFill>
                  <a:schemeClr val="tx2"/>
                </a:solidFill>
                <a:latin typeface="+mj-lt"/>
                <a:ea typeface="+mj-ea"/>
                <a:cs typeface="+mj-cs"/>
              </a:rPr>
              <a:t>General Note </a:t>
            </a: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342900" indent="-342900">
              <a:buFont typeface="Arial" panose="020B0604020202020204" pitchFamily="34" charset="0"/>
              <a:buChar char="•"/>
            </a:pP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11 building covered</a:t>
            </a:r>
          </a:p>
          <a:p>
            <a:pPr marL="342900" indent="-342900">
              <a:buFont typeface="Arial" panose="020B0604020202020204" pitchFamily="34" charset="0"/>
              <a:buChar char="•"/>
            </a:pP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Each building violets single mandatory rules as mentioned in  the tittle</a:t>
            </a:r>
          </a:p>
          <a:p>
            <a:pPr marL="342900" indent="-342900">
              <a:buFont typeface="Arial" panose="020B0604020202020204" pitchFamily="34" charset="0"/>
              <a:buChar char="•"/>
            </a:pP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Detail FEM analysis were done</a:t>
            </a:r>
          </a:p>
          <a:p>
            <a:pPr marL="342900" indent="-342900">
              <a:buFont typeface="Arial" panose="020B0604020202020204" pitchFamily="34" charset="0"/>
              <a:buChar char="•"/>
            </a:pP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Linear Dynamic Analysis per NBC 105:1994, were performed </a:t>
            </a:r>
          </a:p>
          <a:p>
            <a:pPr marL="342900" indent="-342900">
              <a:buFont typeface="Arial" panose="020B0604020202020204" pitchFamily="34" charset="0"/>
              <a:buChar char="•"/>
            </a:pP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Detailing were done as per IS code</a:t>
            </a:r>
          </a:p>
          <a:p>
            <a:pPr marL="342900" indent="-342900">
              <a:buFont typeface="Arial" panose="020B0604020202020204" pitchFamily="34" charset="0"/>
              <a:buChar char="•"/>
            </a:pP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Design contribution (</a:t>
            </a:r>
            <a:r>
              <a:rPr lang="en-US" sz="3600" kern="100" dirty="0" err="1">
                <a:solidFill>
                  <a:schemeClr val="tx1"/>
                </a:solidFill>
                <a:latin typeface="Tahoma" panose="020B0604030504040204" pitchFamily="34" charset="0"/>
                <a:ea typeface="Tahoma" panose="020B0604030504040204" pitchFamily="34" charset="0"/>
                <a:cs typeface="Tahoma" panose="020B0604030504040204" pitchFamily="34" charset="0"/>
              </a:rPr>
              <a:t>MoUD</a:t>
            </a:r>
            <a:r>
              <a:rPr lang="en-US"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-CLPIU, HRRP, Build Change)</a:t>
            </a:r>
          </a:p>
        </p:txBody>
      </p:sp>
      <p:sp>
        <p:nvSpPr>
          <p:cNvPr id="4" name="Footer Placeholder 3"/>
          <p:cNvSpPr>
            <a:spLocks noGrp="1"/>
          </p:cNvSpPr>
          <p:nvPr>
            <p:ph type="ftr" sz="quarter" idx="11"/>
          </p:nvPr>
        </p:nvSpPr>
        <p:spPr/>
        <p:txBody>
          <a:bodyPr/>
          <a:lstStyle/>
          <a:p>
            <a:r>
              <a:rPr lang="en-US"/>
              <a:t>Housing Recovery &amp; Reconstruction Platform (HRRP)</a:t>
            </a:r>
            <a:endParaRPr lang="en-US" dirty="0"/>
          </a:p>
        </p:txBody>
      </p:sp>
    </p:spTree>
    <p:extLst>
      <p:ext uri="{BB962C8B-B14F-4D97-AF65-F5344CB8AC3E}">
        <p14:creationId xmlns:p14="http://schemas.microsoft.com/office/powerpoint/2010/main" val="2038892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limitation</a:t>
            </a:r>
          </a:p>
        </p:txBody>
      </p:sp>
      <p:sp>
        <p:nvSpPr>
          <p:cNvPr id="4" name="Footer Placeholder 3"/>
          <p:cNvSpPr>
            <a:spLocks noGrp="1"/>
          </p:cNvSpPr>
          <p:nvPr>
            <p:ph type="ftr" sz="quarter" idx="11"/>
          </p:nvPr>
        </p:nvSpPr>
        <p:spPr/>
        <p:txBody>
          <a:bodyPr/>
          <a:lstStyle/>
          <a:p>
            <a:r>
              <a:rPr lang="en-US"/>
              <a:t>Housing Recovery &amp; Reconstruction Platform (HRRP)</a:t>
            </a:r>
          </a:p>
        </p:txBody>
      </p:sp>
      <p:sp>
        <p:nvSpPr>
          <p:cNvPr id="6" name="Content Placeholder 2"/>
          <p:cNvSpPr txBox="1">
            <a:spLocks/>
          </p:cNvSpPr>
          <p:nvPr/>
        </p:nvSpPr>
        <p:spPr>
          <a:xfrm>
            <a:off x="0" y="928608"/>
            <a:ext cx="7853430" cy="4238782"/>
          </a:xfrm>
          <a:prstGeom prst="rect">
            <a:avLst/>
          </a:prstGeom>
        </p:spPr>
        <p:txBody>
          <a:bodyPr vert="horz" lIns="91440" tIns="45720" rIns="91440" bIns="45720" rtlCol="0" anchor="b">
            <a:no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marL="935038" indent="-571500" algn="just">
              <a:spcAft>
                <a:spcPts val="0"/>
              </a:spcAf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Only architectural dimensions were brought from DL-PIU</a:t>
            </a:r>
          </a:p>
          <a:p>
            <a:pPr marL="935038" indent="-571500" algn="just">
              <a:spcAft>
                <a:spcPts val="0"/>
              </a:spcAf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No existing structural parameters were available</a:t>
            </a:r>
          </a:p>
          <a:p>
            <a:pPr marL="935038" indent="-571500" algn="just">
              <a:spcAft>
                <a:spcPts val="0"/>
              </a:spcAft>
              <a:buFont typeface="Arial" panose="020B0604020202020204" pitchFamily="34" charset="0"/>
              <a:buChar char="•"/>
              <a:tabLst>
                <a:tab pos="291465" algn="l"/>
              </a:tabLst>
            </a:pPr>
            <a:r>
              <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rPr>
              <a:t>Structural analysis is unique solution and is varies as the architectural dimensions </a:t>
            </a:r>
          </a:p>
        </p:txBody>
      </p:sp>
    </p:spTree>
    <p:extLst>
      <p:ext uri="{BB962C8B-B14F-4D97-AF65-F5344CB8AC3E}">
        <p14:creationId xmlns:p14="http://schemas.microsoft.com/office/powerpoint/2010/main" val="2963087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Cantilever 1.5m long</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812" y="828364"/>
            <a:ext cx="5420481" cy="4439270"/>
          </a:xfrm>
          <a:prstGeom prst="rect">
            <a:avLst/>
          </a:prstGeom>
        </p:spPr>
      </p:pic>
    </p:spTree>
    <p:extLst>
      <p:ext uri="{BB962C8B-B14F-4D97-AF65-F5344CB8AC3E}">
        <p14:creationId xmlns:p14="http://schemas.microsoft.com/office/powerpoint/2010/main" val="1837661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1x2 , 1x3, 1x4 bays</a:t>
            </a:r>
          </a:p>
        </p:txBody>
      </p:sp>
      <p:sp>
        <p:nvSpPr>
          <p:cNvPr id="4" name="Footer Placeholder 3"/>
          <p:cNvSpPr>
            <a:spLocks noGrp="1"/>
          </p:cNvSpPr>
          <p:nvPr>
            <p:ph type="ftr" sz="quarter" idx="11"/>
          </p:nvPr>
        </p:nvSpPr>
        <p:spPr/>
        <p:txBody>
          <a:bodyPr/>
          <a:lstStyle/>
          <a:p>
            <a:r>
              <a:rPr lang="en-US"/>
              <a:t>Housing Recovery &amp; Reconstruction Platform (HRRP)</a:t>
            </a:r>
          </a:p>
        </p:txBody>
      </p:sp>
      <p:sp>
        <p:nvSpPr>
          <p:cNvPr id="6" name="Content Placeholder 2"/>
          <p:cNvSpPr txBox="1">
            <a:spLocks/>
          </p:cNvSpPr>
          <p:nvPr/>
        </p:nvSpPr>
        <p:spPr>
          <a:xfrm>
            <a:off x="-404880" y="301655"/>
            <a:ext cx="9084188" cy="5746877"/>
          </a:xfrm>
          <a:prstGeom prst="rect">
            <a:avLst/>
          </a:prstGeom>
        </p:spPr>
        <p:txBody>
          <a:bodyPr vert="horz" lIns="91440" tIns="45720" rIns="91440" bIns="45720" rtlCol="0" anchor="b">
            <a:no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marL="935038" indent="-571500" algn="just">
              <a:spcAft>
                <a:spcPts val="0"/>
              </a:spcAft>
              <a:buFont typeface="Arial" panose="020B0604020202020204" pitchFamily="34" charset="0"/>
              <a:buChar char="•"/>
              <a:tabLst>
                <a:tab pos="291465" algn="l"/>
              </a:tabLst>
            </a:pPr>
            <a:endParaRPr lang="en-US" altLang="ja-JP" sz="3600" kern="1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2" name="Picture 1" descr="Screen Clippi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9567" y="822562"/>
            <a:ext cx="3002052" cy="4191585"/>
          </a:xfrm>
          <a:prstGeom prst="rect">
            <a:avLst/>
          </a:prstGeom>
        </p:spPr>
      </p:pic>
      <p:pic>
        <p:nvPicPr>
          <p:cNvPr id="3" name="Picture 2" descr="Screen Clippi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901919" y="207606"/>
            <a:ext cx="5002997" cy="3200400"/>
          </a:xfrm>
          <a:prstGeom prst="rect">
            <a:avLst/>
          </a:prstGeom>
        </p:spPr>
      </p:pic>
      <p:pic>
        <p:nvPicPr>
          <p:cNvPr id="7" name="Picture 6" descr="Screen Clippi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211619" y="3256539"/>
            <a:ext cx="5741812" cy="3515216"/>
          </a:xfrm>
          <a:prstGeom prst="rect">
            <a:avLst/>
          </a:prstGeom>
        </p:spPr>
      </p:pic>
    </p:spTree>
    <p:extLst>
      <p:ext uri="{BB962C8B-B14F-4D97-AF65-F5344CB8AC3E}">
        <p14:creationId xmlns:p14="http://schemas.microsoft.com/office/powerpoint/2010/main" val="3220944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8679308" cy="628700"/>
          </a:xfrm>
        </p:spPr>
        <p:txBody>
          <a:bodyPr/>
          <a:lstStyle/>
          <a:p>
            <a:r>
              <a:rPr lang="en-US" dirty="0"/>
              <a:t>1x1 bay, two side eccentric footing</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440" y="885522"/>
            <a:ext cx="3305636" cy="4324954"/>
          </a:xfrm>
          <a:prstGeom prst="rect">
            <a:avLst/>
          </a:prstGeom>
        </p:spPr>
      </p:pic>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8292" y="923628"/>
            <a:ext cx="2229161" cy="4286848"/>
          </a:xfrm>
          <a:prstGeom prst="rect">
            <a:avLst/>
          </a:prstGeom>
        </p:spPr>
      </p:pic>
    </p:spTree>
    <p:extLst>
      <p:ext uri="{BB962C8B-B14F-4D97-AF65-F5344CB8AC3E}">
        <p14:creationId xmlns:p14="http://schemas.microsoft.com/office/powerpoint/2010/main" val="4080368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Room size 4.5mx4.5 &amp; 5.5mx3.5m</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2" name="Picture 1" descr="Screen Clippi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 y="809311"/>
            <a:ext cx="4157992" cy="3566160"/>
          </a:xfrm>
          <a:prstGeom prst="rect">
            <a:avLst/>
          </a:prstGeom>
        </p:spPr>
      </p:pic>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8978" y="1047470"/>
            <a:ext cx="4848902" cy="4001058"/>
          </a:xfrm>
          <a:prstGeom prst="rect">
            <a:avLst/>
          </a:prstGeom>
        </p:spPr>
      </p:pic>
    </p:spTree>
    <p:extLst>
      <p:ext uri="{BB962C8B-B14F-4D97-AF65-F5344CB8AC3E}">
        <p14:creationId xmlns:p14="http://schemas.microsoft.com/office/powerpoint/2010/main" val="2121147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Column at Centre of grid missing</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06" y="980785"/>
            <a:ext cx="4667901" cy="4134427"/>
          </a:xfrm>
          <a:prstGeom prst="rect">
            <a:avLst/>
          </a:prstGeom>
        </p:spPr>
      </p:pic>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9917" y="1033180"/>
            <a:ext cx="3791479" cy="4029637"/>
          </a:xfrm>
          <a:prstGeom prst="rect">
            <a:avLst/>
          </a:prstGeom>
        </p:spPr>
      </p:pic>
    </p:spTree>
    <p:extLst>
      <p:ext uri="{BB962C8B-B14F-4D97-AF65-F5344CB8AC3E}">
        <p14:creationId xmlns:p14="http://schemas.microsoft.com/office/powerpoint/2010/main" val="788292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Passage 1.5 m </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191" y="852448"/>
            <a:ext cx="4534533" cy="3810532"/>
          </a:xfrm>
          <a:prstGeom prst="rect">
            <a:avLst/>
          </a:prstGeom>
        </p:spPr>
      </p:pic>
      <p:pic>
        <p:nvPicPr>
          <p:cNvPr id="3" name="Picture 2" descr="Screen Clippi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763728" y="1233222"/>
            <a:ext cx="3666762" cy="3291840"/>
          </a:xfrm>
          <a:prstGeom prst="rect">
            <a:avLst/>
          </a:prstGeom>
        </p:spPr>
      </p:pic>
    </p:spTree>
    <p:extLst>
      <p:ext uri="{BB962C8B-B14F-4D97-AF65-F5344CB8AC3E}">
        <p14:creationId xmlns:p14="http://schemas.microsoft.com/office/powerpoint/2010/main" val="4262798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Footings at differential level</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7217" y="881242"/>
            <a:ext cx="3610479" cy="3934374"/>
          </a:xfrm>
          <a:prstGeom prst="rect">
            <a:avLst/>
          </a:prstGeom>
        </p:spPr>
      </p:pic>
      <p:pic>
        <p:nvPicPr>
          <p:cNvPr id="3" name="Picture 2" descr="Screen Clippi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45989" y="3588654"/>
            <a:ext cx="3464273" cy="3108960"/>
          </a:xfrm>
          <a:prstGeom prst="rect">
            <a:avLst/>
          </a:prstGeom>
        </p:spPr>
      </p:pic>
      <p:pic>
        <p:nvPicPr>
          <p:cNvPr id="7" name="Picture 6" descr="Screen Clippi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27695" y="588426"/>
            <a:ext cx="3566966" cy="2926080"/>
          </a:xfrm>
          <a:prstGeom prst="rect">
            <a:avLst/>
          </a:prstGeom>
        </p:spPr>
      </p:pic>
    </p:spTree>
    <p:extLst>
      <p:ext uri="{BB962C8B-B14F-4D97-AF65-F5344CB8AC3E}">
        <p14:creationId xmlns:p14="http://schemas.microsoft.com/office/powerpoint/2010/main" val="2588159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5838"/>
            <a:ext cx="7659687" cy="628700"/>
          </a:xfrm>
        </p:spPr>
        <p:txBody>
          <a:bodyPr/>
          <a:lstStyle/>
          <a:p>
            <a:r>
              <a:rPr lang="en-US" dirty="0"/>
              <a:t>Column size 9”x12”</a:t>
            </a:r>
          </a:p>
        </p:txBody>
      </p:sp>
      <p:sp>
        <p:nvSpPr>
          <p:cNvPr id="4" name="Footer Placeholder 3"/>
          <p:cNvSpPr>
            <a:spLocks noGrp="1"/>
          </p:cNvSpPr>
          <p:nvPr>
            <p:ph type="ftr" sz="quarter" idx="11"/>
          </p:nvPr>
        </p:nvSpPr>
        <p:spPr/>
        <p:txBody>
          <a:bodyPr/>
          <a:lstStyle/>
          <a:p>
            <a:r>
              <a:rPr lang="en-US"/>
              <a:t>Housing Recovery &amp; Reconstruction Platform (HRRP)</a:t>
            </a:r>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743" y="1285108"/>
            <a:ext cx="5172797" cy="4363059"/>
          </a:xfrm>
          <a:prstGeom prst="rect">
            <a:avLst/>
          </a:prstGeom>
        </p:spPr>
      </p:pic>
    </p:spTree>
    <p:extLst>
      <p:ext uri="{BB962C8B-B14F-4D97-AF65-F5344CB8AC3E}">
        <p14:creationId xmlns:p14="http://schemas.microsoft.com/office/powerpoint/2010/main" val="990380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Slide Number Placeholder 1"/>
          <p:cNvSpPr>
            <a:spLocks noGrp="1"/>
          </p:cNvSpPr>
          <p:nvPr>
            <p:ph type="sldNum" sz="quarter" idx="12"/>
          </p:nvPr>
        </p:nvSpPr>
        <p:spPr/>
        <p:txBody>
          <a:bodyPr/>
          <a:lstStyle/>
          <a:p>
            <a:fld id="{70D42D0E-A88D-4DDD-9A0B-9B8A68EFDB8F}" type="slidenum">
              <a:rPr lang="en-US" smtClean="0"/>
              <a:t>31</a:t>
            </a:fld>
            <a:endParaRPr lang="en-US"/>
          </a:p>
        </p:txBody>
      </p:sp>
      <p:pic>
        <p:nvPicPr>
          <p:cNvPr id="4" name="Pictur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038195" y="330273"/>
            <a:ext cx="1171113" cy="987867"/>
          </a:xfrm>
          <a:prstGeom prst="rect">
            <a:avLst/>
          </a:prstGeom>
        </p:spPr>
      </p:pic>
      <p:sp>
        <p:nvSpPr>
          <p:cNvPr id="5" name="TextBox 7"/>
          <p:cNvSpPr txBox="1"/>
          <p:nvPr/>
        </p:nvSpPr>
        <p:spPr>
          <a:xfrm>
            <a:off x="935396" y="2829329"/>
            <a:ext cx="7596391" cy="1200329"/>
          </a:xfrm>
          <a:prstGeom prst="rect">
            <a:avLst/>
          </a:prstGeom>
          <a:solidFill>
            <a:srgbClr val="0070C0"/>
          </a:solidFill>
        </p:spPr>
        <p:txBody>
          <a:bodyPr wrap="square" rtlCol="0">
            <a:spAutoFit/>
          </a:bodyPr>
          <a:lstStyle/>
          <a:p>
            <a:pPr algn="ctr"/>
            <a:r>
              <a:rPr lang="en-US" sz="3600" b="1" dirty="0">
                <a:solidFill>
                  <a:schemeClr val="bg1"/>
                </a:solidFill>
                <a:latin typeface="+mj-lt"/>
              </a:rPr>
              <a:t>Introduction to</a:t>
            </a:r>
          </a:p>
          <a:p>
            <a:pPr algn="ctr"/>
            <a:r>
              <a:rPr lang="en-US" sz="3600" b="1" dirty="0">
                <a:solidFill>
                  <a:schemeClr val="bg1"/>
                </a:solidFill>
                <a:latin typeface="+mj-lt"/>
              </a:rPr>
              <a:t>Correction and exceptional Manual</a:t>
            </a:r>
          </a:p>
        </p:txBody>
      </p:sp>
      <p:sp>
        <p:nvSpPr>
          <p:cNvPr id="9" name="TextBox 2"/>
          <p:cNvSpPr txBox="1"/>
          <p:nvPr/>
        </p:nvSpPr>
        <p:spPr>
          <a:xfrm>
            <a:off x="3551670" y="1334979"/>
            <a:ext cx="2187587" cy="369332"/>
          </a:xfrm>
          <a:prstGeom prst="rect">
            <a:avLst/>
          </a:prstGeom>
          <a:noFill/>
        </p:spPr>
        <p:txBody>
          <a:bodyPr wrap="none" rtlCol="0">
            <a:spAutoFit/>
          </a:bodyPr>
          <a:lstStyle/>
          <a:p>
            <a:pPr algn="ctr"/>
            <a:r>
              <a:rPr lang="en-US" dirty="0">
                <a:solidFill>
                  <a:srgbClr val="FF0000"/>
                </a:solidFill>
                <a:latin typeface="+mj-lt"/>
              </a:rPr>
              <a:t>Government of Nepal</a:t>
            </a:r>
          </a:p>
        </p:txBody>
      </p:sp>
      <p:sp>
        <p:nvSpPr>
          <p:cNvPr id="10" name="TextBox 3"/>
          <p:cNvSpPr txBox="1"/>
          <p:nvPr/>
        </p:nvSpPr>
        <p:spPr>
          <a:xfrm>
            <a:off x="1941432" y="1595740"/>
            <a:ext cx="5701946" cy="584775"/>
          </a:xfrm>
          <a:prstGeom prst="rect">
            <a:avLst/>
          </a:prstGeom>
          <a:noFill/>
        </p:spPr>
        <p:txBody>
          <a:bodyPr wrap="none" rtlCol="0">
            <a:spAutoFit/>
          </a:bodyPr>
          <a:lstStyle/>
          <a:p>
            <a:r>
              <a:rPr lang="en-US" sz="3200" b="1" dirty="0">
                <a:solidFill>
                  <a:srgbClr val="FF0000"/>
                </a:solidFill>
                <a:latin typeface="+mj-lt"/>
              </a:rPr>
              <a:t>National Reconstruction Authority</a:t>
            </a:r>
            <a:endParaRPr lang="en-US" sz="3200" dirty="0">
              <a:solidFill>
                <a:srgbClr val="FF0000"/>
              </a:solidFill>
              <a:latin typeface="+mj-lt"/>
            </a:endParaRPr>
          </a:p>
        </p:txBody>
      </p:sp>
      <p:sp>
        <p:nvSpPr>
          <p:cNvPr id="11" name="TextBox 4"/>
          <p:cNvSpPr txBox="1"/>
          <p:nvPr/>
        </p:nvSpPr>
        <p:spPr>
          <a:xfrm>
            <a:off x="3393047" y="2082154"/>
            <a:ext cx="2583464" cy="369332"/>
          </a:xfrm>
          <a:prstGeom prst="rect">
            <a:avLst/>
          </a:prstGeom>
          <a:noFill/>
        </p:spPr>
        <p:txBody>
          <a:bodyPr wrap="none" rtlCol="0">
            <a:spAutoFit/>
          </a:bodyPr>
          <a:lstStyle/>
          <a:p>
            <a:r>
              <a:rPr lang="en-US" dirty="0">
                <a:latin typeface="+mj-lt"/>
              </a:rPr>
              <a:t>Singhadurbar, Kathmandu</a:t>
            </a:r>
          </a:p>
        </p:txBody>
      </p:sp>
    </p:spTree>
    <p:extLst>
      <p:ext uri="{BB962C8B-B14F-4D97-AF65-F5344CB8AC3E}">
        <p14:creationId xmlns:p14="http://schemas.microsoft.com/office/powerpoint/2010/main" val="1139551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6457950" y="6444839"/>
            <a:ext cx="2057400" cy="365125"/>
          </a:xfrm>
        </p:spPr>
        <p:txBody>
          <a:bodyPr/>
          <a:lstStyle/>
          <a:p>
            <a:fld id="{70D42D0E-A88D-4DDD-9A0B-9B8A68EFDB8F}" type="slidenum">
              <a:rPr lang="en-US" smtClean="0"/>
              <a:t>32</a:t>
            </a:fld>
            <a:endParaRPr lang="en-US"/>
          </a:p>
        </p:txBody>
      </p:sp>
      <p:sp>
        <p:nvSpPr>
          <p:cNvPr id="3" name="TextBox 3"/>
          <p:cNvSpPr txBox="1"/>
          <p:nvPr/>
        </p:nvSpPr>
        <p:spPr>
          <a:xfrm>
            <a:off x="0" y="223275"/>
            <a:ext cx="7853082"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BACKGROUND</a:t>
            </a:r>
          </a:p>
        </p:txBody>
      </p:sp>
      <p:sp>
        <p:nvSpPr>
          <p:cNvPr id="6" name="スライド番号プレースホルダー 3"/>
          <p:cNvSpPr txBox="1">
            <a:spLocks/>
          </p:cNvSpPr>
          <p:nvPr/>
        </p:nvSpPr>
        <p:spPr>
          <a:xfrm>
            <a:off x="6553200" y="6333713"/>
            <a:ext cx="2133600" cy="476250"/>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4425EA2-5B9E-4D62-BDA4-F5193636C659}" type="slidenum">
              <a:rPr lang="en-US" altLang="ja-JP" smtClean="0"/>
              <a:pPr>
                <a:defRPr/>
              </a:pPr>
              <a:t>32</a:t>
            </a:fld>
            <a:endParaRPr lang="en-US" altLang="ja-JP" dirty="0"/>
          </a:p>
        </p:txBody>
      </p:sp>
      <p:sp>
        <p:nvSpPr>
          <p:cNvPr id="7" name="正方形/長方形 6"/>
          <p:cNvSpPr/>
          <p:nvPr/>
        </p:nvSpPr>
        <p:spPr>
          <a:xfrm>
            <a:off x="39283" y="1016251"/>
            <a:ext cx="1592393" cy="461665"/>
          </a:xfrm>
          <a:prstGeom prst="rect">
            <a:avLst/>
          </a:prstGeom>
          <a:solidFill>
            <a:srgbClr val="FF9900"/>
          </a:solidFill>
        </p:spPr>
        <p:txBody>
          <a:bodyPr wrap="square">
            <a:spAutoFit/>
          </a:bodyPr>
          <a:lstStyle/>
          <a:p>
            <a:r>
              <a:rPr lang="en-US" altLang="ja-JP" sz="2400" dirty="0">
                <a:latin typeface="Calibri" panose="020F0502020204030204" pitchFamily="34" charset="0"/>
              </a:rPr>
              <a:t>Oct, 2015</a:t>
            </a:r>
            <a:endParaRPr lang="ja-JP" altLang="en-US" sz="2400" b="1" dirty="0">
              <a:latin typeface="Calibri" panose="020F0502020204030204" pitchFamily="34" charset="0"/>
            </a:endParaRPr>
          </a:p>
        </p:txBody>
      </p:sp>
      <p:sp>
        <p:nvSpPr>
          <p:cNvPr id="8" name="正方形/長方形 7"/>
          <p:cNvSpPr/>
          <p:nvPr/>
        </p:nvSpPr>
        <p:spPr>
          <a:xfrm>
            <a:off x="1631677" y="2209339"/>
            <a:ext cx="4592141" cy="646331"/>
          </a:xfrm>
          <a:prstGeom prst="rect">
            <a:avLst/>
          </a:prstGeom>
          <a:solidFill>
            <a:schemeClr val="bg1">
              <a:lumMod val="85000"/>
            </a:schemeClr>
          </a:solidFill>
        </p:spPr>
        <p:txBody>
          <a:bodyPr wrap="square">
            <a:spAutoFit/>
          </a:bodyPr>
          <a:lstStyle/>
          <a:p>
            <a:r>
              <a:rPr lang="en-GB" altLang="ja-JP" dirty="0">
                <a:latin typeface="Calibri" panose="020F0502020204030204" pitchFamily="34" charset="0"/>
              </a:rPr>
              <a:t>The seismic requirement is NBC105</a:t>
            </a:r>
          </a:p>
          <a:p>
            <a:r>
              <a:rPr lang="en-GB" altLang="ja-JP" dirty="0">
                <a:latin typeface="Calibri" panose="020F0502020204030204" pitchFamily="34" charset="0"/>
              </a:rPr>
              <a:t>Then, </a:t>
            </a:r>
            <a:r>
              <a:rPr lang="en-US" altLang="ja-JP" dirty="0">
                <a:latin typeface="Calibri" panose="020F0502020204030204" pitchFamily="34" charset="0"/>
              </a:rPr>
              <a:t>the </a:t>
            </a:r>
            <a:r>
              <a:rPr lang="en-GB" altLang="ja-JP" dirty="0">
                <a:latin typeface="Calibri" panose="020F0502020204030204" pitchFamily="34" charset="0"/>
              </a:rPr>
              <a:t>MRs </a:t>
            </a:r>
            <a:r>
              <a:rPr lang="en-US" altLang="ja-JP" dirty="0">
                <a:latin typeface="Calibri" panose="020F0502020204030204" pitchFamily="34" charset="0"/>
              </a:rPr>
              <a:t> were developed</a:t>
            </a:r>
            <a:r>
              <a:rPr lang="en-GB" altLang="ja-JP" dirty="0">
                <a:latin typeface="Calibri" panose="020F0502020204030204" pitchFamily="34" charset="0"/>
              </a:rPr>
              <a:t>.</a:t>
            </a:r>
            <a:endParaRPr lang="ja-JP" altLang="en-US" b="1" dirty="0">
              <a:latin typeface="Calibri" panose="020F0502020204030204" pitchFamily="34" charset="0"/>
            </a:endParaRPr>
          </a:p>
        </p:txBody>
      </p:sp>
      <p:sp>
        <p:nvSpPr>
          <p:cNvPr id="9" name="正方形/長方形 8"/>
          <p:cNvSpPr/>
          <p:nvPr/>
        </p:nvSpPr>
        <p:spPr>
          <a:xfrm>
            <a:off x="1631675" y="1016251"/>
            <a:ext cx="4592143" cy="461665"/>
          </a:xfrm>
          <a:prstGeom prst="rect">
            <a:avLst/>
          </a:prstGeom>
          <a:solidFill>
            <a:srgbClr val="FFCC66"/>
          </a:solidFill>
        </p:spPr>
        <p:txBody>
          <a:bodyPr wrap="square">
            <a:spAutoFit/>
          </a:bodyPr>
          <a:lstStyle/>
          <a:p>
            <a:r>
              <a:rPr lang="en-US" altLang="ja-JP" sz="2400" dirty="0">
                <a:latin typeface="Calibri" panose="020F0502020204030204" pitchFamily="34" charset="0"/>
              </a:rPr>
              <a:t>Design Catalogue Vol. 1</a:t>
            </a:r>
            <a:endParaRPr lang="ja-JP" altLang="en-US" sz="2400" b="1" dirty="0">
              <a:latin typeface="Calibri" panose="020F0502020204030204" pitchFamily="34" charset="0"/>
            </a:endParaRPr>
          </a:p>
        </p:txBody>
      </p:sp>
      <p:sp>
        <p:nvSpPr>
          <p:cNvPr id="10" name="正方形/長方形 9"/>
          <p:cNvSpPr/>
          <p:nvPr/>
        </p:nvSpPr>
        <p:spPr>
          <a:xfrm>
            <a:off x="39283" y="1748607"/>
            <a:ext cx="1592393" cy="461665"/>
          </a:xfrm>
          <a:prstGeom prst="rect">
            <a:avLst/>
          </a:prstGeom>
          <a:solidFill>
            <a:srgbClr val="FF9900"/>
          </a:solidFill>
        </p:spPr>
        <p:txBody>
          <a:bodyPr wrap="square">
            <a:spAutoFit/>
          </a:bodyPr>
          <a:lstStyle/>
          <a:p>
            <a:r>
              <a:rPr lang="en-US" altLang="ja-JP" sz="2400" dirty="0">
                <a:latin typeface="Calibri" panose="020F0502020204030204" pitchFamily="34" charset="0"/>
              </a:rPr>
              <a:t>Feb, 2016</a:t>
            </a:r>
            <a:endParaRPr lang="ja-JP" altLang="en-US" sz="2400" b="1" dirty="0">
              <a:latin typeface="Calibri" panose="020F0502020204030204" pitchFamily="34" charset="0"/>
            </a:endParaRPr>
          </a:p>
        </p:txBody>
      </p:sp>
      <p:sp>
        <p:nvSpPr>
          <p:cNvPr id="11" name="正方形/長方形 10"/>
          <p:cNvSpPr/>
          <p:nvPr/>
        </p:nvSpPr>
        <p:spPr>
          <a:xfrm>
            <a:off x="1631676" y="1748607"/>
            <a:ext cx="4592142" cy="461665"/>
          </a:xfrm>
          <a:prstGeom prst="rect">
            <a:avLst/>
          </a:prstGeom>
          <a:solidFill>
            <a:srgbClr val="FFCC66"/>
          </a:solidFill>
        </p:spPr>
        <p:txBody>
          <a:bodyPr wrap="square">
            <a:spAutoFit/>
          </a:bodyPr>
          <a:lstStyle/>
          <a:p>
            <a:r>
              <a:rPr lang="en-US" altLang="ja-JP" sz="2400" dirty="0">
                <a:latin typeface="Calibri" panose="020F0502020204030204" pitchFamily="34" charset="0"/>
              </a:rPr>
              <a:t>Minimum Requirements(MRs)</a:t>
            </a:r>
            <a:endParaRPr lang="ja-JP" altLang="en-US" sz="2400" b="1" dirty="0">
              <a:latin typeface="Calibri" panose="020F0502020204030204" pitchFamily="34" charset="0"/>
            </a:endParaRPr>
          </a:p>
        </p:txBody>
      </p:sp>
      <p:sp>
        <p:nvSpPr>
          <p:cNvPr id="12" name="正方形/長方形 11"/>
          <p:cNvSpPr/>
          <p:nvPr/>
        </p:nvSpPr>
        <p:spPr>
          <a:xfrm>
            <a:off x="13485" y="3316402"/>
            <a:ext cx="1618191" cy="461665"/>
          </a:xfrm>
          <a:prstGeom prst="rect">
            <a:avLst/>
          </a:prstGeom>
          <a:solidFill>
            <a:srgbClr val="FF9900"/>
          </a:solidFill>
        </p:spPr>
        <p:txBody>
          <a:bodyPr wrap="square">
            <a:spAutoFit/>
          </a:bodyPr>
          <a:lstStyle/>
          <a:p>
            <a:r>
              <a:rPr lang="en-US" altLang="ja-JP" sz="2400" dirty="0">
                <a:latin typeface="Calibri" panose="020F0502020204030204" pitchFamily="34" charset="0"/>
              </a:rPr>
              <a:t>Dec, 2016</a:t>
            </a:r>
            <a:endParaRPr lang="ja-JP" altLang="en-US" sz="2400" b="1" dirty="0">
              <a:latin typeface="Calibri" panose="020F0502020204030204" pitchFamily="34" charset="0"/>
            </a:endParaRPr>
          </a:p>
        </p:txBody>
      </p:sp>
      <p:sp>
        <p:nvSpPr>
          <p:cNvPr id="13" name="正方形/長方形 12"/>
          <p:cNvSpPr/>
          <p:nvPr/>
        </p:nvSpPr>
        <p:spPr>
          <a:xfrm>
            <a:off x="1631676" y="3316402"/>
            <a:ext cx="4592141" cy="461665"/>
          </a:xfrm>
          <a:prstGeom prst="rect">
            <a:avLst/>
          </a:prstGeom>
          <a:solidFill>
            <a:srgbClr val="FFCC66"/>
          </a:solidFill>
        </p:spPr>
        <p:txBody>
          <a:bodyPr wrap="square">
            <a:spAutoFit/>
          </a:bodyPr>
          <a:lstStyle/>
          <a:p>
            <a:r>
              <a:rPr lang="en-US" altLang="ja-JP" sz="2400" dirty="0">
                <a:latin typeface="Calibri" panose="020F0502020204030204" pitchFamily="34" charset="0"/>
              </a:rPr>
              <a:t>Inspection SOP, Inspection Manual</a:t>
            </a:r>
            <a:endParaRPr lang="ja-JP" altLang="en-US" sz="2400" b="1" dirty="0">
              <a:latin typeface="Calibri" panose="020F0502020204030204" pitchFamily="34" charset="0"/>
            </a:endParaRPr>
          </a:p>
        </p:txBody>
      </p:sp>
      <p:sp>
        <p:nvSpPr>
          <p:cNvPr id="16" name="正方形/長方形 15"/>
          <p:cNvSpPr/>
          <p:nvPr/>
        </p:nvSpPr>
        <p:spPr>
          <a:xfrm>
            <a:off x="1631676" y="2862650"/>
            <a:ext cx="4592142" cy="400110"/>
          </a:xfrm>
          <a:prstGeom prst="rect">
            <a:avLst/>
          </a:prstGeom>
          <a:solidFill>
            <a:schemeClr val="tx2">
              <a:lumMod val="40000"/>
              <a:lumOff val="60000"/>
            </a:schemeClr>
          </a:solidFill>
        </p:spPr>
        <p:txBody>
          <a:bodyPr wrap="square">
            <a:spAutoFit/>
          </a:bodyPr>
          <a:lstStyle/>
          <a:p>
            <a:r>
              <a:rPr lang="en-US" altLang="ja-JP" sz="2000" dirty="0">
                <a:latin typeface="Calibri" panose="020F0502020204030204" pitchFamily="34" charset="0"/>
              </a:rPr>
              <a:t>Booklet, Poster, Guidebook for training</a:t>
            </a:r>
            <a:endParaRPr lang="ja-JP" altLang="en-US" sz="2000" b="1" dirty="0">
              <a:latin typeface="Calibri" panose="020F0502020204030204" pitchFamily="34" charset="0"/>
            </a:endParaRPr>
          </a:p>
        </p:txBody>
      </p:sp>
      <p:sp>
        <p:nvSpPr>
          <p:cNvPr id="17" name="正方形/長方形 16"/>
          <p:cNvSpPr/>
          <p:nvPr/>
        </p:nvSpPr>
        <p:spPr>
          <a:xfrm>
            <a:off x="1631676" y="3798827"/>
            <a:ext cx="4346490" cy="646331"/>
          </a:xfrm>
          <a:prstGeom prst="rect">
            <a:avLst/>
          </a:prstGeom>
          <a:solidFill>
            <a:schemeClr val="bg1">
              <a:lumMod val="85000"/>
            </a:schemeClr>
          </a:solidFill>
        </p:spPr>
        <p:txBody>
          <a:bodyPr wrap="square">
            <a:spAutoFit/>
          </a:bodyPr>
          <a:lstStyle/>
          <a:p>
            <a:r>
              <a:rPr lang="en-US" altLang="ja-JP" dirty="0">
                <a:latin typeface="Calibri" panose="020F0502020204030204" pitchFamily="34" charset="0"/>
              </a:rPr>
              <a:t>MTOT at Kathmandu was conducted.</a:t>
            </a:r>
          </a:p>
          <a:p>
            <a:r>
              <a:rPr lang="en-US" altLang="ja-JP" dirty="0">
                <a:latin typeface="Calibri" panose="020F0502020204030204" pitchFamily="34" charset="0"/>
              </a:rPr>
              <a:t>TOT at district level were also conducted</a:t>
            </a:r>
            <a:r>
              <a:rPr lang="en-US" altLang="ja-JP" b="1" dirty="0"/>
              <a:t>.</a:t>
            </a:r>
            <a:endParaRPr lang="ja-JP" altLang="en-US" b="1" dirty="0"/>
          </a:p>
        </p:txBody>
      </p:sp>
      <p:pic>
        <p:nvPicPr>
          <p:cNvPr id="18" name="図 1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399249" y="965659"/>
            <a:ext cx="2608081" cy="1841680"/>
          </a:xfrm>
          <a:prstGeom prst="rect">
            <a:avLst/>
          </a:prstGeom>
          <a:ln>
            <a:solidFill>
              <a:schemeClr val="bg1">
                <a:lumMod val="50000"/>
              </a:schemeClr>
            </a:solidFill>
          </a:ln>
        </p:spPr>
      </p:pic>
      <p:pic>
        <p:nvPicPr>
          <p:cNvPr id="19" name="図 18"/>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682514" y="2862651"/>
            <a:ext cx="1324816" cy="1987224"/>
          </a:xfrm>
          <a:prstGeom prst="rect">
            <a:avLst/>
          </a:prstGeom>
          <a:ln>
            <a:solidFill>
              <a:schemeClr val="bg1">
                <a:lumMod val="50000"/>
              </a:schemeClr>
            </a:solidFill>
          </a:ln>
        </p:spPr>
      </p:pic>
      <p:pic>
        <p:nvPicPr>
          <p:cNvPr id="20" name="図 19"/>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771104" y="4961001"/>
            <a:ext cx="1224969" cy="1769400"/>
          </a:xfrm>
          <a:prstGeom prst="rect">
            <a:avLst/>
          </a:prstGeom>
          <a:ln>
            <a:solidFill>
              <a:schemeClr val="bg1">
                <a:lumMod val="50000"/>
              </a:schemeClr>
            </a:solidFill>
          </a:ln>
        </p:spPr>
      </p:pic>
      <p:pic>
        <p:nvPicPr>
          <p:cNvPr id="21" name="図 20"/>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6341202" y="4961001"/>
            <a:ext cx="1341312" cy="1781379"/>
          </a:xfrm>
          <a:prstGeom prst="rect">
            <a:avLst/>
          </a:prstGeom>
          <a:ln>
            <a:solidFill>
              <a:schemeClr val="bg1">
                <a:lumMod val="50000"/>
              </a:schemeClr>
            </a:solidFill>
          </a:ln>
        </p:spPr>
      </p:pic>
      <p:pic>
        <p:nvPicPr>
          <p:cNvPr id="22" name="図 21"/>
          <p:cNvPicPr>
            <a:picLocks noChangeAspect="1"/>
          </p:cNvPicPr>
          <p:nvPr/>
        </p:nvPicPr>
        <p:blipFill rotWithShape="1">
          <a:blip r:embed="rId7" cstate="email">
            <a:extLst>
              <a:ext uri="{28A0092B-C50C-407E-A947-70E740481C1C}">
                <a14:useLocalDpi xmlns:a14="http://schemas.microsoft.com/office/drawing/2010/main" val="0"/>
              </a:ext>
            </a:extLst>
          </a:blip>
          <a:srcRect/>
          <a:stretch/>
        </p:blipFill>
        <p:spPr>
          <a:xfrm rot="10800000">
            <a:off x="6399249" y="2862650"/>
            <a:ext cx="1772203" cy="1324059"/>
          </a:xfrm>
          <a:prstGeom prst="rect">
            <a:avLst/>
          </a:prstGeom>
          <a:ln>
            <a:solidFill>
              <a:schemeClr val="bg1">
                <a:lumMod val="50000"/>
              </a:schemeClr>
            </a:solidFill>
          </a:ln>
        </p:spPr>
      </p:pic>
      <p:sp>
        <p:nvSpPr>
          <p:cNvPr id="23" name="角丸四角形 22"/>
          <p:cNvSpPr/>
          <p:nvPr/>
        </p:nvSpPr>
        <p:spPr>
          <a:xfrm>
            <a:off x="280220" y="4764871"/>
            <a:ext cx="5839707" cy="1568842"/>
          </a:xfrm>
          <a:prstGeom prst="roundRect">
            <a:avLst>
              <a:gd name="adj" fmla="val 7281"/>
            </a:avLst>
          </a:prstGeom>
          <a:solidFill>
            <a:schemeClr val="accent2">
              <a:lumMod val="40000"/>
              <a:lumOff val="60000"/>
            </a:schemeClr>
          </a:solidFill>
          <a:ln w="38100">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altLang="ja-JP" sz="2200" b="1" kern="100" dirty="0">
                <a:solidFill>
                  <a:schemeClr val="tx1"/>
                </a:solidFill>
                <a:latin typeface="+mj-lt"/>
                <a:ea typeface="Calibri" panose="020F0502020204030204" pitchFamily="34" charset="0"/>
                <a:cs typeface="Arial" panose="020B0604020202020204" pitchFamily="34" charset="0"/>
              </a:rPr>
              <a:t>U</a:t>
            </a:r>
            <a:r>
              <a:rPr lang="ja-JP" altLang="ja-JP" sz="2200" b="1" kern="100" dirty="0">
                <a:solidFill>
                  <a:schemeClr val="tx1"/>
                </a:solidFill>
                <a:latin typeface="+mj-lt"/>
                <a:ea typeface="Calibri" panose="020F0502020204030204" pitchFamily="34" charset="0"/>
                <a:cs typeface="Arial" panose="020B0604020202020204" pitchFamily="34" charset="0"/>
              </a:rPr>
              <a:t>nder </a:t>
            </a:r>
            <a:r>
              <a:rPr lang="en-US" altLang="ja-JP" sz="2200" b="1" kern="100" dirty="0">
                <a:solidFill>
                  <a:schemeClr val="tx1"/>
                </a:solidFill>
                <a:latin typeface="+mj-lt"/>
                <a:ea typeface="Calibri" panose="020F0502020204030204" pitchFamily="34" charset="0"/>
                <a:cs typeface="Arial" panose="020B0604020202020204" pitchFamily="34" charset="0"/>
              </a:rPr>
              <a:t>the </a:t>
            </a:r>
            <a:r>
              <a:rPr lang="ja-JP" altLang="ja-JP" sz="2200" b="1" kern="100" dirty="0">
                <a:solidFill>
                  <a:schemeClr val="tx1"/>
                </a:solidFill>
                <a:latin typeface="+mj-lt"/>
                <a:ea typeface="Calibri" panose="020F0502020204030204" pitchFamily="34" charset="0"/>
                <a:cs typeface="Arial" panose="020B0604020202020204" pitchFamily="34" charset="0"/>
              </a:rPr>
              <a:t>housing reconstruction programme</a:t>
            </a:r>
            <a:r>
              <a:rPr lang="en-US" altLang="ja-JP" sz="2200" b="1" kern="100" dirty="0">
                <a:solidFill>
                  <a:schemeClr val="tx1"/>
                </a:solidFill>
                <a:latin typeface="+mj-lt"/>
                <a:ea typeface="Calibri" panose="020F0502020204030204" pitchFamily="34" charset="0"/>
                <a:cs typeface="Arial" panose="020B0604020202020204" pitchFamily="34" charset="0"/>
              </a:rPr>
              <a:t>, a housing reconstruction is based on construction compliance with the MRs and the inspection checklists</a:t>
            </a:r>
            <a:r>
              <a:rPr lang="en-US" altLang="ja-JP" sz="2000" b="1" kern="100" dirty="0">
                <a:solidFill>
                  <a:schemeClr val="tx1"/>
                </a:solidFill>
                <a:ea typeface="Calibri" panose="020F0502020204030204" pitchFamily="34" charset="0"/>
                <a:cs typeface="Arial" panose="020B0604020202020204" pitchFamily="34" charset="0"/>
              </a:rPr>
              <a:t>. </a:t>
            </a:r>
            <a:endParaRPr kumimoji="1" lang="ja-JP" altLang="en-US" sz="2000" b="1" dirty="0">
              <a:solidFill>
                <a:schemeClr val="tx1"/>
              </a:solidFill>
            </a:endParaRPr>
          </a:p>
        </p:txBody>
      </p:sp>
    </p:spTree>
    <p:extLst>
      <p:ext uri="{BB962C8B-B14F-4D97-AF65-F5344CB8AC3E}">
        <p14:creationId xmlns:p14="http://schemas.microsoft.com/office/powerpoint/2010/main" val="1485770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33</a:t>
            </a:fld>
            <a:endParaRPr lang="en-US"/>
          </a:p>
        </p:txBody>
      </p:sp>
      <p:sp>
        <p:nvSpPr>
          <p:cNvPr id="3" name="TextBox 3"/>
          <p:cNvSpPr txBox="1"/>
          <p:nvPr/>
        </p:nvSpPr>
        <p:spPr>
          <a:xfrm>
            <a:off x="0" y="223275"/>
            <a:ext cx="7853082"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Inspection guideline</a:t>
            </a:r>
          </a:p>
        </p:txBody>
      </p:sp>
      <p:sp>
        <p:nvSpPr>
          <p:cNvPr id="5" name="Rectangle 4"/>
          <p:cNvSpPr/>
          <p:nvPr/>
        </p:nvSpPr>
        <p:spPr>
          <a:xfrm>
            <a:off x="201706" y="994439"/>
            <a:ext cx="8942294" cy="4585871"/>
          </a:xfrm>
          <a:prstGeom prst="rect">
            <a:avLst/>
          </a:prstGeom>
        </p:spPr>
        <p:txBody>
          <a:bodyPr wrap="square">
            <a:spAutoFit/>
          </a:bodyPr>
          <a:lstStyle/>
          <a:p>
            <a:pPr algn="just" defTabSz="1043367">
              <a:defRPr/>
            </a:pPr>
            <a:r>
              <a:rPr lang="en-US" sz="2400" dirty="0"/>
              <a:t>Inspection SOP was prepared based on the clause 31 of Reconstruction Act,2072. </a:t>
            </a:r>
          </a:p>
          <a:p>
            <a:pPr algn="just" defTabSz="1043367">
              <a:defRPr/>
            </a:pPr>
            <a:endParaRPr lang="en-US" sz="2400" dirty="0"/>
          </a:p>
          <a:p>
            <a:pPr algn="just" defTabSz="1043367">
              <a:defRPr/>
            </a:pPr>
            <a:r>
              <a:rPr lang="en-US" sz="2800" b="1" dirty="0">
                <a:solidFill>
                  <a:srgbClr val="FF0000"/>
                </a:solidFill>
              </a:rPr>
              <a:t>Objective: </a:t>
            </a:r>
          </a:p>
          <a:p>
            <a:pPr marL="342900" indent="-342900" algn="just" defTabSz="1043367">
              <a:buFont typeface="Arial" panose="020B0604020202020204" pitchFamily="34" charset="0"/>
              <a:buChar char="•"/>
              <a:defRPr/>
            </a:pPr>
            <a:r>
              <a:rPr lang="en-US" sz="2400" dirty="0"/>
              <a:t>To make the inspection easy and systematic for safer and strong construction on the basis of Grant Distribution Guidelines 2015.</a:t>
            </a:r>
          </a:p>
          <a:p>
            <a:pPr marL="342900" indent="-342900" algn="just" defTabSz="1043367">
              <a:buFont typeface="Arial" panose="020B0604020202020204" pitchFamily="34" charset="0"/>
              <a:buChar char="•"/>
              <a:defRPr/>
            </a:pPr>
            <a:endParaRPr lang="en-US" sz="2400" dirty="0"/>
          </a:p>
          <a:p>
            <a:pPr marL="342900" indent="-342900" algn="just" defTabSz="1043367">
              <a:buFont typeface="Arial" panose="020B0604020202020204" pitchFamily="34" charset="0"/>
              <a:buChar char="•"/>
              <a:defRPr/>
            </a:pPr>
            <a:r>
              <a:rPr lang="en-US" sz="2400" dirty="0"/>
              <a:t>To facilitate all the stakeholders- House owners, beneficiaries, Local bodies, Technical Inspection Team.</a:t>
            </a:r>
          </a:p>
          <a:p>
            <a:pPr marL="342900" indent="-342900" algn="just" defTabSz="1043367">
              <a:buFont typeface="Arial" panose="020B0604020202020204" pitchFamily="34" charset="0"/>
              <a:buChar char="•"/>
              <a:defRPr/>
            </a:pPr>
            <a:endParaRPr lang="en-US" sz="2400" dirty="0"/>
          </a:p>
          <a:p>
            <a:pPr marL="342900" indent="-342900" algn="just" defTabSz="1043367">
              <a:buFont typeface="Arial" panose="020B0604020202020204" pitchFamily="34" charset="0"/>
              <a:buChar char="•"/>
              <a:defRPr/>
            </a:pPr>
            <a:r>
              <a:rPr lang="en-US" sz="2400" dirty="0"/>
              <a:t>To create uniformity in the understanding of procedure the grant distribution for construction of safer houses.</a:t>
            </a:r>
          </a:p>
        </p:txBody>
      </p:sp>
    </p:spTree>
    <p:extLst>
      <p:ext uri="{BB962C8B-B14F-4D97-AF65-F5344CB8AC3E}">
        <p14:creationId xmlns:p14="http://schemas.microsoft.com/office/powerpoint/2010/main" val="688292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34</a:t>
            </a:fld>
            <a:endParaRPr lang="en-US"/>
          </a:p>
        </p:txBody>
      </p:sp>
      <p:sp>
        <p:nvSpPr>
          <p:cNvPr id="3" name="TextBox 3"/>
          <p:cNvSpPr txBox="1"/>
          <p:nvPr/>
        </p:nvSpPr>
        <p:spPr>
          <a:xfrm>
            <a:off x="0" y="223275"/>
            <a:ext cx="7853082"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Inspection guidelines </a:t>
            </a:r>
          </a:p>
        </p:txBody>
      </p:sp>
      <p:grpSp>
        <p:nvGrpSpPr>
          <p:cNvPr id="12" name="Group 11"/>
          <p:cNvGrpSpPr/>
          <p:nvPr/>
        </p:nvGrpSpPr>
        <p:grpSpPr>
          <a:xfrm>
            <a:off x="-310274" y="992370"/>
            <a:ext cx="9590899" cy="4705214"/>
            <a:chOff x="-310274" y="992370"/>
            <a:chExt cx="9590899" cy="4705214"/>
          </a:xfrm>
        </p:grpSpPr>
        <p:pic>
          <p:nvPicPr>
            <p:cNvPr id="4" name="Picture 3"/>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51552" y="1269244"/>
              <a:ext cx="7029073" cy="3953857"/>
            </a:xfrm>
            <a:prstGeom prst="rect">
              <a:avLst/>
            </a:prstGeom>
          </p:spPr>
        </p:pic>
        <p:sp>
          <p:nvSpPr>
            <p:cNvPr id="5" name="TextBox 4"/>
            <p:cNvSpPr txBox="1"/>
            <p:nvPr/>
          </p:nvSpPr>
          <p:spPr>
            <a:xfrm>
              <a:off x="-137767" y="3949889"/>
              <a:ext cx="3330812" cy="461665"/>
            </a:xfrm>
            <a:prstGeom prst="rect">
              <a:avLst/>
            </a:prstGeom>
            <a:noFill/>
          </p:spPr>
          <p:txBody>
            <a:bodyPr wrap="square" rtlCol="0">
              <a:spAutoFit/>
            </a:bodyPr>
            <a:lstStyle/>
            <a:p>
              <a:pPr algn="r"/>
              <a:r>
                <a:rPr lang="en-US" sz="2400" dirty="0">
                  <a:solidFill>
                    <a:srgbClr val="FF0000"/>
                  </a:solidFill>
                  <a:latin typeface="+mj-lt"/>
                </a:rPr>
                <a:t>First Inspection</a:t>
              </a:r>
              <a:endParaRPr lang="en-US" sz="3200" dirty="0">
                <a:latin typeface="Preeti" pitchFamily="2" charset="0"/>
              </a:endParaRPr>
            </a:p>
          </p:txBody>
        </p:sp>
        <p:sp>
          <p:nvSpPr>
            <p:cNvPr id="6" name="TextBox 5"/>
            <p:cNvSpPr txBox="1"/>
            <p:nvPr/>
          </p:nvSpPr>
          <p:spPr>
            <a:xfrm>
              <a:off x="-310274" y="2488880"/>
              <a:ext cx="3498886" cy="461665"/>
            </a:xfrm>
            <a:prstGeom prst="rect">
              <a:avLst/>
            </a:prstGeom>
            <a:noFill/>
          </p:spPr>
          <p:txBody>
            <a:bodyPr wrap="square" rtlCol="0">
              <a:spAutoFit/>
            </a:bodyPr>
            <a:lstStyle/>
            <a:p>
              <a:pPr algn="r"/>
              <a:r>
                <a:rPr lang="en-US" sz="2400" dirty="0">
                  <a:solidFill>
                    <a:srgbClr val="FF0000"/>
                  </a:solidFill>
                  <a:latin typeface="+mj-lt"/>
                </a:rPr>
                <a:t>Second Inspection</a:t>
              </a:r>
              <a:endParaRPr lang="en-US" sz="2400" dirty="0">
                <a:latin typeface="+mj-lt"/>
              </a:endParaRPr>
            </a:p>
          </p:txBody>
        </p:sp>
        <p:sp>
          <p:nvSpPr>
            <p:cNvPr id="7" name="TextBox 6"/>
            <p:cNvSpPr txBox="1"/>
            <p:nvPr/>
          </p:nvSpPr>
          <p:spPr>
            <a:xfrm>
              <a:off x="826269" y="992370"/>
              <a:ext cx="2179123" cy="461665"/>
            </a:xfrm>
            <a:prstGeom prst="rect">
              <a:avLst/>
            </a:prstGeom>
            <a:noFill/>
          </p:spPr>
          <p:txBody>
            <a:bodyPr wrap="none" rtlCol="0">
              <a:spAutoFit/>
            </a:bodyPr>
            <a:lstStyle/>
            <a:p>
              <a:r>
                <a:rPr lang="en-US" sz="2400" dirty="0">
                  <a:solidFill>
                    <a:srgbClr val="FF0000"/>
                  </a:solidFill>
                  <a:latin typeface="+mj-lt"/>
                </a:rPr>
                <a:t>Third Inspection</a:t>
              </a:r>
            </a:p>
          </p:txBody>
        </p:sp>
        <p:sp>
          <p:nvSpPr>
            <p:cNvPr id="8" name="TextBox 7"/>
            <p:cNvSpPr txBox="1"/>
            <p:nvPr/>
          </p:nvSpPr>
          <p:spPr>
            <a:xfrm>
              <a:off x="3923399" y="5174364"/>
              <a:ext cx="4503374" cy="523220"/>
            </a:xfrm>
            <a:prstGeom prst="rect">
              <a:avLst/>
            </a:prstGeom>
            <a:solidFill>
              <a:srgbClr val="FFC000"/>
            </a:solidFill>
          </p:spPr>
          <p:txBody>
            <a:bodyPr wrap="square" rtlCol="0">
              <a:spAutoFit/>
            </a:bodyPr>
            <a:lstStyle/>
            <a:p>
              <a:pPr algn="ctr"/>
              <a:r>
                <a:rPr lang="en-US" sz="2800" b="1" dirty="0">
                  <a:latin typeface="+mj-lt"/>
                </a:rPr>
                <a:t>One storey Masonry building</a:t>
              </a:r>
            </a:p>
          </p:txBody>
        </p:sp>
        <p:cxnSp>
          <p:nvCxnSpPr>
            <p:cNvPr id="9" name="Elbow Connector 8"/>
            <p:cNvCxnSpPr/>
            <p:nvPr/>
          </p:nvCxnSpPr>
          <p:spPr>
            <a:xfrm flipV="1">
              <a:off x="3189415" y="3345748"/>
              <a:ext cx="1204211" cy="84525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p:cNvCxnSpPr/>
            <p:nvPr/>
          </p:nvCxnSpPr>
          <p:spPr>
            <a:xfrm flipV="1">
              <a:off x="3189415" y="2266950"/>
              <a:ext cx="1204211" cy="476250"/>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p:cNvCxnSpPr/>
            <p:nvPr/>
          </p:nvCxnSpPr>
          <p:spPr>
            <a:xfrm>
              <a:off x="3018716" y="1209057"/>
              <a:ext cx="1880830" cy="378907"/>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310274" y="793102"/>
            <a:ext cx="8737047" cy="4904482"/>
            <a:chOff x="-310274" y="793102"/>
            <a:chExt cx="8737047" cy="4904482"/>
          </a:xfrm>
        </p:grpSpPr>
        <p:pic>
          <p:nvPicPr>
            <p:cNvPr id="14" name="Picture 1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528988" y="793102"/>
              <a:ext cx="4757761" cy="4198025"/>
            </a:xfrm>
            <a:prstGeom prst="rect">
              <a:avLst/>
            </a:prstGeom>
          </p:spPr>
        </p:pic>
        <p:cxnSp>
          <p:nvCxnSpPr>
            <p:cNvPr id="15" name="Elbow Connector 14"/>
            <p:cNvCxnSpPr/>
            <p:nvPr/>
          </p:nvCxnSpPr>
          <p:spPr>
            <a:xfrm flipV="1">
              <a:off x="3188612" y="3533775"/>
              <a:ext cx="1672637" cy="657225"/>
            </a:xfrm>
            <a:prstGeom prst="bentConnector3">
              <a:avLst>
                <a:gd name="adj1" fmla="val 3677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a:off x="3179647" y="2809569"/>
              <a:ext cx="1601903" cy="625"/>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p:nvPr/>
          </p:nvCxnSpPr>
          <p:spPr>
            <a:xfrm flipV="1">
              <a:off x="3179647" y="1057170"/>
              <a:ext cx="1681602" cy="152605"/>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37767" y="3959870"/>
              <a:ext cx="3330812" cy="461665"/>
            </a:xfrm>
            <a:prstGeom prst="rect">
              <a:avLst/>
            </a:prstGeom>
            <a:noFill/>
          </p:spPr>
          <p:txBody>
            <a:bodyPr wrap="square" rtlCol="0">
              <a:spAutoFit/>
            </a:bodyPr>
            <a:lstStyle/>
            <a:p>
              <a:pPr algn="r"/>
              <a:r>
                <a:rPr lang="en-US" sz="2400" dirty="0">
                  <a:solidFill>
                    <a:srgbClr val="FF0000"/>
                  </a:solidFill>
                  <a:latin typeface="+mj-lt"/>
                </a:rPr>
                <a:t>First Inspection</a:t>
              </a:r>
              <a:endParaRPr lang="en-US" sz="3200" dirty="0">
                <a:latin typeface="Preeti" pitchFamily="2" charset="0"/>
              </a:endParaRPr>
            </a:p>
          </p:txBody>
        </p:sp>
        <p:sp>
          <p:nvSpPr>
            <p:cNvPr id="19" name="TextBox 18"/>
            <p:cNvSpPr txBox="1"/>
            <p:nvPr/>
          </p:nvSpPr>
          <p:spPr>
            <a:xfrm>
              <a:off x="-310274" y="2510570"/>
              <a:ext cx="3498886" cy="461665"/>
            </a:xfrm>
            <a:prstGeom prst="rect">
              <a:avLst/>
            </a:prstGeom>
            <a:noFill/>
          </p:spPr>
          <p:txBody>
            <a:bodyPr wrap="square" rtlCol="0">
              <a:spAutoFit/>
            </a:bodyPr>
            <a:lstStyle/>
            <a:p>
              <a:pPr algn="r"/>
              <a:r>
                <a:rPr lang="en-US" sz="2400" dirty="0">
                  <a:solidFill>
                    <a:srgbClr val="FF0000"/>
                  </a:solidFill>
                  <a:latin typeface="+mj-lt"/>
                </a:rPr>
                <a:t>Second Inspection</a:t>
              </a:r>
              <a:endParaRPr lang="en-US" sz="2400" dirty="0">
                <a:latin typeface="+mj-lt"/>
              </a:endParaRPr>
            </a:p>
          </p:txBody>
        </p:sp>
        <p:sp>
          <p:nvSpPr>
            <p:cNvPr id="20" name="TextBox 19"/>
            <p:cNvSpPr txBox="1"/>
            <p:nvPr/>
          </p:nvSpPr>
          <p:spPr>
            <a:xfrm>
              <a:off x="835813" y="992370"/>
              <a:ext cx="2179123" cy="461665"/>
            </a:xfrm>
            <a:prstGeom prst="rect">
              <a:avLst/>
            </a:prstGeom>
            <a:noFill/>
          </p:spPr>
          <p:txBody>
            <a:bodyPr wrap="none" rtlCol="0">
              <a:spAutoFit/>
            </a:bodyPr>
            <a:lstStyle/>
            <a:p>
              <a:r>
                <a:rPr lang="en-US" sz="2400" dirty="0">
                  <a:solidFill>
                    <a:srgbClr val="FF0000"/>
                  </a:solidFill>
                  <a:latin typeface="+mj-lt"/>
                </a:rPr>
                <a:t>Third Inspection</a:t>
              </a:r>
            </a:p>
          </p:txBody>
        </p:sp>
        <p:sp>
          <p:nvSpPr>
            <p:cNvPr id="21" name="TextBox 20"/>
            <p:cNvSpPr txBox="1"/>
            <p:nvPr/>
          </p:nvSpPr>
          <p:spPr>
            <a:xfrm>
              <a:off x="3923399" y="5174364"/>
              <a:ext cx="4503374" cy="523220"/>
            </a:xfrm>
            <a:prstGeom prst="rect">
              <a:avLst/>
            </a:prstGeom>
            <a:solidFill>
              <a:srgbClr val="FFC000"/>
            </a:solidFill>
          </p:spPr>
          <p:txBody>
            <a:bodyPr wrap="square" rtlCol="0">
              <a:spAutoFit/>
            </a:bodyPr>
            <a:lstStyle/>
            <a:p>
              <a:pPr algn="ctr"/>
              <a:r>
                <a:rPr lang="en-US" sz="2800" b="1" dirty="0">
                  <a:latin typeface="+mj-lt"/>
                </a:rPr>
                <a:t>Two storey Masonry building</a:t>
              </a:r>
            </a:p>
          </p:txBody>
        </p:sp>
      </p:grpSp>
    </p:spTree>
    <p:extLst>
      <p:ext uri="{BB962C8B-B14F-4D97-AF65-F5344CB8AC3E}">
        <p14:creationId xmlns:p14="http://schemas.microsoft.com/office/powerpoint/2010/main" val="130891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
                                        <p:tgtEl>
                                          <p:spTgt spid="12"/>
                                        </p:tgtEl>
                                      </p:cBhvr>
                                    </p:animEffect>
                                    <p:set>
                                      <p:cBhvr>
                                        <p:cTn id="7" dur="1" fill="hold">
                                          <p:stCondLst>
                                            <p:cond delay="9"/>
                                          </p:stCondLst>
                                        </p:cTn>
                                        <p:tgtEl>
                                          <p:spTgt spid="12"/>
                                        </p:tgtEl>
                                        <p:attrNameLst>
                                          <p:attrName>style.visibility</p:attrName>
                                        </p:attrNameLst>
                                      </p:cBhvr>
                                      <p:to>
                                        <p:strVal val="hidden"/>
                                      </p:to>
                                    </p:set>
                                  </p:childTnLst>
                                </p:cTn>
                              </p:par>
                            </p:childTnLst>
                          </p:cTn>
                        </p:par>
                        <p:par>
                          <p:cTn id="8" fill="hold">
                            <p:stCondLst>
                              <p:cond delay="1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35</a:t>
            </a:fld>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796" y="676620"/>
            <a:ext cx="4588352" cy="6005032"/>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6341" y="658905"/>
            <a:ext cx="4567162" cy="6022746"/>
          </a:xfrm>
          <a:prstGeom prst="rect">
            <a:avLst/>
          </a:prstGeom>
        </p:spPr>
      </p:pic>
      <p:sp>
        <p:nvSpPr>
          <p:cNvPr id="5" name="TextBox 3"/>
          <p:cNvSpPr txBox="1"/>
          <p:nvPr/>
        </p:nvSpPr>
        <p:spPr>
          <a:xfrm>
            <a:off x="0" y="149668"/>
            <a:ext cx="7853082"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Inspection Forms </a:t>
            </a:r>
          </a:p>
        </p:txBody>
      </p:sp>
      <p:sp>
        <p:nvSpPr>
          <p:cNvPr id="6" name="Oval 5"/>
          <p:cNvSpPr/>
          <p:nvPr/>
        </p:nvSpPr>
        <p:spPr>
          <a:xfrm>
            <a:off x="4711148" y="3670278"/>
            <a:ext cx="4082656" cy="933855"/>
          </a:xfrm>
          <a:prstGeom prst="ellipse">
            <a:avLst/>
          </a:prstGeom>
          <a:noFill/>
          <a:ln w="28575">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736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36</a:t>
            </a:fld>
            <a:endParaRPr lang="en-US"/>
          </a:p>
        </p:txBody>
      </p:sp>
      <p:grpSp>
        <p:nvGrpSpPr>
          <p:cNvPr id="3" name="Group 2"/>
          <p:cNvGrpSpPr/>
          <p:nvPr/>
        </p:nvGrpSpPr>
        <p:grpSpPr>
          <a:xfrm>
            <a:off x="0" y="722099"/>
            <a:ext cx="4538573" cy="5809467"/>
            <a:chOff x="0" y="574182"/>
            <a:chExt cx="4538573" cy="5809467"/>
          </a:xfrm>
        </p:grpSpPr>
        <p:sp>
          <p:nvSpPr>
            <p:cNvPr id="4" name="Rectangle 3"/>
            <p:cNvSpPr/>
            <p:nvPr/>
          </p:nvSpPr>
          <p:spPr>
            <a:xfrm>
              <a:off x="8614" y="574182"/>
              <a:ext cx="4529959" cy="58094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5" name="Picture 4"/>
            <p:cNvPicPr/>
            <p:nvPr/>
          </p:nvPicPr>
          <p:blipFill>
            <a:blip r:embed="rId3" cstate="email">
              <a:extLst>
                <a:ext uri="{28A0092B-C50C-407E-A947-70E740481C1C}">
                  <a14:useLocalDpi xmlns:a14="http://schemas.microsoft.com/office/drawing/2010/main" val="0"/>
                </a:ext>
              </a:extLst>
            </a:blip>
            <a:stretch>
              <a:fillRect/>
            </a:stretch>
          </p:blipFill>
          <p:spPr>
            <a:xfrm>
              <a:off x="2259836" y="616856"/>
              <a:ext cx="280963" cy="269007"/>
            </a:xfrm>
            <a:prstGeom prst="rect">
              <a:avLst/>
            </a:prstGeom>
          </p:spPr>
        </p:pic>
        <p:sp>
          <p:nvSpPr>
            <p:cNvPr id="6" name="TextBox 5"/>
            <p:cNvSpPr txBox="1"/>
            <p:nvPr/>
          </p:nvSpPr>
          <p:spPr>
            <a:xfrm>
              <a:off x="1272140" y="837167"/>
              <a:ext cx="2270173" cy="830997"/>
            </a:xfrm>
            <a:prstGeom prst="rect">
              <a:avLst/>
            </a:prstGeom>
            <a:noFill/>
          </p:spPr>
          <p:txBody>
            <a:bodyPr wrap="none" rtlCol="0">
              <a:spAutoFit/>
            </a:bodyPr>
            <a:lstStyle/>
            <a:p>
              <a:pPr algn="ctr"/>
              <a:r>
                <a:rPr lang="en-US" sz="800" dirty="0">
                  <a:latin typeface="Preeti" pitchFamily="2" charset="0"/>
                </a:rPr>
                <a:t>g]</a:t>
              </a:r>
              <a:r>
                <a:rPr lang="en-US" sz="800" dirty="0" err="1">
                  <a:latin typeface="Preeti" pitchFamily="2" charset="0"/>
                </a:rPr>
                <a:t>kfn</a:t>
              </a:r>
              <a:r>
                <a:rPr lang="en-US" sz="800" dirty="0">
                  <a:latin typeface="Preeti" pitchFamily="2" charset="0"/>
                </a:rPr>
                <a:t> ;/</a:t>
              </a:r>
              <a:r>
                <a:rPr lang="en-US" sz="800" dirty="0" err="1">
                  <a:latin typeface="Preeti" pitchFamily="2" charset="0"/>
                </a:rPr>
                <a:t>sf</a:t>
              </a:r>
              <a:r>
                <a:rPr lang="en-US" sz="800" dirty="0">
                  <a:latin typeface="Preeti" pitchFamily="2" charset="0"/>
                </a:rPr>
                <a:t>/</a:t>
              </a:r>
            </a:p>
            <a:p>
              <a:pPr algn="ctr"/>
              <a:r>
                <a:rPr lang="en-US" sz="800" dirty="0">
                  <a:latin typeface="Preeti" pitchFamily="2" charset="0"/>
                </a:rPr>
                <a:t>;+3Lo </a:t>
              </a:r>
              <a:r>
                <a:rPr lang="en-US" sz="800" dirty="0" err="1">
                  <a:latin typeface="Preeti" pitchFamily="2" charset="0"/>
                </a:rPr>
                <a:t>dfldnf</a:t>
              </a:r>
              <a:r>
                <a:rPr lang="en-US" sz="800" dirty="0">
                  <a:latin typeface="Preeti" pitchFamily="2" charset="0"/>
                </a:rPr>
                <a:t> </a:t>
              </a:r>
              <a:r>
                <a:rPr lang="en-US" sz="800" dirty="0" err="1">
                  <a:latin typeface="Preeti" pitchFamily="2" charset="0"/>
                </a:rPr>
                <a:t>tyf</a:t>
              </a:r>
              <a:r>
                <a:rPr lang="en-US" sz="800" dirty="0">
                  <a:latin typeface="Preeti" pitchFamily="2" charset="0"/>
                </a:rPr>
                <a:t> :</a:t>
              </a:r>
              <a:r>
                <a:rPr lang="en-US" sz="800" dirty="0" err="1">
                  <a:latin typeface="Preeti" pitchFamily="2" charset="0"/>
                </a:rPr>
                <a:t>yfgLo</a:t>
              </a:r>
              <a:r>
                <a:rPr lang="en-US" sz="800" dirty="0">
                  <a:latin typeface="Preeti" pitchFamily="2" charset="0"/>
                </a:rPr>
                <a:t> </a:t>
              </a:r>
              <a:r>
                <a:rPr lang="en-US" sz="800" dirty="0" err="1">
                  <a:latin typeface="Preeti" pitchFamily="2" charset="0"/>
                </a:rPr>
                <a:t>ljsf</a:t>
              </a:r>
              <a:r>
                <a:rPr lang="en-US" sz="800" dirty="0">
                  <a:latin typeface="Preeti" pitchFamily="2" charset="0"/>
                </a:rPr>
                <a:t>; </a:t>
              </a:r>
              <a:r>
                <a:rPr lang="en-US" sz="800" dirty="0" err="1">
                  <a:latin typeface="Preeti" pitchFamily="2" charset="0"/>
                </a:rPr>
                <a:t>dGqfno</a:t>
              </a:r>
              <a:endParaRPr lang="en-US" sz="800" dirty="0">
                <a:latin typeface="Preeti" pitchFamily="2" charset="0"/>
              </a:endParaRPr>
            </a:p>
            <a:p>
              <a:pPr algn="ctr"/>
              <a:r>
                <a:rPr lang="en-US" sz="800" dirty="0">
                  <a:latin typeface="Preeti" pitchFamily="2" charset="0"/>
                </a:rPr>
                <a:t>========= </a:t>
              </a:r>
              <a:r>
                <a:rPr lang="en-US" sz="800" dirty="0" err="1">
                  <a:latin typeface="Preeti" pitchFamily="2" charset="0"/>
                </a:rPr>
                <a:t>uf</a:t>
              </a:r>
              <a:r>
                <a:rPr lang="en-US" sz="800" dirty="0">
                  <a:latin typeface="Preeti" pitchFamily="2" charset="0"/>
                </a:rPr>
                <a:t>=</a:t>
              </a:r>
              <a:r>
                <a:rPr lang="en-US" sz="800" dirty="0" err="1">
                  <a:latin typeface="Preeti" pitchFamily="2" charset="0"/>
                </a:rPr>
                <a:t>lj</a:t>
              </a:r>
              <a:r>
                <a:rPr lang="en-US" sz="800" dirty="0">
                  <a:latin typeface="Preeti" pitchFamily="2" charset="0"/>
                </a:rPr>
                <a:t>=;=÷g=</a:t>
              </a:r>
              <a:r>
                <a:rPr lang="en-US" sz="800" dirty="0" err="1">
                  <a:latin typeface="Preeti" pitchFamily="2" charset="0"/>
                </a:rPr>
                <a:t>kf</a:t>
              </a:r>
              <a:r>
                <a:rPr lang="en-US" sz="800" dirty="0">
                  <a:latin typeface="Preeti" pitchFamily="2" charset="0"/>
                </a:rPr>
                <a:t>=</a:t>
              </a:r>
              <a:r>
                <a:rPr lang="en-US" sz="800" dirty="0" err="1">
                  <a:latin typeface="Preeti" pitchFamily="2" charset="0"/>
                </a:rPr>
                <a:t>sf</a:t>
              </a:r>
              <a:r>
                <a:rPr lang="en-US" sz="800" dirty="0">
                  <a:latin typeface="Preeti" pitchFamily="2" charset="0"/>
                </a:rPr>
                <a:t>] </a:t>
              </a:r>
              <a:r>
                <a:rPr lang="en-US" sz="800" dirty="0" err="1">
                  <a:latin typeface="Preeti" pitchFamily="2" charset="0"/>
                </a:rPr>
                <a:t>sfof</a:t>
              </a:r>
              <a:r>
                <a:rPr lang="en-US" sz="800" dirty="0">
                  <a:latin typeface="Preeti" pitchFamily="2" charset="0"/>
                </a:rPr>
                <a:t>{no</a:t>
              </a:r>
            </a:p>
            <a:p>
              <a:pPr algn="ctr"/>
              <a:r>
                <a:rPr lang="en-US" sz="1200" dirty="0">
                  <a:latin typeface="Preeti" pitchFamily="2" charset="0"/>
                </a:rPr>
                <a:t>;'</a:t>
              </a:r>
              <a:r>
                <a:rPr lang="en-US" sz="1200" dirty="0" err="1">
                  <a:latin typeface="Preeti" pitchFamily="2" charset="0"/>
                </a:rPr>
                <a:t>wf</a:t>
              </a:r>
              <a:r>
                <a:rPr lang="en-US" sz="1200" dirty="0">
                  <a:latin typeface="Preeti" pitchFamily="2" charset="0"/>
                </a:rPr>
                <a:t>/</a:t>
              </a:r>
              <a:r>
                <a:rPr lang="en-US" sz="1200" dirty="0" err="1">
                  <a:latin typeface="Preeti" pitchFamily="2" charset="0"/>
                </a:rPr>
                <a:t>sf</a:t>
              </a:r>
              <a:r>
                <a:rPr lang="en-US" sz="1200" dirty="0">
                  <a:latin typeface="Preeti" pitchFamily="2" charset="0"/>
                </a:rPr>
                <a:t>] </a:t>
              </a:r>
              <a:r>
                <a:rPr lang="en-US" sz="1200" dirty="0" err="1">
                  <a:latin typeface="Preeti" pitchFamily="2" charset="0"/>
                </a:rPr>
                <a:t>nflu</a:t>
              </a:r>
              <a:r>
                <a:rPr lang="en-US" sz="1200" dirty="0">
                  <a:latin typeface="Preeti" pitchFamily="2" charset="0"/>
                </a:rPr>
                <a:t> </a:t>
              </a:r>
              <a:r>
                <a:rPr lang="en-US" sz="1200" dirty="0" err="1">
                  <a:latin typeface="Preeti" pitchFamily="2" charset="0"/>
                </a:rPr>
                <a:t>hfgsf</a:t>
              </a:r>
              <a:r>
                <a:rPr lang="en-US" sz="1200" dirty="0">
                  <a:latin typeface="Preeti" pitchFamily="2" charset="0"/>
                </a:rPr>
                <a:t>/</a:t>
              </a:r>
              <a:r>
                <a:rPr lang="en-US" sz="1200" dirty="0" err="1">
                  <a:latin typeface="Preeti" pitchFamily="2" charset="0"/>
                </a:rPr>
                <a:t>L÷lgb</a:t>
              </a:r>
              <a:r>
                <a:rPr lang="en-US" sz="1200" dirty="0">
                  <a:latin typeface="Preeti" pitchFamily="2" charset="0"/>
                </a:rPr>
                <a:t>]{</a:t>
              </a:r>
              <a:r>
                <a:rPr lang="en-US" sz="1200" dirty="0" err="1">
                  <a:latin typeface="Preeti" pitchFamily="2" charset="0"/>
                </a:rPr>
                <a:t>zg</a:t>
              </a:r>
              <a:r>
                <a:rPr lang="en-US" sz="1200" dirty="0">
                  <a:latin typeface="Preeti" pitchFamily="2" charset="0"/>
                </a:rPr>
                <a:t> </a:t>
              </a:r>
              <a:r>
                <a:rPr lang="en-US" sz="1200" dirty="0" err="1">
                  <a:latin typeface="Preeti" pitchFamily="2" charset="0"/>
                </a:rPr>
                <a:t>lbg</a:t>
              </a:r>
              <a:r>
                <a:rPr lang="en-US" sz="1200" dirty="0">
                  <a:latin typeface="Preeti" pitchFamily="2" charset="0"/>
                </a:rPr>
                <a:t>] </a:t>
              </a:r>
              <a:r>
                <a:rPr lang="en-US" sz="1200" dirty="0" err="1">
                  <a:latin typeface="Preeti" pitchFamily="2" charset="0"/>
                </a:rPr>
                <a:t>kmf</a:t>
              </a:r>
              <a:r>
                <a:rPr lang="en-US" sz="1200" dirty="0">
                  <a:latin typeface="Preeti" pitchFamily="2" charset="0"/>
                </a:rPr>
                <a:t>/</a:t>
              </a:r>
              <a:r>
                <a:rPr lang="en-US" sz="1200" dirty="0" err="1">
                  <a:latin typeface="Preeti" pitchFamily="2" charset="0"/>
                </a:rPr>
                <a:t>fd</a:t>
              </a:r>
              <a:endParaRPr lang="en-US" sz="1200" dirty="0">
                <a:latin typeface="Preeti" pitchFamily="2" charset="0"/>
              </a:endParaRPr>
            </a:p>
            <a:p>
              <a:pPr algn="ctr"/>
              <a:r>
                <a:rPr lang="en-US" sz="1200" dirty="0">
                  <a:latin typeface="Preeti" pitchFamily="2" charset="0"/>
                </a:rPr>
                <a:t>;'</a:t>
              </a:r>
              <a:r>
                <a:rPr lang="en-US" sz="1200" dirty="0" err="1">
                  <a:latin typeface="Preeti" pitchFamily="2" charset="0"/>
                </a:rPr>
                <a:t>wf</a:t>
              </a:r>
              <a:r>
                <a:rPr lang="en-US" sz="1200" dirty="0">
                  <a:latin typeface="Preeti" pitchFamily="2" charset="0"/>
                </a:rPr>
                <a:t>/÷</a:t>
              </a:r>
              <a:r>
                <a:rPr lang="en-US" sz="1200" dirty="0" err="1">
                  <a:latin typeface="Preeti" pitchFamily="2" charset="0"/>
                </a:rPr>
                <a:t>k|anLs</a:t>
              </a:r>
              <a:r>
                <a:rPr lang="en-US" sz="1200" dirty="0">
                  <a:latin typeface="Preeti" pitchFamily="2" charset="0"/>
                </a:rPr>
                <a:t>/0f </a:t>
              </a:r>
              <a:r>
                <a:rPr lang="en-US" sz="1200" dirty="0" err="1">
                  <a:latin typeface="Preeti" pitchFamily="2" charset="0"/>
                </a:rPr>
                <a:t>cfb</a:t>
              </a:r>
              <a:r>
                <a:rPr lang="en-US" sz="1200" dirty="0">
                  <a:latin typeface="Preeti" pitchFamily="2" charset="0"/>
                </a:rPr>
                <a:t>]z </a:t>
              </a:r>
              <a:r>
                <a:rPr lang="en-US" sz="1200" dirty="0" err="1">
                  <a:latin typeface="Preeti" pitchFamily="2" charset="0"/>
                </a:rPr>
                <a:t>tyf</a:t>
              </a:r>
              <a:r>
                <a:rPr lang="en-US" sz="1200" dirty="0">
                  <a:latin typeface="Preeti" pitchFamily="2" charset="0"/>
                </a:rPr>
                <a:t> </a:t>
              </a:r>
              <a:r>
                <a:rPr lang="en-US" sz="1200" dirty="0" err="1">
                  <a:latin typeface="Preeti" pitchFamily="2" charset="0"/>
                </a:rPr>
                <a:t>lg</a:t>
              </a:r>
              <a:r>
                <a:rPr lang="en-US" sz="1200" dirty="0">
                  <a:latin typeface="Preeti" pitchFamily="2" charset="0"/>
                </a:rPr>
                <a:t>/LIf0f </a:t>
              </a:r>
              <a:r>
                <a:rPr lang="en-US" sz="1200" dirty="0" err="1">
                  <a:latin typeface="Preeti" pitchFamily="2" charset="0"/>
                </a:rPr>
                <a:t>kmf</a:t>
              </a:r>
              <a:r>
                <a:rPr lang="en-US" sz="1200" dirty="0">
                  <a:latin typeface="Preeti" pitchFamily="2" charset="0"/>
                </a:rPr>
                <a:t>/</a:t>
              </a:r>
              <a:r>
                <a:rPr lang="en-US" sz="1200" dirty="0" err="1">
                  <a:latin typeface="Preeti" pitchFamily="2" charset="0"/>
                </a:rPr>
                <a:t>fd</a:t>
              </a:r>
              <a:endParaRPr lang="en-US" sz="1200" dirty="0">
                <a:latin typeface="Preeti" pitchFamily="2" charset="0"/>
              </a:endParaRPr>
            </a:p>
          </p:txBody>
        </p:sp>
        <p:sp>
          <p:nvSpPr>
            <p:cNvPr id="7" name="TextBox 6"/>
            <p:cNvSpPr txBox="1"/>
            <p:nvPr/>
          </p:nvSpPr>
          <p:spPr>
            <a:xfrm>
              <a:off x="8615" y="1545053"/>
              <a:ext cx="4440112" cy="1384995"/>
            </a:xfrm>
            <a:prstGeom prst="rect">
              <a:avLst/>
            </a:prstGeom>
            <a:noFill/>
          </p:spPr>
          <p:txBody>
            <a:bodyPr wrap="square" rtlCol="0">
              <a:spAutoFit/>
            </a:bodyPr>
            <a:lstStyle/>
            <a:p>
              <a:pPr algn="just"/>
              <a:r>
                <a:rPr lang="en-US" sz="1400" dirty="0" err="1">
                  <a:latin typeface="Preeti" pitchFamily="2" charset="0"/>
                </a:rPr>
                <a:t>æcfjf</a:t>
              </a:r>
              <a:r>
                <a:rPr lang="en-US" sz="1400" dirty="0">
                  <a:latin typeface="Preeti" pitchFamily="2" charset="0"/>
                </a:rPr>
                <a:t>; </a:t>
              </a:r>
              <a:r>
                <a:rPr lang="en-US" sz="1400" dirty="0" err="1">
                  <a:latin typeface="Preeti" pitchFamily="2" charset="0"/>
                </a:rPr>
                <a:t>k'glg</a:t>
              </a:r>
              <a:r>
                <a:rPr lang="en-US" sz="1400" dirty="0">
                  <a:latin typeface="Preeti" pitchFamily="2" charset="0"/>
                </a:rPr>
                <a:t>{df0f </a:t>
              </a:r>
              <a:r>
                <a:rPr lang="en-US" sz="1400" dirty="0" err="1">
                  <a:latin typeface="Preeti" pitchFamily="2" charset="0"/>
                </a:rPr>
                <a:t>sfo</a:t>
              </a:r>
              <a:r>
                <a:rPr lang="en-US" sz="1400" dirty="0">
                  <a:latin typeface="Preeti" pitchFamily="2" charset="0"/>
                </a:rPr>
                <a:t>{</a:t>
              </a:r>
              <a:r>
                <a:rPr lang="en-US" sz="1400" dirty="0" err="1">
                  <a:latin typeface="Preeti" pitchFamily="2" charset="0"/>
                </a:rPr>
                <a:t>qmd</a:t>
              </a:r>
              <a:r>
                <a:rPr lang="en-US" sz="1400" dirty="0">
                  <a:latin typeface="Preeti" pitchFamily="2" charset="0"/>
                </a:rPr>
                <a:t> </a:t>
              </a:r>
              <a:r>
                <a:rPr lang="en-US" sz="1400" dirty="0" err="1">
                  <a:latin typeface="Preeti" pitchFamily="2" charset="0"/>
                </a:rPr>
                <a:t>cGtu</a:t>
              </a:r>
              <a:r>
                <a:rPr lang="en-US" sz="1400" dirty="0">
                  <a:latin typeface="Preeti" pitchFamily="2" charset="0"/>
                </a:rPr>
                <a:t>{t </a:t>
              </a:r>
              <a:r>
                <a:rPr lang="en-US" sz="1400" dirty="0" err="1">
                  <a:latin typeface="Preeti" pitchFamily="2" charset="0"/>
                </a:rPr>
                <a:t>aGg</a:t>
              </a:r>
              <a:r>
                <a:rPr lang="en-US" sz="1400" dirty="0">
                  <a:latin typeface="Preeti" pitchFamily="2" charset="0"/>
                </a:rPr>
                <a:t>] 3/</a:t>
              </a:r>
              <a:r>
                <a:rPr lang="en-US" sz="1400" dirty="0" err="1">
                  <a:latin typeface="Preeti" pitchFamily="2" charset="0"/>
                </a:rPr>
                <a:t>x?sf</a:t>
              </a:r>
              <a:r>
                <a:rPr lang="en-US" sz="1400" dirty="0">
                  <a:latin typeface="Preeti" pitchFamily="2" charset="0"/>
                </a:rPr>
                <a:t>] </a:t>
              </a:r>
              <a:r>
                <a:rPr lang="en-US" sz="1400" dirty="0" err="1">
                  <a:latin typeface="Preeti" pitchFamily="2" charset="0"/>
                </a:rPr>
                <a:t>lgdf</a:t>
              </a:r>
              <a:r>
                <a:rPr lang="en-US" sz="1400" dirty="0">
                  <a:latin typeface="Preeti" pitchFamily="2" charset="0"/>
                </a:rPr>
                <a:t>{0f </a:t>
              </a:r>
              <a:r>
                <a:rPr lang="en-US" sz="1400" dirty="0" err="1">
                  <a:latin typeface="Preeti" pitchFamily="2" charset="0"/>
                </a:rPr>
                <a:t>lg</a:t>
              </a:r>
              <a:r>
                <a:rPr lang="en-US" sz="1400" dirty="0">
                  <a:latin typeface="Preeti" pitchFamily="2" charset="0"/>
                </a:rPr>
                <a:t>/LIf0f </a:t>
              </a:r>
              <a:r>
                <a:rPr lang="en-US" sz="1400" dirty="0" err="1">
                  <a:latin typeface="Preeti" pitchFamily="2" charset="0"/>
                </a:rPr>
                <a:t>sfo</a:t>
              </a:r>
              <a:r>
                <a:rPr lang="en-US" sz="1400" dirty="0">
                  <a:latin typeface="Preeti" pitchFamily="2" charset="0"/>
                </a:rPr>
                <a:t>{</a:t>
              </a:r>
              <a:r>
                <a:rPr lang="en-US" sz="1400" dirty="0" err="1">
                  <a:latin typeface="Preeti" pitchFamily="2" charset="0"/>
                </a:rPr>
                <a:t>ljlwÆ</a:t>
              </a:r>
              <a:r>
                <a:rPr lang="en-US" sz="1400" dirty="0">
                  <a:latin typeface="Preeti" pitchFamily="2" charset="0"/>
                </a:rPr>
                <a:t> </a:t>
              </a:r>
              <a:r>
                <a:rPr lang="en-US" sz="1400" dirty="0" err="1">
                  <a:latin typeface="Preeti" pitchFamily="2" charset="0"/>
                </a:rPr>
                <a:t>cg'?k</a:t>
              </a:r>
              <a:r>
                <a:rPr lang="en-US" sz="1400" dirty="0">
                  <a:latin typeface="Preeti" pitchFamily="2" charset="0"/>
                </a:rPr>
                <a:t> </a:t>
              </a:r>
              <a:r>
                <a:rPr lang="en-US" sz="1400" dirty="0" err="1">
                  <a:latin typeface="Preeti" pitchFamily="2" charset="0"/>
                </a:rPr>
                <a:t>ldlt</a:t>
              </a:r>
              <a:r>
                <a:rPr lang="en-US" sz="1400" dirty="0">
                  <a:latin typeface="Preeti" pitchFamily="2" charset="0"/>
                </a:rPr>
                <a:t> ======================== </a:t>
              </a:r>
              <a:r>
                <a:rPr lang="en-US" sz="1400" dirty="0" err="1">
                  <a:latin typeface="Preeti" pitchFamily="2" charset="0"/>
                </a:rPr>
                <a:t>ut</a:t>
              </a:r>
              <a:r>
                <a:rPr lang="en-US" sz="1400" dirty="0">
                  <a:latin typeface="Preeti" pitchFamily="2" charset="0"/>
                </a:rPr>
                <a:t>], ================================ </a:t>
              </a:r>
              <a:r>
                <a:rPr lang="en-US" sz="1400" dirty="0" err="1">
                  <a:latin typeface="Preeti" pitchFamily="2" charset="0"/>
                </a:rPr>
                <a:t>sf</a:t>
              </a:r>
              <a:r>
                <a:rPr lang="en-US" sz="1400" dirty="0">
                  <a:latin typeface="Preeti" pitchFamily="2" charset="0"/>
                </a:rPr>
                <a:t>] </a:t>
              </a:r>
              <a:r>
                <a:rPr lang="en-US" sz="1400" dirty="0" err="1">
                  <a:latin typeface="Preeti" pitchFamily="2" charset="0"/>
                </a:rPr>
                <a:t>lgdf</a:t>
              </a:r>
              <a:r>
                <a:rPr lang="en-US" sz="1400" dirty="0">
                  <a:latin typeface="Preeti" pitchFamily="2" charset="0"/>
                </a:rPr>
                <a:t>{0ffwLg </a:t>
              </a:r>
              <a:r>
                <a:rPr lang="en-US" sz="1400" dirty="0" err="1">
                  <a:latin typeface="Preeti" pitchFamily="2" charset="0"/>
                </a:rPr>
                <a:t>ejgsf</a:t>
              </a:r>
              <a:r>
                <a:rPr lang="en-US" sz="1400" dirty="0">
                  <a:latin typeface="Preeti" pitchFamily="2" charset="0"/>
                </a:rPr>
                <a:t>] </a:t>
              </a:r>
              <a:r>
                <a:rPr lang="en-US" sz="1400" dirty="0" err="1">
                  <a:latin typeface="Preeti" pitchFamily="2" charset="0"/>
                </a:rPr>
                <a:t>la:t</a:t>
              </a:r>
              <a:r>
                <a:rPr lang="en-US" sz="1400" dirty="0">
                  <a:latin typeface="Preeti" pitchFamily="2" charset="0"/>
                </a:rPr>
                <a:t>[t </a:t>
              </a:r>
              <a:r>
                <a:rPr lang="en-US" sz="1400" dirty="0" err="1">
                  <a:latin typeface="Preeti" pitchFamily="2" charset="0"/>
                </a:rPr>
                <a:t>lg</a:t>
              </a:r>
              <a:r>
                <a:rPr lang="en-US" sz="1400" dirty="0">
                  <a:latin typeface="Preeti" pitchFamily="2" charset="0"/>
                </a:rPr>
                <a:t>/LIf0f </a:t>
              </a:r>
              <a:r>
                <a:rPr lang="en-US" sz="1400" dirty="0" err="1">
                  <a:latin typeface="Preeti" pitchFamily="2" charset="0"/>
                </a:rPr>
                <a:t>kZrft</a:t>
              </a:r>
              <a:r>
                <a:rPr lang="en-US" sz="1400" dirty="0">
                  <a:latin typeface="Preeti" pitchFamily="2" charset="0"/>
                </a:rPr>
                <a:t>\ </a:t>
              </a:r>
              <a:r>
                <a:rPr lang="en-US" sz="1400" dirty="0" err="1">
                  <a:latin typeface="Preeti" pitchFamily="2" charset="0"/>
                </a:rPr>
                <a:t>lghsf</a:t>
              </a:r>
              <a:r>
                <a:rPr lang="en-US" sz="1400" dirty="0">
                  <a:latin typeface="Preeti" pitchFamily="2" charset="0"/>
                </a:rPr>
                <a:t>] </a:t>
              </a:r>
              <a:r>
                <a:rPr lang="en-US" sz="1400" dirty="0" err="1">
                  <a:latin typeface="Preeti" pitchFamily="2" charset="0"/>
                </a:rPr>
                <a:t>lgdf</a:t>
              </a:r>
              <a:r>
                <a:rPr lang="en-US" sz="1400" dirty="0">
                  <a:latin typeface="Preeti" pitchFamily="2" charset="0"/>
                </a:rPr>
                <a:t>{0ffwLg </a:t>
              </a:r>
              <a:r>
                <a:rPr lang="en-US" sz="1400" dirty="0" err="1">
                  <a:latin typeface="Preeti" pitchFamily="2" charset="0"/>
                </a:rPr>
                <a:t>ejg</a:t>
              </a:r>
              <a:r>
                <a:rPr lang="en-US" sz="1400" dirty="0">
                  <a:latin typeface="Preeti" pitchFamily="2" charset="0"/>
                </a:rPr>
                <a:t> n] </a:t>
              </a:r>
              <a:r>
                <a:rPr lang="en-US" sz="1400" dirty="0">
                  <a:latin typeface="Preeti" pitchFamily="2" charset="0"/>
                  <a:sym typeface="Wingdings" panose="05000000000000000000" pitchFamily="2" charset="2"/>
                </a:rPr>
                <a:t></a:t>
              </a:r>
              <a:r>
                <a:rPr lang="en-US" sz="1400" dirty="0">
                  <a:latin typeface="Preeti" pitchFamily="2" charset="0"/>
                </a:rPr>
                <a:t>8L=</a:t>
              </a:r>
              <a:r>
                <a:rPr lang="en-US" sz="1400" dirty="0" err="1">
                  <a:latin typeface="Preeti" pitchFamily="2" charset="0"/>
                </a:rPr>
                <a:t>kL</a:t>
              </a:r>
              <a:r>
                <a:rPr lang="en-US" sz="1400" dirty="0">
                  <a:latin typeface="Preeti" pitchFamily="2" charset="0"/>
                </a:rPr>
                <a:t>=;L= ÷</a:t>
              </a:r>
              <a:r>
                <a:rPr lang="en-US" sz="1400" dirty="0">
                  <a:latin typeface="Preeti" pitchFamily="2" charset="0"/>
                  <a:sym typeface="Wingdings" panose="05000000000000000000" pitchFamily="2" charset="2"/>
                </a:rPr>
                <a:t></a:t>
              </a:r>
              <a:r>
                <a:rPr lang="en-US" sz="1400" dirty="0">
                  <a:latin typeface="Preeti" pitchFamily="2" charset="0"/>
                </a:rPr>
                <a:t>=====================</a:t>
              </a:r>
              <a:r>
                <a:rPr lang="en-US" sz="1400" dirty="0" err="1">
                  <a:latin typeface="Preeti" pitchFamily="2" charset="0"/>
                </a:rPr>
                <a:t>tNNff</a:t>
              </a:r>
              <a:r>
                <a:rPr lang="en-US" sz="1400" dirty="0">
                  <a:latin typeface="Preeti" pitchFamily="2" charset="0"/>
                </a:rPr>
                <a:t> ÷</a:t>
              </a:r>
              <a:r>
                <a:rPr lang="en-US" sz="1400" dirty="0">
                  <a:latin typeface="Preeti" pitchFamily="2" charset="0"/>
                  <a:sym typeface="Wingdings" panose="05000000000000000000" pitchFamily="2" charset="2"/>
                </a:rPr>
                <a:t></a:t>
              </a:r>
              <a:r>
                <a:rPr lang="en-US" sz="1400" dirty="0">
                  <a:latin typeface="Preeti" pitchFamily="2" charset="0"/>
                </a:rPr>
                <a:t>5fgf </a:t>
              </a:r>
              <a:r>
                <a:rPr lang="en-US" sz="1400" dirty="0" err="1">
                  <a:latin typeface="Preeti" pitchFamily="2" charset="0"/>
                </a:rPr>
                <a:t>tx</a:t>
              </a:r>
              <a:r>
                <a:rPr lang="en-US" sz="1400" dirty="0">
                  <a:latin typeface="Preeti" pitchFamily="2" charset="0"/>
                </a:rPr>
                <a:t> ;</a:t>
              </a:r>
              <a:r>
                <a:rPr lang="en-US" sz="1400" dirty="0" err="1">
                  <a:latin typeface="Preeti" pitchFamily="2" charset="0"/>
                </a:rPr>
                <a:t>Ddsf</a:t>
              </a:r>
              <a:r>
                <a:rPr lang="en-US" sz="1400" dirty="0">
                  <a:latin typeface="Preeti" pitchFamily="2" charset="0"/>
                </a:rPr>
                <a:t>] </a:t>
              </a:r>
              <a:r>
                <a:rPr lang="en-US" sz="1400" dirty="0" err="1">
                  <a:latin typeface="Preeti" pitchFamily="2" charset="0"/>
                </a:rPr>
                <a:t>Go"gtd</a:t>
              </a:r>
              <a:r>
                <a:rPr lang="en-US" sz="1400" dirty="0">
                  <a:latin typeface="Preeti" pitchFamily="2" charset="0"/>
                </a:rPr>
                <a:t> </a:t>
              </a:r>
              <a:r>
                <a:rPr lang="en-US" sz="1400" dirty="0" err="1">
                  <a:latin typeface="Preeti" pitchFamily="2" charset="0"/>
                </a:rPr>
                <a:t>cfjZostf</a:t>
              </a:r>
              <a:r>
                <a:rPr lang="en-US" sz="1400" dirty="0">
                  <a:latin typeface="Preeti" pitchFamily="2" charset="0"/>
                </a:rPr>
                <a:t> k"/f </a:t>
              </a:r>
              <a:r>
                <a:rPr lang="en-US" sz="1400" dirty="0" err="1">
                  <a:latin typeface="Preeti" pitchFamily="2" charset="0"/>
                </a:rPr>
                <a:t>gu</a:t>
              </a:r>
              <a:r>
                <a:rPr lang="en-US" sz="1400" dirty="0">
                  <a:latin typeface="Preeti" pitchFamily="2" charset="0"/>
                </a:rPr>
                <a:t>/]</a:t>
              </a:r>
              <a:r>
                <a:rPr lang="en-US" sz="1400" dirty="0" err="1">
                  <a:latin typeface="Preeti" pitchFamily="2" charset="0"/>
                </a:rPr>
                <a:t>sf</a:t>
              </a:r>
              <a:r>
                <a:rPr lang="en-US" sz="1400" dirty="0">
                  <a:latin typeface="Preeti" pitchFamily="2" charset="0"/>
                </a:rPr>
                <a:t>] </a:t>
              </a:r>
              <a:r>
                <a:rPr lang="en-US" sz="1400" dirty="0" err="1">
                  <a:latin typeface="Preeti" pitchFamily="2" charset="0"/>
                </a:rPr>
                <a:t>kfOPsf</a:t>
              </a:r>
              <a:r>
                <a:rPr lang="en-US" sz="1400" dirty="0">
                  <a:latin typeface="Preeti" pitchFamily="2" charset="0"/>
                </a:rPr>
                <a:t>] </a:t>
              </a:r>
              <a:r>
                <a:rPr lang="en-US" sz="1400" dirty="0" err="1">
                  <a:latin typeface="Preeti" pitchFamily="2" charset="0"/>
                </a:rPr>
                <a:t>x'gfn</a:t>
              </a:r>
              <a:r>
                <a:rPr lang="en-US" sz="1400" dirty="0">
                  <a:latin typeface="Preeti" pitchFamily="2" charset="0"/>
                </a:rPr>
                <a:t>] of] ;'</a:t>
              </a:r>
              <a:r>
                <a:rPr lang="en-US" sz="1400" dirty="0" err="1">
                  <a:latin typeface="Preeti" pitchFamily="2" charset="0"/>
                </a:rPr>
                <a:t>wf</a:t>
              </a:r>
              <a:r>
                <a:rPr lang="en-US" sz="1400" dirty="0">
                  <a:latin typeface="Preeti" pitchFamily="2" charset="0"/>
                </a:rPr>
                <a:t>/</a:t>
              </a:r>
              <a:r>
                <a:rPr lang="en-US" sz="1400" dirty="0" err="1">
                  <a:latin typeface="Preeti" pitchFamily="2" charset="0"/>
                </a:rPr>
                <a:t>sf</a:t>
              </a:r>
              <a:r>
                <a:rPr lang="en-US" sz="1400" dirty="0">
                  <a:latin typeface="Preeti" pitchFamily="2" charset="0"/>
                </a:rPr>
                <a:t>] </a:t>
              </a:r>
              <a:r>
                <a:rPr lang="en-US" sz="1400" dirty="0" err="1">
                  <a:latin typeface="Preeti" pitchFamily="2" charset="0"/>
                </a:rPr>
                <a:t>nflu</a:t>
              </a:r>
              <a:r>
                <a:rPr lang="en-US" sz="1400" dirty="0">
                  <a:latin typeface="Preeti" pitchFamily="2" charset="0"/>
                </a:rPr>
                <a:t> of] </a:t>
              </a:r>
              <a:r>
                <a:rPr lang="en-US" sz="1400" dirty="0" err="1">
                  <a:latin typeface="Preeti" pitchFamily="2" charset="0"/>
                </a:rPr>
                <a:t>lgb</a:t>
              </a:r>
              <a:r>
                <a:rPr lang="en-US" sz="1400" dirty="0">
                  <a:latin typeface="Preeti" pitchFamily="2" charset="0"/>
                </a:rPr>
                <a:t>]{</a:t>
              </a:r>
              <a:r>
                <a:rPr lang="en-US" sz="1400" dirty="0" err="1">
                  <a:latin typeface="Preeti" pitchFamily="2" charset="0"/>
                </a:rPr>
                <a:t>zgul</a:t>
              </a:r>
              <a:r>
                <a:rPr lang="en-US" sz="1400" dirty="0">
                  <a:latin typeface="Preeti" pitchFamily="2" charset="0"/>
                </a:rPr>
                <a:t>/</a:t>
              </a:r>
              <a:r>
                <a:rPr lang="en-US" sz="1400" dirty="0" err="1">
                  <a:latin typeface="Preeti" pitchFamily="2" charset="0"/>
                </a:rPr>
                <a:t>Psf</a:t>
              </a:r>
              <a:r>
                <a:rPr lang="en-US" sz="1400" dirty="0">
                  <a:latin typeface="Preeti" pitchFamily="2" charset="0"/>
                </a:rPr>
                <a:t>] 5 .</a:t>
              </a:r>
            </a:p>
            <a:p>
              <a:pPr algn="just"/>
              <a:endParaRPr lang="en-US" sz="1400" dirty="0">
                <a:latin typeface="Preeti" pitchFamily="2" charset="0"/>
              </a:endParaRPr>
            </a:p>
          </p:txBody>
        </p:sp>
        <p:sp>
          <p:nvSpPr>
            <p:cNvPr id="8" name="TextBox 7"/>
            <p:cNvSpPr txBox="1"/>
            <p:nvPr/>
          </p:nvSpPr>
          <p:spPr>
            <a:xfrm>
              <a:off x="0" y="2587327"/>
              <a:ext cx="4376519" cy="2462213"/>
            </a:xfrm>
            <a:prstGeom prst="rect">
              <a:avLst/>
            </a:prstGeom>
            <a:noFill/>
          </p:spPr>
          <p:txBody>
            <a:bodyPr wrap="none" rtlCol="0">
              <a:spAutoFit/>
            </a:bodyPr>
            <a:lstStyle/>
            <a:p>
              <a:r>
                <a:rPr lang="en-US" sz="1400" b="1" dirty="0" err="1">
                  <a:latin typeface="Preeti" pitchFamily="2" charset="0"/>
                </a:rPr>
                <a:t>nfeu|fxL</a:t>
              </a:r>
              <a:r>
                <a:rPr lang="en-US" sz="1400" b="1" dirty="0">
                  <a:latin typeface="Preeti" pitchFamily="2" charset="0"/>
                </a:rPr>
                <a:t> 3/</a:t>
              </a:r>
              <a:r>
                <a:rPr lang="en-US" sz="1400" b="1" dirty="0" err="1">
                  <a:latin typeface="Preeti" pitchFamily="2" charset="0"/>
                </a:rPr>
                <a:t>wgL</a:t>
              </a:r>
              <a:r>
                <a:rPr lang="en-US" sz="1400" b="1" dirty="0">
                  <a:latin typeface="Preeti" pitchFamily="2" charset="0"/>
                </a:rPr>
                <a:t> </a:t>
              </a:r>
              <a:r>
                <a:rPr lang="en-US" sz="1400" b="1" dirty="0" err="1">
                  <a:latin typeface="Preeti" pitchFamily="2" charset="0"/>
                </a:rPr>
                <a:t>sf</a:t>
              </a:r>
              <a:r>
                <a:rPr lang="en-US" sz="1400" b="1" dirty="0">
                  <a:latin typeface="Preeti" pitchFamily="2" charset="0"/>
                </a:rPr>
                <a:t>] </a:t>
              </a:r>
              <a:r>
                <a:rPr lang="en-US" sz="1400" b="1" dirty="0" err="1">
                  <a:latin typeface="Preeti" pitchFamily="2" charset="0"/>
                </a:rPr>
                <a:t>gfd</a:t>
              </a:r>
              <a:r>
                <a:rPr lang="en-US" sz="1400" dirty="0">
                  <a:latin typeface="Preeti" pitchFamily="2" charset="0"/>
                </a:rPr>
                <a:t>==============================</a:t>
              </a:r>
            </a:p>
            <a:p>
              <a:r>
                <a:rPr lang="en-US" sz="1400" b="1" dirty="0">
                  <a:latin typeface="Preeti" pitchFamily="2" charset="0"/>
                </a:rPr>
                <a:t>;</a:t>
              </a:r>
              <a:r>
                <a:rPr lang="en-US" sz="1400" b="1" dirty="0" err="1">
                  <a:latin typeface="Preeti" pitchFamily="2" charset="0"/>
                </a:rPr>
                <a:t>Demf</a:t>
              </a:r>
              <a:r>
                <a:rPr lang="en-US" sz="1400" b="1" dirty="0">
                  <a:latin typeface="Preeti" pitchFamily="2" charset="0"/>
                </a:rPr>
                <a:t>}</a:t>
              </a:r>
              <a:r>
                <a:rPr lang="en-US" sz="1400" b="1" dirty="0" err="1">
                  <a:latin typeface="Preeti" pitchFamily="2" charset="0"/>
                </a:rPr>
                <a:t>tf</a:t>
              </a:r>
              <a:r>
                <a:rPr lang="en-US" sz="1400" b="1" dirty="0">
                  <a:latin typeface="Preeti" pitchFamily="2" charset="0"/>
                </a:rPr>
                <a:t> </a:t>
              </a:r>
              <a:r>
                <a:rPr lang="en-US" sz="1400" b="1" dirty="0" err="1">
                  <a:latin typeface="Preeti" pitchFamily="2" charset="0"/>
                </a:rPr>
                <a:t>qm</a:t>
              </a:r>
              <a:r>
                <a:rPr lang="en-US" sz="1400" b="1" dirty="0">
                  <a:latin typeface="Preeti" pitchFamily="2" charset="0"/>
                </a:rPr>
                <a:t>= ;</a:t>
              </a:r>
              <a:r>
                <a:rPr lang="en-US" sz="1400" dirty="0">
                  <a:latin typeface="Preeti" pitchFamily="2" charset="0"/>
                </a:rPr>
                <a:t> ============================================</a:t>
              </a:r>
            </a:p>
            <a:p>
              <a:r>
                <a:rPr lang="en-US" sz="1400" b="1" dirty="0" err="1">
                  <a:latin typeface="Preeti" pitchFamily="2" charset="0"/>
                </a:rPr>
                <a:t>gful</a:t>
              </a:r>
              <a:r>
                <a:rPr lang="en-US" sz="1400" b="1" dirty="0">
                  <a:latin typeface="Preeti" pitchFamily="2" charset="0"/>
                </a:rPr>
                <a:t>/</a:t>
              </a:r>
              <a:r>
                <a:rPr lang="en-US" sz="1400" b="1" dirty="0" err="1">
                  <a:latin typeface="Preeti" pitchFamily="2" charset="0"/>
                </a:rPr>
                <a:t>stf</a:t>
              </a:r>
              <a:r>
                <a:rPr lang="en-US" sz="1400" b="1" dirty="0">
                  <a:latin typeface="Preeti" pitchFamily="2" charset="0"/>
                </a:rPr>
                <a:t> k|df0fkq </a:t>
              </a:r>
              <a:r>
                <a:rPr lang="en-US" sz="1400" b="1" dirty="0" err="1">
                  <a:latin typeface="Preeti" pitchFamily="2" charset="0"/>
                </a:rPr>
                <a:t>gDa</a:t>
              </a:r>
              <a:r>
                <a:rPr lang="en-US" sz="1400" b="1" dirty="0">
                  <a:latin typeface="Preeti" pitchFamily="2" charset="0"/>
                </a:rPr>
                <a:t>/===========================================</a:t>
              </a:r>
              <a:endParaRPr lang="en-US" sz="1400" dirty="0">
                <a:latin typeface="Preeti" pitchFamily="2" charset="0"/>
              </a:endParaRPr>
            </a:p>
            <a:p>
              <a:r>
                <a:rPr lang="en-US" sz="1400" dirty="0">
                  <a:latin typeface="Preeti" pitchFamily="2" charset="0"/>
                </a:rPr>
                <a:t>s_ 3/</a:t>
              </a:r>
              <a:r>
                <a:rPr lang="en-US" sz="1400" dirty="0" err="1">
                  <a:latin typeface="Preeti" pitchFamily="2" charset="0"/>
                </a:rPr>
                <a:t>sf</a:t>
              </a:r>
              <a:r>
                <a:rPr lang="en-US" sz="1400" dirty="0">
                  <a:latin typeface="Preeti" pitchFamily="2" charset="0"/>
                </a:rPr>
                <a:t>] </a:t>
              </a:r>
              <a:r>
                <a:rPr lang="en-US" sz="1400" dirty="0" err="1">
                  <a:latin typeface="Preeti" pitchFamily="2" charset="0"/>
                </a:rPr>
                <a:t>hf“rsf</a:t>
              </a:r>
              <a:r>
                <a:rPr lang="en-US" sz="1400" dirty="0">
                  <a:latin typeface="Preeti" pitchFamily="2" charset="0"/>
                </a:rPr>
                <a:t>] </a:t>
              </a:r>
              <a:r>
                <a:rPr lang="en-US" sz="1400" dirty="0" err="1">
                  <a:latin typeface="Preeti" pitchFamily="2" charset="0"/>
                </a:rPr>
                <a:t>nflu</a:t>
              </a:r>
              <a:r>
                <a:rPr lang="en-US" sz="1400" dirty="0">
                  <a:latin typeface="Preeti" pitchFamily="2" charset="0"/>
                </a:rPr>
                <a:t> </a:t>
              </a:r>
              <a:r>
                <a:rPr lang="en-US" sz="1400" dirty="0" err="1">
                  <a:latin typeface="Preeti" pitchFamily="2" charset="0"/>
                </a:rPr>
                <a:t>lbOPsf</a:t>
              </a:r>
              <a:r>
                <a:rPr lang="en-US" sz="1400" dirty="0">
                  <a:latin typeface="Preeti" pitchFamily="2" charset="0"/>
                </a:rPr>
                <a:t>] </a:t>
              </a:r>
              <a:r>
                <a:rPr lang="en-US" sz="1400" dirty="0" err="1">
                  <a:latin typeface="Preeti" pitchFamily="2" charset="0"/>
                </a:rPr>
                <a:t>cfj</a:t>
              </a:r>
              <a:r>
                <a:rPr lang="en-US" sz="1400" dirty="0">
                  <a:latin typeface="Preeti" pitchFamily="2" charset="0"/>
                </a:rPr>
                <a:t>]</a:t>
              </a:r>
              <a:r>
                <a:rPr lang="en-US" sz="1400" dirty="0" err="1">
                  <a:latin typeface="Preeti" pitchFamily="2" charset="0"/>
                </a:rPr>
                <a:t>bgdf</a:t>
              </a:r>
              <a:r>
                <a:rPr lang="en-US" sz="1400" dirty="0">
                  <a:latin typeface="Preeti" pitchFamily="2" charset="0"/>
                </a:rPr>
                <a:t> </a:t>
              </a:r>
              <a:r>
                <a:rPr lang="en-US" sz="1400" dirty="0" err="1">
                  <a:latin typeface="Preeti" pitchFamily="2" charset="0"/>
                </a:rPr>
                <a:t>ePsf</a:t>
              </a:r>
              <a:r>
                <a:rPr lang="en-US" sz="1400" dirty="0">
                  <a:latin typeface="Preeti" pitchFamily="2" charset="0"/>
                </a:rPr>
                <a:t>] </a:t>
              </a:r>
              <a:r>
                <a:rPr lang="en-US" sz="1400" dirty="0" err="1">
                  <a:latin typeface="Preeti" pitchFamily="2" charset="0"/>
                </a:rPr>
                <a:t>ljj</a:t>
              </a:r>
              <a:r>
                <a:rPr lang="en-US" sz="1400" dirty="0">
                  <a:latin typeface="Preeti" pitchFamily="2" charset="0"/>
                </a:rPr>
                <a:t>/0f  </a:t>
              </a:r>
            </a:p>
            <a:p>
              <a:r>
                <a:rPr lang="en-US" sz="1400" dirty="0">
                  <a:latin typeface="Preeti" pitchFamily="2" charset="0"/>
                </a:rPr>
                <a:t>:</a:t>
              </a:r>
              <a:r>
                <a:rPr lang="en-US" sz="1400" dirty="0" err="1">
                  <a:latin typeface="Preeti" pitchFamily="2" charset="0"/>
                </a:rPr>
                <a:t>jLs</a:t>
              </a:r>
              <a:r>
                <a:rPr lang="en-US" sz="1400" dirty="0">
                  <a:latin typeface="Preeti" pitchFamily="2" charset="0"/>
                </a:rPr>
                <a:t>[t </a:t>
              </a:r>
              <a:r>
                <a:rPr lang="en-US" sz="1400" dirty="0" err="1">
                  <a:latin typeface="Preeti" pitchFamily="2" charset="0"/>
                </a:rPr>
                <a:t>gSzf</a:t>
              </a:r>
              <a:r>
                <a:rPr lang="en-US" sz="1400" dirty="0">
                  <a:latin typeface="Preeti" pitchFamily="2" charset="0"/>
                </a:rPr>
                <a:t>–l8hfOg </a:t>
              </a:r>
              <a:r>
                <a:rPr lang="en-US" sz="1400" dirty="0" err="1">
                  <a:latin typeface="Preeti" pitchFamily="2" charset="0"/>
                </a:rPr>
                <a:t>dWo</a:t>
              </a:r>
              <a:r>
                <a:rPr lang="en-US" sz="1400" dirty="0">
                  <a:latin typeface="Preeti" pitchFamily="2" charset="0"/>
                </a:rPr>
                <a:t>]</a:t>
              </a:r>
              <a:r>
                <a:rPr lang="en-US" sz="1400" dirty="0" err="1">
                  <a:latin typeface="Preeti" pitchFamily="2" charset="0"/>
                </a:rPr>
                <a:t>sf</a:t>
              </a:r>
              <a:r>
                <a:rPr lang="en-US" sz="1400" dirty="0">
                  <a:latin typeface="Preeti" pitchFamily="2" charset="0"/>
                </a:rPr>
                <a:t>] </a:t>
              </a:r>
              <a:r>
                <a:rPr lang="en-US" sz="1400" dirty="0" err="1">
                  <a:latin typeface="Preeti" pitchFamily="2" charset="0"/>
                </a:rPr>
                <a:t>eP</a:t>
              </a:r>
              <a:r>
                <a:rPr lang="en-US" sz="1400" dirty="0">
                  <a:latin typeface="Preeti" pitchFamily="2" charset="0"/>
                </a:rPr>
                <a:t> l8hfOg g+=M ======================================= </a:t>
              </a:r>
            </a:p>
            <a:p>
              <a:r>
                <a:rPr lang="en-US" sz="1400" dirty="0" err="1">
                  <a:latin typeface="Preeti" pitchFamily="2" charset="0"/>
                </a:rPr>
                <a:t>cGo</a:t>
              </a:r>
              <a:r>
                <a:rPr lang="en-US" sz="1400" dirty="0">
                  <a:latin typeface="Preeti" pitchFamily="2" charset="0"/>
                </a:rPr>
                <a:t> </a:t>
              </a:r>
              <a:r>
                <a:rPr lang="en-US" sz="1400" dirty="0" err="1">
                  <a:latin typeface="Preeti" pitchFamily="2" charset="0"/>
                </a:rPr>
                <a:t>cfˆg</a:t>
              </a:r>
              <a:r>
                <a:rPr lang="en-US" sz="1400" dirty="0">
                  <a:latin typeface="Preeti" pitchFamily="2" charset="0"/>
                </a:rPr>
                <a:t>} </a:t>
              </a:r>
              <a:r>
                <a:rPr lang="en-US" sz="1400" dirty="0" err="1">
                  <a:latin typeface="Preeti" pitchFamily="2" charset="0"/>
                </a:rPr>
                <a:t>gSzf</a:t>
              </a:r>
              <a:r>
                <a:rPr lang="en-US" sz="1400" dirty="0">
                  <a:latin typeface="Preeti" pitchFamily="2" charset="0"/>
                </a:rPr>
                <a:t> l8hfOgsf] </a:t>
              </a:r>
              <a:r>
                <a:rPr lang="en-US" sz="1400" dirty="0" err="1">
                  <a:latin typeface="Preeti" pitchFamily="2" charset="0"/>
                </a:rPr>
                <a:t>xsdf</a:t>
              </a:r>
              <a:r>
                <a:rPr lang="en-US" sz="1400" dirty="0">
                  <a:latin typeface="Preeti" pitchFamily="2" charset="0"/>
                </a:rPr>
                <a:t> </a:t>
              </a:r>
            </a:p>
            <a:p>
              <a:r>
                <a:rPr lang="en-US" sz="1400" dirty="0" err="1">
                  <a:latin typeface="Preeti" pitchFamily="2" charset="0"/>
                </a:rPr>
                <a:t>uf</a:t>
              </a:r>
              <a:r>
                <a:rPr lang="en-US" sz="1400" dirty="0">
                  <a:latin typeface="Preeti" pitchFamily="2" charset="0"/>
                </a:rPr>
                <a:t>/f]÷</a:t>
              </a:r>
              <a:r>
                <a:rPr lang="en-US" sz="1400" dirty="0" err="1">
                  <a:latin typeface="Preeti" pitchFamily="2" charset="0"/>
                </a:rPr>
                <a:t>lkn</a:t>
              </a:r>
              <a:r>
                <a:rPr lang="en-US" sz="1400" dirty="0">
                  <a:latin typeface="Preeti" pitchFamily="2" charset="0"/>
                </a:rPr>
                <a:t>/</a:t>
              </a:r>
              <a:r>
                <a:rPr lang="en-US" sz="1400" dirty="0" err="1">
                  <a:latin typeface="Preeti" pitchFamily="2" charset="0"/>
                </a:rPr>
                <a:t>sf</a:t>
              </a:r>
              <a:r>
                <a:rPr lang="en-US" sz="1400" dirty="0">
                  <a:latin typeface="Preeti" pitchFamily="2" charset="0"/>
                </a:rPr>
                <a:t>] </a:t>
              </a:r>
              <a:r>
                <a:rPr lang="en-US" sz="1400" dirty="0" err="1">
                  <a:latin typeface="Preeti" pitchFamily="2" charset="0"/>
                </a:rPr>
                <a:t>lsl;d</a:t>
              </a:r>
              <a:r>
                <a:rPr lang="en-US" sz="1400" dirty="0">
                  <a:latin typeface="Preeti" pitchFamily="2" charset="0"/>
                </a:rPr>
                <a:t> g+=M ========================================================= </a:t>
              </a:r>
            </a:p>
            <a:p>
              <a:r>
                <a:rPr lang="en-US" sz="1400" dirty="0">
                  <a:latin typeface="Preeti" pitchFamily="2" charset="0"/>
                </a:rPr>
                <a:t>tnf÷5fgfsf] </a:t>
              </a:r>
              <a:r>
                <a:rPr lang="en-US" sz="1400" dirty="0" err="1">
                  <a:latin typeface="Preeti" pitchFamily="2" charset="0"/>
                </a:rPr>
                <a:t>lsl;d</a:t>
              </a:r>
              <a:r>
                <a:rPr lang="en-US" sz="1400" dirty="0">
                  <a:latin typeface="Preeti" pitchFamily="2" charset="0"/>
                </a:rPr>
                <a:t> g+=M ========================================================= </a:t>
              </a:r>
            </a:p>
            <a:p>
              <a:r>
                <a:rPr lang="en-US" sz="1400" dirty="0" err="1">
                  <a:latin typeface="Preeti" pitchFamily="2" charset="0"/>
                </a:rPr>
                <a:t>cGoM</a:t>
              </a:r>
              <a:r>
                <a:rPr lang="en-US" sz="1400" dirty="0">
                  <a:latin typeface="Preeti" pitchFamily="2" charset="0"/>
                </a:rPr>
                <a:t> ====================================================================================</a:t>
              </a:r>
            </a:p>
            <a:p>
              <a:r>
                <a:rPr lang="en-US" sz="1400" b="1" dirty="0">
                  <a:latin typeface="Preeti" pitchFamily="2" charset="0"/>
                </a:rPr>
                <a:t>v_ ;'</a:t>
              </a:r>
              <a:r>
                <a:rPr lang="en-US" sz="1400" b="1" dirty="0" err="1">
                  <a:latin typeface="Preeti" pitchFamily="2" charset="0"/>
                </a:rPr>
                <a:t>wf</a:t>
              </a:r>
              <a:r>
                <a:rPr lang="en-US" sz="1400" b="1" dirty="0">
                  <a:latin typeface="Preeti" pitchFamily="2" charset="0"/>
                </a:rPr>
                <a:t>/ </a:t>
              </a:r>
              <a:r>
                <a:rPr lang="en-US" sz="1400" b="1" dirty="0" err="1">
                  <a:latin typeface="Preeti" pitchFamily="2" charset="0"/>
                </a:rPr>
                <a:t>jf</a:t>
              </a:r>
              <a:r>
                <a:rPr lang="en-US" sz="1400" b="1" dirty="0">
                  <a:latin typeface="Preeti" pitchFamily="2" charset="0"/>
                </a:rPr>
                <a:t> </a:t>
              </a:r>
              <a:r>
                <a:rPr lang="en-US" sz="1400" b="1" dirty="0" err="1">
                  <a:latin typeface="Preeti" pitchFamily="2" charset="0"/>
                </a:rPr>
                <a:t>k|jnLs</a:t>
              </a:r>
              <a:r>
                <a:rPr lang="en-US" sz="1400" b="1" dirty="0">
                  <a:latin typeface="Preeti" pitchFamily="2" charset="0"/>
                </a:rPr>
                <a:t>/0fsf] </a:t>
              </a:r>
              <a:r>
                <a:rPr lang="en-US" sz="1400" b="1" dirty="0" err="1">
                  <a:latin typeface="Preeti" pitchFamily="2" charset="0"/>
                </a:rPr>
                <a:t>k|fljlws</a:t>
              </a:r>
              <a:r>
                <a:rPr lang="en-US" sz="1400" b="1" dirty="0">
                  <a:latin typeface="Preeti" pitchFamily="2" charset="0"/>
                </a:rPr>
                <a:t> </a:t>
              </a:r>
              <a:r>
                <a:rPr lang="en-US" sz="1400" b="1" dirty="0" err="1">
                  <a:latin typeface="Preeti" pitchFamily="2" charset="0"/>
                </a:rPr>
                <a:t>ljj</a:t>
              </a:r>
              <a:r>
                <a:rPr lang="en-US" sz="1400" b="1" dirty="0">
                  <a:latin typeface="Preeti" pitchFamily="2" charset="0"/>
                </a:rPr>
                <a:t>/0f</a:t>
              </a:r>
              <a:endParaRPr lang="en-US" sz="1400" dirty="0">
                <a:latin typeface="Preeti" pitchFamily="2" charset="0"/>
              </a:endParaRPr>
            </a:p>
            <a:p>
              <a:endParaRPr lang="en-US" sz="1400" dirty="0">
                <a:latin typeface="Preeti" pitchFamily="2" charset="0"/>
              </a:endParaRPr>
            </a:p>
          </p:txBody>
        </p:sp>
      </p:grpSp>
      <p:graphicFrame>
        <p:nvGraphicFramePr>
          <p:cNvPr id="9" name="Table 8"/>
          <p:cNvGraphicFramePr>
            <a:graphicFrameLocks noGrp="1"/>
          </p:cNvGraphicFramePr>
          <p:nvPr>
            <p:extLst/>
          </p:nvPr>
        </p:nvGraphicFramePr>
        <p:xfrm>
          <a:off x="375775" y="4988710"/>
          <a:ext cx="3768120" cy="1419139"/>
        </p:xfrm>
        <a:graphic>
          <a:graphicData uri="http://schemas.openxmlformats.org/drawingml/2006/table">
            <a:tbl>
              <a:tblPr/>
              <a:tblGrid>
                <a:gridCol w="1884060">
                  <a:extLst>
                    <a:ext uri="{9D8B030D-6E8A-4147-A177-3AD203B41FA5}">
                      <a16:colId xmlns:a16="http://schemas.microsoft.com/office/drawing/2014/main" xmlns="" val="20000"/>
                    </a:ext>
                  </a:extLst>
                </a:gridCol>
                <a:gridCol w="1884060">
                  <a:extLst>
                    <a:ext uri="{9D8B030D-6E8A-4147-A177-3AD203B41FA5}">
                      <a16:colId xmlns:a16="http://schemas.microsoft.com/office/drawing/2014/main" xmlns="" val="20001"/>
                    </a:ext>
                  </a:extLst>
                </a:gridCol>
              </a:tblGrid>
              <a:tr h="239934">
                <a:tc>
                  <a:txBody>
                    <a:bodyPr/>
                    <a:lstStyle/>
                    <a:p>
                      <a:r>
                        <a:rPr lang="en-US" sz="1200" kern="1200" dirty="0" err="1">
                          <a:solidFill>
                            <a:schemeClr val="tx1"/>
                          </a:solidFill>
                          <a:effectLst/>
                          <a:latin typeface="Preeti" pitchFamily="2" charset="0"/>
                          <a:ea typeface="+mn-ea"/>
                          <a:cs typeface="+mn-cs"/>
                        </a:rPr>
                        <a:t>k|fljlws</a:t>
                      </a:r>
                      <a:r>
                        <a:rPr lang="en-US" sz="1200" kern="1200" dirty="0">
                          <a:solidFill>
                            <a:schemeClr val="tx1"/>
                          </a:solidFill>
                          <a:effectLst/>
                          <a:latin typeface="Preeti" pitchFamily="2" charset="0"/>
                          <a:ea typeface="+mn-ea"/>
                          <a:cs typeface="+mn-cs"/>
                        </a:rPr>
                        <a:t> </a:t>
                      </a:r>
                      <a:r>
                        <a:rPr lang="en-US" sz="1200" kern="1200" dirty="0" err="1">
                          <a:solidFill>
                            <a:schemeClr val="tx1"/>
                          </a:solidFill>
                          <a:effectLst/>
                          <a:latin typeface="Preeti" pitchFamily="2" charset="0"/>
                          <a:ea typeface="+mn-ea"/>
                          <a:cs typeface="+mn-cs"/>
                        </a:rPr>
                        <a:t>lg</a:t>
                      </a:r>
                      <a:r>
                        <a:rPr lang="en-US" sz="1200" kern="1200" dirty="0">
                          <a:solidFill>
                            <a:schemeClr val="tx1"/>
                          </a:solidFill>
                          <a:effectLst/>
                          <a:latin typeface="Preeti" pitchFamily="2" charset="0"/>
                          <a:ea typeface="+mn-ea"/>
                          <a:cs typeface="+mn-cs"/>
                        </a:rPr>
                        <a:t>/LIf0fkl5 ;'</a:t>
                      </a:r>
                      <a:r>
                        <a:rPr lang="en-US" sz="1200" kern="1200" dirty="0" err="1">
                          <a:solidFill>
                            <a:schemeClr val="tx1"/>
                          </a:solidFill>
                          <a:effectLst/>
                          <a:latin typeface="Preeti" pitchFamily="2" charset="0"/>
                          <a:ea typeface="+mn-ea"/>
                          <a:cs typeface="+mn-cs"/>
                        </a:rPr>
                        <a:t>wf</a:t>
                      </a:r>
                      <a:r>
                        <a:rPr lang="en-US" sz="1200" kern="1200" dirty="0">
                          <a:solidFill>
                            <a:schemeClr val="tx1"/>
                          </a:solidFill>
                          <a:effectLst/>
                          <a:latin typeface="Preeti" pitchFamily="2" charset="0"/>
                          <a:ea typeface="+mn-ea"/>
                          <a:cs typeface="+mn-cs"/>
                        </a:rPr>
                        <a:t>/ </a:t>
                      </a:r>
                      <a:r>
                        <a:rPr lang="en-US" sz="1200" kern="1200" dirty="0" err="1">
                          <a:solidFill>
                            <a:schemeClr val="tx1"/>
                          </a:solidFill>
                          <a:effectLst/>
                          <a:latin typeface="Preeti" pitchFamily="2" charset="0"/>
                          <a:ea typeface="+mn-ea"/>
                          <a:cs typeface="+mn-cs"/>
                        </a:rPr>
                        <a:t>jf</a:t>
                      </a:r>
                      <a:r>
                        <a:rPr lang="en-US" sz="1200" kern="1200" dirty="0">
                          <a:solidFill>
                            <a:schemeClr val="tx1"/>
                          </a:solidFill>
                          <a:effectLst/>
                          <a:latin typeface="Preeti" pitchFamily="2" charset="0"/>
                          <a:ea typeface="+mn-ea"/>
                          <a:cs typeface="+mn-cs"/>
                        </a:rPr>
                        <a:t> </a:t>
                      </a:r>
                      <a:r>
                        <a:rPr lang="en-US" sz="1200" kern="1200" dirty="0" err="1">
                          <a:solidFill>
                            <a:schemeClr val="tx1"/>
                          </a:solidFill>
                          <a:effectLst/>
                          <a:latin typeface="Preeti" pitchFamily="2" charset="0"/>
                          <a:ea typeface="+mn-ea"/>
                          <a:cs typeface="+mn-cs"/>
                        </a:rPr>
                        <a:t>k|jnLs</a:t>
                      </a:r>
                      <a:r>
                        <a:rPr lang="en-US" sz="1200" kern="1200" dirty="0">
                          <a:solidFill>
                            <a:schemeClr val="tx1"/>
                          </a:solidFill>
                          <a:effectLst/>
                          <a:latin typeface="Preeti" pitchFamily="2" charset="0"/>
                          <a:ea typeface="+mn-ea"/>
                          <a:cs typeface="+mn-cs"/>
                        </a:rPr>
                        <a:t>/0fsf] </a:t>
                      </a:r>
                      <a:r>
                        <a:rPr lang="en-US" sz="1200" kern="1200" dirty="0" err="1">
                          <a:solidFill>
                            <a:schemeClr val="tx1"/>
                          </a:solidFill>
                          <a:effectLst/>
                          <a:latin typeface="Preeti" pitchFamily="2" charset="0"/>
                          <a:ea typeface="+mn-ea"/>
                          <a:cs typeface="+mn-cs"/>
                        </a:rPr>
                        <a:t>nflu</a:t>
                      </a:r>
                      <a:r>
                        <a:rPr lang="en-US" sz="1200" kern="1200" dirty="0">
                          <a:solidFill>
                            <a:schemeClr val="tx1"/>
                          </a:solidFill>
                          <a:effectLst/>
                          <a:latin typeface="Preeti" pitchFamily="2" charset="0"/>
                          <a:ea typeface="+mn-ea"/>
                          <a:cs typeface="+mn-cs"/>
                        </a:rPr>
                        <a:t> </a:t>
                      </a:r>
                      <a:r>
                        <a:rPr lang="en-US" sz="1200" kern="1200" dirty="0" err="1">
                          <a:solidFill>
                            <a:schemeClr val="tx1"/>
                          </a:solidFill>
                          <a:effectLst/>
                          <a:latin typeface="Preeti" pitchFamily="2" charset="0"/>
                          <a:ea typeface="+mn-ea"/>
                          <a:cs typeface="+mn-cs"/>
                        </a:rPr>
                        <a:t>lbOPsf</a:t>
                      </a:r>
                      <a:r>
                        <a:rPr lang="en-US" sz="1200" kern="1200" dirty="0">
                          <a:solidFill>
                            <a:schemeClr val="tx1"/>
                          </a:solidFill>
                          <a:effectLst/>
                          <a:latin typeface="Preeti" pitchFamily="2" charset="0"/>
                          <a:ea typeface="+mn-ea"/>
                          <a:cs typeface="+mn-cs"/>
                        </a:rPr>
                        <a:t>] </a:t>
                      </a:r>
                      <a:r>
                        <a:rPr lang="en-US" sz="1200" kern="1200" dirty="0" err="1">
                          <a:solidFill>
                            <a:schemeClr val="tx1"/>
                          </a:solidFill>
                          <a:effectLst/>
                          <a:latin typeface="Preeti" pitchFamily="2" charset="0"/>
                          <a:ea typeface="+mn-ea"/>
                          <a:cs typeface="+mn-cs"/>
                        </a:rPr>
                        <a:t>lgb</a:t>
                      </a:r>
                      <a:r>
                        <a:rPr lang="en-US" sz="1200" kern="1200" dirty="0">
                          <a:solidFill>
                            <a:schemeClr val="tx1"/>
                          </a:solidFill>
                          <a:effectLst/>
                          <a:latin typeface="Preeti" pitchFamily="2" charset="0"/>
                          <a:ea typeface="+mn-ea"/>
                          <a:cs typeface="+mn-cs"/>
                        </a:rPr>
                        <a:t>]{</a:t>
                      </a:r>
                      <a:r>
                        <a:rPr lang="en-US" sz="1200" kern="1200" dirty="0" err="1">
                          <a:solidFill>
                            <a:schemeClr val="tx1"/>
                          </a:solidFill>
                          <a:effectLst/>
                          <a:latin typeface="Preeti" pitchFamily="2" charset="0"/>
                          <a:ea typeface="+mn-ea"/>
                          <a:cs typeface="+mn-cs"/>
                        </a:rPr>
                        <a:t>zg</a:t>
                      </a:r>
                      <a:endParaRPr lang="en-US" sz="1200" dirty="0">
                        <a:latin typeface="Preeti" pitchFamily="2" charset="0"/>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US" sz="1200" kern="1200" dirty="0">
                          <a:solidFill>
                            <a:schemeClr val="tx1"/>
                          </a:solidFill>
                          <a:effectLst/>
                          <a:latin typeface="Preeti" pitchFamily="2" charset="0"/>
                          <a:ea typeface="+mn-ea"/>
                          <a:cs typeface="+mn-cs"/>
                        </a:rPr>
                        <a:t>;'</a:t>
                      </a:r>
                      <a:r>
                        <a:rPr lang="en-US" sz="1200" kern="1200" dirty="0" err="1">
                          <a:solidFill>
                            <a:schemeClr val="tx1"/>
                          </a:solidFill>
                          <a:effectLst/>
                          <a:latin typeface="Preeti" pitchFamily="2" charset="0"/>
                          <a:ea typeface="+mn-ea"/>
                          <a:cs typeface="+mn-cs"/>
                        </a:rPr>
                        <a:t>wf</a:t>
                      </a:r>
                      <a:r>
                        <a:rPr lang="en-US" sz="1200" kern="1200" dirty="0">
                          <a:solidFill>
                            <a:schemeClr val="tx1"/>
                          </a:solidFill>
                          <a:effectLst/>
                          <a:latin typeface="Preeti" pitchFamily="2" charset="0"/>
                          <a:ea typeface="+mn-ea"/>
                          <a:cs typeface="+mn-cs"/>
                        </a:rPr>
                        <a:t>/kl5sf] </a:t>
                      </a:r>
                      <a:r>
                        <a:rPr lang="en-US" sz="1200" kern="1200" dirty="0" err="1">
                          <a:solidFill>
                            <a:schemeClr val="tx1"/>
                          </a:solidFill>
                          <a:effectLst/>
                          <a:latin typeface="Preeti" pitchFamily="2" charset="0"/>
                          <a:ea typeface="+mn-ea"/>
                          <a:cs typeface="+mn-cs"/>
                        </a:rPr>
                        <a:t>cj:yf</a:t>
                      </a:r>
                      <a:endParaRPr lang="en-US" sz="1200" dirty="0">
                        <a:latin typeface="Preeti" pitchFamily="2"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239934">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239934">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239934">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242137">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800" dirty="0">
                        <a:latin typeface="Preeti"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grpSp>
        <p:nvGrpSpPr>
          <p:cNvPr id="10" name="Group 9"/>
          <p:cNvGrpSpPr/>
          <p:nvPr/>
        </p:nvGrpSpPr>
        <p:grpSpPr>
          <a:xfrm>
            <a:off x="4530009" y="722099"/>
            <a:ext cx="4560498" cy="5809467"/>
            <a:chOff x="4530009" y="574182"/>
            <a:chExt cx="4560498" cy="5809467"/>
          </a:xfrm>
        </p:grpSpPr>
        <p:sp>
          <p:nvSpPr>
            <p:cNvPr id="11" name="Rectangle 10"/>
            <p:cNvSpPr/>
            <p:nvPr/>
          </p:nvSpPr>
          <p:spPr>
            <a:xfrm>
              <a:off x="4560548" y="574182"/>
              <a:ext cx="4529959" cy="58094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TextBox 11"/>
            <p:cNvSpPr txBox="1"/>
            <p:nvPr/>
          </p:nvSpPr>
          <p:spPr>
            <a:xfrm>
              <a:off x="4530009" y="596693"/>
              <a:ext cx="2124299" cy="307777"/>
            </a:xfrm>
            <a:prstGeom prst="rect">
              <a:avLst/>
            </a:prstGeom>
            <a:noFill/>
          </p:spPr>
          <p:txBody>
            <a:bodyPr wrap="none" rtlCol="0">
              <a:spAutoFit/>
            </a:bodyPr>
            <a:lstStyle/>
            <a:p>
              <a:r>
                <a:rPr lang="en-US" sz="1400" dirty="0">
                  <a:latin typeface="Preeti" pitchFamily="2" charset="0"/>
                </a:rPr>
                <a:t>u_ ;'</a:t>
              </a:r>
              <a:r>
                <a:rPr lang="en-US" sz="1400" dirty="0" err="1">
                  <a:latin typeface="Preeti" pitchFamily="2" charset="0"/>
                </a:rPr>
                <a:t>wf</a:t>
              </a:r>
              <a:r>
                <a:rPr lang="en-US" sz="1400" dirty="0">
                  <a:latin typeface="Preeti" pitchFamily="2" charset="0"/>
                </a:rPr>
                <a:t>/kl5 3/</a:t>
              </a:r>
              <a:r>
                <a:rPr lang="en-US" sz="1400" dirty="0" err="1">
                  <a:latin typeface="Preeti" pitchFamily="2" charset="0"/>
                </a:rPr>
                <a:t>sf</a:t>
              </a:r>
              <a:r>
                <a:rPr lang="en-US" sz="1400" dirty="0">
                  <a:latin typeface="Preeti" pitchFamily="2" charset="0"/>
                </a:rPr>
                <a:t>] </a:t>
              </a:r>
              <a:r>
                <a:rPr lang="en-US" sz="1400" dirty="0" err="1">
                  <a:latin typeface="Preeti" pitchFamily="2" charset="0"/>
                </a:rPr>
                <a:t>df</a:t>
              </a:r>
              <a:r>
                <a:rPr lang="en-US" sz="1400" dirty="0">
                  <a:latin typeface="Preeti" pitchFamily="2" charset="0"/>
                </a:rPr>
                <a:t>]6fdf]6L </a:t>
              </a:r>
              <a:r>
                <a:rPr lang="en-US" sz="1400" dirty="0" err="1">
                  <a:latin typeface="Preeti" pitchFamily="2" charset="0"/>
                </a:rPr>
                <a:t>gSzfM</a:t>
              </a:r>
              <a:endParaRPr lang="en-US" sz="1400" dirty="0">
                <a:latin typeface="Preeti" pitchFamily="2" charset="0"/>
              </a:endParaRPr>
            </a:p>
          </p:txBody>
        </p:sp>
        <p:sp>
          <p:nvSpPr>
            <p:cNvPr id="13" name="TextBox 12"/>
            <p:cNvSpPr txBox="1"/>
            <p:nvPr/>
          </p:nvSpPr>
          <p:spPr>
            <a:xfrm>
              <a:off x="4534421" y="2431938"/>
              <a:ext cx="4525546" cy="3754874"/>
            </a:xfrm>
            <a:prstGeom prst="rect">
              <a:avLst/>
            </a:prstGeom>
            <a:noFill/>
          </p:spPr>
          <p:txBody>
            <a:bodyPr wrap="square" rtlCol="0">
              <a:spAutoFit/>
            </a:bodyPr>
            <a:lstStyle/>
            <a:p>
              <a:pPr algn="just"/>
              <a:r>
                <a:rPr lang="en-US" sz="1400" dirty="0">
                  <a:latin typeface="Preeti" pitchFamily="2" charset="0"/>
                </a:rPr>
                <a:t>-3_ b]</a:t>
              </a:r>
              <a:r>
                <a:rPr lang="en-US" sz="1400" dirty="0" err="1">
                  <a:latin typeface="Preeti" pitchFamily="2" charset="0"/>
                </a:rPr>
                <a:t>lvPsf</a:t>
              </a:r>
              <a:r>
                <a:rPr lang="en-US" sz="1400" dirty="0">
                  <a:latin typeface="Preeti" pitchFamily="2" charset="0"/>
                </a:rPr>
                <a:t> </a:t>
              </a:r>
              <a:r>
                <a:rPr lang="en-US" sz="1400" dirty="0" err="1">
                  <a:latin typeface="Preeti" pitchFamily="2" charset="0"/>
                </a:rPr>
                <a:t>k|fljlws</a:t>
              </a:r>
              <a:r>
                <a:rPr lang="en-US" sz="1400" dirty="0">
                  <a:latin typeface="Preeti" pitchFamily="2" charset="0"/>
                </a:rPr>
                <a:t> </a:t>
              </a:r>
              <a:r>
                <a:rPr lang="en-US" sz="1400" dirty="0" err="1">
                  <a:latin typeface="Preeti" pitchFamily="2" charset="0"/>
                </a:rPr>
                <a:t>ljj</a:t>
              </a:r>
              <a:r>
                <a:rPr lang="en-US" sz="1400" dirty="0">
                  <a:latin typeface="Preeti" pitchFamily="2" charset="0"/>
                </a:rPr>
                <a:t>/0fx?sf] </a:t>
              </a:r>
              <a:r>
                <a:rPr lang="en-US" sz="1400" dirty="0" err="1">
                  <a:latin typeface="Preeti" pitchFamily="2" charset="0"/>
                </a:rPr>
                <a:t>ljZn</a:t>
              </a:r>
              <a:r>
                <a:rPr lang="en-US" sz="1400" dirty="0">
                  <a:latin typeface="Preeti" pitchFamily="2" charset="0"/>
                </a:rPr>
                <a:t>]if0f u/L </a:t>
              </a:r>
              <a:r>
                <a:rPr lang="en-US" sz="1400" dirty="0" err="1">
                  <a:latin typeface="Preeti" pitchFamily="2" charset="0"/>
                </a:rPr>
                <a:t>lgdf</a:t>
              </a:r>
              <a:r>
                <a:rPr lang="en-US" sz="1400" dirty="0">
                  <a:latin typeface="Preeti" pitchFamily="2" charset="0"/>
                </a:rPr>
                <a:t>{0ffwLg 3/ </a:t>
              </a:r>
              <a:r>
                <a:rPr lang="en-US" sz="1400" dirty="0" err="1">
                  <a:latin typeface="Preeti" pitchFamily="2" charset="0"/>
                </a:rPr>
                <a:t>yk</a:t>
              </a:r>
              <a:r>
                <a:rPr lang="en-US" sz="1400" dirty="0">
                  <a:latin typeface="Preeti" pitchFamily="2" charset="0"/>
                </a:rPr>
                <a:t> </a:t>
              </a:r>
              <a:r>
                <a:rPr lang="en-US" sz="1400" dirty="0" err="1">
                  <a:latin typeface="Preeti" pitchFamily="2" charset="0"/>
                </a:rPr>
                <a:t>lgdf</a:t>
              </a:r>
              <a:r>
                <a:rPr lang="en-US" sz="1400" dirty="0">
                  <a:latin typeface="Preeti" pitchFamily="2" charset="0"/>
                </a:rPr>
                <a:t>{0fsf] </a:t>
              </a:r>
              <a:r>
                <a:rPr lang="en-US" sz="1400" dirty="0" err="1">
                  <a:latin typeface="Preeti" pitchFamily="2" charset="0"/>
                </a:rPr>
                <a:t>nflu</a:t>
              </a:r>
              <a:r>
                <a:rPr lang="en-US" sz="1400" dirty="0">
                  <a:latin typeface="Preeti" pitchFamily="2" charset="0"/>
                </a:rPr>
                <a:t> :</a:t>
              </a:r>
              <a:r>
                <a:rPr lang="en-US" sz="1400" dirty="0" err="1">
                  <a:latin typeface="Preeti" pitchFamily="2" charset="0"/>
                </a:rPr>
                <a:t>jLsl</a:t>
              </a:r>
              <a:r>
                <a:rPr lang="en-US" sz="1400" dirty="0">
                  <a:latin typeface="Preeti" pitchFamily="2" charset="0"/>
                </a:rPr>
                <a:t>[t </a:t>
              </a:r>
              <a:r>
                <a:rPr lang="en-US" sz="1400" dirty="0" err="1">
                  <a:latin typeface="Preeti" pitchFamily="2" charset="0"/>
                </a:rPr>
                <a:t>lbg</a:t>
              </a:r>
              <a:r>
                <a:rPr lang="en-US" sz="1400" dirty="0">
                  <a:latin typeface="Preeti" pitchFamily="2" charset="0"/>
                </a:rPr>
                <a:t>' </a:t>
              </a:r>
              <a:r>
                <a:rPr lang="en-US" sz="1400" dirty="0" err="1">
                  <a:latin typeface="Preeti" pitchFamily="2" charset="0"/>
                </a:rPr>
                <a:t>pko'Qm</a:t>
              </a:r>
              <a:r>
                <a:rPr lang="en-US" sz="1400" dirty="0">
                  <a:latin typeface="Preeti" pitchFamily="2" charset="0"/>
                </a:rPr>
                <a:t> b]lvG5 &lt;b]lvG5   b]</a:t>
              </a:r>
              <a:r>
                <a:rPr lang="en-US" sz="1400" dirty="0" err="1">
                  <a:latin typeface="Preeti" pitchFamily="2" charset="0"/>
                </a:rPr>
                <a:t>lvb</a:t>
              </a:r>
              <a:r>
                <a:rPr lang="en-US" sz="1400" dirty="0">
                  <a:latin typeface="Preeti" pitchFamily="2" charset="0"/>
                </a:rPr>
                <a:t>}g</a:t>
              </a:r>
            </a:p>
            <a:p>
              <a:pPr algn="just"/>
              <a:r>
                <a:rPr lang="en-US" sz="1400" dirty="0">
                  <a:latin typeface="Preeti" pitchFamily="2" charset="0"/>
                </a:rPr>
                <a:t>     </a:t>
              </a:r>
              <a:r>
                <a:rPr lang="en-US" sz="1400" dirty="0" err="1">
                  <a:latin typeface="Preeti" pitchFamily="2" charset="0"/>
                </a:rPr>
                <a:t>k|fljlws</a:t>
              </a:r>
              <a:r>
                <a:rPr lang="en-US" sz="1400" dirty="0">
                  <a:latin typeface="Preeti" pitchFamily="2" charset="0"/>
                </a:rPr>
                <a:t> </a:t>
              </a:r>
              <a:r>
                <a:rPr lang="en-US" sz="1400" dirty="0" err="1">
                  <a:latin typeface="Preeti" pitchFamily="2" charset="0"/>
                </a:rPr>
                <a:t>lg</a:t>
              </a:r>
              <a:r>
                <a:rPr lang="en-US" sz="1400" dirty="0">
                  <a:latin typeface="Preeti" pitchFamily="2" charset="0"/>
                </a:rPr>
                <a:t>/LIf0faf6 </a:t>
              </a:r>
              <a:r>
                <a:rPr lang="en-US" sz="1400" dirty="0" err="1">
                  <a:latin typeface="Preeti" pitchFamily="2" charset="0"/>
                </a:rPr>
                <a:t>kf</a:t>
              </a:r>
              <a:r>
                <a:rPr lang="en-US" sz="1400" dirty="0">
                  <a:latin typeface="Preeti" pitchFamily="2" charset="0"/>
                </a:rPr>
                <a:t>; </a:t>
              </a:r>
              <a:r>
                <a:rPr lang="en-US" sz="1400" dirty="0" err="1">
                  <a:latin typeface="Preeti" pitchFamily="2" charset="0"/>
                </a:rPr>
                <a:t>ePsf</a:t>
              </a:r>
              <a:r>
                <a:rPr lang="en-US" sz="1400" dirty="0">
                  <a:latin typeface="Preeti" pitchFamily="2" charset="0"/>
                </a:rPr>
                <a:t>]n] </a:t>
              </a:r>
              <a:r>
                <a:rPr lang="en-US" sz="1400" dirty="0" err="1">
                  <a:latin typeface="Preeti" pitchFamily="2" charset="0"/>
                </a:rPr>
                <a:t>yk</a:t>
              </a:r>
              <a:r>
                <a:rPr lang="en-US" sz="1400" dirty="0">
                  <a:latin typeface="Preeti" pitchFamily="2" charset="0"/>
                </a:rPr>
                <a:t> </a:t>
              </a:r>
              <a:r>
                <a:rPr lang="en-US" sz="1400" dirty="0" err="1">
                  <a:latin typeface="Preeti" pitchFamily="2" charset="0"/>
                </a:rPr>
                <a:t>lgdf</a:t>
              </a:r>
              <a:r>
                <a:rPr lang="en-US" sz="1400" dirty="0">
                  <a:latin typeface="Preeti" pitchFamily="2" charset="0"/>
                </a:rPr>
                <a:t>{0f </a:t>
              </a:r>
              <a:r>
                <a:rPr lang="en-US" sz="1400" dirty="0" err="1">
                  <a:latin typeface="Preeti" pitchFamily="2" charset="0"/>
                </a:rPr>
                <a:t>sfo</a:t>
              </a:r>
              <a:r>
                <a:rPr lang="en-US" sz="1400" dirty="0">
                  <a:latin typeface="Preeti" pitchFamily="2" charset="0"/>
                </a:rPr>
                <a:t>{ cufl8 a9fpgsf] </a:t>
              </a:r>
              <a:r>
                <a:rPr lang="en-US" sz="1400" dirty="0" err="1">
                  <a:latin typeface="Preeti" pitchFamily="2" charset="0"/>
                </a:rPr>
                <a:t>nflu</a:t>
              </a:r>
              <a:r>
                <a:rPr lang="en-US" sz="1400" dirty="0">
                  <a:latin typeface="Preeti" pitchFamily="2" charset="0"/>
                </a:rPr>
                <a:t> </a:t>
              </a:r>
              <a:r>
                <a:rPr lang="en-US" sz="1400" dirty="0" err="1">
                  <a:latin typeface="Preeti" pitchFamily="2" charset="0"/>
                </a:rPr>
                <a:t>tyf</a:t>
              </a:r>
              <a:r>
                <a:rPr lang="en-US" sz="1400" dirty="0">
                  <a:latin typeface="Preeti" pitchFamily="2" charset="0"/>
                </a:rPr>
                <a:t> </a:t>
              </a:r>
              <a:r>
                <a:rPr lang="en-US" sz="1400" dirty="0">
                  <a:latin typeface="Preeti" pitchFamily="2" charset="0"/>
                  <a:sym typeface="Wingdings" panose="05000000000000000000" pitchFamily="2" charset="2"/>
                </a:rPr>
                <a:t></a:t>
              </a:r>
              <a:r>
                <a:rPr lang="en-US" sz="1400" dirty="0">
                  <a:latin typeface="Preeti" pitchFamily="2" charset="0"/>
                </a:rPr>
                <a:t> bf]&gt;f]÷</a:t>
              </a:r>
              <a:r>
                <a:rPr lang="en-US" sz="1400" dirty="0">
                  <a:latin typeface="Preeti" pitchFamily="2" charset="0"/>
                  <a:sym typeface="Wingdings" panose="05000000000000000000" pitchFamily="2" charset="2"/>
                </a:rPr>
                <a:t></a:t>
              </a:r>
              <a:r>
                <a:rPr lang="en-US" sz="1400" dirty="0">
                  <a:latin typeface="Preeti" pitchFamily="2" charset="0"/>
                </a:rPr>
                <a:t>t]&gt;f]] </a:t>
              </a:r>
              <a:r>
                <a:rPr lang="en-US" sz="1400" dirty="0" err="1">
                  <a:latin typeface="Preeti" pitchFamily="2" charset="0"/>
                </a:rPr>
                <a:t>ls:tf</a:t>
              </a:r>
              <a:r>
                <a:rPr lang="en-US" sz="1400" dirty="0">
                  <a:latin typeface="Preeti" pitchFamily="2" charset="0"/>
                </a:rPr>
                <a:t> </a:t>
              </a:r>
              <a:r>
                <a:rPr lang="en-US" sz="1400" dirty="0" err="1">
                  <a:latin typeface="Preeti" pitchFamily="2" charset="0"/>
                </a:rPr>
                <a:t>e"QmfgLsf</a:t>
              </a:r>
              <a:r>
                <a:rPr lang="en-US" sz="1400" dirty="0">
                  <a:latin typeface="Preeti" pitchFamily="2" charset="0"/>
                </a:rPr>
                <a:t>] </a:t>
              </a:r>
              <a:r>
                <a:rPr lang="en-US" sz="1400" dirty="0" err="1">
                  <a:latin typeface="Preeti" pitchFamily="2" charset="0"/>
                </a:rPr>
                <a:t>nflu</a:t>
              </a:r>
              <a:r>
                <a:rPr lang="en-US" sz="1400" dirty="0">
                  <a:latin typeface="Preeti" pitchFamily="2" charset="0"/>
                </a:rPr>
                <a:t> k|dfl0ft u/</a:t>
              </a:r>
              <a:r>
                <a:rPr lang="en-US" sz="1400" dirty="0" err="1">
                  <a:latin typeface="Preeti" pitchFamily="2" charset="0"/>
                </a:rPr>
                <a:t>LPsf</a:t>
              </a:r>
              <a:r>
                <a:rPr lang="en-US" sz="1400" dirty="0">
                  <a:latin typeface="Preeti" pitchFamily="2" charset="0"/>
                </a:rPr>
                <a:t>] 5 . </a:t>
              </a:r>
            </a:p>
            <a:p>
              <a:pPr algn="just"/>
              <a:r>
                <a:rPr lang="en-US" sz="1400" dirty="0">
                  <a:latin typeface="Preeti" pitchFamily="2" charset="0"/>
                </a:rPr>
                <a:t>     ;'</a:t>
              </a:r>
              <a:r>
                <a:rPr lang="en-US" sz="1400" dirty="0" err="1">
                  <a:latin typeface="Preeti" pitchFamily="2" charset="0"/>
                </a:rPr>
                <a:t>wf</a:t>
              </a:r>
              <a:r>
                <a:rPr lang="en-US" sz="1400" dirty="0">
                  <a:latin typeface="Preeti" pitchFamily="2" charset="0"/>
                </a:rPr>
                <a:t>/÷</a:t>
              </a:r>
              <a:r>
                <a:rPr lang="en-US" sz="1400" dirty="0" err="1">
                  <a:latin typeface="Preeti" pitchFamily="2" charset="0"/>
                </a:rPr>
                <a:t>k|jnLs</a:t>
              </a:r>
              <a:r>
                <a:rPr lang="en-US" sz="1400" dirty="0">
                  <a:latin typeface="Preeti" pitchFamily="2" charset="0"/>
                </a:rPr>
                <a:t>/0f </a:t>
              </a:r>
              <a:r>
                <a:rPr lang="en-US" sz="1400" dirty="0" err="1">
                  <a:latin typeface="Preeti" pitchFamily="2" charset="0"/>
                </a:rPr>
                <a:t>ug</a:t>
              </a:r>
              <a:r>
                <a:rPr lang="en-US" sz="1400" dirty="0">
                  <a:latin typeface="Preeti" pitchFamily="2" charset="0"/>
                </a:rPr>
                <a:t>'{ kg]{ b]</a:t>
              </a:r>
              <a:r>
                <a:rPr lang="en-US" sz="1400" dirty="0" err="1">
                  <a:latin typeface="Preeti" pitchFamily="2" charset="0"/>
                </a:rPr>
                <a:t>lvPsf</a:t>
              </a:r>
              <a:r>
                <a:rPr lang="en-US" sz="1400" dirty="0">
                  <a:latin typeface="Preeti" pitchFamily="2" charset="0"/>
                </a:rPr>
                <a:t>]n] cg';"</a:t>
              </a:r>
              <a:r>
                <a:rPr lang="en-US" sz="1400" dirty="0" err="1">
                  <a:latin typeface="Preeti" pitchFamily="2" charset="0"/>
                </a:rPr>
                <a:t>rL</a:t>
              </a:r>
              <a:r>
                <a:rPr lang="en-US" sz="1400" dirty="0">
                  <a:latin typeface="Preeti" pitchFamily="2" charset="0"/>
                </a:rPr>
                <a:t> – ^ </a:t>
              </a:r>
              <a:r>
                <a:rPr lang="en-US" sz="1400" dirty="0" err="1">
                  <a:latin typeface="Preeti" pitchFamily="2" charset="0"/>
                </a:rPr>
                <a:t>cg';f</a:t>
              </a:r>
              <a:r>
                <a:rPr lang="en-US" sz="1400" dirty="0">
                  <a:latin typeface="Preeti" pitchFamily="2" charset="0"/>
                </a:rPr>
                <a:t>/ k'</a:t>
              </a:r>
              <a:r>
                <a:rPr lang="en-US" sz="1400" dirty="0" err="1">
                  <a:latin typeface="Preeti" pitchFamily="2" charset="0"/>
                </a:rPr>
                <a:t>gM</a:t>
              </a:r>
              <a:r>
                <a:rPr lang="en-US" sz="1400" dirty="0">
                  <a:latin typeface="Preeti" pitchFamily="2" charset="0"/>
                </a:rPr>
                <a:t>;'</a:t>
              </a:r>
              <a:r>
                <a:rPr lang="en-US" sz="1400" dirty="0" err="1">
                  <a:latin typeface="Preeti" pitchFamily="2" charset="0"/>
                </a:rPr>
                <a:t>wf</a:t>
              </a:r>
              <a:r>
                <a:rPr lang="en-US" sz="1400" dirty="0">
                  <a:latin typeface="Preeti" pitchFamily="2" charset="0"/>
                </a:rPr>
                <a:t>/÷</a:t>
              </a:r>
              <a:r>
                <a:rPr lang="en-US" sz="1400" dirty="0" err="1">
                  <a:latin typeface="Preeti" pitchFamily="2" charset="0"/>
                </a:rPr>
                <a:t>k|anLs</a:t>
              </a:r>
              <a:r>
                <a:rPr lang="en-US" sz="1400" dirty="0">
                  <a:latin typeface="Preeti" pitchFamily="2" charset="0"/>
                </a:rPr>
                <a:t>/0f </a:t>
              </a:r>
              <a:r>
                <a:rPr lang="en-US" sz="1400" dirty="0" err="1">
                  <a:latin typeface="Preeti" pitchFamily="2" charset="0"/>
                </a:rPr>
                <a:t>cfb</a:t>
              </a:r>
              <a:r>
                <a:rPr lang="en-US" sz="1400" dirty="0">
                  <a:latin typeface="Preeti" pitchFamily="2" charset="0"/>
                </a:rPr>
                <a:t>]z </a:t>
              </a:r>
              <a:r>
                <a:rPr lang="en-US" sz="1400" dirty="0" err="1">
                  <a:latin typeface="Preeti" pitchFamily="2" charset="0"/>
                </a:rPr>
                <a:t>lbOPsf</a:t>
              </a:r>
              <a:r>
                <a:rPr lang="en-US" sz="1400" dirty="0">
                  <a:latin typeface="Preeti" pitchFamily="2" charset="0"/>
                </a:rPr>
                <a:t>] 5 .</a:t>
              </a:r>
            </a:p>
            <a:p>
              <a:r>
                <a:rPr lang="en-US" sz="1400" dirty="0">
                  <a:latin typeface="Preeti" pitchFamily="2" charset="0"/>
                </a:rPr>
                <a:t>-ª_ </a:t>
              </a:r>
              <a:r>
                <a:rPr lang="en-US" sz="1400" dirty="0" err="1">
                  <a:latin typeface="Preeti" pitchFamily="2" charset="0"/>
                </a:rPr>
                <a:t>hfFrdf</a:t>
              </a:r>
              <a:r>
                <a:rPr lang="en-US" sz="1400" dirty="0">
                  <a:latin typeface="Preeti" pitchFamily="2" charset="0"/>
                </a:rPr>
                <a:t> b]</a:t>
              </a:r>
              <a:r>
                <a:rPr lang="en-US" sz="1400" dirty="0" err="1">
                  <a:latin typeface="Preeti" pitchFamily="2" charset="0"/>
                </a:rPr>
                <a:t>lvPsf</a:t>
              </a:r>
              <a:r>
                <a:rPr lang="en-US" sz="1400" dirty="0">
                  <a:latin typeface="Preeti" pitchFamily="2" charset="0"/>
                </a:rPr>
                <a:t> </a:t>
              </a:r>
              <a:r>
                <a:rPr lang="en-US" sz="1400" dirty="0" err="1">
                  <a:latin typeface="Preeti" pitchFamily="2" charset="0"/>
                </a:rPr>
                <a:t>k|ljlws</a:t>
              </a:r>
              <a:r>
                <a:rPr lang="en-US" sz="1400" dirty="0">
                  <a:latin typeface="Preeti" pitchFamily="2" charset="0"/>
                </a:rPr>
                <a:t> </a:t>
              </a:r>
              <a:r>
                <a:rPr lang="en-US" sz="1400" dirty="0" err="1">
                  <a:latin typeface="Preeti" pitchFamily="2" charset="0"/>
                </a:rPr>
                <a:t>ljj</a:t>
              </a:r>
              <a:r>
                <a:rPr lang="en-US" sz="1400" dirty="0">
                  <a:latin typeface="Preeti" pitchFamily="2" charset="0"/>
                </a:rPr>
                <a:t>/0fx? 7Ls ;</a:t>
              </a:r>
              <a:r>
                <a:rPr lang="en-US" sz="1400" dirty="0" err="1">
                  <a:latin typeface="Preeti" pitchFamily="2" charset="0"/>
                </a:rPr>
                <a:t>fFrf</a:t>
              </a:r>
              <a:r>
                <a:rPr lang="en-US" sz="1400" dirty="0">
                  <a:latin typeface="Preeti" pitchFamily="2" charset="0"/>
                </a:rPr>
                <a:t>] 5g\ </a:t>
              </a:r>
              <a:r>
                <a:rPr lang="en-US" sz="1400" dirty="0" err="1">
                  <a:latin typeface="Preeti" pitchFamily="2" charset="0"/>
                </a:rPr>
                <a:t>egL</a:t>
              </a:r>
              <a:r>
                <a:rPr lang="en-US" sz="1400" dirty="0">
                  <a:latin typeface="Preeti" pitchFamily="2" charset="0"/>
                </a:rPr>
                <a:t> :</a:t>
              </a:r>
              <a:r>
                <a:rPr lang="en-US" sz="1400" dirty="0" err="1">
                  <a:latin typeface="Preeti" pitchFamily="2" charset="0"/>
                </a:rPr>
                <a:t>jLsf</a:t>
              </a:r>
              <a:r>
                <a:rPr lang="en-US" sz="1400" dirty="0">
                  <a:latin typeface="Preeti" pitchFamily="2" charset="0"/>
                </a:rPr>
                <a:t>/ </a:t>
              </a:r>
              <a:r>
                <a:rPr lang="en-US" sz="1400" dirty="0" err="1">
                  <a:latin typeface="Preeti" pitchFamily="2" charset="0"/>
                </a:rPr>
                <a:t>ug</a:t>
              </a:r>
              <a:r>
                <a:rPr lang="en-US" sz="1400" dirty="0">
                  <a:latin typeface="Preeti" pitchFamily="2" charset="0"/>
                </a:rPr>
                <a:t>]{</a:t>
              </a:r>
            </a:p>
            <a:p>
              <a:r>
                <a:rPr lang="en-US" sz="1400" dirty="0">
                  <a:latin typeface="Preeti" pitchFamily="2" charset="0"/>
                </a:rPr>
                <a:t>3/</a:t>
              </a:r>
              <a:r>
                <a:rPr lang="en-US" sz="1400" dirty="0" err="1">
                  <a:latin typeface="Preeti" pitchFamily="2" charset="0"/>
                </a:rPr>
                <a:t>wgL÷nfeu|fxL</a:t>
              </a:r>
              <a:r>
                <a:rPr lang="en-US" sz="1400" dirty="0">
                  <a:latin typeface="Preeti" pitchFamily="2" charset="0"/>
                </a:rPr>
                <a:t> </a:t>
              </a:r>
              <a:r>
                <a:rPr lang="en-US" sz="1400" dirty="0" err="1">
                  <a:latin typeface="Preeti" pitchFamily="2" charset="0"/>
                </a:rPr>
                <a:t>jf</a:t>
              </a:r>
              <a:r>
                <a:rPr lang="en-US" sz="1400" dirty="0">
                  <a:latin typeface="Preeti" pitchFamily="2" charset="0"/>
                </a:rPr>
                <a:t> </a:t>
              </a:r>
              <a:r>
                <a:rPr lang="en-US" sz="1400" dirty="0" err="1">
                  <a:latin typeface="Preeti" pitchFamily="2" charset="0"/>
                </a:rPr>
                <a:t>k|ltlglwsf</a:t>
              </a:r>
              <a:r>
                <a:rPr lang="en-US" sz="1400" dirty="0">
                  <a:latin typeface="Preeti" pitchFamily="2" charset="0"/>
                </a:rPr>
                <a:t>] </a:t>
              </a:r>
              <a:r>
                <a:rPr lang="en-US" sz="1400" dirty="0" err="1">
                  <a:latin typeface="Preeti" pitchFamily="2" charset="0"/>
                </a:rPr>
                <a:t>gfd</a:t>
              </a:r>
              <a:r>
                <a:rPr lang="en-US" sz="1400" dirty="0">
                  <a:latin typeface="Preeti" pitchFamily="2" charset="0"/>
                </a:rPr>
                <a:t>, y/ ==================</a:t>
              </a:r>
              <a:r>
                <a:rPr lang="en-US" sz="1400" dirty="0" err="1">
                  <a:latin typeface="Preeti" pitchFamily="2" charset="0"/>
                </a:rPr>
                <a:t>x:tfIf</a:t>
              </a:r>
              <a:r>
                <a:rPr lang="en-US" sz="1400" dirty="0">
                  <a:latin typeface="Preeti" pitchFamily="2" charset="0"/>
                </a:rPr>
                <a:t>/======================</a:t>
              </a:r>
            </a:p>
            <a:p>
              <a:r>
                <a:rPr lang="en-US" sz="1400" dirty="0" err="1">
                  <a:latin typeface="Preeti" pitchFamily="2" charset="0"/>
                </a:rPr>
                <a:t>k|ltlglwsf</a:t>
              </a:r>
              <a:r>
                <a:rPr lang="en-US" sz="1400" dirty="0">
                  <a:latin typeface="Preeti" pitchFamily="2" charset="0"/>
                </a:rPr>
                <a:t>] 3/</a:t>
              </a:r>
              <a:r>
                <a:rPr lang="en-US" sz="1400" dirty="0" err="1">
                  <a:latin typeface="Preeti" pitchFamily="2" charset="0"/>
                </a:rPr>
                <a:t>wgL÷nfeu|fxL</a:t>
              </a:r>
              <a:r>
                <a:rPr lang="en-US" sz="1400" dirty="0">
                  <a:latin typeface="Preeti" pitchFamily="2" charset="0"/>
                </a:rPr>
                <a:t>;+</a:t>
              </a:r>
              <a:r>
                <a:rPr lang="en-US" sz="1400" dirty="0" err="1">
                  <a:latin typeface="Preeti" pitchFamily="2" charset="0"/>
                </a:rPr>
                <a:t>usf</a:t>
              </a:r>
              <a:r>
                <a:rPr lang="en-US" sz="1400" dirty="0">
                  <a:latin typeface="Preeti" pitchFamily="2" charset="0"/>
                </a:rPr>
                <a:t>] </a:t>
              </a:r>
              <a:r>
                <a:rPr lang="en-US" sz="1400" dirty="0" err="1">
                  <a:latin typeface="Preeti" pitchFamily="2" charset="0"/>
                </a:rPr>
                <a:t>gftf</a:t>
              </a:r>
              <a:r>
                <a:rPr lang="en-US" sz="1400" dirty="0">
                  <a:latin typeface="Preeti" pitchFamily="2" charset="0"/>
                </a:rPr>
                <a:t> =====================</a:t>
              </a:r>
              <a:r>
                <a:rPr lang="en-US" sz="1400" dirty="0" err="1">
                  <a:latin typeface="Preeti" pitchFamily="2" charset="0"/>
                </a:rPr>
                <a:t>ldlt</a:t>
              </a:r>
              <a:r>
                <a:rPr lang="en-US" sz="1400" dirty="0">
                  <a:latin typeface="Preeti" pitchFamily="2" charset="0"/>
                </a:rPr>
                <a:t> ======================</a:t>
              </a:r>
            </a:p>
            <a:p>
              <a:r>
                <a:rPr lang="en-US" sz="1400" dirty="0">
                  <a:latin typeface="Preeti" pitchFamily="2" charset="0"/>
                </a:rPr>
                <a:t>-r_ </a:t>
              </a:r>
              <a:r>
                <a:rPr lang="en-US" sz="1400" dirty="0" err="1">
                  <a:latin typeface="Preeti" pitchFamily="2" charset="0"/>
                </a:rPr>
                <a:t>k|fljlws</a:t>
              </a:r>
              <a:r>
                <a:rPr lang="en-US" sz="1400" dirty="0">
                  <a:latin typeface="Preeti" pitchFamily="2" charset="0"/>
                </a:rPr>
                <a:t> </a:t>
              </a:r>
              <a:r>
                <a:rPr lang="en-US" sz="1400" dirty="0" err="1">
                  <a:latin typeface="Preeti" pitchFamily="2" charset="0"/>
                </a:rPr>
                <a:t>hfFrsf</a:t>
              </a:r>
              <a:r>
                <a:rPr lang="en-US" sz="1400" dirty="0">
                  <a:latin typeface="Preeti" pitchFamily="2" charset="0"/>
                </a:rPr>
                <a:t>] </a:t>
              </a:r>
              <a:r>
                <a:rPr lang="en-US" sz="1400" dirty="0" err="1">
                  <a:latin typeface="Preeti" pitchFamily="2" charset="0"/>
                </a:rPr>
                <a:t>ljj</a:t>
              </a:r>
              <a:r>
                <a:rPr lang="en-US" sz="1400" dirty="0">
                  <a:latin typeface="Preeti" pitchFamily="2" charset="0"/>
                </a:rPr>
                <a:t>/0f :</a:t>
              </a:r>
              <a:r>
                <a:rPr lang="en-US" sz="1400" dirty="0" err="1">
                  <a:latin typeface="Preeti" pitchFamily="2" charset="0"/>
                </a:rPr>
                <a:t>jLs</a:t>
              </a:r>
              <a:r>
                <a:rPr lang="en-US" sz="1400" dirty="0">
                  <a:latin typeface="Preeti" pitchFamily="2" charset="0"/>
                </a:rPr>
                <a:t>[</a:t>
              </a:r>
              <a:r>
                <a:rPr lang="en-US" sz="1400" dirty="0" err="1">
                  <a:latin typeface="Preeti" pitchFamily="2" charset="0"/>
                </a:rPr>
                <a:t>ltsf</a:t>
              </a:r>
              <a:r>
                <a:rPr lang="en-US" sz="1400" dirty="0">
                  <a:latin typeface="Preeti" pitchFamily="2" charset="0"/>
                </a:rPr>
                <a:t>] </a:t>
              </a:r>
              <a:r>
                <a:rPr lang="en-US" sz="1400" dirty="0" err="1">
                  <a:latin typeface="Preeti" pitchFamily="2" charset="0"/>
                </a:rPr>
                <a:t>nflu</a:t>
              </a:r>
              <a:r>
                <a:rPr lang="en-US" sz="1400" dirty="0">
                  <a:latin typeface="Preeti" pitchFamily="2" charset="0"/>
                </a:rPr>
                <a:t> k]z </a:t>
              </a:r>
              <a:r>
                <a:rPr lang="en-US" sz="1400" dirty="0" err="1">
                  <a:latin typeface="Preeti" pitchFamily="2" charset="0"/>
                </a:rPr>
                <a:t>ug</a:t>
              </a:r>
              <a:r>
                <a:rPr lang="en-US" sz="1400" dirty="0">
                  <a:latin typeface="Preeti" pitchFamily="2" charset="0"/>
                </a:rPr>
                <a:t>]{M ==============================</a:t>
              </a:r>
            </a:p>
            <a:p>
              <a:r>
                <a:rPr lang="en-US" sz="1400" dirty="0" err="1">
                  <a:latin typeface="+mj-lt"/>
                </a:rPr>
                <a:t>MoUD-DLPIUsf</a:t>
              </a:r>
              <a:r>
                <a:rPr lang="en-US" sz="1400" dirty="0">
                  <a:latin typeface="+mj-lt"/>
                </a:rPr>
                <a:t>] </a:t>
              </a:r>
              <a:r>
                <a:rPr lang="en-US" sz="1400" dirty="0">
                  <a:latin typeface="Preeti" pitchFamily="2" charset="0"/>
                </a:rPr>
                <a:t>;'k/</a:t>
              </a:r>
              <a:r>
                <a:rPr lang="en-US" sz="1400" dirty="0" err="1">
                  <a:latin typeface="Preeti" pitchFamily="2" charset="0"/>
                </a:rPr>
                <a:t>Lj</a:t>
              </a:r>
              <a:r>
                <a:rPr lang="en-US" sz="1400" dirty="0">
                  <a:latin typeface="Preeti" pitchFamily="2" charset="0"/>
                </a:rPr>
                <a:t>]</a:t>
              </a:r>
              <a:r>
                <a:rPr lang="en-US" sz="1400" dirty="0" err="1">
                  <a:latin typeface="Preeti" pitchFamily="2" charset="0"/>
                </a:rPr>
                <a:t>IfsM</a:t>
              </a:r>
              <a:r>
                <a:rPr lang="en-US" sz="1400" dirty="0">
                  <a:latin typeface="Preeti" pitchFamily="2" charset="0"/>
                </a:rPr>
                <a:t> ======================================</a:t>
              </a:r>
            </a:p>
            <a:p>
              <a:r>
                <a:rPr lang="en-US" sz="1400" dirty="0" err="1">
                  <a:latin typeface="Preeti" pitchFamily="2" charset="0"/>
                </a:rPr>
                <a:t>gfdM</a:t>
              </a:r>
              <a:r>
                <a:rPr lang="en-US" sz="1400" dirty="0">
                  <a:latin typeface="Preeti" pitchFamily="2" charset="0"/>
                </a:rPr>
                <a:t> ========================================================</a:t>
              </a:r>
              <a:r>
                <a:rPr lang="en-US" sz="1400" dirty="0" err="1">
                  <a:latin typeface="Preeti" pitchFamily="2" charset="0"/>
                </a:rPr>
                <a:t>kbM</a:t>
              </a:r>
              <a:r>
                <a:rPr lang="en-US" sz="1400" dirty="0">
                  <a:latin typeface="Preeti" pitchFamily="2" charset="0"/>
                </a:rPr>
                <a:t> ======================================</a:t>
              </a:r>
            </a:p>
            <a:p>
              <a:r>
                <a:rPr lang="en-US" sz="1400" dirty="0">
                  <a:latin typeface="Preeti" pitchFamily="2" charset="0"/>
                </a:rPr>
                <a:t>x:tfIf/M ===================================================</a:t>
              </a:r>
              <a:r>
                <a:rPr lang="en-US" sz="1400" dirty="0" err="1">
                  <a:latin typeface="Preeti" pitchFamily="2" charset="0"/>
                </a:rPr>
                <a:t>ldltM</a:t>
              </a:r>
              <a:r>
                <a:rPr lang="en-US" sz="1400" dirty="0">
                  <a:latin typeface="Preeti" pitchFamily="2" charset="0"/>
                </a:rPr>
                <a:t> ===================================</a:t>
              </a:r>
            </a:p>
            <a:p>
              <a:r>
                <a:rPr lang="en-US" sz="1400" dirty="0">
                  <a:latin typeface="Preeti" pitchFamily="2" charset="0"/>
                </a:rPr>
                <a:t>-5_k|fljlws </a:t>
              </a:r>
              <a:r>
                <a:rPr lang="en-US" sz="1400" dirty="0" err="1">
                  <a:latin typeface="Preeti" pitchFamily="2" charset="0"/>
                </a:rPr>
                <a:t>hfFrsf</a:t>
              </a:r>
              <a:r>
                <a:rPr lang="en-US" sz="1400" dirty="0">
                  <a:latin typeface="Preeti" pitchFamily="2" charset="0"/>
                </a:rPr>
                <a:t>] </a:t>
              </a:r>
              <a:r>
                <a:rPr lang="en-US" sz="1400" dirty="0" err="1">
                  <a:latin typeface="Preeti" pitchFamily="2" charset="0"/>
                </a:rPr>
                <a:t>ljj</a:t>
              </a:r>
              <a:r>
                <a:rPr lang="en-US" sz="1400" dirty="0">
                  <a:latin typeface="Preeti" pitchFamily="2" charset="0"/>
                </a:rPr>
                <a:t>/0f :</a:t>
              </a:r>
              <a:r>
                <a:rPr lang="en-US" sz="1400" dirty="0" err="1">
                  <a:latin typeface="Preeti" pitchFamily="2" charset="0"/>
                </a:rPr>
                <a:t>jLs</a:t>
              </a:r>
              <a:r>
                <a:rPr lang="en-US" sz="1400" dirty="0">
                  <a:latin typeface="Preeti" pitchFamily="2" charset="0"/>
                </a:rPr>
                <a:t>[t </a:t>
              </a:r>
              <a:r>
                <a:rPr lang="en-US" sz="1400" dirty="0" err="1">
                  <a:latin typeface="Preeti" pitchFamily="2" charset="0"/>
                </a:rPr>
                <a:t>ug</a:t>
              </a:r>
              <a:r>
                <a:rPr lang="en-US" sz="1400" dirty="0">
                  <a:latin typeface="Preeti" pitchFamily="2" charset="0"/>
                </a:rPr>
                <a:t>]{ </a:t>
              </a:r>
            </a:p>
            <a:p>
              <a:r>
                <a:rPr lang="en-US" sz="1400" dirty="0" err="1">
                  <a:latin typeface="+mj-lt"/>
                </a:rPr>
                <a:t>MoUD</a:t>
              </a:r>
              <a:r>
                <a:rPr lang="en-US" sz="1400" dirty="0">
                  <a:latin typeface="+mj-lt"/>
                </a:rPr>
                <a:t>-DLPIU </a:t>
              </a:r>
              <a:r>
                <a:rPr lang="en-US" sz="1400" dirty="0" err="1">
                  <a:latin typeface="Preeti" pitchFamily="2" charset="0"/>
                </a:rPr>
                <a:t>sf</a:t>
              </a:r>
              <a:r>
                <a:rPr lang="en-US" sz="1400" dirty="0">
                  <a:latin typeface="Preeti" pitchFamily="2" charset="0"/>
                </a:rPr>
                <a:t>] ;'k/</a:t>
              </a:r>
              <a:r>
                <a:rPr lang="en-US" sz="1400" dirty="0" err="1">
                  <a:latin typeface="Preeti" pitchFamily="2" charset="0"/>
                </a:rPr>
                <a:t>Lj</a:t>
              </a:r>
              <a:r>
                <a:rPr lang="en-US" sz="1400" dirty="0">
                  <a:latin typeface="Preeti" pitchFamily="2" charset="0"/>
                </a:rPr>
                <a:t>]If0f </a:t>
              </a:r>
              <a:r>
                <a:rPr lang="en-US" sz="1400" dirty="0" err="1">
                  <a:latin typeface="Preeti" pitchFamily="2" charset="0"/>
                </a:rPr>
                <a:t>Ol~hlgo</a:t>
              </a:r>
              <a:r>
                <a:rPr lang="en-US" sz="1400" dirty="0">
                  <a:latin typeface="Preeti" pitchFamily="2" charset="0"/>
                </a:rPr>
                <a:t>/M============================================</a:t>
              </a:r>
            </a:p>
            <a:p>
              <a:r>
                <a:rPr lang="en-US" sz="1400" dirty="0" err="1">
                  <a:latin typeface="Preeti" pitchFamily="2" charset="0"/>
                </a:rPr>
                <a:t>gfdM</a:t>
              </a:r>
              <a:r>
                <a:rPr lang="en-US" sz="1400" dirty="0">
                  <a:latin typeface="Preeti" pitchFamily="2" charset="0"/>
                </a:rPr>
                <a:t> =========================================================</a:t>
              </a:r>
              <a:r>
                <a:rPr lang="en-US" sz="1400" dirty="0" err="1">
                  <a:latin typeface="Preeti" pitchFamily="2" charset="0"/>
                </a:rPr>
                <a:t>kbM</a:t>
              </a:r>
              <a:r>
                <a:rPr lang="en-US" sz="1400" dirty="0">
                  <a:latin typeface="Preeti" pitchFamily="2" charset="0"/>
                </a:rPr>
                <a:t> ======================================</a:t>
              </a:r>
            </a:p>
            <a:p>
              <a:r>
                <a:rPr lang="en-US" sz="1400" dirty="0">
                  <a:latin typeface="Preeti" pitchFamily="2" charset="0"/>
                </a:rPr>
                <a:t>x:tfIf/M ====================================================</a:t>
              </a:r>
              <a:r>
                <a:rPr lang="en-US" sz="1400" dirty="0" err="1">
                  <a:latin typeface="Preeti" pitchFamily="2" charset="0"/>
                </a:rPr>
                <a:t>ldltM</a:t>
              </a:r>
              <a:r>
                <a:rPr lang="en-US" sz="1400" dirty="0">
                  <a:latin typeface="Preeti" pitchFamily="2" charset="0"/>
                </a:rPr>
                <a:t> ===================================</a:t>
              </a:r>
            </a:p>
          </p:txBody>
        </p:sp>
        <p:sp>
          <p:nvSpPr>
            <p:cNvPr id="14" name="Rectangle 13"/>
            <p:cNvSpPr/>
            <p:nvPr/>
          </p:nvSpPr>
          <p:spPr>
            <a:xfrm>
              <a:off x="4743130" y="958257"/>
              <a:ext cx="4168588" cy="13330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5" name="TextBox 3"/>
          <p:cNvSpPr txBox="1"/>
          <p:nvPr/>
        </p:nvSpPr>
        <p:spPr>
          <a:xfrm>
            <a:off x="0" y="177744"/>
            <a:ext cx="7853082"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Inspection Forms </a:t>
            </a:r>
          </a:p>
        </p:txBody>
      </p:sp>
    </p:spTree>
    <p:extLst>
      <p:ext uri="{BB962C8B-B14F-4D97-AF65-F5344CB8AC3E}">
        <p14:creationId xmlns:p14="http://schemas.microsoft.com/office/powerpoint/2010/main" val="863543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37</a:t>
            </a:fld>
            <a:endParaRPr lang="en-US"/>
          </a:p>
        </p:txBody>
      </p:sp>
      <p:sp>
        <p:nvSpPr>
          <p:cNvPr id="3"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grpSp>
        <p:nvGrpSpPr>
          <p:cNvPr id="8" name="Group 7"/>
          <p:cNvGrpSpPr/>
          <p:nvPr/>
        </p:nvGrpSpPr>
        <p:grpSpPr>
          <a:xfrm>
            <a:off x="1317812" y="806005"/>
            <a:ext cx="6535270" cy="5002091"/>
            <a:chOff x="70093" y="1927503"/>
            <a:chExt cx="3413837" cy="2612948"/>
          </a:xfrm>
        </p:grpSpPr>
        <p:pic>
          <p:nvPicPr>
            <p:cNvPr id="4" name="Picture 33"/>
            <p:cNvPicPr>
              <a:picLocks noChangeAspect="1"/>
            </p:cNvPicPr>
            <p:nvPr/>
          </p:nvPicPr>
          <p:blipFill rotWithShape="1">
            <a:blip r:embed="rId3" cstate="email">
              <a:extLst>
                <a:ext uri="{28A0092B-C50C-407E-A947-70E740481C1C}">
                  <a14:useLocalDpi xmlns:a14="http://schemas.microsoft.com/office/drawing/2010/main" val="0"/>
                </a:ext>
              </a:extLst>
            </a:blip>
            <a:srcRect l="2012"/>
            <a:stretch/>
          </p:blipFill>
          <p:spPr>
            <a:xfrm>
              <a:off x="70093" y="1927503"/>
              <a:ext cx="3413837" cy="2612948"/>
            </a:xfrm>
            <a:prstGeom prst="rect">
              <a:avLst/>
            </a:prstGeom>
          </p:spPr>
        </p:pic>
        <p:cxnSp>
          <p:nvCxnSpPr>
            <p:cNvPr id="5" name="Straight Arrow Connector 3"/>
            <p:cNvCxnSpPr>
              <a:cxnSpLocks noChangeShapeType="1"/>
            </p:cNvCxnSpPr>
            <p:nvPr/>
          </p:nvCxnSpPr>
          <p:spPr bwMode="auto">
            <a:xfrm flipV="1">
              <a:off x="1615904" y="2854692"/>
              <a:ext cx="808935" cy="631738"/>
            </a:xfrm>
            <a:prstGeom prst="straightConnector1">
              <a:avLst/>
            </a:prstGeom>
            <a:noFill/>
            <a:ln w="38100" algn="ctr">
              <a:solidFill>
                <a:srgbClr val="FF0000"/>
              </a:solidFill>
              <a:round/>
              <a:headEnd type="triangle" w="med" len="me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857349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38</a:t>
            </a:fld>
            <a:endParaRPr lang="en-US"/>
          </a:p>
        </p:txBody>
      </p:sp>
      <p:grpSp>
        <p:nvGrpSpPr>
          <p:cNvPr id="8" name="Group 7"/>
          <p:cNvGrpSpPr/>
          <p:nvPr/>
        </p:nvGrpSpPr>
        <p:grpSpPr>
          <a:xfrm>
            <a:off x="1389825" y="807716"/>
            <a:ext cx="6463257" cy="4847441"/>
            <a:chOff x="1389825" y="807716"/>
            <a:chExt cx="6463257" cy="4847441"/>
          </a:xfrm>
        </p:grpSpPr>
        <p:pic>
          <p:nvPicPr>
            <p:cNvPr id="4"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9825" y="807716"/>
              <a:ext cx="6463257" cy="4847441"/>
            </a:xfrm>
            <a:prstGeom prst="rect">
              <a:avLst/>
            </a:prstGeom>
          </p:spPr>
        </p:pic>
        <p:sp>
          <p:nvSpPr>
            <p:cNvPr id="5" name="フリーフォーム 2"/>
            <p:cNvSpPr/>
            <p:nvPr/>
          </p:nvSpPr>
          <p:spPr>
            <a:xfrm>
              <a:off x="2169841" y="2159149"/>
              <a:ext cx="4974695" cy="2307851"/>
            </a:xfrm>
            <a:custGeom>
              <a:avLst/>
              <a:gdLst>
                <a:gd name="connsiteX0" fmla="*/ 893134 w 2179674"/>
                <a:gd name="connsiteY0" fmla="*/ 0 h 999460"/>
                <a:gd name="connsiteX1" fmla="*/ 1626781 w 2179674"/>
                <a:gd name="connsiteY1" fmla="*/ 10632 h 999460"/>
                <a:gd name="connsiteX2" fmla="*/ 2179674 w 2179674"/>
                <a:gd name="connsiteY2" fmla="*/ 999460 h 999460"/>
                <a:gd name="connsiteX3" fmla="*/ 21265 w 2179674"/>
                <a:gd name="connsiteY3" fmla="*/ 871869 h 999460"/>
                <a:gd name="connsiteX4" fmla="*/ 691116 w 2179674"/>
                <a:gd name="connsiteY4" fmla="*/ 393404 h 999460"/>
                <a:gd name="connsiteX5" fmla="*/ 0 w 2179674"/>
                <a:gd name="connsiteY5" fmla="*/ 382772 h 999460"/>
                <a:gd name="connsiteX6" fmla="*/ 893134 w 2179674"/>
                <a:gd name="connsiteY6" fmla="*/ 0 h 999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674" h="999460">
                  <a:moveTo>
                    <a:pt x="893134" y="0"/>
                  </a:moveTo>
                  <a:lnTo>
                    <a:pt x="1626781" y="10632"/>
                  </a:lnTo>
                  <a:lnTo>
                    <a:pt x="2179674" y="999460"/>
                  </a:lnTo>
                  <a:lnTo>
                    <a:pt x="21265" y="871869"/>
                  </a:lnTo>
                  <a:lnTo>
                    <a:pt x="691116" y="393404"/>
                  </a:lnTo>
                  <a:lnTo>
                    <a:pt x="0" y="382772"/>
                  </a:lnTo>
                  <a:lnTo>
                    <a:pt x="893134" y="0"/>
                  </a:lnTo>
                  <a:close/>
                </a:path>
              </a:pathLst>
            </a:custGeom>
            <a:solidFill>
              <a:srgbClr val="FF000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3022317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39</a:t>
            </a:fld>
            <a:endParaRPr lang="en-US"/>
          </a:p>
        </p:txBody>
      </p:sp>
      <p:pic>
        <p:nvPicPr>
          <p:cNvPr id="4"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5282" r="5494"/>
          <a:stretch/>
        </p:blipFill>
        <p:spPr>
          <a:xfrm>
            <a:off x="1721224" y="788410"/>
            <a:ext cx="6114319" cy="5139568"/>
          </a:xfrm>
          <a:prstGeom prst="rect">
            <a:avLst/>
          </a:prstGeom>
        </p:spPr>
      </p:pic>
      <p:sp>
        <p:nvSpPr>
          <p:cNvPr id="6"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321392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40</a:t>
            </a:fld>
            <a:endParaRPr lang="en-US"/>
          </a:p>
        </p:txBody>
      </p:sp>
      <p:sp>
        <p:nvSpPr>
          <p:cNvPr id="3" name="TextBox 2"/>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891"/>
          <a:stretch/>
        </p:blipFill>
        <p:spPr>
          <a:xfrm>
            <a:off x="1237128" y="832754"/>
            <a:ext cx="6615953" cy="5162800"/>
          </a:xfrm>
          <a:prstGeom prst="rect">
            <a:avLst/>
          </a:prstGeom>
        </p:spPr>
      </p:pic>
      <p:sp>
        <p:nvSpPr>
          <p:cNvPr id="6" name="TextBox 19"/>
          <p:cNvSpPr txBox="1"/>
          <p:nvPr/>
        </p:nvSpPr>
        <p:spPr>
          <a:xfrm>
            <a:off x="2047279" y="5982107"/>
            <a:ext cx="4864509" cy="461665"/>
          </a:xfrm>
          <a:prstGeom prst="rect">
            <a:avLst/>
          </a:prstGeom>
          <a:noFill/>
          <a:ln>
            <a:noFill/>
          </a:ln>
        </p:spPr>
        <p:txBody>
          <a:bodyPr wrap="square" rtlCol="0">
            <a:spAutoFit/>
          </a:bodyPr>
          <a:lstStyle/>
          <a:p>
            <a:pPr algn="ctr"/>
            <a:r>
              <a:rPr lang="en-US" sz="2400" dirty="0"/>
              <a:t>Absence of Vertical member</a:t>
            </a:r>
          </a:p>
        </p:txBody>
      </p:sp>
    </p:spTree>
    <p:extLst>
      <p:ext uri="{BB962C8B-B14F-4D97-AF65-F5344CB8AC3E}">
        <p14:creationId xmlns:p14="http://schemas.microsoft.com/office/powerpoint/2010/main" val="3996110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41</a:t>
            </a:fld>
            <a:endParaRPr lang="en-US"/>
          </a:p>
        </p:txBody>
      </p:sp>
      <p:pic>
        <p:nvPicPr>
          <p:cNvPr id="5"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8396" y="880965"/>
            <a:ext cx="6374686" cy="4781012"/>
          </a:xfrm>
          <a:prstGeom prst="rect">
            <a:avLst/>
          </a:prstGeom>
        </p:spPr>
      </p:pic>
      <p:sp>
        <p:nvSpPr>
          <p:cNvPr id="6"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3513415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42</a:t>
            </a:fld>
            <a:endParaRPr lang="en-US"/>
          </a:p>
        </p:txBody>
      </p:sp>
      <p:pic>
        <p:nvPicPr>
          <p:cNvPr id="3" name="Picture 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33425" y="916882"/>
            <a:ext cx="7334250" cy="5500687"/>
          </a:xfrm>
          <a:prstGeom prst="rect">
            <a:avLst/>
          </a:prstGeom>
        </p:spPr>
      </p:pic>
      <p:sp>
        <p:nvSpPr>
          <p:cNvPr id="4" name="Oval 3"/>
          <p:cNvSpPr/>
          <p:nvPr/>
        </p:nvSpPr>
        <p:spPr>
          <a:xfrm rot="21411658">
            <a:off x="2905828" y="3273797"/>
            <a:ext cx="1129372" cy="1117734"/>
          </a:xfrm>
          <a:prstGeom prst="ellipse">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5" name="Straight Connector 4"/>
          <p:cNvCxnSpPr/>
          <p:nvPr/>
        </p:nvCxnSpPr>
        <p:spPr bwMode="auto">
          <a:xfrm>
            <a:off x="2267704" y="4282313"/>
            <a:ext cx="3984239" cy="2193312"/>
          </a:xfrm>
          <a:prstGeom prst="line">
            <a:avLst/>
          </a:prstGeom>
          <a:noFill/>
          <a:ln w="57150">
            <a:solidFill>
              <a:srgbClr val="FF0000"/>
            </a:solidFill>
          </a:ln>
        </p:spPr>
        <p:style>
          <a:lnRef idx="2">
            <a:schemeClr val="accent6"/>
          </a:lnRef>
          <a:fillRef idx="1">
            <a:schemeClr val="lt1"/>
          </a:fillRef>
          <a:effectRef idx="0">
            <a:schemeClr val="accent6"/>
          </a:effectRef>
          <a:fontRef idx="minor">
            <a:schemeClr val="dk1"/>
          </a:fontRef>
        </p:style>
      </p:cxnSp>
      <p:cxnSp>
        <p:nvCxnSpPr>
          <p:cNvPr id="6" name="Straight Connector 5"/>
          <p:cNvCxnSpPr/>
          <p:nvPr/>
        </p:nvCxnSpPr>
        <p:spPr bwMode="auto">
          <a:xfrm>
            <a:off x="2238676" y="3243715"/>
            <a:ext cx="4027781" cy="1792390"/>
          </a:xfrm>
          <a:prstGeom prst="line">
            <a:avLst/>
          </a:prstGeom>
          <a:noFill/>
          <a:ln w="57150">
            <a:solidFill>
              <a:srgbClr val="FF0000"/>
            </a:solidFill>
          </a:ln>
        </p:spPr>
        <p:style>
          <a:lnRef idx="2">
            <a:schemeClr val="accent6"/>
          </a:lnRef>
          <a:fillRef idx="1">
            <a:schemeClr val="lt1"/>
          </a:fillRef>
          <a:effectRef idx="0">
            <a:schemeClr val="accent6"/>
          </a:effectRef>
          <a:fontRef idx="minor">
            <a:schemeClr val="dk1"/>
          </a:fontRef>
        </p:style>
      </p:cxnSp>
      <p:sp>
        <p:nvSpPr>
          <p:cNvPr id="7"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2414057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43</a:t>
            </a:fld>
            <a:endParaRPr lang="en-US"/>
          </a:p>
        </p:txBody>
      </p:sp>
      <p:pic>
        <p:nvPicPr>
          <p:cNvPr id="3" name="Picture 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44854" y="936461"/>
            <a:ext cx="7334249" cy="5500686"/>
          </a:xfrm>
          <a:prstGeom prst="rect">
            <a:avLst/>
          </a:prstGeom>
        </p:spPr>
      </p:pic>
      <p:sp>
        <p:nvSpPr>
          <p:cNvPr id="4" name="Oval 3"/>
          <p:cNvSpPr/>
          <p:nvPr/>
        </p:nvSpPr>
        <p:spPr>
          <a:xfrm rot="21411658">
            <a:off x="5201964" y="2652485"/>
            <a:ext cx="1138498" cy="1215390"/>
          </a:xfrm>
          <a:prstGeom prst="ellipse">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5" name="Straight Connector 4"/>
          <p:cNvCxnSpPr/>
          <p:nvPr/>
        </p:nvCxnSpPr>
        <p:spPr bwMode="auto">
          <a:xfrm>
            <a:off x="940344" y="4099135"/>
            <a:ext cx="2728685" cy="0"/>
          </a:xfrm>
          <a:prstGeom prst="line">
            <a:avLst/>
          </a:prstGeom>
          <a:noFill/>
          <a:ln w="76200">
            <a:solidFill>
              <a:srgbClr val="FF0000"/>
            </a:solidFill>
          </a:ln>
        </p:spPr>
        <p:style>
          <a:lnRef idx="2">
            <a:schemeClr val="accent6"/>
          </a:lnRef>
          <a:fillRef idx="1">
            <a:schemeClr val="lt1"/>
          </a:fillRef>
          <a:effectRef idx="0">
            <a:schemeClr val="accent6"/>
          </a:effectRef>
          <a:fontRef idx="minor">
            <a:schemeClr val="dk1"/>
          </a:fontRef>
        </p:style>
      </p:cxnSp>
      <p:cxnSp>
        <p:nvCxnSpPr>
          <p:cNvPr id="6" name="Straight Connector 5"/>
          <p:cNvCxnSpPr/>
          <p:nvPr/>
        </p:nvCxnSpPr>
        <p:spPr bwMode="auto">
          <a:xfrm flipV="1">
            <a:off x="6223543" y="3836484"/>
            <a:ext cx="1855560" cy="262651"/>
          </a:xfrm>
          <a:prstGeom prst="line">
            <a:avLst/>
          </a:prstGeom>
          <a:noFill/>
          <a:ln w="76200">
            <a:solidFill>
              <a:srgbClr val="FF0000"/>
            </a:solidFill>
          </a:ln>
        </p:spPr>
        <p:style>
          <a:lnRef idx="2">
            <a:schemeClr val="accent6"/>
          </a:lnRef>
          <a:fillRef idx="1">
            <a:schemeClr val="lt1"/>
          </a:fillRef>
          <a:effectRef idx="0">
            <a:schemeClr val="accent6"/>
          </a:effectRef>
          <a:fontRef idx="minor">
            <a:schemeClr val="dk1"/>
          </a:fontRef>
        </p:style>
      </p:cxnSp>
      <p:cxnSp>
        <p:nvCxnSpPr>
          <p:cNvPr id="7" name="Straight Connector 6"/>
          <p:cNvCxnSpPr/>
          <p:nvPr/>
        </p:nvCxnSpPr>
        <p:spPr bwMode="auto">
          <a:xfrm>
            <a:off x="5471963" y="4120210"/>
            <a:ext cx="795575" cy="0"/>
          </a:xfrm>
          <a:prstGeom prst="line">
            <a:avLst/>
          </a:prstGeom>
          <a:noFill/>
          <a:ln w="76200">
            <a:solidFill>
              <a:srgbClr val="FF0000"/>
            </a:solidFill>
          </a:ln>
        </p:spPr>
        <p:style>
          <a:lnRef idx="2">
            <a:schemeClr val="accent6"/>
          </a:lnRef>
          <a:fillRef idx="1">
            <a:schemeClr val="lt1"/>
          </a:fillRef>
          <a:effectRef idx="0">
            <a:schemeClr val="accent6"/>
          </a:effectRef>
          <a:fontRef idx="minor">
            <a:schemeClr val="dk1"/>
          </a:fontRef>
        </p:style>
      </p:cxnSp>
      <p:cxnSp>
        <p:nvCxnSpPr>
          <p:cNvPr id="8" name="Straight Connector 7"/>
          <p:cNvCxnSpPr/>
          <p:nvPr/>
        </p:nvCxnSpPr>
        <p:spPr bwMode="auto">
          <a:xfrm>
            <a:off x="5869750" y="1427141"/>
            <a:ext cx="0" cy="524447"/>
          </a:xfrm>
          <a:prstGeom prst="line">
            <a:avLst/>
          </a:prstGeom>
          <a:noFill/>
          <a:ln w="76200">
            <a:solidFill>
              <a:srgbClr val="FF0000"/>
            </a:solidFill>
          </a:ln>
        </p:spPr>
        <p:style>
          <a:lnRef idx="2">
            <a:schemeClr val="accent6"/>
          </a:lnRef>
          <a:fillRef idx="1">
            <a:schemeClr val="lt1"/>
          </a:fillRef>
          <a:effectRef idx="0">
            <a:schemeClr val="accent6"/>
          </a:effectRef>
          <a:fontRef idx="minor">
            <a:schemeClr val="dk1"/>
          </a:fontRef>
        </p:style>
      </p:cxnSp>
      <p:cxnSp>
        <p:nvCxnSpPr>
          <p:cNvPr id="9" name="Straight Connector 8"/>
          <p:cNvCxnSpPr/>
          <p:nvPr/>
        </p:nvCxnSpPr>
        <p:spPr bwMode="auto">
          <a:xfrm>
            <a:off x="5041250" y="2626944"/>
            <a:ext cx="0" cy="524447"/>
          </a:xfrm>
          <a:prstGeom prst="line">
            <a:avLst/>
          </a:prstGeom>
          <a:noFill/>
          <a:ln w="76200">
            <a:solidFill>
              <a:srgbClr val="FF0000"/>
            </a:solidFill>
          </a:ln>
        </p:spPr>
        <p:style>
          <a:lnRef idx="2">
            <a:schemeClr val="accent6"/>
          </a:lnRef>
          <a:fillRef idx="1">
            <a:schemeClr val="lt1"/>
          </a:fillRef>
          <a:effectRef idx="0">
            <a:schemeClr val="accent6"/>
          </a:effectRef>
          <a:fontRef idx="minor">
            <a:schemeClr val="dk1"/>
          </a:fontRef>
        </p:style>
      </p:cxnSp>
      <p:cxnSp>
        <p:nvCxnSpPr>
          <p:cNvPr id="10" name="Straight Connector 9"/>
          <p:cNvCxnSpPr/>
          <p:nvPr/>
        </p:nvCxnSpPr>
        <p:spPr bwMode="auto">
          <a:xfrm>
            <a:off x="1087163" y="2873273"/>
            <a:ext cx="0" cy="524447"/>
          </a:xfrm>
          <a:prstGeom prst="line">
            <a:avLst/>
          </a:prstGeom>
          <a:noFill/>
          <a:ln w="76200">
            <a:solidFill>
              <a:srgbClr val="FF0000"/>
            </a:solidFill>
          </a:ln>
        </p:spPr>
        <p:style>
          <a:lnRef idx="2">
            <a:schemeClr val="accent6"/>
          </a:lnRef>
          <a:fillRef idx="1">
            <a:schemeClr val="lt1"/>
          </a:fillRef>
          <a:effectRef idx="0">
            <a:schemeClr val="accent6"/>
          </a:effectRef>
          <a:fontRef idx="minor">
            <a:schemeClr val="dk1"/>
          </a:fontRef>
        </p:style>
      </p:cxnSp>
      <p:cxnSp>
        <p:nvCxnSpPr>
          <p:cNvPr id="11" name="Straight Connector 10"/>
          <p:cNvCxnSpPr/>
          <p:nvPr/>
        </p:nvCxnSpPr>
        <p:spPr bwMode="auto">
          <a:xfrm flipV="1">
            <a:off x="1244088" y="2492197"/>
            <a:ext cx="2424941" cy="681896"/>
          </a:xfrm>
          <a:prstGeom prst="line">
            <a:avLst/>
          </a:prstGeom>
          <a:noFill/>
          <a:ln w="76200">
            <a:solidFill>
              <a:srgbClr val="FF0000"/>
            </a:solidFill>
          </a:ln>
        </p:spPr>
        <p:style>
          <a:lnRef idx="2">
            <a:schemeClr val="accent6"/>
          </a:lnRef>
          <a:fillRef idx="1">
            <a:schemeClr val="lt1"/>
          </a:fillRef>
          <a:effectRef idx="0">
            <a:schemeClr val="accent6"/>
          </a:effectRef>
          <a:fontRef idx="minor">
            <a:schemeClr val="dk1"/>
          </a:fontRef>
        </p:style>
      </p:cxnSp>
      <p:sp>
        <p:nvSpPr>
          <p:cNvPr id="12" name="Right Triangle 11"/>
          <p:cNvSpPr/>
          <p:nvPr/>
        </p:nvSpPr>
        <p:spPr bwMode="auto">
          <a:xfrm rot="16200000">
            <a:off x="3534857" y="5318524"/>
            <a:ext cx="786317" cy="914400"/>
          </a:xfrm>
          <a:prstGeom prst="rtTriangle">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42988" rtl="0" eaLnBrk="1" fontAlgn="base" latinLnBrk="0" hangingPunct="1">
              <a:lnSpc>
                <a:spcPct val="100000"/>
              </a:lnSpc>
              <a:spcBef>
                <a:spcPct val="0"/>
              </a:spcBef>
              <a:spcAft>
                <a:spcPct val="0"/>
              </a:spcAft>
              <a:buClrTx/>
              <a:buSzTx/>
              <a:buFontTx/>
              <a:buNone/>
              <a:tabLst/>
            </a:pPr>
            <a:endParaRPr kumimoji="0" lang="en-US" sz="2100" b="0" i="0" u="none" strike="noStrike" cap="none" normalizeH="0" baseline="0">
              <a:ln>
                <a:noFill/>
              </a:ln>
              <a:solidFill>
                <a:schemeClr val="tx1"/>
              </a:solidFill>
              <a:effectLst/>
              <a:latin typeface="Arial" pitchFamily="34" charset="0"/>
            </a:endParaRPr>
          </a:p>
        </p:txBody>
      </p:sp>
      <p:sp>
        <p:nvSpPr>
          <p:cNvPr id="13"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557375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44</a:t>
            </a:fld>
            <a:endParaRPr lang="en-US"/>
          </a:p>
        </p:txBody>
      </p:sp>
      <p:pic>
        <p:nvPicPr>
          <p:cNvPr id="3" name="Picture 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33425" y="1237773"/>
            <a:ext cx="7334250" cy="4602053"/>
          </a:xfrm>
          <a:prstGeom prst="rect">
            <a:avLst/>
          </a:prstGeom>
        </p:spPr>
      </p:pic>
      <p:sp>
        <p:nvSpPr>
          <p:cNvPr id="4" name="Oval 3"/>
          <p:cNvSpPr/>
          <p:nvPr/>
        </p:nvSpPr>
        <p:spPr>
          <a:xfrm rot="21411658">
            <a:off x="2832515" y="2048160"/>
            <a:ext cx="1169921" cy="1100342"/>
          </a:xfrm>
          <a:prstGeom prst="ellipse">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Oval 4"/>
          <p:cNvSpPr/>
          <p:nvPr/>
        </p:nvSpPr>
        <p:spPr>
          <a:xfrm rot="21411658">
            <a:off x="2794761" y="3992113"/>
            <a:ext cx="1245430" cy="1171361"/>
          </a:xfrm>
          <a:prstGeom prst="ellipse">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681416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45</a:t>
            </a:fld>
            <a:endParaRPr lang="en-US"/>
          </a:p>
        </p:txBody>
      </p:sp>
      <p:sp>
        <p:nvSpPr>
          <p:cNvPr id="3"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pic>
        <p:nvPicPr>
          <p:cNvPr id="10" name="図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2282" y="885886"/>
            <a:ext cx="6400800" cy="4800598"/>
          </a:xfrm>
          <a:prstGeom prst="rect">
            <a:avLst/>
          </a:prstGeom>
        </p:spPr>
      </p:pic>
    </p:spTree>
    <p:extLst>
      <p:ext uri="{BB962C8B-B14F-4D97-AF65-F5344CB8AC3E}">
        <p14:creationId xmlns:p14="http://schemas.microsoft.com/office/powerpoint/2010/main" val="42058690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46</a:t>
            </a:fld>
            <a:endParaRPr lang="en-US"/>
          </a:p>
        </p:txBody>
      </p:sp>
      <p:sp>
        <p:nvSpPr>
          <p:cNvPr id="3" name="TextBox 2"/>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6957" t="27764" r="503" b="5216"/>
          <a:stretch/>
        </p:blipFill>
        <p:spPr>
          <a:xfrm>
            <a:off x="0" y="914400"/>
            <a:ext cx="9144000" cy="6336019"/>
          </a:xfrm>
          <a:prstGeom prst="rect">
            <a:avLst/>
          </a:prstGeom>
        </p:spPr>
      </p:pic>
    </p:spTree>
    <p:extLst>
      <p:ext uri="{BB962C8B-B14F-4D97-AF65-F5344CB8AC3E}">
        <p14:creationId xmlns:p14="http://schemas.microsoft.com/office/powerpoint/2010/main" val="16525164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47</a:t>
            </a:fld>
            <a:endParaRPr lang="en-US"/>
          </a:p>
        </p:txBody>
      </p:sp>
      <p:pic>
        <p:nvPicPr>
          <p:cNvPr id="3" name="Picture 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61065" y="1323974"/>
            <a:ext cx="7182835" cy="4040344"/>
          </a:xfrm>
          <a:prstGeom prst="rect">
            <a:avLst/>
          </a:prstGeom>
        </p:spPr>
      </p:pic>
      <p:cxnSp>
        <p:nvCxnSpPr>
          <p:cNvPr id="4" name="Straight Arrow Connector 3"/>
          <p:cNvCxnSpPr/>
          <p:nvPr/>
        </p:nvCxnSpPr>
        <p:spPr bwMode="auto">
          <a:xfrm>
            <a:off x="2619375" y="1743075"/>
            <a:ext cx="5153025" cy="1065786"/>
          </a:xfrm>
          <a:prstGeom prst="straightConnector1">
            <a:avLst/>
          </a:prstGeom>
          <a:gradFill rotWithShape="0">
            <a:gsLst>
              <a:gs pos="0">
                <a:schemeClr val="accent1"/>
              </a:gs>
              <a:gs pos="100000">
                <a:schemeClr val="bg1"/>
              </a:gs>
            </a:gsLst>
            <a:path path="rect">
              <a:fillToRect l="50000" t="50000" r="50000" b="50000"/>
            </a:path>
          </a:gradFill>
          <a:ln w="57150" cap="flat" cmpd="sng" algn="ctr">
            <a:solidFill>
              <a:srgbClr val="FF0000"/>
            </a:solidFill>
            <a:prstDash val="solid"/>
            <a:round/>
            <a:headEnd type="triangle"/>
            <a:tailEnd type="triangle"/>
          </a:ln>
          <a:effectLst/>
        </p:spPr>
      </p:cxnSp>
      <p:sp>
        <p:nvSpPr>
          <p:cNvPr id="7"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23832852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48</a:t>
            </a:fld>
            <a:endParaRPr lang="en-US"/>
          </a:p>
        </p:txBody>
      </p:sp>
      <p:pic>
        <p:nvPicPr>
          <p:cNvPr id="3" name="図 5"/>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a:off x="1156821" y="845424"/>
            <a:ext cx="6696261" cy="5044388"/>
          </a:xfrm>
          <a:prstGeom prst="rect">
            <a:avLst/>
          </a:prstGeom>
        </p:spPr>
      </p:pic>
      <p:sp>
        <p:nvSpPr>
          <p:cNvPr id="4" name="TextBox 3"/>
          <p:cNvSpPr txBox="1"/>
          <p:nvPr/>
        </p:nvSpPr>
        <p:spPr>
          <a:xfrm>
            <a:off x="0" y="223275"/>
            <a:ext cx="7853082" cy="523220"/>
          </a:xfrm>
          <a:prstGeom prst="rect">
            <a:avLst/>
          </a:prstGeom>
          <a:solidFill>
            <a:srgbClr val="C00000"/>
          </a:solidFill>
        </p:spPr>
        <p:txBody>
          <a:bodyPr wrap="square" rtlCol="0">
            <a:spAutoFit/>
          </a:bodyPr>
          <a:lstStyle/>
          <a:p>
            <a:pPr algn="ctr"/>
            <a:r>
              <a:rPr lang="en-US" sz="2800" b="1" dirty="0">
                <a:solidFill>
                  <a:schemeClr val="bg1"/>
                </a:solidFill>
                <a:latin typeface="+mj-lt"/>
              </a:rPr>
              <a:t>Non-compliant Issues</a:t>
            </a:r>
          </a:p>
        </p:txBody>
      </p:sp>
    </p:spTree>
    <p:extLst>
      <p:ext uri="{BB962C8B-B14F-4D97-AF65-F5344CB8AC3E}">
        <p14:creationId xmlns:p14="http://schemas.microsoft.com/office/powerpoint/2010/main" val="2301654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49</a:t>
            </a:fld>
            <a:endParaRPr lang="en-US"/>
          </a:p>
        </p:txBody>
      </p:sp>
      <p:sp>
        <p:nvSpPr>
          <p:cNvPr id="3" name="TextBox 3"/>
          <p:cNvSpPr txBox="1"/>
          <p:nvPr/>
        </p:nvSpPr>
        <p:spPr>
          <a:xfrm>
            <a:off x="0" y="223275"/>
            <a:ext cx="7853082"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BACKGROUND</a:t>
            </a:r>
          </a:p>
        </p:txBody>
      </p:sp>
      <p:sp>
        <p:nvSpPr>
          <p:cNvPr id="5" name="Rectangle 4"/>
          <p:cNvSpPr/>
          <p:nvPr/>
        </p:nvSpPr>
        <p:spPr>
          <a:xfrm>
            <a:off x="0" y="1999014"/>
            <a:ext cx="4616245" cy="2677656"/>
          </a:xfrm>
          <a:prstGeom prst="rect">
            <a:avLst/>
          </a:prstGeom>
        </p:spPr>
        <p:txBody>
          <a:bodyPr wrap="square">
            <a:spAutoFit/>
          </a:bodyPr>
          <a:lstStyle/>
          <a:p>
            <a:pPr marL="611188" indent="-342900" algn="just">
              <a:buFont typeface="Wingdings" panose="05000000000000000000" pitchFamily="2" charset="2"/>
              <a:buChar char="Ø"/>
              <a:tabLst>
                <a:tab pos="291465" algn="l"/>
              </a:tabLst>
            </a:pPr>
            <a:r>
              <a:rPr lang="en-US" altLang="ja-JP" sz="2400" kern="100" dirty="0">
                <a:ea typeface="Calibri" panose="020F0502020204030204" pitchFamily="34" charset="0"/>
                <a:cs typeface="Arial" panose="020B0604020202020204" pitchFamily="34" charset="0"/>
              </a:rPr>
              <a:t>M</a:t>
            </a:r>
            <a:r>
              <a:rPr lang="ja-JP" altLang="ja-JP" sz="2400" kern="100" dirty="0">
                <a:ea typeface="Calibri" panose="020F0502020204030204" pitchFamily="34" charset="0"/>
                <a:cs typeface="Arial" panose="020B0604020202020204" pitchFamily="34" charset="0"/>
              </a:rPr>
              <a:t>any</a:t>
            </a:r>
            <a:r>
              <a:rPr lang="en-US" altLang="ja-JP" sz="2400" kern="100" dirty="0">
                <a:ea typeface="Calibri" panose="020F0502020204030204" pitchFamily="34" charset="0"/>
                <a:cs typeface="Arial" panose="020B0604020202020204" pitchFamily="34" charset="0"/>
              </a:rPr>
              <a:t> houses have been found during inspection to be </a:t>
            </a:r>
            <a:r>
              <a:rPr lang="ja-JP" altLang="ja-JP" sz="2400" kern="100" dirty="0">
                <a:solidFill>
                  <a:srgbClr val="C00000"/>
                </a:solidFill>
                <a:ea typeface="Calibri" panose="020F0502020204030204" pitchFamily="34" charset="0"/>
                <a:cs typeface="Arial" panose="020B0604020202020204" pitchFamily="34" charset="0"/>
              </a:rPr>
              <a:t>non-compliant </a:t>
            </a:r>
            <a:r>
              <a:rPr lang="en-US" altLang="ja-JP" sz="2400" kern="100" dirty="0">
                <a:solidFill>
                  <a:srgbClr val="C00000"/>
                </a:solidFill>
                <a:ea typeface="Calibri" panose="020F0502020204030204" pitchFamily="34" charset="0"/>
                <a:cs typeface="Arial" panose="020B0604020202020204" pitchFamily="34" charset="0"/>
              </a:rPr>
              <a:t>with </a:t>
            </a:r>
            <a:r>
              <a:rPr lang="en-US" altLang="ja-JP" sz="2400" kern="100" dirty="0" err="1">
                <a:solidFill>
                  <a:srgbClr val="C00000"/>
                </a:solidFill>
                <a:ea typeface="Calibri" panose="020F0502020204030204" pitchFamily="34" charset="0"/>
                <a:cs typeface="Arial" panose="020B0604020202020204" pitchFamily="34" charset="0"/>
              </a:rPr>
              <a:t>MRs</a:t>
            </a:r>
            <a:r>
              <a:rPr lang="en-US" altLang="ja-JP" sz="2400" kern="100" dirty="0" err="1">
                <a:ea typeface="Calibri" panose="020F0502020204030204" pitchFamily="34" charset="0"/>
                <a:cs typeface="Arial" panose="020B0604020202020204" pitchFamily="34" charset="0"/>
              </a:rPr>
              <a:t>.</a:t>
            </a:r>
            <a:r>
              <a:rPr lang="en-US" altLang="ja-JP" sz="2400" kern="100" dirty="0">
                <a:ea typeface="Calibri" panose="020F0502020204030204" pitchFamily="34" charset="0"/>
                <a:cs typeface="Arial" panose="020B0604020202020204" pitchFamily="34" charset="0"/>
              </a:rPr>
              <a:t> </a:t>
            </a:r>
          </a:p>
          <a:p>
            <a:pPr marL="611188" indent="-342900" algn="just">
              <a:buFont typeface="Wingdings" panose="05000000000000000000" pitchFamily="2" charset="2"/>
              <a:buChar char="Ø"/>
              <a:tabLst>
                <a:tab pos="291465" algn="l"/>
              </a:tabLst>
            </a:pPr>
            <a:endParaRPr lang="en-US" altLang="ja-JP" sz="2400" kern="100" dirty="0">
              <a:ea typeface="Calibri" panose="020F0502020204030204" pitchFamily="34" charset="0"/>
              <a:cs typeface="Arial" panose="020B0604020202020204" pitchFamily="34" charset="0"/>
            </a:endParaRPr>
          </a:p>
          <a:p>
            <a:pPr marL="611188" indent="-342900" algn="just">
              <a:buFont typeface="Wingdings" panose="05000000000000000000" pitchFamily="2" charset="2"/>
              <a:buChar char="Ø"/>
              <a:tabLst>
                <a:tab pos="291465" algn="l"/>
              </a:tabLst>
            </a:pPr>
            <a:r>
              <a:rPr lang="en-US" altLang="ja-JP" sz="2400" kern="100" dirty="0">
                <a:ea typeface="Calibri" panose="020F0502020204030204" pitchFamily="34" charset="0"/>
                <a:cs typeface="Arial" panose="020B0604020202020204" pitchFamily="34" charset="0"/>
              </a:rPr>
              <a:t>In order to bring these houses to compliance,</a:t>
            </a:r>
            <a:r>
              <a:rPr lang="ja-JP" altLang="ja-JP" sz="2400" kern="100" dirty="0">
                <a:ea typeface="Calibri" panose="020F0502020204030204" pitchFamily="34" charset="0"/>
                <a:cs typeface="Arial" panose="020B0604020202020204" pitchFamily="34" charset="0"/>
              </a:rPr>
              <a:t> </a:t>
            </a:r>
            <a:r>
              <a:rPr lang="en-US" altLang="ja-JP" sz="2400" kern="100" dirty="0">
                <a:ea typeface="Calibri" panose="020F0502020204030204" pitchFamily="34" charset="0"/>
                <a:cs typeface="Arial" panose="020B0604020202020204" pitchFamily="34" charset="0"/>
              </a:rPr>
              <a:t>corrective measures are required. </a:t>
            </a:r>
          </a:p>
        </p:txBody>
      </p:sp>
      <p:sp>
        <p:nvSpPr>
          <p:cNvPr id="11" name="正方形/長方形 10"/>
          <p:cNvSpPr/>
          <p:nvPr/>
        </p:nvSpPr>
        <p:spPr>
          <a:xfrm>
            <a:off x="47501" y="1009187"/>
            <a:ext cx="1584176" cy="461665"/>
          </a:xfrm>
          <a:prstGeom prst="rect">
            <a:avLst/>
          </a:prstGeom>
          <a:solidFill>
            <a:srgbClr val="FF9900"/>
          </a:solidFill>
        </p:spPr>
        <p:txBody>
          <a:bodyPr wrap="square">
            <a:spAutoFit/>
          </a:bodyPr>
          <a:lstStyle/>
          <a:p>
            <a:r>
              <a:rPr lang="en-US" altLang="ja-JP" sz="2400" dirty="0">
                <a:latin typeface="Calibri" panose="020F0502020204030204" pitchFamily="34" charset="0"/>
              </a:rPr>
              <a:t>May, 2017</a:t>
            </a:r>
            <a:endParaRPr lang="ja-JP" altLang="en-US" sz="2400" b="1" dirty="0">
              <a:latin typeface="Calibri" panose="020F0502020204030204" pitchFamily="34" charset="0"/>
            </a:endParaRPr>
          </a:p>
        </p:txBody>
      </p:sp>
      <p:pic>
        <p:nvPicPr>
          <p:cNvPr id="13" name="Picture 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870147" y="821881"/>
            <a:ext cx="4084335" cy="5899595"/>
          </a:xfrm>
          <a:prstGeom prst="rect">
            <a:avLst/>
          </a:prstGeom>
          <a:ln>
            <a:noFill/>
          </a:ln>
          <a:effectLst>
            <a:outerShdw blurRad="292100" dist="139700" dir="2700000" algn="tl" rotWithShape="0">
              <a:srgbClr val="333333">
                <a:alpha val="65000"/>
              </a:srgbClr>
            </a:outerShdw>
          </a:effectLst>
        </p:spPr>
      </p:pic>
      <p:sp>
        <p:nvSpPr>
          <p:cNvPr id="12" name="正方形/長方形 11"/>
          <p:cNvSpPr/>
          <p:nvPr/>
        </p:nvSpPr>
        <p:spPr>
          <a:xfrm>
            <a:off x="1631677" y="1009186"/>
            <a:ext cx="4592140" cy="461665"/>
          </a:xfrm>
          <a:prstGeom prst="rect">
            <a:avLst/>
          </a:prstGeom>
          <a:solidFill>
            <a:srgbClr val="FFCC66"/>
          </a:solidFill>
        </p:spPr>
        <p:txBody>
          <a:bodyPr wrap="square">
            <a:spAutoFit/>
          </a:bodyPr>
          <a:lstStyle/>
          <a:p>
            <a:r>
              <a:rPr lang="en-US" altLang="ja-JP" sz="2400" dirty="0">
                <a:latin typeface="Calibri" panose="020F0502020204030204" pitchFamily="34" charset="0"/>
              </a:rPr>
              <a:t>Correction / Exception Manual</a:t>
            </a:r>
            <a:endParaRPr lang="ja-JP" altLang="en-US" sz="2400" b="1" dirty="0">
              <a:latin typeface="Calibri" panose="020F0502020204030204" pitchFamily="34" charset="0"/>
            </a:endParaRPr>
          </a:p>
        </p:txBody>
      </p:sp>
    </p:spTree>
    <p:extLst>
      <p:ext uri="{BB962C8B-B14F-4D97-AF65-F5344CB8AC3E}">
        <p14:creationId xmlns:p14="http://schemas.microsoft.com/office/powerpoint/2010/main" val="40981925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50</a:t>
            </a:fld>
            <a:endParaRPr lang="en-US"/>
          </a:p>
        </p:txBody>
      </p:sp>
      <p:sp>
        <p:nvSpPr>
          <p:cNvPr id="3" name="TextBox 3"/>
          <p:cNvSpPr txBox="1"/>
          <p:nvPr/>
        </p:nvSpPr>
        <p:spPr>
          <a:xfrm>
            <a:off x="0" y="223275"/>
            <a:ext cx="7853082"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BACKGROUND</a:t>
            </a:r>
          </a:p>
        </p:txBody>
      </p:sp>
      <p:sp>
        <p:nvSpPr>
          <p:cNvPr id="5" name="Rectangle 4"/>
          <p:cNvSpPr/>
          <p:nvPr/>
        </p:nvSpPr>
        <p:spPr>
          <a:xfrm>
            <a:off x="0" y="1009187"/>
            <a:ext cx="8942294" cy="2677656"/>
          </a:xfrm>
          <a:prstGeom prst="rect">
            <a:avLst/>
          </a:prstGeom>
        </p:spPr>
        <p:txBody>
          <a:bodyPr wrap="square">
            <a:spAutoFit/>
          </a:bodyPr>
          <a:lstStyle/>
          <a:p>
            <a:pPr marL="611188" indent="-342900" algn="just">
              <a:buFont typeface="Wingdings" panose="05000000000000000000" pitchFamily="2" charset="2"/>
              <a:buChar char="Ø"/>
              <a:tabLst>
                <a:tab pos="291465" algn="l"/>
              </a:tabLst>
            </a:pPr>
            <a:r>
              <a:rPr lang="en-US" altLang="ja-JP" sz="2400" kern="100" dirty="0">
                <a:solidFill>
                  <a:srgbClr val="C00000"/>
                </a:solidFill>
                <a:ea typeface="Calibri" panose="020F0502020204030204" pitchFamily="34" charset="0"/>
                <a:cs typeface="Arial" panose="020B0604020202020204" pitchFamily="34" charset="0"/>
              </a:rPr>
              <a:t>This manual </a:t>
            </a:r>
            <a:r>
              <a:rPr lang="en-US" altLang="ja-JP" sz="2400" kern="100" dirty="0">
                <a:ea typeface="Calibri" panose="020F0502020204030204" pitchFamily="34" charset="0"/>
                <a:cs typeface="Arial" panose="020B0604020202020204" pitchFamily="34" charset="0"/>
              </a:rPr>
              <a:t>has been developed to support engineers responsible for the compliance inspection process. </a:t>
            </a:r>
          </a:p>
          <a:p>
            <a:pPr marL="611188" indent="-342900" algn="just">
              <a:buFont typeface="Wingdings" panose="05000000000000000000" pitchFamily="2" charset="2"/>
              <a:buChar char="Ø"/>
              <a:tabLst>
                <a:tab pos="291465" algn="l"/>
              </a:tabLst>
            </a:pPr>
            <a:endParaRPr lang="en-US" altLang="ja-JP" sz="2400" kern="100" dirty="0">
              <a:ea typeface="Calibri" panose="020F0502020204030204" pitchFamily="34" charset="0"/>
              <a:cs typeface="Arial" panose="020B0604020202020204" pitchFamily="34" charset="0"/>
            </a:endParaRPr>
          </a:p>
          <a:p>
            <a:pPr marL="611188" indent="-342900" algn="just">
              <a:buFont typeface="Wingdings" panose="05000000000000000000" pitchFamily="2" charset="2"/>
              <a:buChar char="Ø"/>
              <a:tabLst>
                <a:tab pos="291465" algn="l"/>
              </a:tabLst>
            </a:pPr>
            <a:r>
              <a:rPr lang="en-US" altLang="ja-JP" sz="2400" kern="100" dirty="0">
                <a:solidFill>
                  <a:srgbClr val="C00000"/>
                </a:solidFill>
                <a:ea typeface="Calibri" panose="020F0502020204030204" pitchFamily="34" charset="0"/>
                <a:cs typeface="Arial" panose="020B0604020202020204" pitchFamily="34" charset="0"/>
              </a:rPr>
              <a:t>The engineers </a:t>
            </a:r>
            <a:r>
              <a:rPr lang="en-US" altLang="ja-JP" sz="2400" kern="100" dirty="0">
                <a:ea typeface="Calibri" panose="020F0502020204030204" pitchFamily="34" charset="0"/>
                <a:cs typeface="Arial" panose="020B0604020202020204" pitchFamily="34" charset="0"/>
              </a:rPr>
              <a:t>will use this manual to provide advice and guidance to households for the implementation of required corrective measures. </a:t>
            </a:r>
          </a:p>
          <a:p>
            <a:pPr marL="611188" indent="-342900" algn="just">
              <a:buFont typeface="Wingdings" panose="05000000000000000000" pitchFamily="2" charset="2"/>
              <a:buChar char="Ø"/>
              <a:tabLst>
                <a:tab pos="291465" algn="l"/>
              </a:tabLst>
            </a:pPr>
            <a:endParaRPr lang="en-US" altLang="ja-JP" sz="2400" kern="100" dirty="0">
              <a:ea typeface="Calibri" panose="020F0502020204030204" pitchFamily="34" charset="0"/>
              <a:cs typeface="Arial" panose="020B0604020202020204" pitchFamily="34" charset="0"/>
            </a:endParaRPr>
          </a:p>
        </p:txBody>
      </p:sp>
      <p:pic>
        <p:nvPicPr>
          <p:cNvPr id="6" name="図 5"/>
          <p:cNvPicPr>
            <a:picLocks noChangeAspect="1"/>
          </p:cNvPicPr>
          <p:nvPr/>
        </p:nvPicPr>
        <p:blipFill rotWithShape="1">
          <a:blip r:embed="rId3" cstate="email">
            <a:extLst>
              <a:ext uri="{28A0092B-C50C-407E-A947-70E740481C1C}">
                <a14:useLocalDpi xmlns:a14="http://schemas.microsoft.com/office/drawing/2010/main" val="0"/>
              </a:ext>
            </a:extLst>
          </a:blip>
          <a:srcRect l="7921" t="4609" r="10391" b="16727"/>
          <a:stretch/>
        </p:blipFill>
        <p:spPr>
          <a:xfrm>
            <a:off x="4961272" y="3253771"/>
            <a:ext cx="3981022" cy="2875233"/>
          </a:xfrm>
          <a:prstGeom prst="rect">
            <a:avLst/>
          </a:prstGeom>
          <a:ln>
            <a:noFill/>
          </a:ln>
          <a:effectLst>
            <a:outerShdw blurRad="292100" dist="139700" dir="2700000" algn="tl" rotWithShape="0">
              <a:srgbClr val="333333">
                <a:alpha val="65000"/>
              </a:srgbClr>
            </a:outerShdw>
          </a:effectLst>
        </p:spPr>
      </p:pic>
      <p:sp>
        <p:nvSpPr>
          <p:cNvPr id="4" name="正方形/長方形 3"/>
          <p:cNvSpPr/>
          <p:nvPr/>
        </p:nvSpPr>
        <p:spPr>
          <a:xfrm>
            <a:off x="0" y="3562134"/>
            <a:ext cx="4778477" cy="2308324"/>
          </a:xfrm>
          <a:prstGeom prst="rect">
            <a:avLst/>
          </a:prstGeom>
        </p:spPr>
        <p:txBody>
          <a:bodyPr wrap="square">
            <a:spAutoFit/>
          </a:bodyPr>
          <a:lstStyle/>
          <a:p>
            <a:pPr marL="611188" indent="-342900" algn="just">
              <a:buFont typeface="Wingdings" panose="05000000000000000000" pitchFamily="2" charset="2"/>
              <a:buChar char="Ø"/>
              <a:tabLst>
                <a:tab pos="291465" algn="l"/>
              </a:tabLst>
            </a:pPr>
            <a:r>
              <a:rPr lang="en-US" altLang="ja-JP" sz="2400" kern="100" dirty="0">
                <a:solidFill>
                  <a:srgbClr val="C00000"/>
                </a:solidFill>
                <a:ea typeface="Calibri" panose="020F0502020204030204" pitchFamily="34" charset="0"/>
                <a:cs typeface="Arial" panose="020B0604020202020204" pitchFamily="34" charset="0"/>
              </a:rPr>
              <a:t>Home owners </a:t>
            </a:r>
            <a:r>
              <a:rPr lang="en-US" altLang="ja-JP" sz="2400" kern="100" dirty="0">
                <a:ea typeface="Calibri" panose="020F0502020204030204" pitchFamily="34" charset="0"/>
                <a:cs typeface="Arial" panose="020B0604020202020204" pitchFamily="34" charset="0"/>
              </a:rPr>
              <a:t>will need to complete these corrective measures in order to be eligible to receive the subsequent tranches of the housing reconstruction grant. </a:t>
            </a:r>
            <a:r>
              <a:rPr lang="ja-JP" altLang="ja-JP" sz="2400" kern="100" dirty="0">
                <a:ea typeface="Calibri" panose="020F0502020204030204" pitchFamily="34" charset="0"/>
                <a:cs typeface="Arial" panose="020B0604020202020204" pitchFamily="34" charset="0"/>
              </a:rPr>
              <a:t> </a:t>
            </a:r>
            <a:endParaRPr lang="en-US" altLang="ja-JP" sz="2400" kern="100" dirty="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030617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51</a:t>
            </a:fld>
            <a:endParaRPr lang="en-US"/>
          </a:p>
        </p:txBody>
      </p:sp>
      <p:sp>
        <p:nvSpPr>
          <p:cNvPr id="5"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8" name="Picture 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76873" y="76985"/>
            <a:ext cx="967127" cy="815799"/>
          </a:xfrm>
          <a:prstGeom prst="rect">
            <a:avLst/>
          </a:prstGeom>
        </p:spPr>
      </p:pic>
      <p:sp>
        <p:nvSpPr>
          <p:cNvPr id="9" name="Rectangle 8"/>
          <p:cNvSpPr/>
          <p:nvPr/>
        </p:nvSpPr>
        <p:spPr>
          <a:xfrm>
            <a:off x="283467" y="1926433"/>
            <a:ext cx="4303282" cy="3170099"/>
          </a:xfrm>
          <a:prstGeom prst="rect">
            <a:avLst/>
          </a:prstGeom>
        </p:spPr>
        <p:txBody>
          <a:bodyPr wrap="square">
            <a:spAutoFit/>
          </a:bodyPr>
          <a:lstStyle/>
          <a:p>
            <a:pPr marL="342900" indent="-342900" algn="just">
              <a:buFont typeface="Wingdings" panose="05000000000000000000" pitchFamily="2" charset="2"/>
              <a:buChar char="Ø"/>
            </a:pPr>
            <a:r>
              <a:rPr lang="en-US" altLang="ja-JP" sz="2000" kern="100" dirty="0">
                <a:ea typeface="Calibri" panose="020F0502020204030204" pitchFamily="34" charset="0"/>
                <a:cs typeface="Arial" panose="020B0604020202020204" pitchFamily="34" charset="0"/>
              </a:rPr>
              <a:t>To introduce the exceptional cases, other than mentioned in </a:t>
            </a:r>
            <a:r>
              <a:rPr lang="en-US" altLang="ja-JP" sz="2000" kern="100" dirty="0" err="1">
                <a:ea typeface="Calibri" panose="020F0502020204030204" pitchFamily="34" charset="0"/>
                <a:cs typeface="Arial" panose="020B0604020202020204" pitchFamily="34" charset="0"/>
              </a:rPr>
              <a:t>MRs.</a:t>
            </a:r>
            <a:endParaRPr lang="en-US" altLang="ja-JP" sz="2000" kern="100" dirty="0">
              <a:ea typeface="Calibri" panose="020F0502020204030204" pitchFamily="34" charset="0"/>
              <a:cs typeface="Arial" panose="020B0604020202020204" pitchFamily="34" charset="0"/>
            </a:endParaRPr>
          </a:p>
          <a:p>
            <a:pPr marL="342900" indent="-342900" algn="just">
              <a:buFont typeface="Wingdings" panose="05000000000000000000" pitchFamily="2" charset="2"/>
              <a:buChar char="Ø"/>
            </a:pPr>
            <a:r>
              <a:rPr lang="en-US" altLang="ja-JP" sz="2000" kern="100" dirty="0">
                <a:ea typeface="Calibri" panose="020F0502020204030204" pitchFamily="34" charset="0"/>
                <a:cs typeface="Arial" panose="020B0604020202020204" pitchFamily="34" charset="0"/>
              </a:rPr>
              <a:t>To provide correction measures along with their step by step procedures. </a:t>
            </a:r>
          </a:p>
          <a:p>
            <a:pPr marL="342900" indent="-342900" algn="just">
              <a:buFont typeface="Wingdings" panose="05000000000000000000" pitchFamily="2" charset="2"/>
              <a:buChar char="Ø"/>
            </a:pPr>
            <a:r>
              <a:rPr lang="en-IE" altLang="ja-JP" sz="2000" dirty="0"/>
              <a:t>To support households to overcome non-compliance issues and secure approval to receive tranches.</a:t>
            </a:r>
          </a:p>
          <a:p>
            <a:pPr marL="342900" indent="-342900" algn="just">
              <a:buFont typeface="Wingdings" panose="05000000000000000000" pitchFamily="2" charset="2"/>
              <a:buChar char="Ø"/>
            </a:pPr>
            <a:r>
              <a:rPr lang="en-US" altLang="ja-JP" sz="2000" kern="100" dirty="0">
                <a:ea typeface="Calibri" panose="020F0502020204030204" pitchFamily="34" charset="0"/>
                <a:cs typeface="Arial" panose="020B0604020202020204" pitchFamily="34" charset="0"/>
              </a:rPr>
              <a:t>To support engineers working for housing reconstruction </a:t>
            </a:r>
            <a:r>
              <a:rPr lang="en-US" altLang="ja-JP" sz="2000" kern="100" dirty="0" err="1">
                <a:ea typeface="Calibri" panose="020F0502020204030204" pitchFamily="34" charset="0"/>
                <a:cs typeface="Arial" panose="020B0604020202020204" pitchFamily="34" charset="0"/>
              </a:rPr>
              <a:t>programe</a:t>
            </a:r>
            <a:r>
              <a:rPr lang="en-US" altLang="ja-JP" sz="2000" kern="100" dirty="0">
                <a:ea typeface="Calibri" panose="020F0502020204030204" pitchFamily="34" charset="0"/>
                <a:cs typeface="Arial" panose="020B0604020202020204" pitchFamily="34" charset="0"/>
              </a:rPr>
              <a:t>.</a:t>
            </a:r>
            <a:endParaRPr lang="ja-JP" altLang="ja-JP" sz="2000" dirty="0"/>
          </a:p>
        </p:txBody>
      </p:sp>
      <p:sp>
        <p:nvSpPr>
          <p:cNvPr id="14" name="TextBox 13"/>
          <p:cNvSpPr txBox="1"/>
          <p:nvPr/>
        </p:nvSpPr>
        <p:spPr>
          <a:xfrm>
            <a:off x="0" y="1252306"/>
            <a:ext cx="2618718" cy="523220"/>
          </a:xfrm>
          <a:prstGeom prst="rect">
            <a:avLst/>
          </a:prstGeom>
          <a:noFill/>
        </p:spPr>
        <p:txBody>
          <a:bodyPr wrap="square" rtlCol="0">
            <a:spAutoFit/>
          </a:bodyPr>
          <a:lstStyle/>
          <a:p>
            <a:r>
              <a:rPr lang="en-US" sz="2800" b="1" dirty="0">
                <a:solidFill>
                  <a:srgbClr val="EE4726"/>
                </a:solidFill>
              </a:rPr>
              <a:t>OBJECTIVES</a:t>
            </a:r>
          </a:p>
        </p:txBody>
      </p:sp>
      <p:pic>
        <p:nvPicPr>
          <p:cNvPr id="10" name="Picture 5"/>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66367" y="870007"/>
            <a:ext cx="4084335" cy="58995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646803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52</a:t>
            </a:fld>
            <a:endParaRPr lang="en-US"/>
          </a:p>
        </p:txBody>
      </p:sp>
      <p:sp>
        <p:nvSpPr>
          <p:cNvPr id="5"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6" name="Picture 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766367" y="870007"/>
            <a:ext cx="4084335" cy="5899595"/>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176873" y="76985"/>
            <a:ext cx="967127" cy="815799"/>
          </a:xfrm>
          <a:prstGeom prst="rect">
            <a:avLst/>
          </a:prstGeom>
        </p:spPr>
      </p:pic>
      <p:sp>
        <p:nvSpPr>
          <p:cNvPr id="14" name="TextBox 13"/>
          <p:cNvSpPr txBox="1"/>
          <p:nvPr/>
        </p:nvSpPr>
        <p:spPr>
          <a:xfrm>
            <a:off x="-1" y="1181498"/>
            <a:ext cx="2618718" cy="523220"/>
          </a:xfrm>
          <a:prstGeom prst="rect">
            <a:avLst/>
          </a:prstGeom>
          <a:noFill/>
        </p:spPr>
        <p:txBody>
          <a:bodyPr wrap="square" rtlCol="0">
            <a:spAutoFit/>
          </a:bodyPr>
          <a:lstStyle/>
          <a:p>
            <a:r>
              <a:rPr lang="en-US" sz="2800" b="1" dirty="0">
                <a:solidFill>
                  <a:srgbClr val="EE4726"/>
                </a:solidFill>
              </a:rPr>
              <a:t>SCOPE</a:t>
            </a:r>
          </a:p>
        </p:txBody>
      </p:sp>
      <p:sp>
        <p:nvSpPr>
          <p:cNvPr id="3" name="正方形/長方形 2"/>
          <p:cNvSpPr/>
          <p:nvPr/>
        </p:nvSpPr>
        <p:spPr>
          <a:xfrm>
            <a:off x="42620" y="1704718"/>
            <a:ext cx="4572000" cy="5016758"/>
          </a:xfrm>
          <a:prstGeom prst="rect">
            <a:avLst/>
          </a:prstGeom>
        </p:spPr>
        <p:txBody>
          <a:bodyPr>
            <a:spAutoFit/>
          </a:bodyPr>
          <a:lstStyle/>
          <a:p>
            <a:pPr marL="363538" indent="-188913" algn="just">
              <a:spcAft>
                <a:spcPts val="0"/>
              </a:spcAft>
              <a:buFont typeface="Wingdings" panose="05000000000000000000" pitchFamily="2" charset="2"/>
              <a:buChar char="q"/>
              <a:tabLst>
                <a:tab pos="291465" algn="l"/>
              </a:tabLst>
            </a:pPr>
            <a:r>
              <a:rPr lang="en-US" altLang="ja-JP" sz="2000" kern="100" dirty="0">
                <a:ea typeface="Calibri" panose="020F0502020204030204" pitchFamily="34" charset="0"/>
                <a:cs typeface="Arial" panose="020B0604020202020204" pitchFamily="34" charset="0"/>
              </a:rPr>
              <a:t>Applicability</a:t>
            </a:r>
          </a:p>
          <a:p>
            <a:pPr marL="174625" algn="just">
              <a:tabLst>
                <a:tab pos="291465" algn="l"/>
              </a:tabLst>
            </a:pPr>
            <a:r>
              <a:rPr lang="en-US" altLang="ja-JP" sz="2000" kern="100" dirty="0">
                <a:ea typeface="Calibri" panose="020F0502020204030204" pitchFamily="34" charset="0"/>
                <a:cs typeface="Arial" panose="020B0604020202020204" pitchFamily="34" charset="0"/>
              </a:rPr>
              <a:t>This manual is applicable within certain limitations as guided by NBC 202 and NBC 203, which are based on NBC 105 seismic design code.</a:t>
            </a:r>
          </a:p>
          <a:p>
            <a:pPr marL="174625" algn="just">
              <a:spcAft>
                <a:spcPts val="0"/>
              </a:spcAft>
              <a:tabLst>
                <a:tab pos="291465" algn="l"/>
              </a:tabLst>
            </a:pPr>
            <a:endParaRPr lang="en-US" altLang="ja-JP" sz="2000" kern="100" dirty="0">
              <a:ea typeface="Calibri" panose="020F0502020204030204" pitchFamily="34" charset="0"/>
              <a:cs typeface="Arial" panose="020B0604020202020204" pitchFamily="34" charset="0"/>
            </a:endParaRPr>
          </a:p>
          <a:p>
            <a:pPr marL="363538" indent="-188913" algn="just">
              <a:spcAft>
                <a:spcPts val="0"/>
              </a:spcAft>
              <a:buFont typeface="Wingdings" panose="05000000000000000000" pitchFamily="2" charset="2"/>
              <a:buChar char="q"/>
              <a:tabLst>
                <a:tab pos="291465" algn="l"/>
              </a:tabLst>
            </a:pPr>
            <a:r>
              <a:rPr lang="en-US" altLang="ja-JP" sz="2000" kern="100" dirty="0">
                <a:ea typeface="Calibri" panose="020F0502020204030204" pitchFamily="34" charset="0"/>
                <a:cs typeface="Arial" panose="020B0604020202020204" pitchFamily="34" charset="0"/>
              </a:rPr>
              <a:t>Limitations</a:t>
            </a:r>
          </a:p>
          <a:p>
            <a:pPr marL="174625" algn="just">
              <a:tabLst>
                <a:tab pos="291465" algn="l"/>
              </a:tabLst>
            </a:pPr>
            <a:r>
              <a:rPr lang="en-US" altLang="ja-JP" sz="2000" i="1" kern="100" dirty="0">
                <a:ea typeface="Calibri" panose="020F0502020204030204" pitchFamily="34" charset="0"/>
                <a:cs typeface="Arial" panose="020B0604020202020204" pitchFamily="34" charset="0"/>
              </a:rPr>
              <a:t>This corrections / exceptions manual covers only load bearing masonry buildings under</a:t>
            </a:r>
            <a:r>
              <a:rPr lang="ja-JP" altLang="ja-JP" sz="2000" i="1" kern="100" dirty="0">
                <a:ea typeface="Calibri" panose="020F0502020204030204" pitchFamily="34" charset="0"/>
                <a:cs typeface="Arial" panose="020B0604020202020204" pitchFamily="34" charset="0"/>
              </a:rPr>
              <a:t> </a:t>
            </a:r>
            <a:r>
              <a:rPr lang="en-US" altLang="ja-JP" sz="2000" i="1" kern="100" dirty="0">
                <a:ea typeface="Calibri" panose="020F0502020204030204" pitchFamily="34" charset="0"/>
                <a:cs typeface="Arial" panose="020B0604020202020204" pitchFamily="34" charset="0"/>
              </a:rPr>
              <a:t>the </a:t>
            </a:r>
            <a:r>
              <a:rPr lang="en-US" altLang="ja-JP" sz="2000" i="1" kern="100" dirty="0" err="1">
                <a:ea typeface="Calibri" panose="020F0502020204030204" pitchFamily="34" charset="0"/>
                <a:cs typeface="Arial" panose="020B0604020202020204" pitchFamily="34" charset="0"/>
              </a:rPr>
              <a:t>GoN</a:t>
            </a:r>
            <a:r>
              <a:rPr lang="en-US" altLang="ja-JP" sz="2000" i="1" kern="100" dirty="0">
                <a:ea typeface="Calibri" panose="020F0502020204030204" pitchFamily="34" charset="0"/>
                <a:cs typeface="Arial" panose="020B0604020202020204" pitchFamily="34" charset="0"/>
              </a:rPr>
              <a:t> </a:t>
            </a:r>
            <a:r>
              <a:rPr lang="ja-JP" altLang="ja-JP" sz="2000" i="1" kern="100" dirty="0">
                <a:ea typeface="Calibri" panose="020F0502020204030204" pitchFamily="34" charset="0"/>
                <a:cs typeface="Arial" panose="020B0604020202020204" pitchFamily="34" charset="0"/>
              </a:rPr>
              <a:t>housing reconstruction program</a:t>
            </a:r>
            <a:r>
              <a:rPr lang="en-US" altLang="ja-JP" sz="2000" i="1" kern="100" dirty="0">
                <a:ea typeface="Calibri" panose="020F0502020204030204" pitchFamily="34" charset="0"/>
                <a:cs typeface="Arial" panose="020B0604020202020204" pitchFamily="34" charset="0"/>
              </a:rPr>
              <a:t>me. The corrective measures are only for buildings that are </a:t>
            </a:r>
            <a:r>
              <a:rPr lang="ja-JP" altLang="ja-JP" sz="2000" i="1" kern="100" dirty="0">
                <a:ea typeface="Calibri" panose="020F0502020204030204" pitchFamily="34" charset="0"/>
                <a:cs typeface="Arial" panose="020B0604020202020204" pitchFamily="34" charset="0"/>
              </a:rPr>
              <a:t>newly </a:t>
            </a:r>
            <a:r>
              <a:rPr lang="en-US" altLang="ja-JP" sz="2000" i="1" kern="100" dirty="0">
                <a:ea typeface="Calibri" panose="020F0502020204030204" pitchFamily="34" charset="0"/>
                <a:cs typeface="Arial" panose="020B0604020202020204" pitchFamily="34" charset="0"/>
              </a:rPr>
              <a:t>constructed, or </a:t>
            </a:r>
            <a:r>
              <a:rPr lang="ja-JP" altLang="ja-JP" sz="2000" i="1" kern="100" dirty="0">
                <a:ea typeface="Calibri" panose="020F0502020204030204" pitchFamily="34" charset="0"/>
                <a:cs typeface="Arial" panose="020B0604020202020204" pitchFamily="34" charset="0"/>
              </a:rPr>
              <a:t>under construction</a:t>
            </a:r>
            <a:r>
              <a:rPr lang="en-US" altLang="ja-JP" sz="2000" i="1" kern="100" dirty="0">
                <a:ea typeface="Calibri" panose="020F0502020204030204" pitchFamily="34" charset="0"/>
                <a:cs typeface="Arial" panose="020B0604020202020204" pitchFamily="34" charset="0"/>
              </a:rPr>
              <a:t>.</a:t>
            </a:r>
            <a:r>
              <a:rPr lang="ja-JP" altLang="ja-JP" sz="2000" i="1" kern="100" dirty="0">
                <a:ea typeface="Calibri" panose="020F0502020204030204" pitchFamily="34" charset="0"/>
                <a:cs typeface="Arial" panose="020B0604020202020204" pitchFamily="34" charset="0"/>
              </a:rPr>
              <a:t> </a:t>
            </a:r>
            <a:endParaRPr lang="en-US" altLang="ja-JP" sz="2000" i="1" kern="100" dirty="0">
              <a:ea typeface="Calibri" panose="020F0502020204030204" pitchFamily="34" charset="0"/>
              <a:cs typeface="Arial" panose="020B0604020202020204" pitchFamily="34" charset="0"/>
            </a:endParaRPr>
          </a:p>
          <a:p>
            <a:pPr marL="174625" algn="just">
              <a:spcAft>
                <a:spcPts val="0"/>
              </a:spcAft>
              <a:tabLst>
                <a:tab pos="291465" algn="l"/>
              </a:tabLst>
            </a:pPr>
            <a:endParaRPr lang="en-US" altLang="ja-JP" sz="2000" kern="100" dirty="0">
              <a:ea typeface="Calibri" panose="020F0502020204030204" pitchFamily="34" charset="0"/>
              <a:cs typeface="Arial" panose="020B0604020202020204" pitchFamily="34" charset="0"/>
            </a:endParaRPr>
          </a:p>
          <a:p>
            <a:pPr marL="174625" algn="just">
              <a:spcAft>
                <a:spcPts val="0"/>
              </a:spcAft>
              <a:tabLst>
                <a:tab pos="291465" algn="l"/>
              </a:tabLst>
            </a:pPr>
            <a:endParaRPr lang="en-US" altLang="ja-JP" sz="2000" kern="100" dirty="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825940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53</a:t>
            </a:fld>
            <a:endParaRPr lang="en-US"/>
          </a:p>
        </p:txBody>
      </p:sp>
      <p:sp>
        <p:nvSpPr>
          <p:cNvPr id="5"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8" name="Picture 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76873" y="76985"/>
            <a:ext cx="967127" cy="815799"/>
          </a:xfrm>
          <a:prstGeom prst="rect">
            <a:avLst/>
          </a:prstGeom>
        </p:spPr>
      </p:pic>
      <p:sp>
        <p:nvSpPr>
          <p:cNvPr id="14" name="TextBox 13"/>
          <p:cNvSpPr txBox="1"/>
          <p:nvPr/>
        </p:nvSpPr>
        <p:spPr>
          <a:xfrm>
            <a:off x="0" y="1252306"/>
            <a:ext cx="2618718" cy="523220"/>
          </a:xfrm>
          <a:prstGeom prst="rect">
            <a:avLst/>
          </a:prstGeom>
          <a:noFill/>
        </p:spPr>
        <p:txBody>
          <a:bodyPr wrap="square" rtlCol="0">
            <a:spAutoFit/>
          </a:bodyPr>
          <a:lstStyle/>
          <a:p>
            <a:r>
              <a:rPr lang="en-US" sz="2800" b="1" dirty="0">
                <a:solidFill>
                  <a:srgbClr val="EE4726"/>
                </a:solidFill>
              </a:rPr>
              <a:t>CONTENTS</a:t>
            </a:r>
          </a:p>
        </p:txBody>
      </p:sp>
      <p:pic>
        <p:nvPicPr>
          <p:cNvPr id="10" name="Picture 5"/>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66367" y="870007"/>
            <a:ext cx="4084335" cy="5899595"/>
          </a:xfrm>
          <a:prstGeom prst="rect">
            <a:avLst/>
          </a:prstGeom>
          <a:ln>
            <a:noFill/>
          </a:ln>
          <a:effectLst>
            <a:outerShdw blurRad="292100" dist="139700" dir="2700000" algn="tl" rotWithShape="0">
              <a:srgbClr val="333333">
                <a:alpha val="65000"/>
              </a:srgbClr>
            </a:outerShdw>
          </a:effectLst>
        </p:spPr>
      </p:pic>
      <p:sp>
        <p:nvSpPr>
          <p:cNvPr id="11" name="正方形/長方形 10"/>
          <p:cNvSpPr/>
          <p:nvPr/>
        </p:nvSpPr>
        <p:spPr>
          <a:xfrm>
            <a:off x="368300" y="1901765"/>
            <a:ext cx="3805493" cy="379572"/>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lumMod val="95000"/>
                    <a:lumOff val="5000"/>
                  </a:schemeClr>
                </a:solidFill>
              </a:rPr>
              <a:t>PART-A: Exception / Correction</a:t>
            </a:r>
          </a:p>
        </p:txBody>
      </p:sp>
      <p:sp>
        <p:nvSpPr>
          <p:cNvPr id="12" name="正方形/長方形 11"/>
          <p:cNvSpPr/>
          <p:nvPr/>
        </p:nvSpPr>
        <p:spPr>
          <a:xfrm>
            <a:off x="368301" y="2631240"/>
            <a:ext cx="3805494" cy="369332"/>
          </a:xfrm>
          <a:prstGeom prst="rect">
            <a:avLst/>
          </a:prstGeom>
          <a:solidFill>
            <a:schemeClr val="accent4">
              <a:lumMod val="60000"/>
              <a:lumOff val="40000"/>
            </a:schemeClr>
          </a:solidFill>
          <a:ln>
            <a:solidFill>
              <a:schemeClr val="accent4">
                <a:lumMod val="60000"/>
                <a:lumOff val="40000"/>
              </a:schemeClr>
            </a:solidFill>
          </a:ln>
        </p:spPr>
        <p:txBody>
          <a:bodyPr wrap="square">
            <a:spAutoFit/>
          </a:bodyPr>
          <a:lstStyle/>
          <a:p>
            <a:r>
              <a:rPr lang="en-US" altLang="ja-JP" dirty="0"/>
              <a:t>PART-B: Mitigation Measures</a:t>
            </a:r>
          </a:p>
        </p:txBody>
      </p:sp>
      <p:sp>
        <p:nvSpPr>
          <p:cNvPr id="13" name="正方形/長方形 12"/>
          <p:cNvSpPr/>
          <p:nvPr/>
        </p:nvSpPr>
        <p:spPr>
          <a:xfrm>
            <a:off x="368301" y="3350475"/>
            <a:ext cx="3805494" cy="369332"/>
          </a:xfrm>
          <a:prstGeom prst="rect">
            <a:avLst/>
          </a:prstGeom>
          <a:solidFill>
            <a:schemeClr val="accent2">
              <a:lumMod val="60000"/>
              <a:lumOff val="40000"/>
            </a:schemeClr>
          </a:solidFill>
          <a:ln>
            <a:solidFill>
              <a:schemeClr val="accent2">
                <a:lumMod val="60000"/>
                <a:lumOff val="40000"/>
              </a:schemeClr>
            </a:solidFill>
          </a:ln>
        </p:spPr>
        <p:txBody>
          <a:bodyPr wrap="square">
            <a:spAutoFit/>
          </a:bodyPr>
          <a:lstStyle/>
          <a:p>
            <a:r>
              <a:rPr lang="en-US" altLang="ja-JP" dirty="0"/>
              <a:t>ANNEX</a:t>
            </a:r>
          </a:p>
        </p:txBody>
      </p:sp>
    </p:spTree>
    <p:extLst>
      <p:ext uri="{BB962C8B-B14F-4D97-AF65-F5344CB8AC3E}">
        <p14:creationId xmlns:p14="http://schemas.microsoft.com/office/powerpoint/2010/main" val="38877115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54</a:t>
            </a:fld>
            <a:endParaRPr lang="en-US"/>
          </a:p>
        </p:txBody>
      </p:sp>
      <p:sp>
        <p:nvSpPr>
          <p:cNvPr id="4"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76873" y="76985"/>
            <a:ext cx="967127" cy="815799"/>
          </a:xfrm>
          <a:prstGeom prst="rect">
            <a:avLst/>
          </a:prstGeom>
        </p:spPr>
      </p:pic>
      <p:sp>
        <p:nvSpPr>
          <p:cNvPr id="6" name="Rectangle 5"/>
          <p:cNvSpPr/>
          <p:nvPr/>
        </p:nvSpPr>
        <p:spPr>
          <a:xfrm>
            <a:off x="442452" y="1634981"/>
            <a:ext cx="8303342" cy="3785652"/>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wrap="square">
            <a:spAutoFit/>
          </a:bodyPr>
          <a:lstStyle/>
          <a:p>
            <a:pPr algn="just"/>
            <a:r>
              <a:rPr lang="en-US" altLang="ja-JP" sz="2400" dirty="0"/>
              <a:t>Exception is the cases of the buildings that </a:t>
            </a:r>
            <a:r>
              <a:rPr lang="en-US" altLang="ja-JP" sz="2400" dirty="0">
                <a:solidFill>
                  <a:srgbClr val="FF0000"/>
                </a:solidFill>
              </a:rPr>
              <a:t>do not comply with MRs but are structurally safe as per NBC 105 </a:t>
            </a:r>
            <a:r>
              <a:rPr lang="en-US" altLang="ja-JP" sz="2400" dirty="0"/>
              <a:t>including the cases mentioned in NBC.</a:t>
            </a:r>
          </a:p>
          <a:p>
            <a:pPr algn="just"/>
            <a:r>
              <a:rPr lang="en-US" altLang="ja-JP" sz="2400" dirty="0"/>
              <a:t>The exceptional cases were </a:t>
            </a:r>
            <a:r>
              <a:rPr lang="en-US" altLang="ja-JP" sz="2400" dirty="0">
                <a:solidFill>
                  <a:srgbClr val="FF0000"/>
                </a:solidFill>
              </a:rPr>
              <a:t>drafted by the NRA technical standardization committee on the basis of seismic requirements </a:t>
            </a:r>
            <a:r>
              <a:rPr lang="en-US" altLang="ja-JP" sz="2400" dirty="0"/>
              <a:t>following NBC 105.</a:t>
            </a:r>
          </a:p>
          <a:p>
            <a:pPr algn="just"/>
            <a:r>
              <a:rPr lang="en-US" altLang="ja-JP" sz="2400" dirty="0"/>
              <a:t>Hence, when all required exception measures have been completed the building can be approved for the subsequent tranche of the housing reconstruction grant.</a:t>
            </a:r>
          </a:p>
          <a:p>
            <a:endParaRPr lang="en-US" sz="2400" dirty="0"/>
          </a:p>
        </p:txBody>
      </p:sp>
      <p:sp>
        <p:nvSpPr>
          <p:cNvPr id="3" name="正方形/長方形 2"/>
          <p:cNvSpPr/>
          <p:nvPr/>
        </p:nvSpPr>
        <p:spPr>
          <a:xfrm>
            <a:off x="212667" y="892784"/>
            <a:ext cx="2086982" cy="523220"/>
          </a:xfrm>
          <a:prstGeom prst="rect">
            <a:avLst/>
          </a:prstGeom>
        </p:spPr>
        <p:txBody>
          <a:bodyPr wrap="none">
            <a:spAutoFit/>
          </a:bodyPr>
          <a:lstStyle/>
          <a:p>
            <a:r>
              <a:rPr lang="en-US" altLang="ja-JP" sz="2800" b="1" dirty="0">
                <a:solidFill>
                  <a:srgbClr val="EE4726"/>
                </a:solidFill>
              </a:rPr>
              <a:t>[EXCEPTION]</a:t>
            </a:r>
            <a:endParaRPr lang="en-US" altLang="ja-JP" sz="2800" b="1" dirty="0"/>
          </a:p>
        </p:txBody>
      </p:sp>
    </p:spTree>
    <p:extLst>
      <p:ext uri="{BB962C8B-B14F-4D97-AF65-F5344CB8AC3E}">
        <p14:creationId xmlns:p14="http://schemas.microsoft.com/office/powerpoint/2010/main" val="11406167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55</a:t>
            </a:fld>
            <a:endParaRPr lang="en-US"/>
          </a:p>
        </p:txBody>
      </p:sp>
      <p:sp>
        <p:nvSpPr>
          <p:cNvPr id="4"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76873" y="76985"/>
            <a:ext cx="967127" cy="815799"/>
          </a:xfrm>
          <a:prstGeom prst="rect">
            <a:avLst/>
          </a:prstGeom>
        </p:spPr>
      </p:pic>
      <p:sp>
        <p:nvSpPr>
          <p:cNvPr id="6" name="Rectangle 5"/>
          <p:cNvSpPr/>
          <p:nvPr/>
        </p:nvSpPr>
        <p:spPr>
          <a:xfrm>
            <a:off x="442451" y="1562452"/>
            <a:ext cx="8288593" cy="4524315"/>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wrap="square">
            <a:spAutoFit/>
          </a:bodyPr>
          <a:lstStyle/>
          <a:p>
            <a:pPr marL="342900" indent="-342900" algn="just">
              <a:buFont typeface="Arial" panose="020B0604020202020204" pitchFamily="34" charset="0"/>
              <a:buChar char="•"/>
            </a:pPr>
            <a:r>
              <a:rPr lang="en-US" altLang="ja-JP" sz="2400" dirty="0"/>
              <a:t>Correction is the corrective measures </a:t>
            </a:r>
            <a:r>
              <a:rPr lang="en-US" altLang="ja-JP" sz="2400" dirty="0">
                <a:solidFill>
                  <a:srgbClr val="FF0000"/>
                </a:solidFill>
              </a:rPr>
              <a:t>required to make newly constructed or under construction buildings compliant </a:t>
            </a:r>
            <a:r>
              <a:rPr lang="en-US" altLang="ja-JP" sz="2400" dirty="0"/>
              <a:t>with the seismic resistance standard as per NBC 105.</a:t>
            </a:r>
          </a:p>
          <a:p>
            <a:pPr marL="342900" indent="-342900" algn="just">
              <a:buFont typeface="Arial" panose="020B0604020202020204" pitchFamily="34" charset="0"/>
              <a:buChar char="•"/>
            </a:pPr>
            <a:r>
              <a:rPr lang="en-US" altLang="ja-JP" sz="2400" dirty="0"/>
              <a:t>The appropriate corrective measures can be carried out on any individual building which is missing earthquake resistant elements as per MRs and at any stage of construction. These measures were drafted by the NRA technical standardization committee   on the basis of seismic requirements following NBC 105.</a:t>
            </a:r>
          </a:p>
          <a:p>
            <a:pPr marL="277813" algn="just"/>
            <a:r>
              <a:rPr lang="en-US" altLang="ja-JP" sz="2400" dirty="0"/>
              <a:t>Hence, when all required corrective measures have been completed the building can be approved for the subsequent tranche of the housing reconstruction grant.</a:t>
            </a:r>
          </a:p>
        </p:txBody>
      </p:sp>
      <p:sp>
        <p:nvSpPr>
          <p:cNvPr id="3" name="正方形/長方形 2"/>
          <p:cNvSpPr/>
          <p:nvPr/>
        </p:nvSpPr>
        <p:spPr>
          <a:xfrm>
            <a:off x="212667" y="892784"/>
            <a:ext cx="2368212" cy="523220"/>
          </a:xfrm>
          <a:prstGeom prst="rect">
            <a:avLst/>
          </a:prstGeom>
        </p:spPr>
        <p:txBody>
          <a:bodyPr wrap="none">
            <a:spAutoFit/>
          </a:bodyPr>
          <a:lstStyle/>
          <a:p>
            <a:r>
              <a:rPr lang="en-US" altLang="ja-JP" sz="2800" b="1" dirty="0">
                <a:solidFill>
                  <a:srgbClr val="EE4726"/>
                </a:solidFill>
              </a:rPr>
              <a:t>[CORRECTION]</a:t>
            </a:r>
            <a:endParaRPr lang="en-US" altLang="ja-JP" sz="2800" b="1" dirty="0"/>
          </a:p>
        </p:txBody>
      </p:sp>
    </p:spTree>
    <p:extLst>
      <p:ext uri="{BB962C8B-B14F-4D97-AF65-F5344CB8AC3E}">
        <p14:creationId xmlns:p14="http://schemas.microsoft.com/office/powerpoint/2010/main" val="39105073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56</a:t>
            </a:fld>
            <a:endParaRPr lang="en-US"/>
          </a:p>
        </p:txBody>
      </p:sp>
      <p:sp>
        <p:nvSpPr>
          <p:cNvPr id="4"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7" name="図 6"/>
          <p:cNvPicPr>
            <a:picLocks noChangeAspect="1"/>
          </p:cNvPicPr>
          <p:nvPr/>
        </p:nvPicPr>
        <p:blipFill>
          <a:blip r:embed="rId3"/>
          <a:stretch>
            <a:fillRect/>
          </a:stretch>
        </p:blipFill>
        <p:spPr>
          <a:xfrm>
            <a:off x="135436" y="742534"/>
            <a:ext cx="4135622" cy="5978942"/>
          </a:xfrm>
          <a:prstGeom prst="rect">
            <a:avLst/>
          </a:prstGeom>
        </p:spPr>
      </p:pic>
      <p:pic>
        <p:nvPicPr>
          <p:cNvPr id="8" name="図 7"/>
          <p:cNvPicPr>
            <a:picLocks noChangeAspect="1"/>
          </p:cNvPicPr>
          <p:nvPr/>
        </p:nvPicPr>
        <p:blipFill>
          <a:blip r:embed="rId4"/>
          <a:stretch>
            <a:fillRect/>
          </a:stretch>
        </p:blipFill>
        <p:spPr>
          <a:xfrm>
            <a:off x="4271058" y="742534"/>
            <a:ext cx="4141144" cy="5978942"/>
          </a:xfrm>
          <a:prstGeom prst="rect">
            <a:avLst/>
          </a:prstGeom>
        </p:spPr>
      </p:pic>
      <p:pic>
        <p:nvPicPr>
          <p:cNvPr id="5" name="Picture 4"/>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176873" y="76985"/>
            <a:ext cx="967127" cy="815799"/>
          </a:xfrm>
          <a:prstGeom prst="rect">
            <a:avLst/>
          </a:prstGeom>
        </p:spPr>
      </p:pic>
      <p:sp>
        <p:nvSpPr>
          <p:cNvPr id="9" name="正方形/長方形 8"/>
          <p:cNvSpPr/>
          <p:nvPr/>
        </p:nvSpPr>
        <p:spPr>
          <a:xfrm>
            <a:off x="356036" y="1137459"/>
            <a:ext cx="2771577"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b="1" dirty="0">
                <a:solidFill>
                  <a:srgbClr val="FF6600"/>
                </a:solidFill>
                <a:latin typeface="Calibri" panose="020F0502020204030204" pitchFamily="34" charset="0"/>
              </a:rPr>
              <a:t>Minimum Requirements</a:t>
            </a:r>
            <a:endParaRPr kumimoji="1" lang="ja-JP" altLang="en-US" b="1" dirty="0">
              <a:solidFill>
                <a:srgbClr val="FF6600"/>
              </a:solidFill>
              <a:latin typeface="Calibri" panose="020F0502020204030204" pitchFamily="34" charset="0"/>
            </a:endParaRPr>
          </a:p>
        </p:txBody>
      </p:sp>
      <p:sp>
        <p:nvSpPr>
          <p:cNvPr id="10" name="Pentagon 10"/>
          <p:cNvSpPr/>
          <p:nvPr/>
        </p:nvSpPr>
        <p:spPr>
          <a:xfrm>
            <a:off x="356036" y="1937148"/>
            <a:ext cx="2962395" cy="328665"/>
          </a:xfrm>
          <a:prstGeom prst="homePlate">
            <a:avLst/>
          </a:prstGeom>
          <a:solidFill>
            <a:srgbClr val="B5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Problem</a:t>
            </a:r>
          </a:p>
        </p:txBody>
      </p:sp>
      <p:sp>
        <p:nvSpPr>
          <p:cNvPr id="11" name="正方形/長方形 10"/>
          <p:cNvSpPr/>
          <p:nvPr/>
        </p:nvSpPr>
        <p:spPr>
          <a:xfrm>
            <a:off x="368066" y="2889537"/>
            <a:ext cx="2950365" cy="333910"/>
          </a:xfrm>
          <a:prstGeom prst="rect">
            <a:avLst/>
          </a:prstGeom>
          <a:solidFill>
            <a:schemeClr val="bg1"/>
          </a:solidFill>
          <a:ln w="38100">
            <a:solidFill>
              <a:srgbClr val="B50F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rgbClr val="C00000"/>
                </a:solidFill>
              </a:rPr>
              <a:t>Common Defects</a:t>
            </a:r>
            <a:endParaRPr kumimoji="1" lang="ja-JP" altLang="en-US" sz="1600" dirty="0">
              <a:solidFill>
                <a:srgbClr val="C00000"/>
              </a:solidFill>
            </a:endParaRPr>
          </a:p>
        </p:txBody>
      </p:sp>
      <p:sp>
        <p:nvSpPr>
          <p:cNvPr id="12" name="Pentagon 10"/>
          <p:cNvSpPr/>
          <p:nvPr/>
        </p:nvSpPr>
        <p:spPr>
          <a:xfrm>
            <a:off x="4544653" y="2552990"/>
            <a:ext cx="2909400" cy="336547"/>
          </a:xfrm>
          <a:prstGeom prst="homePlate">
            <a:avLst/>
          </a:prstGeom>
          <a:solidFill>
            <a:srgbClr val="0088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Solution</a:t>
            </a:r>
          </a:p>
        </p:txBody>
      </p:sp>
      <p:sp>
        <p:nvSpPr>
          <p:cNvPr id="13" name="正方形/長方形 12"/>
          <p:cNvSpPr/>
          <p:nvPr/>
        </p:nvSpPr>
        <p:spPr>
          <a:xfrm>
            <a:off x="4556684" y="3533790"/>
            <a:ext cx="2897369" cy="303642"/>
          </a:xfrm>
          <a:prstGeom prst="rect">
            <a:avLst/>
          </a:prstGeom>
          <a:solidFill>
            <a:schemeClr val="bg1"/>
          </a:solidFill>
          <a:ln w="38100">
            <a:solidFill>
              <a:srgbClr val="00881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rgbClr val="008816"/>
                </a:solidFill>
              </a:rPr>
              <a:t>Correction</a:t>
            </a:r>
            <a:endParaRPr kumimoji="1" lang="ja-JP" altLang="en-US" sz="1600" dirty="0">
              <a:solidFill>
                <a:srgbClr val="008816"/>
              </a:solidFill>
            </a:endParaRPr>
          </a:p>
        </p:txBody>
      </p:sp>
      <p:sp>
        <p:nvSpPr>
          <p:cNvPr id="14" name="正方形/長方形 13"/>
          <p:cNvSpPr/>
          <p:nvPr/>
        </p:nvSpPr>
        <p:spPr>
          <a:xfrm>
            <a:off x="4568717" y="1193857"/>
            <a:ext cx="2885336" cy="303642"/>
          </a:xfrm>
          <a:prstGeom prst="rect">
            <a:avLst/>
          </a:prstGeom>
          <a:solidFill>
            <a:schemeClr val="bg1"/>
          </a:solidFill>
          <a:ln w="381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tx1">
                    <a:lumMod val="75000"/>
                    <a:lumOff val="25000"/>
                  </a:schemeClr>
                </a:solidFill>
              </a:rPr>
              <a:t>Exception</a:t>
            </a:r>
            <a:endParaRPr kumimoji="1" lang="ja-JP" altLang="en-US" sz="1600" dirty="0">
              <a:solidFill>
                <a:schemeClr val="tx1">
                  <a:lumMod val="75000"/>
                  <a:lumOff val="25000"/>
                </a:schemeClr>
              </a:solidFill>
            </a:endParaRPr>
          </a:p>
        </p:txBody>
      </p:sp>
    </p:spTree>
    <p:extLst>
      <p:ext uri="{BB962C8B-B14F-4D97-AF65-F5344CB8AC3E}">
        <p14:creationId xmlns:p14="http://schemas.microsoft.com/office/powerpoint/2010/main" val="239460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animBg="1"/>
      <p:bldP spid="13" grpId="0" animBg="1"/>
      <p:bldP spid="1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57</a:t>
            </a:fld>
            <a:endParaRPr lang="en-US"/>
          </a:p>
        </p:txBody>
      </p:sp>
      <p:pic>
        <p:nvPicPr>
          <p:cNvPr id="3" name="Picture 6"/>
          <p:cNvPicPr>
            <a:picLocks noChangeAspect="1"/>
          </p:cNvPicPr>
          <p:nvPr/>
        </p:nvPicPr>
        <p:blipFill rotWithShape="1">
          <a:blip r:embed="rId3" cstate="email">
            <a:extLst>
              <a:ext uri="{28A0092B-C50C-407E-A947-70E740481C1C}">
                <a14:useLocalDpi xmlns:a14="http://schemas.microsoft.com/office/drawing/2010/main" val="0"/>
              </a:ext>
            </a:extLst>
          </a:blip>
          <a:srcRect l="20993" t="19950" r="24681" b="14486"/>
          <a:stretch/>
        </p:blipFill>
        <p:spPr>
          <a:xfrm>
            <a:off x="238846" y="2533359"/>
            <a:ext cx="4113091" cy="2792178"/>
          </a:xfrm>
          <a:prstGeom prst="rect">
            <a:avLst/>
          </a:prstGeom>
        </p:spPr>
      </p:pic>
      <p:pic>
        <p:nvPicPr>
          <p:cNvPr id="4" name="Picture 10"/>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920837" y="4149238"/>
            <a:ext cx="673897" cy="702270"/>
          </a:xfrm>
          <a:prstGeom prst="rect">
            <a:avLst/>
          </a:prstGeom>
        </p:spPr>
      </p:pic>
      <p:sp>
        <p:nvSpPr>
          <p:cNvPr id="5" name="正方形/長方形 2"/>
          <p:cNvSpPr/>
          <p:nvPr/>
        </p:nvSpPr>
        <p:spPr>
          <a:xfrm>
            <a:off x="185886" y="5221805"/>
            <a:ext cx="4566223" cy="369332"/>
          </a:xfrm>
          <a:prstGeom prst="rect">
            <a:avLst/>
          </a:prstGeom>
        </p:spPr>
        <p:txBody>
          <a:bodyPr wrap="square">
            <a:spAutoFit/>
          </a:bodyPr>
          <a:lstStyle/>
          <a:p>
            <a:pPr algn="ctr"/>
            <a:r>
              <a:rPr lang="en-US" altLang="ja-JP" b="1" dirty="0"/>
              <a:t>Provide vertical reinforcement  </a:t>
            </a:r>
            <a:endParaRPr lang="ja-JP" altLang="en-US" b="1" dirty="0"/>
          </a:p>
        </p:txBody>
      </p:sp>
      <p:sp>
        <p:nvSpPr>
          <p:cNvPr id="6" name="TextBox 5"/>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8" name="Picture 7"/>
          <p:cNvPicPr>
            <a:picLocks noChangeAspect="1"/>
          </p:cNvPicPr>
          <p:nvPr/>
        </p:nvPicPr>
        <p:blipFill rotWithShape="1">
          <a:blip r:embed="rId5" cstate="email">
            <a:extLst>
              <a:ext uri="{28A0092B-C50C-407E-A947-70E740481C1C}">
                <a14:useLocalDpi xmlns:a14="http://schemas.microsoft.com/office/drawing/2010/main" val="0"/>
              </a:ext>
            </a:extLst>
          </a:blip>
          <a:srcRect l="20741" t="17925" r="23598" b="12469"/>
          <a:stretch/>
        </p:blipFill>
        <p:spPr>
          <a:xfrm>
            <a:off x="4435066" y="2465888"/>
            <a:ext cx="4212026" cy="2962832"/>
          </a:xfrm>
          <a:prstGeom prst="rect">
            <a:avLst/>
          </a:prstGeom>
        </p:spPr>
      </p:pic>
      <p:pic>
        <p:nvPicPr>
          <p:cNvPr id="9" name="Picture 10"/>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6141392" y="3420846"/>
            <a:ext cx="719723" cy="750025"/>
          </a:xfrm>
          <a:prstGeom prst="rect">
            <a:avLst/>
          </a:prstGeom>
        </p:spPr>
      </p:pic>
      <p:sp>
        <p:nvSpPr>
          <p:cNvPr id="10" name="Rectangle 9"/>
          <p:cNvSpPr/>
          <p:nvPr/>
        </p:nvSpPr>
        <p:spPr>
          <a:xfrm>
            <a:off x="-24031" y="897376"/>
            <a:ext cx="9144003" cy="523220"/>
          </a:xfrm>
          <a:prstGeom prst="rect">
            <a:avLst/>
          </a:prstGeom>
          <a:solidFill>
            <a:schemeClr val="accent3">
              <a:lumMod val="20000"/>
              <a:lumOff val="80000"/>
            </a:schemeClr>
          </a:solidFill>
        </p:spPr>
        <p:txBody>
          <a:bodyPr wrap="square">
            <a:spAutoFit/>
          </a:bodyPr>
          <a:lstStyle/>
          <a:p>
            <a:pPr algn="just"/>
            <a:r>
              <a:rPr lang="en-US" sz="2800" b="1" dirty="0">
                <a:solidFill>
                  <a:srgbClr val="EE4726"/>
                </a:solidFill>
              </a:rPr>
              <a:t>Problem:</a:t>
            </a:r>
          </a:p>
        </p:txBody>
      </p:sp>
      <p:sp>
        <p:nvSpPr>
          <p:cNvPr id="11" name="Pentagon 10"/>
          <p:cNvSpPr/>
          <p:nvPr/>
        </p:nvSpPr>
        <p:spPr>
          <a:xfrm>
            <a:off x="-1" y="1923068"/>
            <a:ext cx="2909400" cy="551354"/>
          </a:xfrm>
          <a:prstGeom prst="homePlate">
            <a:avLst/>
          </a:prstGeom>
          <a:solidFill>
            <a:srgbClr val="0088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rPr>
              <a:t>Correction</a:t>
            </a:r>
          </a:p>
        </p:txBody>
      </p:sp>
      <p:sp>
        <p:nvSpPr>
          <p:cNvPr id="12" name="正方形/長方形 2"/>
          <p:cNvSpPr/>
          <p:nvPr/>
        </p:nvSpPr>
        <p:spPr>
          <a:xfrm>
            <a:off x="4522356" y="5207946"/>
            <a:ext cx="4566223" cy="400110"/>
          </a:xfrm>
          <a:prstGeom prst="rect">
            <a:avLst/>
          </a:prstGeom>
        </p:spPr>
        <p:txBody>
          <a:bodyPr wrap="square">
            <a:spAutoFit/>
          </a:bodyPr>
          <a:lstStyle/>
          <a:p>
            <a:pPr algn="ctr"/>
            <a:r>
              <a:rPr lang="en-US" altLang="ja-JP" sz="2000" b="1" dirty="0"/>
              <a:t>Provide bandage</a:t>
            </a:r>
            <a:endParaRPr lang="ja-JP" altLang="en-US" sz="2000" b="1" dirty="0"/>
          </a:p>
        </p:txBody>
      </p:sp>
      <p:sp>
        <p:nvSpPr>
          <p:cNvPr id="13" name="正方形/長方形 2"/>
          <p:cNvSpPr/>
          <p:nvPr/>
        </p:nvSpPr>
        <p:spPr>
          <a:xfrm>
            <a:off x="-43867" y="1304285"/>
            <a:ext cx="4566223" cy="461665"/>
          </a:xfrm>
          <a:prstGeom prst="rect">
            <a:avLst/>
          </a:prstGeom>
        </p:spPr>
        <p:txBody>
          <a:bodyPr wrap="square">
            <a:spAutoFit/>
          </a:bodyPr>
          <a:lstStyle/>
          <a:p>
            <a:pPr algn="ctr"/>
            <a:r>
              <a:rPr lang="en-US" altLang="ja-JP" sz="2400" b="1" dirty="0"/>
              <a:t>Absence of vertical reinforcement</a:t>
            </a:r>
            <a:endParaRPr lang="ja-JP" altLang="en-US" sz="2400" b="1" dirty="0"/>
          </a:p>
        </p:txBody>
      </p:sp>
      <p:sp>
        <p:nvSpPr>
          <p:cNvPr id="14" name="Pentagon 10"/>
          <p:cNvSpPr/>
          <p:nvPr/>
        </p:nvSpPr>
        <p:spPr>
          <a:xfrm>
            <a:off x="-1" y="846382"/>
            <a:ext cx="2909400" cy="557570"/>
          </a:xfrm>
          <a:prstGeom prst="homePlate">
            <a:avLst/>
          </a:prstGeom>
          <a:solidFill>
            <a:srgbClr val="B5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rPr>
              <a:t>Problem</a:t>
            </a:r>
          </a:p>
        </p:txBody>
      </p:sp>
    </p:spTree>
    <p:extLst>
      <p:ext uri="{BB962C8B-B14F-4D97-AF65-F5344CB8AC3E}">
        <p14:creationId xmlns:p14="http://schemas.microsoft.com/office/powerpoint/2010/main" val="16726028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397038" y="889364"/>
            <a:ext cx="4219045" cy="251119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70D42D0E-A88D-4DDD-9A0B-9B8A68EFDB8F}" type="slidenum">
              <a:rPr lang="en-US" smtClean="0"/>
              <a:t>58</a:t>
            </a:fld>
            <a:endParaRPr lang="en-US"/>
          </a:p>
        </p:txBody>
      </p:sp>
      <p:grpSp>
        <p:nvGrpSpPr>
          <p:cNvPr id="11" name="Group 10"/>
          <p:cNvGrpSpPr/>
          <p:nvPr/>
        </p:nvGrpSpPr>
        <p:grpSpPr>
          <a:xfrm>
            <a:off x="672353" y="777321"/>
            <a:ext cx="3993358" cy="2491410"/>
            <a:chOff x="632462" y="1134163"/>
            <a:chExt cx="3308344" cy="2064038"/>
          </a:xfrm>
        </p:grpSpPr>
        <p:pic>
          <p:nvPicPr>
            <p:cNvPr id="3" name="Picture 11"/>
            <p:cNvPicPr>
              <a:picLocks noChangeAspect="1"/>
            </p:cNvPicPr>
            <p:nvPr/>
          </p:nvPicPr>
          <p:blipFill rotWithShape="1">
            <a:blip r:embed="rId3" cstate="email">
              <a:extLst>
                <a:ext uri="{28A0092B-C50C-407E-A947-70E740481C1C}">
                  <a14:useLocalDpi xmlns:a14="http://schemas.microsoft.com/office/drawing/2010/main" val="0"/>
                </a:ext>
              </a:extLst>
            </a:blip>
            <a:srcRect l="9840"/>
            <a:stretch/>
          </p:blipFill>
          <p:spPr>
            <a:xfrm>
              <a:off x="632462" y="1134163"/>
              <a:ext cx="3308344" cy="2064038"/>
            </a:xfrm>
            <a:prstGeom prst="rect">
              <a:avLst/>
            </a:prstGeom>
          </p:spPr>
        </p:pic>
        <p:pic>
          <p:nvPicPr>
            <p:cNvPr id="4"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121968" y="2261735"/>
              <a:ext cx="542741" cy="468488"/>
            </a:xfrm>
            <a:prstGeom prst="rect">
              <a:avLst/>
            </a:prstGeom>
          </p:spPr>
        </p:pic>
      </p:grpSp>
      <p:sp>
        <p:nvSpPr>
          <p:cNvPr id="5" name="TextBox 4"/>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sp>
        <p:nvSpPr>
          <p:cNvPr id="28" name="TextBox 27"/>
          <p:cNvSpPr txBox="1"/>
          <p:nvPr/>
        </p:nvSpPr>
        <p:spPr>
          <a:xfrm>
            <a:off x="2445790" y="2934844"/>
            <a:ext cx="2195440" cy="461665"/>
          </a:xfrm>
          <a:prstGeom prst="rect">
            <a:avLst/>
          </a:prstGeom>
          <a:solidFill>
            <a:srgbClr val="C00000"/>
          </a:solidFill>
        </p:spPr>
        <p:txBody>
          <a:bodyPr wrap="square" rtlCol="0">
            <a:spAutoFit/>
          </a:bodyPr>
          <a:lstStyle/>
          <a:p>
            <a:r>
              <a:rPr lang="en-US" sz="2400" dirty="0"/>
              <a:t>Non complaint</a:t>
            </a:r>
          </a:p>
        </p:txBody>
      </p:sp>
      <p:sp>
        <p:nvSpPr>
          <p:cNvPr id="29" name="TextBox 28"/>
          <p:cNvSpPr txBox="1"/>
          <p:nvPr/>
        </p:nvSpPr>
        <p:spPr>
          <a:xfrm>
            <a:off x="3992409" y="4769559"/>
            <a:ext cx="2195440" cy="461665"/>
          </a:xfrm>
          <a:prstGeom prst="rect">
            <a:avLst/>
          </a:prstGeom>
          <a:noFill/>
        </p:spPr>
        <p:txBody>
          <a:bodyPr wrap="square" rtlCol="0">
            <a:spAutoFit/>
          </a:bodyPr>
          <a:lstStyle/>
          <a:p>
            <a:r>
              <a:rPr lang="en-US" sz="2400" dirty="0">
                <a:solidFill>
                  <a:srgbClr val="00B050"/>
                </a:solidFill>
              </a:rPr>
              <a:t>Compliant</a:t>
            </a:r>
          </a:p>
        </p:txBody>
      </p:sp>
      <p:grpSp>
        <p:nvGrpSpPr>
          <p:cNvPr id="46" name="Group 45"/>
          <p:cNvGrpSpPr/>
          <p:nvPr/>
        </p:nvGrpSpPr>
        <p:grpSpPr>
          <a:xfrm>
            <a:off x="397038" y="865859"/>
            <a:ext cx="8716404" cy="5308723"/>
            <a:chOff x="397038" y="1212234"/>
            <a:chExt cx="8716404" cy="5308723"/>
          </a:xfrm>
        </p:grpSpPr>
        <p:grpSp>
          <p:nvGrpSpPr>
            <p:cNvPr id="6" name="Group 5"/>
            <p:cNvGrpSpPr/>
            <p:nvPr/>
          </p:nvGrpSpPr>
          <p:grpSpPr>
            <a:xfrm>
              <a:off x="4815522" y="1326137"/>
              <a:ext cx="4297920" cy="2464725"/>
              <a:chOff x="3585195" y="4146626"/>
              <a:chExt cx="3516804" cy="2016780"/>
            </a:xfrm>
          </p:grpSpPr>
          <p:pic>
            <p:nvPicPr>
              <p:cNvPr id="7" name="Picture 14"/>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585195" y="4185204"/>
                <a:ext cx="3516804" cy="1978202"/>
              </a:xfrm>
              <a:prstGeom prst="rect">
                <a:avLst/>
              </a:prstGeom>
            </p:spPr>
          </p:pic>
          <p:sp>
            <p:nvSpPr>
              <p:cNvPr id="8" name="正方形/長方形 16"/>
              <p:cNvSpPr/>
              <p:nvPr/>
            </p:nvSpPr>
            <p:spPr>
              <a:xfrm>
                <a:off x="4525581" y="4146626"/>
                <a:ext cx="2033314" cy="307777"/>
              </a:xfrm>
              <a:prstGeom prst="rect">
                <a:avLst/>
              </a:prstGeom>
            </p:spPr>
            <p:txBody>
              <a:bodyPr wrap="square">
                <a:spAutoFit/>
              </a:bodyPr>
              <a:lstStyle/>
              <a:p>
                <a:r>
                  <a:rPr lang="en-US" altLang="ja-JP" sz="1400" dirty="0"/>
                  <a:t>Adding Wooden element </a:t>
                </a:r>
                <a:endParaRPr lang="ja-JP" altLang="en-US" sz="1400" dirty="0"/>
              </a:p>
            </p:txBody>
          </p:sp>
          <p:cxnSp>
            <p:nvCxnSpPr>
              <p:cNvPr id="9" name="カギ線コネクタ 15"/>
              <p:cNvCxnSpPr/>
              <p:nvPr/>
            </p:nvCxnSpPr>
            <p:spPr>
              <a:xfrm rot="10800000" flipV="1">
                <a:off x="4237187" y="4294458"/>
                <a:ext cx="348430" cy="68986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10"/>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4841512" y="5209040"/>
                <a:ext cx="449921" cy="468864"/>
              </a:xfrm>
              <a:prstGeom prst="rect">
                <a:avLst/>
              </a:prstGeom>
            </p:spPr>
          </p:pic>
        </p:grpSp>
        <p:grpSp>
          <p:nvGrpSpPr>
            <p:cNvPr id="12" name="Group 11"/>
            <p:cNvGrpSpPr/>
            <p:nvPr/>
          </p:nvGrpSpPr>
          <p:grpSpPr>
            <a:xfrm>
              <a:off x="538419" y="3865018"/>
              <a:ext cx="4057211" cy="2630105"/>
              <a:chOff x="616761" y="6713711"/>
              <a:chExt cx="3014473" cy="1954146"/>
            </a:xfrm>
          </p:grpSpPr>
          <p:pic>
            <p:nvPicPr>
              <p:cNvPr id="13" name="Picture 5"/>
              <p:cNvPicPr>
                <a:picLocks noChangeAspect="1"/>
              </p:cNvPicPr>
              <p:nvPr/>
            </p:nvPicPr>
            <p:blipFill rotWithShape="1">
              <a:blip r:embed="rId7" cstate="email">
                <a:extLst>
                  <a:ext uri="{28A0092B-C50C-407E-A947-70E740481C1C}">
                    <a14:useLocalDpi xmlns:a14="http://schemas.microsoft.com/office/drawing/2010/main" val="0"/>
                  </a:ext>
                </a:extLst>
              </a:blip>
              <a:srcRect l="10497" r="14752" b="-1599"/>
              <a:stretch/>
            </p:blipFill>
            <p:spPr>
              <a:xfrm>
                <a:off x="616761" y="6713711"/>
                <a:ext cx="2556051" cy="1954146"/>
              </a:xfrm>
              <a:prstGeom prst="rect">
                <a:avLst/>
              </a:prstGeom>
            </p:spPr>
          </p:pic>
          <p:sp>
            <p:nvSpPr>
              <p:cNvPr id="14" name="正方形/長方形 16"/>
              <p:cNvSpPr/>
              <p:nvPr/>
            </p:nvSpPr>
            <p:spPr>
              <a:xfrm>
                <a:off x="1597920" y="6776629"/>
                <a:ext cx="2033314" cy="307777"/>
              </a:xfrm>
              <a:prstGeom prst="rect">
                <a:avLst/>
              </a:prstGeom>
            </p:spPr>
            <p:txBody>
              <a:bodyPr wrap="square">
                <a:spAutoFit/>
              </a:bodyPr>
              <a:lstStyle/>
              <a:p>
                <a:r>
                  <a:rPr lang="en-US" altLang="ja-JP" sz="1400" dirty="0"/>
                  <a:t>Adding RC  Roof Band </a:t>
                </a:r>
                <a:endParaRPr lang="ja-JP" altLang="en-US" sz="1400" dirty="0"/>
              </a:p>
            </p:txBody>
          </p:sp>
          <p:cxnSp>
            <p:nvCxnSpPr>
              <p:cNvPr id="15" name="カギ線コネクタ 15"/>
              <p:cNvCxnSpPr/>
              <p:nvPr/>
            </p:nvCxnSpPr>
            <p:spPr>
              <a:xfrm rot="5400000">
                <a:off x="1239905" y="6900257"/>
                <a:ext cx="399197" cy="368299"/>
              </a:xfrm>
              <a:prstGeom prst="bentConnector3">
                <a:avLst>
                  <a:gd name="adj1" fmla="val 495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0"/>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1488620" y="7631638"/>
                <a:ext cx="449921" cy="468864"/>
              </a:xfrm>
              <a:prstGeom prst="rect">
                <a:avLst/>
              </a:prstGeom>
            </p:spPr>
          </p:pic>
        </p:grpSp>
        <p:grpSp>
          <p:nvGrpSpPr>
            <p:cNvPr id="17" name="Group 16"/>
            <p:cNvGrpSpPr/>
            <p:nvPr/>
          </p:nvGrpSpPr>
          <p:grpSpPr>
            <a:xfrm>
              <a:off x="5543043" y="3906242"/>
              <a:ext cx="3530276" cy="2537076"/>
              <a:chOff x="3746963" y="6890011"/>
              <a:chExt cx="2949123" cy="2119423"/>
            </a:xfrm>
          </p:grpSpPr>
          <p:pic>
            <p:nvPicPr>
              <p:cNvPr id="18" name="Picture 17"/>
              <p:cNvPicPr>
                <a:picLocks noChangeAspect="1"/>
              </p:cNvPicPr>
              <p:nvPr/>
            </p:nvPicPr>
            <p:blipFill rotWithShape="1">
              <a:blip r:embed="rId9" cstate="email">
                <a:extLst>
                  <a:ext uri="{28A0092B-C50C-407E-A947-70E740481C1C}">
                    <a14:useLocalDpi xmlns:a14="http://schemas.microsoft.com/office/drawing/2010/main" val="0"/>
                  </a:ext>
                </a:extLst>
              </a:blip>
              <a:srcRect l="9947" t="6261" r="11111"/>
              <a:stretch/>
            </p:blipFill>
            <p:spPr>
              <a:xfrm>
                <a:off x="3746963" y="7065630"/>
                <a:ext cx="2910160" cy="1943804"/>
              </a:xfrm>
              <a:prstGeom prst="rect">
                <a:avLst/>
              </a:prstGeom>
            </p:spPr>
          </p:pic>
          <p:sp>
            <p:nvSpPr>
              <p:cNvPr id="19" name="正方形/長方形 16"/>
              <p:cNvSpPr/>
              <p:nvPr/>
            </p:nvSpPr>
            <p:spPr>
              <a:xfrm>
                <a:off x="4662772" y="6890011"/>
                <a:ext cx="2033314" cy="307777"/>
              </a:xfrm>
              <a:prstGeom prst="rect">
                <a:avLst/>
              </a:prstGeom>
            </p:spPr>
            <p:txBody>
              <a:bodyPr wrap="square">
                <a:spAutoFit/>
              </a:bodyPr>
              <a:lstStyle/>
              <a:p>
                <a:r>
                  <a:rPr lang="en-US" altLang="ja-JP" sz="1400" dirty="0"/>
                  <a:t>Adding gabion wire mesh</a:t>
                </a:r>
                <a:endParaRPr lang="ja-JP" altLang="en-US" sz="1400" dirty="0"/>
              </a:p>
            </p:txBody>
          </p:sp>
          <p:cxnSp>
            <p:nvCxnSpPr>
              <p:cNvPr id="20" name="カギ線コネクタ 15"/>
              <p:cNvCxnSpPr/>
              <p:nvPr/>
            </p:nvCxnSpPr>
            <p:spPr>
              <a:xfrm rot="5400000">
                <a:off x="4263397" y="7374257"/>
                <a:ext cx="793101" cy="89976"/>
              </a:xfrm>
              <a:prstGeom prst="bentConnector3">
                <a:avLst>
                  <a:gd name="adj1" fmla="val 42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10"/>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4855295" y="7959961"/>
                <a:ext cx="449921" cy="468864"/>
              </a:xfrm>
              <a:prstGeom prst="rect">
                <a:avLst/>
              </a:prstGeom>
            </p:spPr>
          </p:pic>
        </p:grpSp>
        <p:cxnSp>
          <p:nvCxnSpPr>
            <p:cNvPr id="33" name="Straight Connector 32"/>
            <p:cNvCxnSpPr/>
            <p:nvPr/>
          </p:nvCxnSpPr>
          <p:spPr>
            <a:xfrm>
              <a:off x="5120136" y="1221884"/>
              <a:ext cx="3770639"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5122118" y="1235739"/>
              <a:ext cx="0" cy="275092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8884475" y="1212234"/>
              <a:ext cx="0" cy="5308723"/>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97038" y="3986663"/>
              <a:ext cx="4723098"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97038" y="3997570"/>
              <a:ext cx="0" cy="249386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397038" y="6491432"/>
              <a:ext cx="8487437"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47" name="TextBox 46"/>
          <p:cNvSpPr txBox="1"/>
          <p:nvPr/>
        </p:nvSpPr>
        <p:spPr>
          <a:xfrm>
            <a:off x="6325000" y="6165758"/>
            <a:ext cx="2550573" cy="461665"/>
          </a:xfrm>
          <a:prstGeom prst="rect">
            <a:avLst/>
          </a:prstGeom>
          <a:solidFill>
            <a:srgbClr val="5B7BB4"/>
          </a:solidFill>
        </p:spPr>
        <p:txBody>
          <a:bodyPr wrap="square" rtlCol="0">
            <a:spAutoFit/>
          </a:bodyPr>
          <a:lstStyle/>
          <a:p>
            <a:r>
              <a:rPr lang="en-US" sz="2400" dirty="0">
                <a:solidFill>
                  <a:schemeClr val="bg1"/>
                </a:solidFill>
              </a:rPr>
              <a:t>Number of Storey</a:t>
            </a:r>
          </a:p>
        </p:txBody>
      </p:sp>
      <p:sp>
        <p:nvSpPr>
          <p:cNvPr id="34" name="正方形/長方形 33"/>
          <p:cNvSpPr/>
          <p:nvPr/>
        </p:nvSpPr>
        <p:spPr>
          <a:xfrm>
            <a:off x="3789979" y="3661707"/>
            <a:ext cx="1801091" cy="558623"/>
          </a:xfrm>
          <a:prstGeom prst="rect">
            <a:avLst/>
          </a:prstGeom>
          <a:solidFill>
            <a:schemeClr val="bg1"/>
          </a:solidFill>
          <a:ln w="38100">
            <a:solidFill>
              <a:srgbClr val="00881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rgbClr val="008816"/>
                </a:solidFill>
              </a:rPr>
              <a:t>Correction</a:t>
            </a:r>
            <a:endParaRPr kumimoji="1" lang="ja-JP" altLang="en-US" sz="2800" dirty="0">
              <a:solidFill>
                <a:srgbClr val="008816"/>
              </a:solidFill>
            </a:endParaRPr>
          </a:p>
        </p:txBody>
      </p:sp>
      <p:sp>
        <p:nvSpPr>
          <p:cNvPr id="37" name="下矢印 23"/>
          <p:cNvSpPr/>
          <p:nvPr/>
        </p:nvSpPr>
        <p:spPr>
          <a:xfrm rot="18488700">
            <a:off x="4342239" y="3236456"/>
            <a:ext cx="614149" cy="449800"/>
          </a:xfrm>
          <a:prstGeom prst="downArrow">
            <a:avLst/>
          </a:prstGeom>
          <a:solidFill>
            <a:srgbClr val="FF9933"/>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781766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59</a:t>
            </a:fld>
            <a:endParaRPr lang="en-US"/>
          </a:p>
        </p:txBody>
      </p:sp>
      <p:sp>
        <p:nvSpPr>
          <p:cNvPr id="6" name="TextBox 5"/>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sp>
        <p:nvSpPr>
          <p:cNvPr id="10" name="Rectangle 9"/>
          <p:cNvSpPr/>
          <p:nvPr/>
        </p:nvSpPr>
        <p:spPr>
          <a:xfrm>
            <a:off x="-24031" y="897376"/>
            <a:ext cx="9144003" cy="523220"/>
          </a:xfrm>
          <a:prstGeom prst="rect">
            <a:avLst/>
          </a:prstGeom>
          <a:solidFill>
            <a:schemeClr val="accent3">
              <a:lumMod val="20000"/>
              <a:lumOff val="80000"/>
            </a:schemeClr>
          </a:solidFill>
        </p:spPr>
        <p:txBody>
          <a:bodyPr wrap="square">
            <a:spAutoFit/>
          </a:bodyPr>
          <a:lstStyle/>
          <a:p>
            <a:pPr algn="just"/>
            <a:r>
              <a:rPr lang="en-US" sz="2800" b="1" dirty="0">
                <a:solidFill>
                  <a:srgbClr val="EE4726"/>
                </a:solidFill>
              </a:rPr>
              <a:t>Problem:</a:t>
            </a:r>
          </a:p>
        </p:txBody>
      </p:sp>
      <p:sp>
        <p:nvSpPr>
          <p:cNvPr id="11" name="Pentagon 10"/>
          <p:cNvSpPr/>
          <p:nvPr/>
        </p:nvSpPr>
        <p:spPr>
          <a:xfrm>
            <a:off x="-24031" y="1925237"/>
            <a:ext cx="2909400" cy="551354"/>
          </a:xfrm>
          <a:prstGeom prst="homePlate">
            <a:avLst/>
          </a:prstGeom>
          <a:solidFill>
            <a:srgbClr val="0088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rPr>
              <a:t>Correction</a:t>
            </a:r>
          </a:p>
        </p:txBody>
      </p:sp>
      <p:sp>
        <p:nvSpPr>
          <p:cNvPr id="13" name="正方形/長方形 2"/>
          <p:cNvSpPr/>
          <p:nvPr/>
        </p:nvSpPr>
        <p:spPr>
          <a:xfrm>
            <a:off x="-43867" y="1304285"/>
            <a:ext cx="4566223" cy="461665"/>
          </a:xfrm>
          <a:prstGeom prst="rect">
            <a:avLst/>
          </a:prstGeom>
        </p:spPr>
        <p:txBody>
          <a:bodyPr wrap="square">
            <a:spAutoFit/>
          </a:bodyPr>
          <a:lstStyle/>
          <a:p>
            <a:r>
              <a:rPr lang="en-US" altLang="ja-JP" sz="2400" b="1" dirty="0"/>
              <a:t>Mix use of materials</a:t>
            </a:r>
            <a:endParaRPr lang="ja-JP" altLang="en-US" sz="2400" b="1" dirty="0"/>
          </a:p>
        </p:txBody>
      </p:sp>
      <p:pic>
        <p:nvPicPr>
          <p:cNvPr id="14" name="Picture 1"/>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293393" y="774631"/>
            <a:ext cx="3791827" cy="2843870"/>
          </a:xfrm>
          <a:prstGeom prst="rect">
            <a:avLst/>
          </a:prstGeom>
        </p:spPr>
      </p:pic>
      <p:pic>
        <p:nvPicPr>
          <p:cNvPr id="15" name="Picture 2"/>
          <p:cNvPicPr>
            <a:picLocks noChangeAspect="1"/>
          </p:cNvPicPr>
          <p:nvPr/>
        </p:nvPicPr>
        <p:blipFill rotWithShape="1">
          <a:blip r:embed="rId4" cstate="email">
            <a:extLst>
              <a:ext uri="{28A0092B-C50C-407E-A947-70E740481C1C}">
                <a14:useLocalDpi xmlns:a14="http://schemas.microsoft.com/office/drawing/2010/main" val="0"/>
              </a:ext>
            </a:extLst>
          </a:blip>
          <a:srcRect l="17447" t="8727" r="25816"/>
          <a:stretch/>
        </p:blipFill>
        <p:spPr>
          <a:xfrm>
            <a:off x="-246934" y="2476591"/>
            <a:ext cx="5168557" cy="4676942"/>
          </a:xfrm>
          <a:prstGeom prst="rect">
            <a:avLst/>
          </a:prstGeom>
        </p:spPr>
      </p:pic>
      <p:sp>
        <p:nvSpPr>
          <p:cNvPr id="16" name="正方形/長方形 2"/>
          <p:cNvSpPr/>
          <p:nvPr/>
        </p:nvSpPr>
        <p:spPr>
          <a:xfrm>
            <a:off x="4308691" y="4744833"/>
            <a:ext cx="4566223" cy="461665"/>
          </a:xfrm>
          <a:prstGeom prst="rect">
            <a:avLst/>
          </a:prstGeom>
        </p:spPr>
        <p:txBody>
          <a:bodyPr wrap="square">
            <a:spAutoFit/>
          </a:bodyPr>
          <a:lstStyle/>
          <a:p>
            <a:r>
              <a:rPr lang="en-US" altLang="ja-JP" sz="2400" b="1" dirty="0"/>
              <a:t>Provide jacketing</a:t>
            </a:r>
            <a:endParaRPr lang="ja-JP" altLang="en-US" sz="2400" b="1" dirty="0"/>
          </a:p>
        </p:txBody>
      </p:sp>
      <p:sp>
        <p:nvSpPr>
          <p:cNvPr id="17" name="正方形/長方形 2"/>
          <p:cNvSpPr/>
          <p:nvPr/>
        </p:nvSpPr>
        <p:spPr>
          <a:xfrm>
            <a:off x="4436828" y="3590365"/>
            <a:ext cx="4566223" cy="830997"/>
          </a:xfrm>
          <a:prstGeom prst="rect">
            <a:avLst/>
          </a:prstGeom>
        </p:spPr>
        <p:txBody>
          <a:bodyPr wrap="square">
            <a:spAutoFit/>
          </a:bodyPr>
          <a:lstStyle/>
          <a:p>
            <a:r>
              <a:rPr lang="en-US" altLang="ja-JP" sz="2400" b="1" dirty="0"/>
              <a:t>Mix use of stone and brick in the wall along the same direction.</a:t>
            </a:r>
            <a:endParaRPr lang="ja-JP" altLang="en-US" sz="2400" b="1" dirty="0"/>
          </a:p>
        </p:txBody>
      </p:sp>
      <p:sp>
        <p:nvSpPr>
          <p:cNvPr id="18" name="Rectangle 17"/>
          <p:cNvSpPr/>
          <p:nvPr/>
        </p:nvSpPr>
        <p:spPr>
          <a:xfrm>
            <a:off x="4571999" y="5338048"/>
            <a:ext cx="4572002" cy="707886"/>
          </a:xfrm>
          <a:prstGeom prst="rect">
            <a:avLst/>
          </a:prstGeom>
          <a:noFill/>
        </p:spPr>
        <p:txBody>
          <a:bodyPr wrap="square">
            <a:spAutoFit/>
          </a:bodyPr>
          <a:lstStyle/>
          <a:p>
            <a:pPr algn="just"/>
            <a:r>
              <a:rPr lang="en-US" sz="2000" b="1" dirty="0">
                <a:solidFill>
                  <a:srgbClr val="EE4726"/>
                </a:solidFill>
              </a:rPr>
              <a:t>Limitation: The masonry should have all the earthquake resistant features.</a:t>
            </a:r>
          </a:p>
        </p:txBody>
      </p:sp>
      <p:pic>
        <p:nvPicPr>
          <p:cNvPr id="19" name="Picture 9"/>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5649600" y="2422475"/>
            <a:ext cx="655119" cy="565491"/>
          </a:xfrm>
          <a:prstGeom prst="rect">
            <a:avLst/>
          </a:prstGeom>
        </p:spPr>
      </p:pic>
      <p:sp>
        <p:nvSpPr>
          <p:cNvPr id="20" name="Pentagon 10"/>
          <p:cNvSpPr/>
          <p:nvPr/>
        </p:nvSpPr>
        <p:spPr>
          <a:xfrm>
            <a:off x="-1" y="846382"/>
            <a:ext cx="2909400" cy="557570"/>
          </a:xfrm>
          <a:prstGeom prst="homePlate">
            <a:avLst/>
          </a:prstGeom>
          <a:solidFill>
            <a:srgbClr val="B5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rPr>
              <a:t>Problem</a:t>
            </a:r>
          </a:p>
        </p:txBody>
      </p:sp>
    </p:spTree>
    <p:extLst>
      <p:ext uri="{BB962C8B-B14F-4D97-AF65-F5344CB8AC3E}">
        <p14:creationId xmlns:p14="http://schemas.microsoft.com/office/powerpoint/2010/main" val="272623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6" grpId="0"/>
      <p:bldP spid="17" grpId="0"/>
      <p:bldP spid="1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 y="0"/>
            <a:ext cx="9144001"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76873" y="28859"/>
            <a:ext cx="967127" cy="815799"/>
          </a:xfrm>
          <a:prstGeom prst="rect">
            <a:avLst/>
          </a:prstGeom>
        </p:spPr>
      </p:pic>
      <p:sp>
        <p:nvSpPr>
          <p:cNvPr id="6" name="Rectangle 5"/>
          <p:cNvSpPr/>
          <p:nvPr/>
        </p:nvSpPr>
        <p:spPr>
          <a:xfrm>
            <a:off x="27709" y="1319109"/>
            <a:ext cx="9067582" cy="1200329"/>
          </a:xfrm>
          <a:prstGeom prst="rect">
            <a:avLst/>
          </a:prstGeom>
          <a:solidFill>
            <a:schemeClr val="accent3">
              <a:lumMod val="20000"/>
              <a:lumOff val="80000"/>
            </a:schemeClr>
          </a:solidFill>
        </p:spPr>
        <p:txBody>
          <a:bodyPr wrap="square">
            <a:spAutoFit/>
          </a:bodyPr>
          <a:lstStyle/>
          <a:p>
            <a:pPr marL="457200" indent="-457200" algn="just">
              <a:buFont typeface="Arial" panose="020B0604020202020204" pitchFamily="34" charset="0"/>
              <a:buChar char="•"/>
            </a:pPr>
            <a:r>
              <a:rPr lang="en-US" sz="2400" dirty="0"/>
              <a:t>Cases of the buildings that do not comply with MRs but are structurally safe as per NBC 105 including the cases mentioned in NBC. </a:t>
            </a:r>
          </a:p>
        </p:txBody>
      </p:sp>
      <p:pic>
        <p:nvPicPr>
          <p:cNvPr id="8" name="図 2"/>
          <p:cNvPicPr>
            <a:picLocks noChangeAspect="1"/>
          </p:cNvPicPr>
          <p:nvPr/>
        </p:nvPicPr>
        <p:blipFill rotWithShape="1">
          <a:blip r:embed="rId4" cstate="email">
            <a:extLst>
              <a:ext uri="{28A0092B-C50C-407E-A947-70E740481C1C}">
                <a14:useLocalDpi xmlns:a14="http://schemas.microsoft.com/office/drawing/2010/main" val="0"/>
              </a:ext>
            </a:extLst>
          </a:blip>
          <a:srcRect l="20694" r="22917"/>
          <a:stretch/>
        </p:blipFill>
        <p:spPr>
          <a:xfrm>
            <a:off x="6280534" y="2738871"/>
            <a:ext cx="2814757" cy="3743765"/>
          </a:xfrm>
          <a:prstGeom prst="rect">
            <a:avLst/>
          </a:prstGeom>
        </p:spPr>
      </p:pic>
      <p:sp>
        <p:nvSpPr>
          <p:cNvPr id="7" name="正方形/長方形 40"/>
          <p:cNvSpPr/>
          <p:nvPr/>
        </p:nvSpPr>
        <p:spPr>
          <a:xfrm>
            <a:off x="6279446" y="6480246"/>
            <a:ext cx="3000598" cy="368513"/>
          </a:xfrm>
          <a:prstGeom prst="rect">
            <a:avLst/>
          </a:prstGeom>
        </p:spPr>
        <p:txBody>
          <a:bodyPr wrap="square">
            <a:spAutoFit/>
          </a:bodyPr>
          <a:lstStyle/>
          <a:p>
            <a:r>
              <a:rPr lang="en-US" altLang="ja-JP" dirty="0"/>
              <a:t>Wooden double framed box</a:t>
            </a:r>
            <a:endParaRPr lang="ja-JP" altLang="en-US" dirty="0"/>
          </a:p>
        </p:txBody>
      </p:sp>
      <p:sp>
        <p:nvSpPr>
          <p:cNvPr id="9" name="Rectangle 17"/>
          <p:cNvSpPr/>
          <p:nvPr/>
        </p:nvSpPr>
        <p:spPr>
          <a:xfrm>
            <a:off x="-346369" y="4933676"/>
            <a:ext cx="6414659" cy="1569660"/>
          </a:xfrm>
          <a:prstGeom prst="rect">
            <a:avLst/>
          </a:prstGeom>
        </p:spPr>
        <p:txBody>
          <a:bodyPr wrap="square">
            <a:spAutoFit/>
          </a:bodyPr>
          <a:lstStyle/>
          <a:p>
            <a:pPr marL="363538" indent="-17463" algn="just"/>
            <a:r>
              <a:rPr lang="en-US" altLang="ja-JP" sz="2400" dirty="0"/>
              <a:t>If the openings are provisioned with </a:t>
            </a:r>
            <a:r>
              <a:rPr lang="en-US" altLang="ja-JP" sz="2400" dirty="0">
                <a:solidFill>
                  <a:srgbClr val="C00000"/>
                </a:solidFill>
              </a:rPr>
              <a:t>wooden double framed box and properly connected to horizontal bands </a:t>
            </a:r>
            <a:r>
              <a:rPr lang="en-US" altLang="ja-JP" sz="2400" dirty="0"/>
              <a:t>then vertical members  around the openings as well as can be ignored.</a:t>
            </a:r>
          </a:p>
        </p:txBody>
      </p:sp>
      <p:sp>
        <p:nvSpPr>
          <p:cNvPr id="11" name="Rectangle 17"/>
          <p:cNvSpPr/>
          <p:nvPr/>
        </p:nvSpPr>
        <p:spPr>
          <a:xfrm>
            <a:off x="22190" y="2733327"/>
            <a:ext cx="4206909" cy="461665"/>
          </a:xfrm>
          <a:prstGeom prst="rect">
            <a:avLst/>
          </a:prstGeom>
          <a:solidFill>
            <a:srgbClr val="FFC000"/>
          </a:solidFill>
        </p:spPr>
        <p:txBody>
          <a:bodyPr wrap="square">
            <a:spAutoFit/>
          </a:bodyPr>
          <a:lstStyle/>
          <a:p>
            <a:pPr marL="363538" indent="-363538" algn="just"/>
            <a:r>
              <a:rPr lang="en-US" altLang="ja-JP" sz="2400" dirty="0"/>
              <a:t>MINIMUM REQUIREMENT:</a:t>
            </a:r>
          </a:p>
        </p:txBody>
      </p:sp>
      <p:sp>
        <p:nvSpPr>
          <p:cNvPr id="12" name="Rectangle 17"/>
          <p:cNvSpPr/>
          <p:nvPr/>
        </p:nvSpPr>
        <p:spPr>
          <a:xfrm>
            <a:off x="27707" y="4476385"/>
            <a:ext cx="4201392" cy="461665"/>
          </a:xfrm>
          <a:prstGeom prst="rect">
            <a:avLst/>
          </a:prstGeom>
          <a:solidFill>
            <a:srgbClr val="FFC000"/>
          </a:solidFill>
        </p:spPr>
        <p:txBody>
          <a:bodyPr wrap="square">
            <a:spAutoFit/>
          </a:bodyPr>
          <a:lstStyle/>
          <a:p>
            <a:pPr marL="363538" indent="-363538" algn="just"/>
            <a:r>
              <a:rPr lang="en-US" altLang="ja-JP" sz="2400" dirty="0"/>
              <a:t>EXCEPTION:</a:t>
            </a:r>
          </a:p>
        </p:txBody>
      </p:sp>
      <p:sp>
        <p:nvSpPr>
          <p:cNvPr id="13" name="Rectangle 17"/>
          <p:cNvSpPr/>
          <p:nvPr/>
        </p:nvSpPr>
        <p:spPr>
          <a:xfrm>
            <a:off x="-69275" y="3154621"/>
            <a:ext cx="6349808" cy="1200329"/>
          </a:xfrm>
          <a:prstGeom prst="rect">
            <a:avLst/>
          </a:prstGeom>
        </p:spPr>
        <p:txBody>
          <a:bodyPr wrap="square">
            <a:spAutoFit/>
          </a:bodyPr>
          <a:lstStyle/>
          <a:p>
            <a:pPr marL="85725" fontAlgn="ctr"/>
            <a:r>
              <a:rPr lang="en-US" sz="2400" dirty="0"/>
              <a:t>Place vertical member  at all corners, junctions of walls and </a:t>
            </a:r>
            <a:r>
              <a:rPr lang="en-US" sz="2400" dirty="0">
                <a:solidFill>
                  <a:srgbClr val="C00000"/>
                </a:solidFill>
              </a:rPr>
              <a:t>adjacent to all doors and windows</a:t>
            </a:r>
            <a:r>
              <a:rPr lang="en-US" sz="2400" dirty="0"/>
              <a:t>. Steel or timber can be used as vertical member.</a:t>
            </a:r>
            <a:endParaRPr lang="en-US" sz="2400" dirty="0">
              <a:solidFill>
                <a:srgbClr val="000000"/>
              </a:solidFill>
            </a:endParaRPr>
          </a:p>
        </p:txBody>
      </p:sp>
      <p:sp>
        <p:nvSpPr>
          <p:cNvPr id="15" name="Rectangle 14"/>
          <p:cNvSpPr/>
          <p:nvPr/>
        </p:nvSpPr>
        <p:spPr>
          <a:xfrm>
            <a:off x="22348" y="775545"/>
            <a:ext cx="8707360" cy="584775"/>
          </a:xfrm>
          <a:prstGeom prst="rect">
            <a:avLst/>
          </a:prstGeom>
          <a:noFill/>
        </p:spPr>
        <p:txBody>
          <a:bodyPr wrap="square">
            <a:spAutoFit/>
          </a:bodyPr>
          <a:lstStyle/>
          <a:p>
            <a:pPr algn="just"/>
            <a:r>
              <a:rPr lang="en-US" sz="3200" b="1" dirty="0">
                <a:solidFill>
                  <a:srgbClr val="EE4726"/>
                </a:solidFill>
              </a:rPr>
              <a:t>Exception:</a:t>
            </a:r>
          </a:p>
        </p:txBody>
      </p:sp>
    </p:spTree>
    <p:extLst>
      <p:ext uri="{BB962C8B-B14F-4D97-AF65-F5344CB8AC3E}">
        <p14:creationId xmlns:p14="http://schemas.microsoft.com/office/powerpoint/2010/main" val="12482729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61</a:t>
            </a:fld>
            <a:endParaRPr lang="en-US"/>
          </a:p>
        </p:txBody>
      </p:sp>
      <p:sp>
        <p:nvSpPr>
          <p:cNvPr id="6" name="TextBox 5"/>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graphicFrame>
        <p:nvGraphicFramePr>
          <p:cNvPr id="15" name="Table 17"/>
          <p:cNvGraphicFramePr>
            <a:graphicFrameLocks noGrp="1"/>
          </p:cNvGraphicFramePr>
          <p:nvPr>
            <p:extLst/>
          </p:nvPr>
        </p:nvGraphicFramePr>
        <p:xfrm>
          <a:off x="577850" y="1117166"/>
          <a:ext cx="7937500" cy="5344778"/>
        </p:xfrm>
        <a:graphic>
          <a:graphicData uri="http://schemas.openxmlformats.org/drawingml/2006/table">
            <a:tbl>
              <a:tblPr>
                <a:tableStyleId>{5940675A-B579-460E-94D1-54222C63F5DA}</a:tableStyleId>
              </a:tblPr>
              <a:tblGrid>
                <a:gridCol w="1054100">
                  <a:extLst>
                    <a:ext uri="{9D8B030D-6E8A-4147-A177-3AD203B41FA5}">
                      <a16:colId xmlns:a16="http://schemas.microsoft.com/office/drawing/2014/main" xmlns="" val="20000"/>
                    </a:ext>
                  </a:extLst>
                </a:gridCol>
                <a:gridCol w="1346200">
                  <a:extLst>
                    <a:ext uri="{9D8B030D-6E8A-4147-A177-3AD203B41FA5}">
                      <a16:colId xmlns:a16="http://schemas.microsoft.com/office/drawing/2014/main" xmlns="" val="20001"/>
                    </a:ext>
                  </a:extLst>
                </a:gridCol>
                <a:gridCol w="1955800">
                  <a:extLst>
                    <a:ext uri="{9D8B030D-6E8A-4147-A177-3AD203B41FA5}">
                      <a16:colId xmlns:a16="http://schemas.microsoft.com/office/drawing/2014/main" xmlns="" val="20002"/>
                    </a:ext>
                  </a:extLst>
                </a:gridCol>
                <a:gridCol w="1993900">
                  <a:extLst>
                    <a:ext uri="{9D8B030D-6E8A-4147-A177-3AD203B41FA5}">
                      <a16:colId xmlns:a16="http://schemas.microsoft.com/office/drawing/2014/main" xmlns="" val="20003"/>
                    </a:ext>
                  </a:extLst>
                </a:gridCol>
                <a:gridCol w="1587500">
                  <a:extLst>
                    <a:ext uri="{9D8B030D-6E8A-4147-A177-3AD203B41FA5}">
                      <a16:colId xmlns:a16="http://schemas.microsoft.com/office/drawing/2014/main" xmlns="" val="20004"/>
                    </a:ext>
                  </a:extLst>
                </a:gridCol>
              </a:tblGrid>
              <a:tr h="257855">
                <a:tc gridSpan="2">
                  <a:txBody>
                    <a:bodyPr/>
                    <a:lstStyle/>
                    <a:p>
                      <a:pPr algn="ctr" fontAlgn="ctr"/>
                      <a:r>
                        <a:rPr lang="en-US" sz="1800" u="none" strike="noStrike" dirty="0">
                          <a:effectLst/>
                          <a:latin typeface="+mj-lt"/>
                        </a:rPr>
                        <a:t>Sub-Category </a:t>
                      </a:r>
                      <a:endParaRPr lang="en-US" sz="1800" b="0" i="0" u="none" strike="noStrike" dirty="0">
                        <a:solidFill>
                          <a:srgbClr val="000000"/>
                        </a:solidFill>
                        <a:effectLst/>
                        <a:latin typeface="+mj-lt"/>
                      </a:endParaRPr>
                    </a:p>
                  </a:txBody>
                  <a:tcPr marL="5841" marR="5841" marT="5841" marB="0" anchor="ctr">
                    <a:solidFill>
                      <a:schemeClr val="accent4">
                        <a:lumMod val="60000"/>
                        <a:lumOff val="40000"/>
                      </a:schemeClr>
                    </a:solidFill>
                  </a:tcPr>
                </a:tc>
                <a:tc hMerge="1">
                  <a:txBody>
                    <a:bodyPr/>
                    <a:lstStyle/>
                    <a:p>
                      <a:pPr algn="ctr" fontAlgn="ctr"/>
                      <a:endParaRPr lang="en-US" sz="1000" b="0" i="0" u="none" strike="noStrike">
                        <a:solidFill>
                          <a:srgbClr val="000000"/>
                        </a:solidFill>
                        <a:effectLst/>
                        <a:latin typeface="+mj-lt"/>
                      </a:endParaRPr>
                    </a:p>
                  </a:txBody>
                  <a:tcPr marL="5841" marR="5841" marT="5841" marB="0" anchor="ctr"/>
                </a:tc>
                <a:tc gridSpan="3">
                  <a:txBody>
                    <a:bodyPr/>
                    <a:lstStyle/>
                    <a:p>
                      <a:pPr algn="l" fontAlgn="ctr"/>
                      <a:r>
                        <a:rPr lang="en-US" sz="1800" u="none" strike="noStrike" baseline="0" dirty="0">
                          <a:effectLst/>
                          <a:latin typeface="+mj-lt"/>
                        </a:rPr>
                        <a:t>                                </a:t>
                      </a:r>
                      <a:r>
                        <a:rPr lang="en-US" sz="1800" u="none" strike="noStrike" dirty="0">
                          <a:effectLst/>
                          <a:latin typeface="+mj-lt"/>
                        </a:rPr>
                        <a:t>Description</a:t>
                      </a:r>
                      <a:endParaRPr lang="en-US" sz="1800" b="0" i="0" u="none" strike="noStrike" dirty="0">
                        <a:solidFill>
                          <a:srgbClr val="000000"/>
                        </a:solidFill>
                        <a:effectLst/>
                        <a:latin typeface="+mj-lt"/>
                      </a:endParaRPr>
                    </a:p>
                  </a:txBody>
                  <a:tcPr marL="5841" marR="5841" marT="5841" marB="0" anchor="ctr">
                    <a:solidFill>
                      <a:schemeClr val="accent4">
                        <a:lumMod val="60000"/>
                        <a:lumOff val="40000"/>
                      </a:schemeClr>
                    </a:solidFill>
                  </a:tcPr>
                </a:tc>
                <a:tc hMerge="1">
                  <a:txBody>
                    <a:bodyPr/>
                    <a:lstStyle/>
                    <a:p>
                      <a:pPr algn="l" fontAlgn="ctr"/>
                      <a:endParaRPr lang="en-US" sz="1000" b="0" i="0" u="none" strike="noStrike">
                        <a:solidFill>
                          <a:srgbClr val="000000"/>
                        </a:solidFill>
                        <a:effectLst/>
                        <a:latin typeface="+mj-lt"/>
                      </a:endParaRPr>
                    </a:p>
                  </a:txBody>
                  <a:tcPr marL="5841" marR="5841" marT="5841" marB="0" anchor="ctr"/>
                </a:tc>
                <a:tc hMerge="1">
                  <a:txBody>
                    <a:bodyPr/>
                    <a:lstStyle/>
                    <a:p>
                      <a:endParaRPr kumimoji="1" lang="ja-JP" altLang="en-US"/>
                    </a:p>
                  </a:txBody>
                  <a:tcPr/>
                </a:tc>
                <a:extLst>
                  <a:ext uri="{0D108BD9-81ED-4DB2-BD59-A6C34878D82A}">
                    <a16:rowId xmlns:a16="http://schemas.microsoft.com/office/drawing/2014/main" xmlns="" val="10000"/>
                  </a:ext>
                </a:extLst>
              </a:tr>
              <a:tr h="307721">
                <a:tc gridSpan="2">
                  <a:txBody>
                    <a:bodyPr/>
                    <a:lstStyle/>
                    <a:p>
                      <a:pPr algn="ctr" fontAlgn="ct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hMerge="1">
                  <a:txBody>
                    <a:bodyPr/>
                    <a:lstStyle/>
                    <a:p>
                      <a:pPr algn="ctr" fontAlgn="ctr"/>
                      <a:endParaRPr lang="en-US" sz="1000" b="0" i="0" u="none" strike="noStrike" dirty="0">
                        <a:solidFill>
                          <a:srgbClr val="000000"/>
                        </a:solidFill>
                        <a:effectLst/>
                        <a:latin typeface="+mn-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ja-JP" sz="1800" u="none" strike="noStrike" dirty="0">
                          <a:effectLst/>
                          <a:latin typeface="+mj-lt"/>
                        </a:rPr>
                        <a:t>Type of soil </a:t>
                      </a:r>
                      <a:endParaRPr lang="en-US" altLang="ja-JP"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ctr" fontAlgn="ctr"/>
                      <a:r>
                        <a:rPr lang="en-US" sz="1800" b="0" i="0" u="none" strike="noStrike" dirty="0">
                          <a:solidFill>
                            <a:srgbClr val="0D0D0D"/>
                          </a:solidFill>
                          <a:effectLst/>
                          <a:latin typeface="+mj-lt"/>
                        </a:rPr>
                        <a:t>One storey</a:t>
                      </a:r>
                    </a:p>
                  </a:txBody>
                  <a:tcPr marL="5841" marR="5841" marT="58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ctr" fontAlgn="ctr"/>
                      <a:r>
                        <a:rPr lang="en-US" sz="1800" b="0" i="0" u="none" strike="noStrike" dirty="0">
                          <a:solidFill>
                            <a:srgbClr val="0D0D0D"/>
                          </a:solidFill>
                          <a:effectLst/>
                          <a:latin typeface="+mj-lt"/>
                        </a:rPr>
                        <a:t>Two storey</a:t>
                      </a: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01"/>
                  </a:ext>
                </a:extLst>
              </a:tr>
              <a:tr h="181606">
                <a:tc rowSpan="4">
                  <a:txBody>
                    <a:bodyPr/>
                    <a:lstStyle/>
                    <a:p>
                      <a:pPr algn="ctr" fontAlgn="ctr"/>
                      <a:r>
                        <a:rPr lang="en-US" sz="1800" u="none" strike="noStrike" dirty="0">
                          <a:effectLst/>
                          <a:latin typeface="+mj-lt"/>
                        </a:rPr>
                        <a:t>Depth of foundation </a:t>
                      </a:r>
                      <a:br>
                        <a:rPr lang="en-US" sz="1800" u="none" strike="noStrike" dirty="0">
                          <a:effectLst/>
                          <a:latin typeface="+mj-lt"/>
                        </a:rPr>
                      </a:br>
                      <a:r>
                        <a:rPr lang="en-US" sz="1800" u="none" strike="noStrike" dirty="0">
                          <a:effectLst/>
                          <a:latin typeface="+mj-lt"/>
                        </a:rPr>
                        <a:t>below GL</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ctr" fontAlgn="ctr"/>
                      <a:r>
                        <a:rPr lang="en-US" sz="1800" u="none" strike="noStrike" dirty="0">
                          <a:effectLst/>
                          <a:latin typeface="+mj-lt"/>
                        </a:rPr>
                        <a:t>SMM</a:t>
                      </a:r>
                      <a:endParaRPr lang="en-US" sz="1800" b="0" i="0" u="none" strike="noStrike" dirty="0">
                        <a:solidFill>
                          <a:srgbClr val="000000"/>
                        </a:solidFill>
                        <a:effectLst/>
                        <a:latin typeface="+mj-lt"/>
                      </a:endParaRPr>
                    </a:p>
                  </a:txBody>
                  <a:tcPr marL="5841" marR="5841" marT="584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sz="1800" b="0" i="0" u="none" strike="noStrike" dirty="0">
                          <a:solidFill>
                            <a:srgbClr val="0D0D0D"/>
                          </a:solidFill>
                          <a:effectLst/>
                          <a:latin typeface="+mj-lt"/>
                        </a:rPr>
                        <a:t>All</a:t>
                      </a:r>
                    </a:p>
                  </a:txBody>
                  <a:tcPr marL="5841" marR="5841" marT="584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sz="1800" b="0" i="0" u="none" strike="noStrike" dirty="0">
                          <a:solidFill>
                            <a:srgbClr val="0D0D0D"/>
                          </a:solidFill>
                          <a:effectLst/>
                          <a:latin typeface="+mj-lt"/>
                        </a:rPr>
                        <a:t>&gt;</a:t>
                      </a:r>
                      <a:r>
                        <a:rPr lang="en-US" sz="1800" b="0" i="0" u="none" strike="noStrike" baseline="0" dirty="0">
                          <a:solidFill>
                            <a:srgbClr val="0D0D0D"/>
                          </a:solidFill>
                          <a:effectLst/>
                          <a:latin typeface="+mj-lt"/>
                        </a:rPr>
                        <a:t> 750mm</a:t>
                      </a:r>
                      <a:endParaRPr lang="en-US" sz="1800" b="0" i="0" u="none" strike="noStrike" dirty="0">
                        <a:solidFill>
                          <a:srgbClr val="0D0D0D"/>
                        </a:solidFill>
                        <a:effectLst/>
                        <a:latin typeface="+mj-lt"/>
                      </a:endParaRPr>
                    </a:p>
                  </a:txBody>
                  <a:tcPr marL="5841" marR="5841" marT="58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sz="1800" b="0" i="0" u="none" strike="noStrike" dirty="0">
                          <a:solidFill>
                            <a:srgbClr val="0D0D0D"/>
                          </a:solidFill>
                          <a:effectLst/>
                          <a:latin typeface="+mj-lt"/>
                        </a:rPr>
                        <a:t>-</a:t>
                      </a:r>
                    </a:p>
                  </a:txBody>
                  <a:tcPr marL="5841" marR="5841" marT="584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10002"/>
                  </a:ext>
                </a:extLst>
              </a:tr>
              <a:tr h="182853">
                <a:tc vMerge="1">
                  <a:txBody>
                    <a:bodyPr/>
                    <a:lstStyle/>
                    <a:p>
                      <a:endParaRPr kumimoji="1" lang="ja-JP" altLang="en-US"/>
                    </a:p>
                  </a:txBody>
                  <a:tcPr/>
                </a:tc>
                <a:tc>
                  <a:txBody>
                    <a:bodyPr/>
                    <a:lstStyle/>
                    <a:p>
                      <a:pPr algn="ctr" fontAlgn="ctr"/>
                      <a:r>
                        <a:rPr lang="en-US" sz="1800" b="0" i="0" u="none" strike="noStrike" dirty="0">
                          <a:solidFill>
                            <a:srgbClr val="000000"/>
                          </a:solidFill>
                          <a:effectLst/>
                          <a:latin typeface="+mj-lt"/>
                        </a:rPr>
                        <a:t>BMM</a:t>
                      </a:r>
                    </a:p>
                  </a:txBody>
                  <a:tcPr marL="5841" marR="5841" marT="584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ctr"/>
                      <a:r>
                        <a:rPr lang="en-US" altLang="ja-JP" sz="1800" dirty="0">
                          <a:latin typeface="+mj-lt"/>
                        </a:rPr>
                        <a:t>All</a:t>
                      </a:r>
                      <a:endParaRPr lang="ja-JP" altLang="en-US" sz="1800" dirty="0">
                        <a:latin typeface="+mj-lt"/>
                      </a:endParaRPr>
                    </a:p>
                  </a:txBody>
                  <a:tcPr marL="5841" marR="5841" marT="584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ja-JP" sz="1800" b="0" i="0" u="none" strike="noStrike" dirty="0">
                          <a:solidFill>
                            <a:srgbClr val="0D0D0D"/>
                          </a:solidFill>
                          <a:effectLst/>
                          <a:latin typeface="+mj-lt"/>
                        </a:rPr>
                        <a:t>&gt;</a:t>
                      </a:r>
                      <a:r>
                        <a:rPr lang="en-US" altLang="ja-JP" sz="1800" b="0" i="0" u="none" strike="noStrike" baseline="0" dirty="0">
                          <a:solidFill>
                            <a:srgbClr val="0D0D0D"/>
                          </a:solidFill>
                          <a:effectLst/>
                          <a:latin typeface="+mj-lt"/>
                        </a:rPr>
                        <a:t> 750mm</a:t>
                      </a:r>
                      <a:endParaRPr lang="en-US" altLang="ja-JP" sz="1800" b="0" i="0" u="none" strike="noStrike" dirty="0">
                        <a:solidFill>
                          <a:srgbClr val="0D0D0D"/>
                        </a:solidFill>
                        <a:effectLst/>
                        <a:latin typeface="+mj-lt"/>
                      </a:endParaRPr>
                    </a:p>
                  </a:txBody>
                  <a:tcPr marL="5841" marR="5841" marT="58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ctr" fontAlgn="ctr"/>
                      <a:r>
                        <a:rPr lang="en-US" sz="1800" b="0" i="0" u="none" strike="noStrike" dirty="0">
                          <a:solidFill>
                            <a:srgbClr val="0D0D0D"/>
                          </a:solidFill>
                          <a:effectLst/>
                          <a:latin typeface="+mj-lt"/>
                        </a:rPr>
                        <a:t>-</a:t>
                      </a:r>
                    </a:p>
                  </a:txBody>
                  <a:tcPr marL="5841" marR="5841" marT="584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4">
                        <a:lumMod val="20000"/>
                        <a:lumOff val="80000"/>
                      </a:schemeClr>
                    </a:solidFill>
                  </a:tcPr>
                </a:tc>
                <a:extLst>
                  <a:ext uri="{0D108BD9-81ED-4DB2-BD59-A6C34878D82A}">
                    <a16:rowId xmlns:a16="http://schemas.microsoft.com/office/drawing/2014/main" xmlns="" val="10003"/>
                  </a:ext>
                </a:extLst>
              </a:tr>
              <a:tr h="54233">
                <a:tc vMerge="1">
                  <a:txBody>
                    <a:bodyPr/>
                    <a:lstStyle/>
                    <a:p>
                      <a:endParaRPr lang="en-US"/>
                    </a:p>
                  </a:txBody>
                  <a:tcPr/>
                </a:tc>
                <a:tc>
                  <a:txBody>
                    <a:bodyPr/>
                    <a:lstStyle/>
                    <a:p>
                      <a:pPr algn="ctr" fontAlgn="ctr"/>
                      <a:r>
                        <a:rPr lang="en-US" sz="1800" u="none" strike="noStrike" dirty="0">
                          <a:effectLst/>
                          <a:latin typeface="+mj-lt"/>
                        </a:rPr>
                        <a:t>SMC</a:t>
                      </a:r>
                      <a:endParaRPr lang="en-US" sz="1800" b="0" i="0" u="none" strike="noStrike" dirty="0">
                        <a:solidFill>
                          <a:srgbClr val="000000"/>
                        </a:solidFill>
                        <a:effectLst/>
                        <a:latin typeface="+mj-lt"/>
                      </a:endParaRPr>
                    </a:p>
                  </a:txBody>
                  <a:tcPr marL="5841" marR="5841" marT="584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ja-JP" sz="1800" dirty="0">
                          <a:latin typeface="+mj-lt"/>
                        </a:rPr>
                        <a:t>All</a:t>
                      </a:r>
                      <a:endParaRPr lang="ja-JP" altLang="en-US" sz="1800" dirty="0">
                        <a:latin typeface="+mj-lt"/>
                      </a:endParaRPr>
                    </a:p>
                  </a:txBody>
                  <a:tcPr marL="5841" marR="5841" marT="584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sz="1800" b="0" i="0" u="none" strike="noStrike" dirty="0">
                          <a:solidFill>
                            <a:srgbClr val="000000"/>
                          </a:solidFill>
                          <a:effectLst/>
                          <a:latin typeface="+mj-lt"/>
                        </a:rPr>
                        <a:t>&gt; 800mm</a:t>
                      </a:r>
                    </a:p>
                  </a:txBody>
                  <a:tcPr marL="5841" marR="5841" marT="58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sz="1800" b="0" i="0" u="none" strike="noStrike" dirty="0">
                          <a:solidFill>
                            <a:srgbClr val="000000"/>
                          </a:solidFill>
                          <a:effectLst/>
                          <a:latin typeface="+mj-lt"/>
                        </a:rPr>
                        <a:t>&gt; 900mm</a:t>
                      </a:r>
                    </a:p>
                  </a:txBody>
                  <a:tcPr marL="5841" marR="5841" marT="584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10004"/>
                  </a:ext>
                </a:extLst>
              </a:tr>
              <a:tr h="76568">
                <a:tc vMerge="1">
                  <a:txBody>
                    <a:bodyPr/>
                    <a:lstStyle/>
                    <a:p>
                      <a:endParaRPr kumimoji="1" lang="ja-JP" altLang="en-US"/>
                    </a:p>
                  </a:txBody>
                  <a:tcPr/>
                </a:tc>
                <a:tc>
                  <a:txBody>
                    <a:bodyPr/>
                    <a:lstStyle/>
                    <a:p>
                      <a:pPr algn="ctr" fontAlgn="ctr"/>
                      <a:r>
                        <a:rPr lang="en-US" sz="1800" b="0" i="0" u="none" strike="noStrike" dirty="0">
                          <a:solidFill>
                            <a:srgbClr val="000000"/>
                          </a:solidFill>
                          <a:effectLst/>
                          <a:latin typeface="+mj-lt"/>
                        </a:rPr>
                        <a:t>BMC</a:t>
                      </a:r>
                    </a:p>
                  </a:txBody>
                  <a:tcPr marL="5841" marR="5841" marT="584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ctr" fontAlgn="ctr"/>
                      <a:r>
                        <a:rPr lang="en-US" sz="1800" b="0" i="0" u="none" strike="noStrike" dirty="0">
                          <a:solidFill>
                            <a:srgbClr val="000000"/>
                          </a:solidFill>
                          <a:effectLst/>
                          <a:latin typeface="+mj-lt"/>
                        </a:rPr>
                        <a:t>All</a:t>
                      </a:r>
                    </a:p>
                  </a:txBody>
                  <a:tcPr marL="5841" marR="5841" marT="584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ctr" fontAlgn="ctr"/>
                      <a:r>
                        <a:rPr lang="en-US" sz="1800" b="0" i="0" u="none" strike="noStrike" dirty="0">
                          <a:solidFill>
                            <a:srgbClr val="000000"/>
                          </a:solidFill>
                          <a:effectLst/>
                          <a:latin typeface="+mj-lt"/>
                        </a:rPr>
                        <a:t>&gt; 800mm</a:t>
                      </a:r>
                    </a:p>
                  </a:txBody>
                  <a:tcPr marL="5841" marR="5841" marT="58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ctr" fontAlgn="ctr"/>
                      <a:r>
                        <a:rPr lang="en-US" sz="1800" b="0" i="0" u="none" strike="noStrike" dirty="0">
                          <a:solidFill>
                            <a:srgbClr val="000000"/>
                          </a:solidFill>
                          <a:effectLst/>
                          <a:latin typeface="+mj-lt"/>
                        </a:rPr>
                        <a:t>&gt; 900mm</a:t>
                      </a:r>
                    </a:p>
                  </a:txBody>
                  <a:tcPr marL="5841" marR="5841" marT="584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4">
                        <a:lumMod val="20000"/>
                        <a:lumOff val="80000"/>
                      </a:schemeClr>
                    </a:solidFill>
                  </a:tcPr>
                </a:tc>
                <a:extLst>
                  <a:ext uri="{0D108BD9-81ED-4DB2-BD59-A6C34878D82A}">
                    <a16:rowId xmlns:a16="http://schemas.microsoft.com/office/drawing/2014/main" xmlns="" val="10005"/>
                  </a:ext>
                </a:extLst>
              </a:tr>
              <a:tr h="138119">
                <a:tc rowSpan="12">
                  <a:txBody>
                    <a:bodyPr/>
                    <a:lstStyle/>
                    <a:p>
                      <a:pPr algn="ctr" fontAlgn="ctr"/>
                      <a:r>
                        <a:rPr lang="en-US" sz="1800" u="none" strike="noStrike" dirty="0">
                          <a:effectLst/>
                          <a:latin typeface="+mj-lt"/>
                        </a:rPr>
                        <a:t>Base width</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rowSpan="3">
                  <a:txBody>
                    <a:bodyPr/>
                    <a:lstStyle/>
                    <a:p>
                      <a:pPr algn="ctr" fontAlgn="ctr"/>
                      <a:r>
                        <a:rPr lang="en-US" sz="1800" u="none" strike="noStrike" dirty="0">
                          <a:effectLst/>
                          <a:latin typeface="+mj-lt"/>
                        </a:rPr>
                        <a:t> </a:t>
                      </a:r>
                      <a:endParaRPr lang="en-US" sz="1800" b="0" i="0" u="none" strike="noStrike" dirty="0">
                        <a:solidFill>
                          <a:srgbClr val="000000"/>
                        </a:solidFill>
                        <a:effectLst/>
                        <a:latin typeface="+mj-lt"/>
                      </a:endParaRPr>
                    </a:p>
                    <a:p>
                      <a:pPr algn="ctr" fontAlgn="ctr"/>
                      <a:r>
                        <a:rPr lang="en-US" sz="1800" u="none" strike="noStrike" dirty="0">
                          <a:effectLst/>
                          <a:latin typeface="+mj-lt"/>
                        </a:rPr>
                        <a:t>SMM</a:t>
                      </a:r>
                      <a:endParaRPr lang="en-US" sz="1800" b="0" i="0" u="none" strike="noStrike" dirty="0">
                        <a:solidFill>
                          <a:srgbClr val="000000"/>
                        </a:solidFill>
                        <a:effectLst/>
                        <a:latin typeface="+mj-lt"/>
                      </a:endParaRPr>
                    </a:p>
                    <a:p>
                      <a:pPr algn="l" fontAlgn="ctr"/>
                      <a:r>
                        <a:rPr lang="en-US" sz="1800" u="none" strike="noStrike" dirty="0">
                          <a:effectLst/>
                          <a:latin typeface="+mj-lt"/>
                        </a:rPr>
                        <a:t> </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Soft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sz="1800" u="none" strike="noStrike" baseline="0" dirty="0">
                          <a:effectLst/>
                          <a:latin typeface="+mj-lt"/>
                        </a:rPr>
                        <a:t> &gt; </a:t>
                      </a:r>
                      <a:r>
                        <a:rPr lang="en-US" sz="1800" u="none" strike="noStrike" dirty="0">
                          <a:effectLst/>
                          <a:latin typeface="+mj-lt"/>
                        </a:rPr>
                        <a:t>800mm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rowSpan="3">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ja-JP" sz="1800" b="0" i="0" u="none" strike="noStrike" dirty="0">
                          <a:solidFill>
                            <a:srgbClr val="0D0D0D"/>
                          </a:solidFill>
                          <a:effectLst/>
                          <a:latin typeface="+mj-lt"/>
                        </a:rPr>
                        <a:t>-</a:t>
                      </a:r>
                      <a:endParaRPr lang="en-US" sz="1800" b="0" i="0" u="none" strike="noStrike" dirty="0">
                        <a:solidFill>
                          <a:srgbClr val="000000"/>
                        </a:solidFill>
                        <a:effectLst/>
                        <a:latin typeface="+mj-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06"/>
                  </a:ext>
                </a:extLst>
              </a:tr>
              <a:tr h="138119">
                <a:tc vMerge="1">
                  <a:txBody>
                    <a:bodyPr/>
                    <a:lstStyle/>
                    <a:p>
                      <a:endParaRPr lang="en-US"/>
                    </a:p>
                  </a:txBody>
                  <a:tcPr/>
                </a:tc>
                <a:tc vMerge="1">
                  <a:txBody>
                    <a:bodyPr/>
                    <a:lstStyle/>
                    <a:p>
                      <a:pPr algn="ctr" fontAlgn="ctr"/>
                      <a:endParaRPr lang="en-US" sz="1000" b="0" i="0" u="none" strike="noStrike" dirty="0">
                        <a:solidFill>
                          <a:srgbClr val="000000"/>
                        </a:solidFill>
                        <a:effectLst/>
                        <a:latin typeface="+mn-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Medium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750mm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vMerge="1">
                  <a:txBody>
                    <a:bodyPr/>
                    <a:lstStyle/>
                    <a:p>
                      <a:pPr algn="ctr" fontAlgn="ctr"/>
                      <a:endParaRPr lang="en-US" sz="1000" b="0" i="0" u="none" strike="noStrike" dirty="0">
                        <a:solidFill>
                          <a:srgbClr val="000000"/>
                        </a:solidFill>
                        <a:effectLst/>
                        <a:latin typeface="+mn-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07"/>
                  </a:ext>
                </a:extLst>
              </a:tr>
              <a:tr h="138119">
                <a:tc vMerge="1">
                  <a:txBody>
                    <a:bodyPr/>
                    <a:lstStyle/>
                    <a:p>
                      <a:endParaRPr lang="en-US"/>
                    </a:p>
                  </a:txBody>
                  <a:tcPr/>
                </a:tc>
                <a:tc vMerge="1">
                  <a:txBody>
                    <a:bodyPr/>
                    <a:lstStyle/>
                    <a:p>
                      <a:pPr algn="l" fontAlgn="ctr"/>
                      <a:endParaRPr lang="en-US" sz="1000" b="0" i="0" u="none" strike="noStrike">
                        <a:solidFill>
                          <a:srgbClr val="000000"/>
                        </a:solidFill>
                        <a:effectLst/>
                        <a:latin typeface="+mn-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Hard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750mm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vMerge="1">
                  <a:txBody>
                    <a:bodyPr/>
                    <a:lstStyle/>
                    <a:p>
                      <a:pPr algn="ctr" fontAlgn="ctr"/>
                      <a:endParaRPr lang="en-US" sz="1000" b="0" i="0" u="none" strike="noStrike" dirty="0">
                        <a:solidFill>
                          <a:srgbClr val="000000"/>
                        </a:solidFill>
                        <a:effectLst/>
                        <a:latin typeface="+mn-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08"/>
                  </a:ext>
                </a:extLst>
              </a:tr>
              <a:tr h="138119">
                <a:tc vMerge="1">
                  <a:txBody>
                    <a:bodyPr/>
                    <a:lstStyle/>
                    <a:p>
                      <a:endParaRPr lang="en-US"/>
                    </a:p>
                  </a:txBody>
                  <a:tcPr/>
                </a:tc>
                <a:tc rowSpan="3">
                  <a:txBody>
                    <a:bodyPr/>
                    <a:lstStyle/>
                    <a:p>
                      <a:pPr algn="l" fontAlgn="ctr"/>
                      <a:r>
                        <a:rPr lang="en-US" sz="1800" u="none" strike="noStrike" dirty="0">
                          <a:effectLst/>
                          <a:latin typeface="+mj-lt"/>
                        </a:rPr>
                        <a:t> </a:t>
                      </a:r>
                      <a:endParaRPr lang="en-US" sz="1800" b="0" i="0" u="none" strike="noStrike" dirty="0">
                        <a:solidFill>
                          <a:srgbClr val="000000"/>
                        </a:solidFill>
                        <a:effectLst/>
                        <a:latin typeface="+mj-lt"/>
                      </a:endParaRPr>
                    </a:p>
                    <a:p>
                      <a:pPr algn="ctr" fontAlgn="ctr"/>
                      <a:r>
                        <a:rPr lang="en-US" sz="1800" u="none" strike="noStrike" dirty="0">
                          <a:effectLst/>
                          <a:latin typeface="+mj-lt"/>
                        </a:rPr>
                        <a:t>BMM</a:t>
                      </a:r>
                      <a:endParaRPr lang="en-US" sz="1800" b="0" i="0" u="none" strike="noStrike" dirty="0">
                        <a:solidFill>
                          <a:srgbClr val="000000"/>
                        </a:solidFill>
                        <a:effectLst/>
                        <a:latin typeface="+mj-lt"/>
                      </a:endParaRPr>
                    </a:p>
                    <a:p>
                      <a:pPr algn="l" fontAlgn="ctr"/>
                      <a:r>
                        <a:rPr lang="en-US" sz="1800" u="none" strike="noStrike" dirty="0">
                          <a:effectLst/>
                          <a:latin typeface="+mj-lt"/>
                        </a:rPr>
                        <a:t> </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Soft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750mm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rowSpan="3">
                  <a:txBody>
                    <a:bodyPr/>
                    <a:lstStyle/>
                    <a:p>
                      <a:pPr algn="ctr" fontAlgn="ctr"/>
                      <a:r>
                        <a:rPr lang="en-US" sz="1800" b="0" i="0" u="none" strike="noStrike" dirty="0">
                          <a:solidFill>
                            <a:srgbClr val="000000"/>
                          </a:solidFill>
                          <a:effectLst/>
                          <a:latin typeface="+mj-lt"/>
                        </a:rPr>
                        <a:t>-</a:t>
                      </a: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09"/>
                  </a:ext>
                </a:extLst>
              </a:tr>
              <a:tr h="138119">
                <a:tc vMerge="1">
                  <a:txBody>
                    <a:bodyPr/>
                    <a:lstStyle/>
                    <a:p>
                      <a:endParaRPr lang="en-US"/>
                    </a:p>
                  </a:txBody>
                  <a:tcPr/>
                </a:tc>
                <a:tc vMerge="1">
                  <a:txBody>
                    <a:bodyPr/>
                    <a:lstStyle/>
                    <a:p>
                      <a:pPr algn="ctr" fontAlgn="ctr"/>
                      <a:endParaRPr lang="en-US" sz="1000" b="0" i="0" u="none" strike="noStrike">
                        <a:solidFill>
                          <a:srgbClr val="000000"/>
                        </a:solidFill>
                        <a:effectLst/>
                        <a:latin typeface="+mn-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Medium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650mm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vMerge="1">
                  <a:txBody>
                    <a:bodyPr/>
                    <a:lstStyle/>
                    <a:p>
                      <a:pPr algn="ctr" fontAlgn="ctr"/>
                      <a:endParaRPr lang="en-US" sz="1000" b="0" i="0" u="none" strike="noStrike" dirty="0">
                        <a:solidFill>
                          <a:srgbClr val="000000"/>
                        </a:solidFill>
                        <a:effectLst/>
                        <a:latin typeface="+mn-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0"/>
                  </a:ext>
                </a:extLst>
              </a:tr>
              <a:tr h="138119">
                <a:tc vMerge="1">
                  <a:txBody>
                    <a:bodyPr/>
                    <a:lstStyle/>
                    <a:p>
                      <a:endParaRPr lang="en-US"/>
                    </a:p>
                  </a:txBody>
                  <a:tcPr/>
                </a:tc>
                <a:tc vMerge="1">
                  <a:txBody>
                    <a:bodyPr/>
                    <a:lstStyle/>
                    <a:p>
                      <a:pPr algn="l" fontAlgn="ctr"/>
                      <a:endParaRPr lang="en-US" sz="1000" b="0" i="0" u="none" strike="noStrike">
                        <a:solidFill>
                          <a:srgbClr val="000000"/>
                        </a:solidFill>
                        <a:effectLst/>
                        <a:latin typeface="+mn-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Hard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550mm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vMerge="1">
                  <a:txBody>
                    <a:bodyPr/>
                    <a:lstStyle/>
                    <a:p>
                      <a:pPr algn="ctr" fontAlgn="ctr"/>
                      <a:endParaRPr lang="en-US" sz="1000" b="0" i="0" u="none" strike="noStrike" dirty="0">
                        <a:solidFill>
                          <a:srgbClr val="000000"/>
                        </a:solidFill>
                        <a:effectLst/>
                        <a:latin typeface="+mn-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1"/>
                  </a:ext>
                </a:extLst>
              </a:tr>
              <a:tr h="69180">
                <a:tc vMerge="1">
                  <a:txBody>
                    <a:bodyPr/>
                    <a:lstStyle/>
                    <a:p>
                      <a:endParaRPr lang="en-US"/>
                    </a:p>
                  </a:txBody>
                  <a:tcPr/>
                </a:tc>
                <a:tc rowSpan="3">
                  <a:txBody>
                    <a:bodyPr/>
                    <a:lstStyle/>
                    <a:p>
                      <a:pPr algn="ctr" fontAlgn="ctr"/>
                      <a:r>
                        <a:rPr lang="en-US" sz="1800" u="none" strike="noStrike" dirty="0">
                          <a:effectLst/>
                          <a:latin typeface="+mj-lt"/>
                        </a:rPr>
                        <a:t>SMC</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Soft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800mm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altLang="ja-JP" sz="1800" u="none" strike="noStrike" dirty="0">
                          <a:effectLst/>
                          <a:latin typeface="+mj-lt"/>
                        </a:rPr>
                        <a:t>Not recommended</a:t>
                      </a:r>
                      <a:endParaRPr lang="en-US" altLang="ja-JP" sz="1800" b="0" i="0" u="none" strike="noStrike" dirty="0">
                        <a:solidFill>
                          <a:srgbClr val="000000"/>
                        </a:solidFill>
                        <a:effectLst/>
                        <a:latin typeface="+mj-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2"/>
                  </a:ext>
                </a:extLst>
              </a:tr>
              <a:tr h="91692">
                <a:tc vMerge="1">
                  <a:txBody>
                    <a:bodyPr/>
                    <a:lstStyle/>
                    <a:p>
                      <a:endParaRPr lang="en-US"/>
                    </a:p>
                  </a:txBody>
                  <a:tcPr/>
                </a:tc>
                <a:tc vMerge="1">
                  <a:txBody>
                    <a:bodyPr/>
                    <a:lstStyle/>
                    <a:p>
                      <a:endParaRPr lang="en-US"/>
                    </a:p>
                  </a:txBody>
                  <a:tcPr/>
                </a:tc>
                <a:tc>
                  <a:txBody>
                    <a:bodyPr/>
                    <a:lstStyle/>
                    <a:p>
                      <a:pPr algn="ctr" fontAlgn="ctr"/>
                      <a:r>
                        <a:rPr lang="en-US" sz="1800" u="none" strike="noStrike" dirty="0">
                          <a:effectLst/>
                          <a:latin typeface="+mj-lt"/>
                        </a:rPr>
                        <a:t>Medium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600mm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ctr" fontAlgn="ctr"/>
                      <a:r>
                        <a:rPr lang="en-US" sz="1800" b="0" i="0" u="none" strike="noStrike" dirty="0">
                          <a:solidFill>
                            <a:srgbClr val="000000"/>
                          </a:solidFill>
                          <a:effectLst/>
                          <a:latin typeface="+mj-lt"/>
                        </a:rPr>
                        <a:t>&gt;</a:t>
                      </a:r>
                      <a:r>
                        <a:rPr lang="en-US" sz="1800" b="0" i="0" u="none" strike="noStrike" baseline="0" dirty="0">
                          <a:solidFill>
                            <a:srgbClr val="000000"/>
                          </a:solidFill>
                          <a:effectLst/>
                          <a:latin typeface="+mj-lt"/>
                        </a:rPr>
                        <a:t> 800mm</a:t>
                      </a:r>
                      <a:endParaRPr lang="en-US" sz="1800" b="0" i="0" u="none" strike="noStrike" dirty="0">
                        <a:solidFill>
                          <a:srgbClr val="000000"/>
                        </a:solidFill>
                        <a:effectLst/>
                        <a:latin typeface="+mj-lt"/>
                      </a:endParaRP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3"/>
                  </a:ext>
                </a:extLst>
              </a:tr>
              <a:tr h="180039">
                <a:tc vMerge="1">
                  <a:txBody>
                    <a:bodyPr/>
                    <a:lstStyle/>
                    <a:p>
                      <a:endParaRPr lang="en-US"/>
                    </a:p>
                  </a:txBody>
                  <a:tcPr/>
                </a:tc>
                <a:tc vMerge="1">
                  <a:txBody>
                    <a:bodyPr/>
                    <a:lstStyle/>
                    <a:p>
                      <a:endParaRPr lang="en-US"/>
                    </a:p>
                  </a:txBody>
                  <a:tcPr/>
                </a:tc>
                <a:tc>
                  <a:txBody>
                    <a:bodyPr/>
                    <a:lstStyle/>
                    <a:p>
                      <a:pPr algn="ctr" fontAlgn="ctr"/>
                      <a:r>
                        <a:rPr lang="en-US" sz="1800" u="none" strike="noStrike" dirty="0">
                          <a:effectLst/>
                          <a:latin typeface="+mj-lt"/>
                        </a:rPr>
                        <a:t>Hard soil</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altLang="ja-JP" sz="1800" u="none" strike="noStrike" baseline="0" dirty="0">
                          <a:effectLst/>
                          <a:latin typeface="+mj-lt"/>
                        </a:rPr>
                        <a:t> &gt; </a:t>
                      </a:r>
                      <a:r>
                        <a:rPr lang="en-US" sz="1800" u="none" strike="noStrike" dirty="0">
                          <a:effectLst/>
                          <a:latin typeface="+mj-lt"/>
                        </a:rPr>
                        <a:t>600mm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ctr" fontAlgn="ctr"/>
                      <a:r>
                        <a:rPr lang="en-US" altLang="ja-JP" sz="1800" b="0" i="0" u="none" strike="noStrike" dirty="0">
                          <a:solidFill>
                            <a:srgbClr val="000000"/>
                          </a:solidFill>
                          <a:effectLst/>
                          <a:latin typeface="+mj-lt"/>
                        </a:rPr>
                        <a:t>&gt;</a:t>
                      </a:r>
                      <a:r>
                        <a:rPr lang="en-US" altLang="ja-JP" sz="1800" b="0" i="0" u="none" strike="noStrike" baseline="0" dirty="0">
                          <a:solidFill>
                            <a:srgbClr val="000000"/>
                          </a:solidFill>
                          <a:effectLst/>
                          <a:latin typeface="+mj-lt"/>
                        </a:rPr>
                        <a:t> </a:t>
                      </a:r>
                      <a:r>
                        <a:rPr lang="en-US" sz="1800" b="0" i="0" u="none" strike="noStrike" dirty="0">
                          <a:solidFill>
                            <a:srgbClr val="000000"/>
                          </a:solidFill>
                          <a:effectLst/>
                          <a:latin typeface="+mj-lt"/>
                        </a:rPr>
                        <a:t>600mm</a:t>
                      </a: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4"/>
                  </a:ext>
                </a:extLst>
              </a:tr>
              <a:tr h="138119">
                <a:tc vMerge="1">
                  <a:txBody>
                    <a:bodyPr/>
                    <a:lstStyle/>
                    <a:p>
                      <a:endParaRPr lang="en-US"/>
                    </a:p>
                  </a:txBody>
                  <a:tcPr/>
                </a:tc>
                <a:tc rowSpan="3">
                  <a:txBody>
                    <a:bodyPr/>
                    <a:lstStyle/>
                    <a:p>
                      <a:pPr algn="ctr" fontAlgn="ctr"/>
                      <a:r>
                        <a:rPr lang="en-US" sz="1800" u="none" strike="noStrike" dirty="0">
                          <a:effectLst/>
                          <a:latin typeface="+mj-lt"/>
                        </a:rPr>
                        <a:t>BMC</a:t>
                      </a:r>
                      <a:endParaRPr lang="en-US" sz="1800" b="0" i="0" u="none" strike="noStrike" dirty="0">
                        <a:solidFill>
                          <a:srgbClr val="000000"/>
                        </a:solidFill>
                        <a:effectLst/>
                        <a:latin typeface="+mj-lt"/>
                      </a:endParaRPr>
                    </a:p>
                  </a:txBody>
                  <a:tcPr marL="5841" marR="5841" marT="5841" marB="0" anchor="ctr">
                    <a:solidFill>
                      <a:schemeClr val="accent4">
                        <a:lumMod val="20000"/>
                        <a:lumOff val="80000"/>
                      </a:schemeClr>
                    </a:solidFill>
                  </a:tcPr>
                </a:tc>
                <a:tc>
                  <a:txBody>
                    <a:bodyPr/>
                    <a:lstStyle/>
                    <a:p>
                      <a:pPr algn="ctr" fontAlgn="ctr"/>
                      <a:r>
                        <a:rPr lang="en-US" sz="1800" u="none" strike="noStrike" dirty="0">
                          <a:effectLst/>
                          <a:latin typeface="+mj-lt"/>
                        </a:rPr>
                        <a:t>Soft soil</a:t>
                      </a:r>
                      <a:endParaRPr lang="en-US" sz="1800" b="0" i="0" u="none" strike="noStrike" dirty="0">
                        <a:solidFill>
                          <a:srgbClr val="000000"/>
                        </a:solidFill>
                        <a:effectLst/>
                        <a:latin typeface="+mj-lt"/>
                      </a:endParaRPr>
                    </a:p>
                  </a:txBody>
                  <a:tcPr marL="5841" marR="5841" marT="5841" marB="0" anchor="ctr">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altLang="ja-JP" sz="1800" b="0" i="0" u="none" strike="noStrike" dirty="0">
                          <a:solidFill>
                            <a:srgbClr val="000000"/>
                          </a:solidFill>
                          <a:effectLst/>
                          <a:latin typeface="+mj-lt"/>
                        </a:rPr>
                        <a:t>&gt;</a:t>
                      </a:r>
                      <a:r>
                        <a:rPr lang="en-US" altLang="ja-JP" sz="1800" b="0" i="0" u="none" strike="noStrike" baseline="0" dirty="0">
                          <a:solidFill>
                            <a:srgbClr val="000000"/>
                          </a:solidFill>
                          <a:effectLst/>
                          <a:latin typeface="+mj-lt"/>
                        </a:rPr>
                        <a:t> </a:t>
                      </a:r>
                      <a:r>
                        <a:rPr lang="en-US" sz="1800" u="none" strike="noStrike" dirty="0">
                          <a:effectLst/>
                          <a:latin typeface="+mj-lt"/>
                        </a:rPr>
                        <a:t>650mm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solidFill>
                      <a:schemeClr val="accent4">
                        <a:lumMod val="20000"/>
                        <a:lumOff val="80000"/>
                      </a:schemeClr>
                    </a:solidFill>
                  </a:tcPr>
                </a:tc>
                <a:tc>
                  <a:txBody>
                    <a:bodyPr/>
                    <a:lstStyle/>
                    <a:p>
                      <a:pPr algn="ctr" fontAlgn="ctr"/>
                      <a:r>
                        <a:rPr lang="en-US" altLang="ja-JP" sz="1800" b="0" i="0" u="none" strike="noStrike" dirty="0">
                          <a:solidFill>
                            <a:srgbClr val="000000"/>
                          </a:solidFill>
                          <a:effectLst/>
                          <a:latin typeface="+mj-lt"/>
                        </a:rPr>
                        <a:t>&gt;</a:t>
                      </a:r>
                      <a:r>
                        <a:rPr lang="en-US" altLang="ja-JP" sz="1800" b="0" i="0" u="none" strike="noStrike" baseline="0" dirty="0">
                          <a:solidFill>
                            <a:srgbClr val="000000"/>
                          </a:solidFill>
                          <a:effectLst/>
                          <a:latin typeface="+mj-lt"/>
                        </a:rPr>
                        <a:t> </a:t>
                      </a:r>
                      <a:r>
                        <a:rPr lang="en-US" sz="1800" b="0" i="0" u="none" strike="noStrike" dirty="0">
                          <a:solidFill>
                            <a:srgbClr val="000000"/>
                          </a:solidFill>
                          <a:effectLst/>
                          <a:latin typeface="+mj-lt"/>
                        </a:rPr>
                        <a:t>900mm</a:t>
                      </a: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5"/>
                  </a:ext>
                </a:extLst>
              </a:tr>
              <a:tr h="184556">
                <a:tc vMerge="1">
                  <a:txBody>
                    <a:bodyPr/>
                    <a:lstStyle/>
                    <a:p>
                      <a:endParaRPr lang="en-US"/>
                    </a:p>
                  </a:txBody>
                  <a:tcPr/>
                </a:tc>
                <a:tc vMerge="1">
                  <a:txBody>
                    <a:bodyPr/>
                    <a:lstStyle/>
                    <a:p>
                      <a:endParaRPr lang="en-US"/>
                    </a:p>
                  </a:txBody>
                  <a:tcPr/>
                </a:tc>
                <a:tc>
                  <a:txBody>
                    <a:bodyPr/>
                    <a:lstStyle/>
                    <a:p>
                      <a:pPr algn="ctr" fontAlgn="ctr"/>
                      <a:r>
                        <a:rPr lang="en-US" sz="1800" u="none" strike="noStrike" dirty="0">
                          <a:effectLst/>
                          <a:latin typeface="+mj-lt"/>
                        </a:rPr>
                        <a:t>Medium soil</a:t>
                      </a:r>
                      <a:endParaRPr lang="en-US" sz="1800" b="0" i="0" u="none" strike="noStrike" dirty="0">
                        <a:solidFill>
                          <a:srgbClr val="000000"/>
                        </a:solidFill>
                        <a:effectLst/>
                        <a:latin typeface="+mj-lt"/>
                      </a:endParaRPr>
                    </a:p>
                  </a:txBody>
                  <a:tcPr marL="5841" marR="5841" marT="584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altLang="ja-JP" sz="1800" b="0" i="0" u="none" strike="noStrike" dirty="0">
                          <a:solidFill>
                            <a:srgbClr val="000000"/>
                          </a:solidFill>
                          <a:effectLst/>
                          <a:latin typeface="+mj-lt"/>
                        </a:rPr>
                        <a:t>&gt;</a:t>
                      </a:r>
                      <a:r>
                        <a:rPr lang="en-US" altLang="ja-JP" sz="1800" b="0" i="0" u="none" strike="noStrike" baseline="0" dirty="0">
                          <a:solidFill>
                            <a:srgbClr val="000000"/>
                          </a:solidFill>
                          <a:effectLst/>
                          <a:latin typeface="+mj-lt"/>
                        </a:rPr>
                        <a:t> </a:t>
                      </a:r>
                      <a:r>
                        <a:rPr lang="en-US" sz="1800" u="none" strike="noStrike" dirty="0">
                          <a:effectLst/>
                          <a:latin typeface="+mj-lt"/>
                        </a:rPr>
                        <a:t>550mm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en-US" altLang="ja-JP" sz="1800" b="0" i="0" u="none" strike="noStrike" dirty="0">
                          <a:solidFill>
                            <a:srgbClr val="000000"/>
                          </a:solidFill>
                          <a:effectLst/>
                          <a:latin typeface="+mj-lt"/>
                        </a:rPr>
                        <a:t>&gt;</a:t>
                      </a:r>
                      <a:r>
                        <a:rPr lang="en-US" altLang="ja-JP" sz="1800" b="0" i="0" u="none" strike="noStrike" baseline="0" dirty="0">
                          <a:solidFill>
                            <a:srgbClr val="000000"/>
                          </a:solidFill>
                          <a:effectLst/>
                          <a:latin typeface="+mj-lt"/>
                        </a:rPr>
                        <a:t> </a:t>
                      </a:r>
                      <a:r>
                        <a:rPr lang="en-US" sz="1800" b="0" i="0" u="none" strike="noStrike" dirty="0">
                          <a:solidFill>
                            <a:srgbClr val="000000"/>
                          </a:solidFill>
                          <a:effectLst/>
                          <a:latin typeface="+mj-lt"/>
                        </a:rPr>
                        <a:t>650mm</a:t>
                      </a: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6"/>
                  </a:ext>
                </a:extLst>
              </a:tr>
              <a:tr h="199919">
                <a:tc vMerge="1">
                  <a:txBody>
                    <a:bodyPr/>
                    <a:lstStyle/>
                    <a:p>
                      <a:endParaRPr lang="en-US"/>
                    </a:p>
                  </a:txBody>
                  <a:tcPr/>
                </a:tc>
                <a:tc vMerge="1">
                  <a:txBody>
                    <a:bodyPr/>
                    <a:lstStyle/>
                    <a:p>
                      <a:endParaRPr lang="en-US"/>
                    </a:p>
                  </a:txBody>
                  <a:tcPr/>
                </a:tc>
                <a:tc>
                  <a:txBody>
                    <a:bodyPr/>
                    <a:lstStyle/>
                    <a:p>
                      <a:pPr algn="ctr" fontAlgn="ctr"/>
                      <a:r>
                        <a:rPr lang="en-US" sz="1800" u="none" strike="noStrike" dirty="0">
                          <a:effectLst/>
                          <a:latin typeface="+mj-lt"/>
                        </a:rPr>
                        <a:t>Hard soil</a:t>
                      </a:r>
                      <a:endParaRPr lang="en-US" sz="1800" b="0" i="0" u="none" strike="noStrike" dirty="0">
                        <a:solidFill>
                          <a:srgbClr val="000000"/>
                        </a:solidFill>
                        <a:effectLst/>
                        <a:latin typeface="+mj-lt"/>
                      </a:endParaRPr>
                    </a:p>
                  </a:txBody>
                  <a:tcPr marL="5841" marR="5841" marT="5841"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ctr" fontAlgn="ctr"/>
                      <a:r>
                        <a:rPr lang="en-US" altLang="ja-JP" sz="1800" b="0" i="0" u="none" strike="noStrike" dirty="0">
                          <a:solidFill>
                            <a:srgbClr val="000000"/>
                          </a:solidFill>
                          <a:effectLst/>
                          <a:latin typeface="+mj-lt"/>
                        </a:rPr>
                        <a:t>&gt;</a:t>
                      </a:r>
                      <a:r>
                        <a:rPr lang="en-US" altLang="ja-JP" sz="1800" b="0" i="0" u="none" strike="noStrike" baseline="0" dirty="0">
                          <a:solidFill>
                            <a:srgbClr val="000000"/>
                          </a:solidFill>
                          <a:effectLst/>
                          <a:latin typeface="+mj-lt"/>
                        </a:rPr>
                        <a:t> </a:t>
                      </a:r>
                      <a:r>
                        <a:rPr lang="en-US" sz="1800" u="none" strike="noStrike" dirty="0">
                          <a:effectLst/>
                          <a:latin typeface="+mj-lt"/>
                        </a:rPr>
                        <a:t>550mm</a:t>
                      </a:r>
                      <a:endParaRPr lang="en-US" sz="1800" b="0" i="0" u="none" strike="noStrike" dirty="0">
                        <a:solidFill>
                          <a:srgbClr val="000000"/>
                        </a:solidFill>
                        <a:effectLst/>
                        <a:latin typeface="+mj-lt"/>
                      </a:endParaRPr>
                    </a:p>
                  </a:txBody>
                  <a:tcPr marL="5841" marR="5841" marT="584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ctr" fontAlgn="ctr"/>
                      <a:r>
                        <a:rPr lang="en-US" altLang="ja-JP" sz="1800" b="0" i="0" u="none" strike="noStrike" dirty="0">
                          <a:solidFill>
                            <a:srgbClr val="000000"/>
                          </a:solidFill>
                          <a:effectLst/>
                          <a:latin typeface="+mj-lt"/>
                        </a:rPr>
                        <a:t>&gt;</a:t>
                      </a:r>
                      <a:r>
                        <a:rPr lang="en-US" altLang="ja-JP" sz="1800" b="0" i="0" u="none" strike="noStrike" baseline="0" dirty="0">
                          <a:solidFill>
                            <a:srgbClr val="000000"/>
                          </a:solidFill>
                          <a:effectLst/>
                          <a:latin typeface="+mj-lt"/>
                        </a:rPr>
                        <a:t> </a:t>
                      </a:r>
                      <a:r>
                        <a:rPr lang="en-US" sz="1800" b="0" i="0" u="none" strike="noStrike" dirty="0">
                          <a:solidFill>
                            <a:srgbClr val="000000"/>
                          </a:solidFill>
                          <a:effectLst/>
                          <a:latin typeface="+mj-lt"/>
                        </a:rPr>
                        <a:t>550mm</a:t>
                      </a:r>
                    </a:p>
                  </a:txBody>
                  <a:tcPr marL="5841" marR="5841" marT="5841" marB="0" anchor="ctr">
                    <a:lnL w="12700" cap="flat" cmpd="sng" algn="ctr">
                      <a:solidFill>
                        <a:schemeClr val="tx1"/>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xmlns="" val="10017"/>
                  </a:ext>
                </a:extLst>
              </a:tr>
            </a:tbl>
          </a:graphicData>
        </a:graphic>
      </p:graphicFrame>
      <p:sp>
        <p:nvSpPr>
          <p:cNvPr id="16" name="正方形/長方形 12"/>
          <p:cNvSpPr/>
          <p:nvPr/>
        </p:nvSpPr>
        <p:spPr>
          <a:xfrm>
            <a:off x="487211" y="726789"/>
            <a:ext cx="6777189" cy="33391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rgbClr val="FFC000"/>
                </a:solidFill>
              </a:rPr>
              <a:t>Minimum Requirements: Foundation</a:t>
            </a:r>
            <a:endParaRPr kumimoji="1" lang="ja-JP" altLang="en-US" sz="2800" dirty="0">
              <a:solidFill>
                <a:srgbClr val="FFC000"/>
              </a:solidFill>
            </a:endParaRPr>
          </a:p>
        </p:txBody>
      </p:sp>
      <p:grpSp>
        <p:nvGrpSpPr>
          <p:cNvPr id="19" name="Group 18"/>
          <p:cNvGrpSpPr/>
          <p:nvPr/>
        </p:nvGrpSpPr>
        <p:grpSpPr>
          <a:xfrm>
            <a:off x="-24031" y="2286000"/>
            <a:ext cx="9168031" cy="3073400"/>
            <a:chOff x="-24031" y="2044700"/>
            <a:chExt cx="9168031" cy="3073400"/>
          </a:xfrm>
        </p:grpSpPr>
        <p:sp>
          <p:nvSpPr>
            <p:cNvPr id="7" name="Rectangle 6"/>
            <p:cNvSpPr/>
            <p:nvPr/>
          </p:nvSpPr>
          <p:spPr>
            <a:xfrm>
              <a:off x="-24031" y="2044700"/>
              <a:ext cx="9168031" cy="307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entagon 16"/>
            <p:cNvSpPr/>
            <p:nvPr/>
          </p:nvSpPr>
          <p:spPr>
            <a:xfrm>
              <a:off x="-24031" y="2256098"/>
              <a:ext cx="2909400" cy="551354"/>
            </a:xfrm>
            <a:prstGeom prst="homePlate">
              <a:avLst/>
            </a:prstGeom>
            <a:solidFill>
              <a:srgbClr val="0088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rPr>
                <a:t>Exception</a:t>
              </a:r>
            </a:p>
          </p:txBody>
        </p:sp>
        <p:sp>
          <p:nvSpPr>
            <p:cNvPr id="18" name="Rectangle 16"/>
            <p:cNvSpPr/>
            <p:nvPr/>
          </p:nvSpPr>
          <p:spPr>
            <a:xfrm>
              <a:off x="0" y="3098955"/>
              <a:ext cx="9144000" cy="1384995"/>
            </a:xfrm>
            <a:prstGeom prst="rect">
              <a:avLst/>
            </a:prstGeom>
          </p:spPr>
          <p:txBody>
            <a:bodyPr wrap="square">
              <a:spAutoFit/>
            </a:bodyPr>
            <a:lstStyle/>
            <a:p>
              <a:pPr marL="261938" indent="-261938" algn="just"/>
              <a:r>
                <a:rPr lang="en-US" sz="2800" dirty="0"/>
                <a:t>E1. </a:t>
              </a:r>
              <a:r>
                <a:rPr lang="en-US" altLang="ja-JP" sz="2800" dirty="0"/>
                <a:t>Foundations </a:t>
              </a:r>
              <a:r>
                <a:rPr lang="en-US" altLang="ja-JP" sz="2800" dirty="0">
                  <a:solidFill>
                    <a:srgbClr val="FF0000"/>
                  </a:solidFill>
                </a:rPr>
                <a:t>size can be variable for hard rock bed</a:t>
              </a:r>
              <a:r>
                <a:rPr lang="en-US" altLang="ja-JP" sz="2800" dirty="0"/>
                <a:t>. </a:t>
              </a:r>
            </a:p>
            <a:p>
              <a:pPr marL="457200" indent="-107950" algn="just"/>
              <a:r>
                <a:rPr lang="en-US" altLang="ja-JP" sz="2800" dirty="0"/>
                <a:t>	Here, proper levelling of foundation is required with proper anchorage of vertical element to the rock.</a:t>
              </a:r>
              <a:endParaRPr lang="en-US" sz="2800" dirty="0"/>
            </a:p>
          </p:txBody>
        </p:sp>
      </p:grpSp>
    </p:spTree>
    <p:extLst>
      <p:ext uri="{BB962C8B-B14F-4D97-AF65-F5344CB8AC3E}">
        <p14:creationId xmlns:p14="http://schemas.microsoft.com/office/powerpoint/2010/main" val="673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62</a:t>
            </a:fld>
            <a:endParaRPr lang="en-US"/>
          </a:p>
        </p:txBody>
      </p:sp>
      <p:sp>
        <p:nvSpPr>
          <p:cNvPr id="5" name="TextBox 4"/>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sp>
        <p:nvSpPr>
          <p:cNvPr id="6" name="正方形/長方形 12"/>
          <p:cNvSpPr/>
          <p:nvPr/>
        </p:nvSpPr>
        <p:spPr>
          <a:xfrm>
            <a:off x="564467" y="917289"/>
            <a:ext cx="6407833" cy="33391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rgbClr val="FFC000"/>
                </a:solidFill>
              </a:rPr>
              <a:t>Minimum Requirements: Doors/Windows</a:t>
            </a:r>
            <a:endParaRPr kumimoji="1" lang="ja-JP" altLang="en-US" sz="2800" dirty="0">
              <a:solidFill>
                <a:srgbClr val="FFC000"/>
              </a:solidFill>
            </a:endParaRPr>
          </a:p>
        </p:txBody>
      </p:sp>
      <p:graphicFrame>
        <p:nvGraphicFramePr>
          <p:cNvPr id="7" name="Table 1"/>
          <p:cNvGraphicFramePr>
            <a:graphicFrameLocks noGrp="1"/>
          </p:cNvGraphicFramePr>
          <p:nvPr>
            <p:extLst/>
          </p:nvPr>
        </p:nvGraphicFramePr>
        <p:xfrm>
          <a:off x="127000" y="1350209"/>
          <a:ext cx="8890000" cy="3878525"/>
        </p:xfrm>
        <a:graphic>
          <a:graphicData uri="http://schemas.openxmlformats.org/drawingml/2006/table">
            <a:tbl>
              <a:tblPr>
                <a:tableStyleId>{5940675A-B579-460E-94D1-54222C63F5DA}</a:tableStyleId>
              </a:tblPr>
              <a:tblGrid>
                <a:gridCol w="1168400">
                  <a:extLst>
                    <a:ext uri="{9D8B030D-6E8A-4147-A177-3AD203B41FA5}">
                      <a16:colId xmlns:a16="http://schemas.microsoft.com/office/drawing/2014/main" xmlns="" val="20000"/>
                    </a:ext>
                  </a:extLst>
                </a:gridCol>
                <a:gridCol w="711200">
                  <a:extLst>
                    <a:ext uri="{9D8B030D-6E8A-4147-A177-3AD203B41FA5}">
                      <a16:colId xmlns:a16="http://schemas.microsoft.com/office/drawing/2014/main" xmlns="" val="20001"/>
                    </a:ext>
                  </a:extLst>
                </a:gridCol>
                <a:gridCol w="787400">
                  <a:extLst>
                    <a:ext uri="{9D8B030D-6E8A-4147-A177-3AD203B41FA5}">
                      <a16:colId xmlns:a16="http://schemas.microsoft.com/office/drawing/2014/main" xmlns="" val="20002"/>
                    </a:ext>
                  </a:extLst>
                </a:gridCol>
                <a:gridCol w="6223000">
                  <a:extLst>
                    <a:ext uri="{9D8B030D-6E8A-4147-A177-3AD203B41FA5}">
                      <a16:colId xmlns:a16="http://schemas.microsoft.com/office/drawing/2014/main" xmlns="" val="20003"/>
                    </a:ext>
                  </a:extLst>
                </a:gridCol>
              </a:tblGrid>
              <a:tr h="239383">
                <a:tc>
                  <a:txBody>
                    <a:bodyPr/>
                    <a:lstStyle/>
                    <a:p>
                      <a:pPr algn="ctr" fontAlgn="ctr"/>
                      <a:r>
                        <a:rPr lang="en-US" sz="1800" u="none" strike="noStrike" dirty="0">
                          <a:effectLst/>
                          <a:latin typeface="+mj-lt"/>
                        </a:rPr>
                        <a:t>Category </a:t>
                      </a:r>
                      <a:endParaRPr lang="en-US" sz="1800" b="0" i="0" u="none" strike="noStrike" dirty="0">
                        <a:solidFill>
                          <a:srgbClr val="000000"/>
                        </a:solidFill>
                        <a:effectLst/>
                        <a:latin typeface="+mj-lt"/>
                      </a:endParaRPr>
                    </a:p>
                  </a:txBody>
                  <a:tcPr marL="7609" marR="7609" marT="7609" marB="0" anchor="ctr">
                    <a:solidFill>
                      <a:schemeClr val="accent4">
                        <a:lumMod val="40000"/>
                        <a:lumOff val="60000"/>
                      </a:schemeClr>
                    </a:solidFill>
                  </a:tcPr>
                </a:tc>
                <a:tc gridSpan="2">
                  <a:txBody>
                    <a:bodyPr/>
                    <a:lstStyle/>
                    <a:p>
                      <a:pPr algn="ctr" fontAlgn="ctr"/>
                      <a:r>
                        <a:rPr lang="en-US" sz="1800" u="none" strike="noStrike" dirty="0">
                          <a:effectLst/>
                          <a:latin typeface="+mj-lt"/>
                        </a:rPr>
                        <a:t>Sub-category </a:t>
                      </a:r>
                      <a:endParaRPr lang="en-US" sz="1800" b="0" i="0" u="none" strike="noStrike" dirty="0">
                        <a:solidFill>
                          <a:srgbClr val="000000"/>
                        </a:solidFill>
                        <a:effectLst/>
                        <a:latin typeface="+mj-lt"/>
                      </a:endParaRPr>
                    </a:p>
                  </a:txBody>
                  <a:tcPr marL="7609" marR="7609" marT="7609" marB="0" anchor="ctr">
                    <a:solidFill>
                      <a:schemeClr val="accent4">
                        <a:lumMod val="40000"/>
                        <a:lumOff val="60000"/>
                      </a:schemeClr>
                    </a:solidFill>
                  </a:tcPr>
                </a:tc>
                <a:tc hMerge="1">
                  <a:txBody>
                    <a:bodyPr/>
                    <a:lstStyle/>
                    <a:p>
                      <a:pPr algn="ctr" fontAlgn="ctr"/>
                      <a:endParaRPr lang="en-US" sz="1000" b="0" i="0" u="none" strike="noStrike">
                        <a:solidFill>
                          <a:srgbClr val="000000"/>
                        </a:solidFill>
                        <a:effectLst/>
                        <a:latin typeface="+mj-lt"/>
                      </a:endParaRPr>
                    </a:p>
                  </a:txBody>
                  <a:tcPr marL="7609" marR="7609" marT="7609" marB="0" anchor="ctr"/>
                </a:tc>
                <a:tc>
                  <a:txBody>
                    <a:bodyPr/>
                    <a:lstStyle/>
                    <a:p>
                      <a:pPr algn="l" fontAlgn="ctr"/>
                      <a:r>
                        <a:rPr lang="en-US" sz="1800" u="none" strike="noStrike" dirty="0">
                          <a:effectLst/>
                          <a:latin typeface="+mj-lt"/>
                        </a:rPr>
                        <a:t> Description</a:t>
                      </a:r>
                      <a:endParaRPr lang="en-US" sz="1800" b="0" i="0" u="none" strike="noStrike" dirty="0">
                        <a:solidFill>
                          <a:srgbClr val="000000"/>
                        </a:solidFill>
                        <a:effectLst/>
                        <a:latin typeface="+mj-lt"/>
                      </a:endParaRPr>
                    </a:p>
                  </a:txBody>
                  <a:tcPr marL="7609" marR="7609" marT="7609" marB="0" anchor="ctr">
                    <a:solidFill>
                      <a:schemeClr val="accent4">
                        <a:lumMod val="40000"/>
                        <a:lumOff val="60000"/>
                      </a:schemeClr>
                    </a:solidFill>
                  </a:tcPr>
                </a:tc>
                <a:extLst>
                  <a:ext uri="{0D108BD9-81ED-4DB2-BD59-A6C34878D82A}">
                    <a16:rowId xmlns:a16="http://schemas.microsoft.com/office/drawing/2014/main" xmlns="" val="10000"/>
                  </a:ext>
                </a:extLst>
              </a:tr>
              <a:tr h="385372">
                <a:tc rowSpan="4">
                  <a:txBody>
                    <a:bodyPr/>
                    <a:lstStyle/>
                    <a:p>
                      <a:pPr algn="ctr" fontAlgn="ctr"/>
                      <a:r>
                        <a:rPr lang="en-US" sz="1800" u="none" strike="noStrike" dirty="0">
                          <a:effectLst/>
                          <a:latin typeface="+mj-lt"/>
                        </a:rPr>
                        <a:t>Doors / windows.</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tc gridSpan="2">
                  <a:txBody>
                    <a:bodyPr/>
                    <a:lstStyle/>
                    <a:p>
                      <a:pPr algn="ctr" fontAlgn="ctr"/>
                      <a:r>
                        <a:rPr lang="en-US" sz="1800" u="none" strike="noStrike">
                          <a:effectLst/>
                          <a:latin typeface="+mj-lt"/>
                        </a:rPr>
                        <a:t>General</a:t>
                      </a:r>
                      <a:endParaRPr lang="en-US" sz="1800" b="0" i="0" u="none" strike="noStrike">
                        <a:solidFill>
                          <a:srgbClr val="000000"/>
                        </a:solidFill>
                        <a:effectLst/>
                        <a:latin typeface="+mj-lt"/>
                      </a:endParaRPr>
                    </a:p>
                  </a:txBody>
                  <a:tcPr marL="7609" marR="7609" marT="7609" marB="0" anchor="ctr">
                    <a:solidFill>
                      <a:schemeClr val="accent4">
                        <a:lumMod val="20000"/>
                        <a:lumOff val="80000"/>
                      </a:schemeClr>
                    </a:solidFill>
                  </a:tcPr>
                </a:tc>
                <a:tc hMerge="1">
                  <a:txBody>
                    <a:bodyPr/>
                    <a:lstStyle/>
                    <a:p>
                      <a:endParaRPr lang="en-US"/>
                    </a:p>
                  </a:txBody>
                  <a:tcPr/>
                </a:tc>
                <a:tc>
                  <a:txBody>
                    <a:bodyPr/>
                    <a:lstStyle/>
                    <a:p>
                      <a:pPr marL="84138" indent="0" algn="l" fontAlgn="ctr"/>
                      <a:r>
                        <a:rPr lang="en-US" sz="1800" u="none" strike="noStrike" dirty="0">
                          <a:effectLst/>
                          <a:latin typeface="+mj-lt"/>
                        </a:rPr>
                        <a:t>Keep lintel level same for all doors and windows. </a:t>
                      </a:r>
                      <a:br>
                        <a:rPr lang="en-US" sz="1800" u="none" strike="noStrike" dirty="0">
                          <a:effectLst/>
                          <a:latin typeface="+mj-lt"/>
                        </a:rPr>
                      </a:br>
                      <a:r>
                        <a:rPr lang="en-US" sz="1800" u="none" strike="noStrike" dirty="0">
                          <a:effectLst/>
                          <a:latin typeface="+mj-lt"/>
                        </a:rPr>
                        <a:t>Openings are to be located away from inside corners by a clear distance equal to at least 1/4 of the height of the opening, but not less than 600 mm.</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extLst>
                  <a:ext uri="{0D108BD9-81ED-4DB2-BD59-A6C34878D82A}">
                    <a16:rowId xmlns:a16="http://schemas.microsoft.com/office/drawing/2014/main" xmlns="" val="10001"/>
                  </a:ext>
                </a:extLst>
              </a:tr>
              <a:tr h="440674">
                <a:tc vMerge="1">
                  <a:txBody>
                    <a:bodyPr/>
                    <a:lstStyle/>
                    <a:p>
                      <a:endParaRPr lang="en-US"/>
                    </a:p>
                  </a:txBody>
                  <a:tcPr/>
                </a:tc>
                <a:tc rowSpan="2">
                  <a:txBody>
                    <a:bodyPr/>
                    <a:lstStyle/>
                    <a:p>
                      <a:pPr algn="ctr" fontAlgn="ctr"/>
                      <a:r>
                        <a:rPr lang="en-US" sz="1800" u="none" strike="noStrike" dirty="0">
                          <a:effectLst/>
                          <a:latin typeface="+mj-lt"/>
                        </a:rPr>
                        <a:t>Total length</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tc>
                  <a:txBody>
                    <a:bodyPr/>
                    <a:lstStyle/>
                    <a:p>
                      <a:pPr marL="84138" indent="0" algn="l" fontAlgn="ctr"/>
                      <a:r>
                        <a:rPr lang="en-US" sz="1800" u="none" strike="noStrike" dirty="0">
                          <a:effectLst/>
                          <a:latin typeface="+mj-lt"/>
                        </a:rPr>
                        <a:t>SMM/BMM</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tc>
                  <a:txBody>
                    <a:bodyPr/>
                    <a:lstStyle/>
                    <a:p>
                      <a:pPr marL="84138" indent="0" algn="l" fontAlgn="ctr"/>
                      <a:r>
                        <a:rPr lang="en-US" sz="1800" u="none" strike="noStrike" dirty="0">
                          <a:effectLst/>
                          <a:latin typeface="+mj-lt"/>
                        </a:rPr>
                        <a:t>The total length of openings in a wall is not to exceed 30 % of the length of the wall between consecutive cross-walls in single-storey construction.</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extLst>
                  <a:ext uri="{0D108BD9-81ED-4DB2-BD59-A6C34878D82A}">
                    <a16:rowId xmlns:a16="http://schemas.microsoft.com/office/drawing/2014/main" xmlns="" val="10002"/>
                  </a:ext>
                </a:extLst>
              </a:tr>
              <a:tr h="396608">
                <a:tc vMerge="1">
                  <a:txBody>
                    <a:bodyPr/>
                    <a:lstStyle/>
                    <a:p>
                      <a:endParaRPr lang="en-US"/>
                    </a:p>
                  </a:txBody>
                  <a:tcPr/>
                </a:tc>
                <a:tc vMerge="1">
                  <a:txBody>
                    <a:bodyPr/>
                    <a:lstStyle/>
                    <a:p>
                      <a:endParaRPr lang="en-US"/>
                    </a:p>
                  </a:txBody>
                  <a:tcPr/>
                </a:tc>
                <a:tc>
                  <a:txBody>
                    <a:bodyPr/>
                    <a:lstStyle/>
                    <a:p>
                      <a:pPr marL="84138" indent="0" algn="l" fontAlgn="ctr"/>
                      <a:r>
                        <a:rPr lang="en-US" sz="1800" u="none" strike="noStrike" dirty="0">
                          <a:effectLst/>
                          <a:latin typeface="+mj-lt"/>
                        </a:rPr>
                        <a:t>SMC/BMC</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tc>
                  <a:txBody>
                    <a:bodyPr/>
                    <a:lstStyle/>
                    <a:p>
                      <a:pPr marL="84138" indent="0" algn="l" fontAlgn="ctr"/>
                      <a:r>
                        <a:rPr lang="en-US" sz="1800" u="none" strike="noStrike" dirty="0">
                          <a:effectLst/>
                          <a:latin typeface="+mj-lt"/>
                        </a:rPr>
                        <a:t>The total length of openings in a wall is not to exceed 50 % of the length of the wall between consecutive cross-walls in single-storey construction, 42 % in two-storey construction.</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extLst>
                  <a:ext uri="{0D108BD9-81ED-4DB2-BD59-A6C34878D82A}">
                    <a16:rowId xmlns:a16="http://schemas.microsoft.com/office/drawing/2014/main" xmlns="" val="10003"/>
                  </a:ext>
                </a:extLst>
              </a:tr>
              <a:tr h="365250">
                <a:tc vMerge="1">
                  <a:txBody>
                    <a:bodyPr/>
                    <a:lstStyle/>
                    <a:p>
                      <a:endParaRPr lang="en-US"/>
                    </a:p>
                  </a:txBody>
                  <a:tcPr/>
                </a:tc>
                <a:tc gridSpan="2">
                  <a:txBody>
                    <a:bodyPr/>
                    <a:lstStyle/>
                    <a:p>
                      <a:pPr algn="ctr" fontAlgn="ctr"/>
                      <a:r>
                        <a:rPr lang="en-US" sz="1800" u="none" strike="noStrike">
                          <a:effectLst/>
                          <a:latin typeface="+mj-lt"/>
                        </a:rPr>
                        <a:t>Distance</a:t>
                      </a:r>
                      <a:endParaRPr lang="en-US" sz="1800" b="0" i="0" u="none" strike="noStrike">
                        <a:solidFill>
                          <a:srgbClr val="000000"/>
                        </a:solidFill>
                        <a:effectLst/>
                        <a:latin typeface="+mj-lt"/>
                      </a:endParaRPr>
                    </a:p>
                  </a:txBody>
                  <a:tcPr marL="7609" marR="7609" marT="7609" marB="0" anchor="ctr">
                    <a:solidFill>
                      <a:schemeClr val="accent4">
                        <a:lumMod val="20000"/>
                        <a:lumOff val="80000"/>
                      </a:schemeClr>
                    </a:solidFill>
                  </a:tcPr>
                </a:tc>
                <a:tc hMerge="1">
                  <a:txBody>
                    <a:bodyPr/>
                    <a:lstStyle/>
                    <a:p>
                      <a:endParaRPr lang="en-US"/>
                    </a:p>
                  </a:txBody>
                  <a:tcPr/>
                </a:tc>
                <a:tc>
                  <a:txBody>
                    <a:bodyPr/>
                    <a:lstStyle/>
                    <a:p>
                      <a:pPr marL="84138" indent="0" algn="l" fontAlgn="ctr"/>
                      <a:r>
                        <a:rPr lang="en-US" sz="1800" u="none" strike="noStrike" dirty="0">
                          <a:effectLst/>
                          <a:latin typeface="+mj-lt"/>
                        </a:rPr>
                        <a:t>The horizontal distance between two openings is to be not less than one half of the height of the shorter opening, but not less than 600 mm.</a:t>
                      </a:r>
                      <a:endParaRPr lang="en-US" sz="1800" b="0" i="0" u="none" strike="noStrike" dirty="0">
                        <a:solidFill>
                          <a:srgbClr val="000000"/>
                        </a:solidFill>
                        <a:effectLst/>
                        <a:latin typeface="+mj-lt"/>
                      </a:endParaRPr>
                    </a:p>
                  </a:txBody>
                  <a:tcPr marL="7609" marR="7609" marT="7609" marB="0" anchor="ctr">
                    <a:solidFill>
                      <a:schemeClr val="accent4">
                        <a:lumMod val="20000"/>
                        <a:lumOff val="80000"/>
                      </a:schemeClr>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7690799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63</a:t>
            </a:fld>
            <a:endParaRPr lang="en-US"/>
          </a:p>
        </p:txBody>
      </p:sp>
      <p:sp>
        <p:nvSpPr>
          <p:cNvPr id="3" name="TextBox 2"/>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sp>
        <p:nvSpPr>
          <p:cNvPr id="4" name="正方形/長方形 9"/>
          <p:cNvSpPr/>
          <p:nvPr/>
        </p:nvSpPr>
        <p:spPr>
          <a:xfrm>
            <a:off x="559747" y="830878"/>
            <a:ext cx="2885336" cy="303642"/>
          </a:xfrm>
          <a:prstGeom prst="rect">
            <a:avLst/>
          </a:prstGeom>
          <a:noFill/>
          <a:ln w="381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chemeClr val="tx1">
                    <a:lumMod val="75000"/>
                    <a:lumOff val="25000"/>
                  </a:schemeClr>
                </a:solidFill>
              </a:rPr>
              <a:t>Exception</a:t>
            </a:r>
            <a:endParaRPr kumimoji="1" lang="ja-JP" altLang="en-US" sz="2800" dirty="0">
              <a:solidFill>
                <a:schemeClr val="tx1">
                  <a:lumMod val="75000"/>
                  <a:lumOff val="25000"/>
                </a:schemeClr>
              </a:solidFill>
            </a:endParaRPr>
          </a:p>
        </p:txBody>
      </p:sp>
      <p:grpSp>
        <p:nvGrpSpPr>
          <p:cNvPr id="12" name="Group 11"/>
          <p:cNvGrpSpPr/>
          <p:nvPr/>
        </p:nvGrpSpPr>
        <p:grpSpPr>
          <a:xfrm>
            <a:off x="178335" y="1246302"/>
            <a:ext cx="3664176" cy="4728099"/>
            <a:chOff x="178335" y="1214513"/>
            <a:chExt cx="3664176" cy="4728099"/>
          </a:xfrm>
        </p:grpSpPr>
        <p:pic>
          <p:nvPicPr>
            <p:cNvPr id="5" name="図 64"/>
            <p:cNvPicPr>
              <a:picLocks noChangeAspect="1"/>
            </p:cNvPicPr>
            <p:nvPr/>
          </p:nvPicPr>
          <p:blipFill rotWithShape="1">
            <a:blip r:embed="rId3" cstate="print">
              <a:extLst>
                <a:ext uri="{28A0092B-C50C-407E-A947-70E740481C1C}">
                  <a14:useLocalDpi xmlns:a14="http://schemas.microsoft.com/office/drawing/2010/main" val="0"/>
                </a:ext>
              </a:extLst>
            </a:blip>
            <a:srcRect l="20694" r="22917"/>
            <a:stretch/>
          </p:blipFill>
          <p:spPr>
            <a:xfrm>
              <a:off x="534347" y="1214513"/>
              <a:ext cx="2952152" cy="3926507"/>
            </a:xfrm>
            <a:prstGeom prst="rect">
              <a:avLst/>
            </a:prstGeom>
          </p:spPr>
        </p:pic>
        <p:sp>
          <p:nvSpPr>
            <p:cNvPr id="6" name="正方形/長方形 11"/>
            <p:cNvSpPr/>
            <p:nvPr/>
          </p:nvSpPr>
          <p:spPr>
            <a:xfrm>
              <a:off x="178335" y="5111615"/>
              <a:ext cx="3664176" cy="830997"/>
            </a:xfrm>
            <a:prstGeom prst="rect">
              <a:avLst/>
            </a:prstGeom>
          </p:spPr>
          <p:txBody>
            <a:bodyPr wrap="square">
              <a:spAutoFit/>
            </a:bodyPr>
            <a:lstStyle/>
            <a:p>
              <a:pPr algn="ctr"/>
              <a:r>
                <a:rPr lang="en-US" altLang="ja-JP" sz="2400" dirty="0"/>
                <a:t>wooden double framed window</a:t>
              </a:r>
              <a:endParaRPr lang="ja-JP" altLang="en-US" sz="2400" dirty="0"/>
            </a:p>
          </p:txBody>
        </p:sp>
      </p:grpSp>
      <p:grpSp>
        <p:nvGrpSpPr>
          <p:cNvPr id="11" name="Group 10"/>
          <p:cNvGrpSpPr/>
          <p:nvPr/>
        </p:nvGrpSpPr>
        <p:grpSpPr>
          <a:xfrm>
            <a:off x="3660293" y="644226"/>
            <a:ext cx="5483707" cy="3585311"/>
            <a:chOff x="5908193" y="3901653"/>
            <a:chExt cx="2469304" cy="1614460"/>
          </a:xfrm>
        </p:grpSpPr>
        <p:pic>
          <p:nvPicPr>
            <p:cNvPr id="7" name="Picture 5"/>
            <p:cNvPicPr>
              <a:picLocks noChangeAspect="1"/>
            </p:cNvPicPr>
            <p:nvPr/>
          </p:nvPicPr>
          <p:blipFill rotWithShape="1">
            <a:blip r:embed="rId4" cstate="email">
              <a:extLst>
                <a:ext uri="{28A0092B-C50C-407E-A947-70E740481C1C}">
                  <a14:useLocalDpi xmlns:a14="http://schemas.microsoft.com/office/drawing/2010/main" val="0"/>
                </a:ext>
              </a:extLst>
            </a:blip>
            <a:srcRect l="17021" t="14907" r="20851" b="12974"/>
            <a:stretch/>
          </p:blipFill>
          <p:spPr>
            <a:xfrm>
              <a:off x="5908193" y="3901653"/>
              <a:ext cx="2469304" cy="1612377"/>
            </a:xfrm>
            <a:prstGeom prst="rect">
              <a:avLst/>
            </a:prstGeom>
          </p:spPr>
        </p:pic>
        <p:sp>
          <p:nvSpPr>
            <p:cNvPr id="8" name="正方形/長方形 10"/>
            <p:cNvSpPr/>
            <p:nvPr/>
          </p:nvSpPr>
          <p:spPr>
            <a:xfrm>
              <a:off x="7416374" y="5308226"/>
              <a:ext cx="405813" cy="207887"/>
            </a:xfrm>
            <a:prstGeom prst="rect">
              <a:avLst/>
            </a:prstGeom>
          </p:spPr>
          <p:txBody>
            <a:bodyPr wrap="none">
              <a:spAutoFit/>
            </a:bodyPr>
            <a:lstStyle/>
            <a:p>
              <a:r>
                <a:rPr lang="en-US" altLang="ja-JP" sz="2400" dirty="0" err="1"/>
                <a:t>Dalan</a:t>
              </a:r>
              <a:endParaRPr lang="ja-JP" altLang="en-US" sz="2400" dirty="0"/>
            </a:p>
          </p:txBody>
        </p:sp>
        <p:sp>
          <p:nvSpPr>
            <p:cNvPr id="9" name="TextBox 91"/>
            <p:cNvSpPr txBox="1"/>
            <p:nvPr/>
          </p:nvSpPr>
          <p:spPr>
            <a:xfrm rot="20997374">
              <a:off x="6600973" y="4919896"/>
              <a:ext cx="270109" cy="166310"/>
            </a:xfrm>
            <a:prstGeom prst="rect">
              <a:avLst/>
            </a:prstGeom>
            <a:noFill/>
          </p:spPr>
          <p:txBody>
            <a:bodyPr wrap="none" rtlCol="0">
              <a:spAutoFit/>
            </a:bodyPr>
            <a:lstStyle/>
            <a:p>
              <a:r>
                <a:rPr lang="en-US" dirty="0"/>
                <a:t>&lt; 2 t</a:t>
              </a:r>
            </a:p>
          </p:txBody>
        </p:sp>
        <p:cxnSp>
          <p:nvCxnSpPr>
            <p:cNvPr id="10" name="Straight Connector 207"/>
            <p:cNvCxnSpPr/>
            <p:nvPr/>
          </p:nvCxnSpPr>
          <p:spPr>
            <a:xfrm flipH="1">
              <a:off x="6643876" y="5051471"/>
              <a:ext cx="205514" cy="41928"/>
            </a:xfrm>
            <a:prstGeom prst="line">
              <a:avLst/>
            </a:prstGeom>
            <a:ln w="12700">
              <a:headEnd type="stealth"/>
              <a:tailEnd type="stealth"/>
            </a:ln>
          </p:spPr>
          <p:style>
            <a:lnRef idx="1">
              <a:schemeClr val="dk1"/>
            </a:lnRef>
            <a:fillRef idx="0">
              <a:schemeClr val="dk1"/>
            </a:fillRef>
            <a:effectRef idx="0">
              <a:schemeClr val="dk1"/>
            </a:effectRef>
            <a:fontRef idx="minor">
              <a:schemeClr val="tx1"/>
            </a:fontRef>
          </p:style>
        </p:cxnSp>
      </p:grpSp>
      <p:sp>
        <p:nvSpPr>
          <p:cNvPr id="13" name="Rectangle 16"/>
          <p:cNvSpPr/>
          <p:nvPr/>
        </p:nvSpPr>
        <p:spPr>
          <a:xfrm>
            <a:off x="3460476" y="4336693"/>
            <a:ext cx="5683524" cy="1938992"/>
          </a:xfrm>
          <a:prstGeom prst="rect">
            <a:avLst/>
          </a:prstGeom>
        </p:spPr>
        <p:txBody>
          <a:bodyPr wrap="square">
            <a:spAutoFit/>
          </a:bodyPr>
          <a:lstStyle/>
          <a:p>
            <a:pPr marL="363538" lvl="0" indent="-363538" algn="just">
              <a:buFont typeface="Arial" panose="020B0604020202020204" pitchFamily="34" charset="0"/>
              <a:buChar char="•"/>
            </a:pPr>
            <a:r>
              <a:rPr lang="en-US" altLang="ja-JP" sz="2400" dirty="0"/>
              <a:t>If </a:t>
            </a:r>
            <a:r>
              <a:rPr lang="en-US" altLang="ja-JP" sz="2400" dirty="0">
                <a:solidFill>
                  <a:srgbClr val="FF0000"/>
                </a:solidFill>
              </a:rPr>
              <a:t>wooden double framed door and window with appropriate connection with horizontal band </a:t>
            </a:r>
            <a:r>
              <a:rPr lang="en-US" altLang="ja-JP" sz="2400" dirty="0"/>
              <a:t>are provided,  position and size of openings can be variable.</a:t>
            </a:r>
          </a:p>
        </p:txBody>
      </p:sp>
    </p:spTree>
    <p:extLst>
      <p:ext uri="{BB962C8B-B14F-4D97-AF65-F5344CB8AC3E}">
        <p14:creationId xmlns:p14="http://schemas.microsoft.com/office/powerpoint/2010/main" val="20959490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64</a:t>
            </a:fld>
            <a:endParaRPr lang="en-US"/>
          </a:p>
        </p:txBody>
      </p:sp>
      <p:sp>
        <p:nvSpPr>
          <p:cNvPr id="4"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76873" y="76985"/>
            <a:ext cx="967127" cy="815799"/>
          </a:xfrm>
          <a:prstGeom prst="rect">
            <a:avLst/>
          </a:prstGeom>
        </p:spPr>
      </p:pic>
      <p:sp>
        <p:nvSpPr>
          <p:cNvPr id="6" name="Rectangle 5"/>
          <p:cNvSpPr/>
          <p:nvPr/>
        </p:nvSpPr>
        <p:spPr>
          <a:xfrm>
            <a:off x="4419596" y="1438392"/>
            <a:ext cx="4723992" cy="4401205"/>
          </a:xfrm>
          <a:prstGeom prst="rect">
            <a:avLst/>
          </a:prstGeom>
          <a:solidFill>
            <a:schemeClr val="accent3">
              <a:lumMod val="20000"/>
              <a:lumOff val="80000"/>
            </a:schemeClr>
          </a:solidFill>
        </p:spPr>
        <p:txBody>
          <a:bodyPr wrap="square">
            <a:spAutoFit/>
          </a:bodyPr>
          <a:lstStyle/>
          <a:p>
            <a:pPr marL="457200" indent="-457200">
              <a:buFont typeface="Arial" panose="020B0604020202020204" pitchFamily="34" charset="0"/>
              <a:buChar char="•"/>
              <a:tabLst>
                <a:tab pos="291465" algn="l"/>
              </a:tabLst>
            </a:pPr>
            <a:r>
              <a:rPr lang="en-US" altLang="ja-JP" sz="2800" kern="100" dirty="0">
                <a:solidFill>
                  <a:srgbClr val="222222"/>
                </a:solidFill>
                <a:ea typeface="ＭＳ 明朝" panose="02020609040205080304" pitchFamily="17" charset="-128"/>
                <a:cs typeface="Arial" panose="020B0604020202020204" pitchFamily="34" charset="0"/>
              </a:rPr>
              <a:t>The Mitigation Measures consists of </a:t>
            </a:r>
            <a:r>
              <a:rPr lang="en-US" altLang="ja-JP" sz="2800" kern="100" dirty="0">
                <a:solidFill>
                  <a:srgbClr val="FF0000"/>
                </a:solidFill>
                <a:ea typeface="ＭＳ 明朝" panose="02020609040205080304" pitchFamily="17" charset="-128"/>
                <a:cs typeface="Arial" panose="020B0604020202020204" pitchFamily="34" charset="0"/>
              </a:rPr>
              <a:t>step by step procedure</a:t>
            </a:r>
            <a:r>
              <a:rPr lang="en-US" altLang="ja-JP" sz="2800" kern="100" dirty="0">
                <a:solidFill>
                  <a:srgbClr val="222222"/>
                </a:solidFill>
                <a:ea typeface="ＭＳ 明朝" panose="02020609040205080304" pitchFamily="17" charset="-128"/>
                <a:cs typeface="Arial" panose="020B0604020202020204" pitchFamily="34" charset="0"/>
              </a:rPr>
              <a:t> for implementing the correction. </a:t>
            </a:r>
          </a:p>
          <a:p>
            <a:pPr marL="457200" indent="-457200" algn="just">
              <a:buFont typeface="Arial" panose="020B0604020202020204" pitchFamily="34" charset="0"/>
              <a:buChar char="•"/>
              <a:tabLst>
                <a:tab pos="291465" algn="l"/>
              </a:tabLst>
            </a:pPr>
            <a:endParaRPr lang="en-US" altLang="ja-JP" sz="2800" kern="100" dirty="0">
              <a:solidFill>
                <a:srgbClr val="222222"/>
              </a:solidFill>
              <a:ea typeface="ＭＳ 明朝" panose="02020609040205080304" pitchFamily="17" charset="-128"/>
              <a:cs typeface="Arial" panose="020B0604020202020204" pitchFamily="34" charset="0"/>
            </a:endParaRPr>
          </a:p>
          <a:p>
            <a:pPr marL="457200" indent="-457200" algn="just">
              <a:buFont typeface="Arial" panose="020B0604020202020204" pitchFamily="34" charset="0"/>
              <a:buChar char="•"/>
              <a:tabLst>
                <a:tab pos="291465" algn="l"/>
              </a:tabLst>
            </a:pPr>
            <a:r>
              <a:rPr lang="en-US" altLang="ja-JP" sz="2800" kern="100" dirty="0">
                <a:solidFill>
                  <a:srgbClr val="222222"/>
                </a:solidFill>
                <a:ea typeface="ＭＳ 明朝" panose="02020609040205080304" pitchFamily="17" charset="-128"/>
                <a:cs typeface="Arial" panose="020B0604020202020204" pitchFamily="34" charset="0"/>
              </a:rPr>
              <a:t>Depending upon the availability of materials and workmanship suitable Mitigation Measures can be adopted.</a:t>
            </a:r>
            <a:endParaRPr lang="ja-JP" altLang="ja-JP" sz="2800" kern="100" dirty="0">
              <a:ea typeface="ＭＳ 明朝" panose="02020609040205080304" pitchFamily="17" charset="-128"/>
              <a:cs typeface="Arial" panose="020B0604020202020204" pitchFamily="34" charset="0"/>
            </a:endParaRPr>
          </a:p>
        </p:txBody>
      </p:sp>
      <p:pic>
        <p:nvPicPr>
          <p:cNvPr id="7" name="Picture 6"/>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1131" y="912737"/>
            <a:ext cx="2743201" cy="3962400"/>
          </a:xfrm>
          <a:prstGeom prst="rect">
            <a:avLst/>
          </a:prstGeom>
        </p:spPr>
      </p:pic>
      <p:pic>
        <p:nvPicPr>
          <p:cNvPr id="8" name="Picture 7"/>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862196" y="2637460"/>
            <a:ext cx="2543541" cy="3674004"/>
          </a:xfrm>
          <a:prstGeom prst="rect">
            <a:avLst/>
          </a:prstGeom>
        </p:spPr>
      </p:pic>
      <p:sp>
        <p:nvSpPr>
          <p:cNvPr id="9" name="Rectangle 8"/>
          <p:cNvSpPr/>
          <p:nvPr/>
        </p:nvSpPr>
        <p:spPr>
          <a:xfrm>
            <a:off x="4419596" y="912737"/>
            <a:ext cx="4724399" cy="523220"/>
          </a:xfrm>
          <a:prstGeom prst="rect">
            <a:avLst/>
          </a:prstGeom>
          <a:solidFill>
            <a:srgbClr val="92D050"/>
          </a:solidFill>
        </p:spPr>
        <p:txBody>
          <a:bodyPr wrap="square">
            <a:spAutoFit/>
          </a:bodyPr>
          <a:lstStyle/>
          <a:p>
            <a:pPr algn="ctr"/>
            <a:r>
              <a:rPr lang="en-US" sz="2800" dirty="0"/>
              <a:t>Mitigation measures:</a:t>
            </a:r>
          </a:p>
        </p:txBody>
      </p:sp>
    </p:spTree>
    <p:extLst>
      <p:ext uri="{BB962C8B-B14F-4D97-AF65-F5344CB8AC3E}">
        <p14:creationId xmlns:p14="http://schemas.microsoft.com/office/powerpoint/2010/main" val="31000636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65</a:t>
            </a:fld>
            <a:endParaRPr lang="en-US"/>
          </a:p>
        </p:txBody>
      </p:sp>
      <p:pic>
        <p:nvPicPr>
          <p:cNvPr id="3" name="Picture 25" descr="E:\Stone_mud_building_sketch_corrected_03-10.jpg"/>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8325" y="2110371"/>
            <a:ext cx="4820536" cy="3177730"/>
          </a:xfrm>
          <a:prstGeom prst="rect">
            <a:avLst/>
          </a:prstGeom>
          <a:noFill/>
          <a:ln>
            <a:noFill/>
          </a:ln>
        </p:spPr>
      </p:pic>
      <p:sp>
        <p:nvSpPr>
          <p:cNvPr id="4" name="Rectangle 6"/>
          <p:cNvSpPr/>
          <p:nvPr/>
        </p:nvSpPr>
        <p:spPr>
          <a:xfrm>
            <a:off x="98325" y="1478835"/>
            <a:ext cx="4820536" cy="646331"/>
          </a:xfrm>
          <a:prstGeom prst="rect">
            <a:avLst/>
          </a:prstGeom>
          <a:solidFill>
            <a:srgbClr val="92D050"/>
          </a:solidFill>
        </p:spPr>
        <p:txBody>
          <a:bodyPr wrap="square" rtlCol="0">
            <a:spAutoFit/>
          </a:bodyPr>
          <a:lstStyle/>
          <a:p>
            <a:r>
              <a:rPr lang="en-US" dirty="0">
                <a:cs typeface="Times New Roman" panose="02020603050405020304" pitchFamily="18" charset="0"/>
              </a:rPr>
              <a:t>Addition of bandages on outer faces of wall when plinth/ sill/ lintel/ roof bands are missing</a:t>
            </a:r>
          </a:p>
        </p:txBody>
      </p:sp>
      <p:sp>
        <p:nvSpPr>
          <p:cNvPr id="5" name="TextBox 4"/>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grpSp>
        <p:nvGrpSpPr>
          <p:cNvPr id="6" name="Group 5"/>
          <p:cNvGrpSpPr/>
          <p:nvPr/>
        </p:nvGrpSpPr>
        <p:grpSpPr>
          <a:xfrm>
            <a:off x="4832771" y="4409568"/>
            <a:ext cx="4491697" cy="2017614"/>
            <a:chOff x="3105528" y="5827502"/>
            <a:chExt cx="3434390" cy="1542685"/>
          </a:xfrm>
        </p:grpSpPr>
        <p:pic>
          <p:nvPicPr>
            <p:cNvPr id="7" name="Picture 28"/>
            <p:cNvPicPr/>
            <p:nvPr/>
          </p:nvPicPr>
          <p:blipFill>
            <a:blip r:embed="rId4" cstate="email">
              <a:extLst>
                <a:ext uri="{28A0092B-C50C-407E-A947-70E740481C1C}">
                  <a14:useLocalDpi xmlns:a14="http://schemas.microsoft.com/office/drawing/2010/main" val="0"/>
                </a:ext>
              </a:extLst>
            </a:blip>
            <a:stretch>
              <a:fillRect/>
            </a:stretch>
          </p:blipFill>
          <p:spPr bwMode="auto">
            <a:xfrm>
              <a:off x="3209255" y="5827502"/>
              <a:ext cx="2964944" cy="1016726"/>
            </a:xfrm>
            <a:prstGeom prst="rect">
              <a:avLst/>
            </a:prstGeom>
            <a:noFill/>
            <a:ln>
              <a:noFill/>
            </a:ln>
          </p:spPr>
        </p:pic>
        <p:sp>
          <p:nvSpPr>
            <p:cNvPr id="8" name="Rectangle 8"/>
            <p:cNvSpPr/>
            <p:nvPr/>
          </p:nvSpPr>
          <p:spPr>
            <a:xfrm>
              <a:off x="4666958" y="6146478"/>
              <a:ext cx="1872960" cy="1223709"/>
            </a:xfrm>
            <a:prstGeom prst="rect">
              <a:avLst/>
            </a:prstGeom>
            <a:noFill/>
          </p:spPr>
          <p:txBody>
            <a:bodyPr wrap="square" rtlCol="0">
              <a:spAutoFit/>
            </a:bodyPr>
            <a:lstStyle/>
            <a:p>
              <a:r>
                <a:rPr lang="en-US" sz="1400" dirty="0">
                  <a:cs typeface="Times New Roman" panose="02020603050405020304" pitchFamily="18" charset="0"/>
                </a:rPr>
                <a:t>M15 Concrete</a:t>
              </a:r>
            </a:p>
            <a:p>
              <a:r>
                <a:rPr lang="en-US" sz="1400" dirty="0">
                  <a:cs typeface="Times New Roman" panose="02020603050405020304" pitchFamily="18" charset="0"/>
                </a:rPr>
                <a:t>( 1 part cement</a:t>
              </a:r>
            </a:p>
            <a:p>
              <a:r>
                <a:rPr lang="en-US" sz="1400" dirty="0">
                  <a:cs typeface="Times New Roman" panose="02020603050405020304" pitchFamily="18" charset="0"/>
                </a:rPr>
                <a:t>2 part sand</a:t>
              </a:r>
            </a:p>
            <a:p>
              <a:r>
                <a:rPr lang="en-US" sz="1400" dirty="0">
                  <a:cs typeface="Times New Roman" panose="02020603050405020304" pitchFamily="18" charset="0"/>
                </a:rPr>
                <a:t>4 part 10mm down aggregate)</a:t>
              </a:r>
            </a:p>
            <a:p>
              <a:endParaRPr lang="en-US" sz="1400" dirty="0">
                <a:cs typeface="Times New Roman" panose="02020603050405020304" pitchFamily="18" charset="0"/>
              </a:endParaRPr>
            </a:p>
            <a:p>
              <a:endParaRPr lang="en-US" sz="1400" dirty="0">
                <a:cs typeface="Times New Roman" panose="02020603050405020304" pitchFamily="18" charset="0"/>
              </a:endParaRPr>
            </a:p>
            <a:p>
              <a:pPr algn="ctr"/>
              <a:endParaRPr lang="en-US" sz="1400" dirty="0">
                <a:cs typeface="Times New Roman" panose="02020603050405020304" pitchFamily="18" charset="0"/>
              </a:endParaRPr>
            </a:p>
          </p:txBody>
        </p:sp>
        <p:sp>
          <p:nvSpPr>
            <p:cNvPr id="9" name="Rectangle 8"/>
            <p:cNvSpPr/>
            <p:nvPr/>
          </p:nvSpPr>
          <p:spPr>
            <a:xfrm>
              <a:off x="3520564" y="5889745"/>
              <a:ext cx="2061460" cy="235329"/>
            </a:xfrm>
            <a:prstGeom prst="rect">
              <a:avLst/>
            </a:prstGeom>
            <a:noFill/>
          </p:spPr>
          <p:txBody>
            <a:bodyPr wrap="square" rtlCol="0">
              <a:spAutoFit/>
            </a:bodyPr>
            <a:lstStyle/>
            <a:p>
              <a:pPr algn="ctr"/>
              <a:r>
                <a:rPr lang="en-US" sz="1400" dirty="0">
                  <a:cs typeface="Times New Roman" panose="02020603050405020304" pitchFamily="18" charset="0"/>
                </a:rPr>
                <a:t>4.75mm </a:t>
              </a:r>
              <a:r>
                <a:rPr lang="el-GR" sz="1400" dirty="0">
                  <a:ea typeface="Yu Gothic UI" panose="020B0500000000000000" pitchFamily="34" charset="-128"/>
                  <a:cs typeface="Times New Roman" panose="02020603050405020304" pitchFamily="18" charset="0"/>
                </a:rPr>
                <a:t>Φ</a:t>
              </a:r>
              <a:r>
                <a:rPr lang="en-US" sz="1400" dirty="0">
                  <a:ea typeface="Yu Gothic UI" panose="020B0500000000000000" pitchFamily="34" charset="-128"/>
                  <a:cs typeface="Times New Roman" panose="02020603050405020304" pitchFamily="18" charset="0"/>
                </a:rPr>
                <a:t> stirrups @150 mm c/c</a:t>
              </a:r>
              <a:endParaRPr lang="en-US" sz="1400" dirty="0">
                <a:cs typeface="Times New Roman" panose="02020603050405020304" pitchFamily="18" charset="0"/>
              </a:endParaRPr>
            </a:p>
          </p:txBody>
        </p:sp>
        <p:sp>
          <p:nvSpPr>
            <p:cNvPr id="10" name="Rectangle 8"/>
            <p:cNvSpPr/>
            <p:nvPr/>
          </p:nvSpPr>
          <p:spPr>
            <a:xfrm>
              <a:off x="3235674" y="6567201"/>
              <a:ext cx="2061460" cy="235329"/>
            </a:xfrm>
            <a:prstGeom prst="rect">
              <a:avLst/>
            </a:prstGeom>
            <a:noFill/>
          </p:spPr>
          <p:txBody>
            <a:bodyPr wrap="square" rtlCol="0">
              <a:spAutoFit/>
            </a:bodyPr>
            <a:lstStyle/>
            <a:p>
              <a:pPr algn="ctr"/>
              <a:r>
                <a:rPr lang="en-US" sz="1400" dirty="0">
                  <a:cs typeface="Times New Roman" panose="02020603050405020304" pitchFamily="18" charset="0"/>
                </a:rPr>
                <a:t>2-10mm </a:t>
              </a:r>
              <a:r>
                <a:rPr lang="el-GR" sz="1400" dirty="0">
                  <a:ea typeface="Yu Gothic UI" panose="020B0500000000000000" pitchFamily="34" charset="-128"/>
                  <a:cs typeface="Times New Roman" panose="02020603050405020304" pitchFamily="18" charset="0"/>
                </a:rPr>
                <a:t>Φ</a:t>
              </a:r>
              <a:r>
                <a:rPr lang="en-US" sz="1400" dirty="0">
                  <a:ea typeface="Yu Gothic UI" panose="020B0500000000000000" pitchFamily="34" charset="-128"/>
                  <a:cs typeface="Times New Roman" panose="02020603050405020304" pitchFamily="18" charset="0"/>
                </a:rPr>
                <a:t> bars</a:t>
              </a:r>
              <a:endParaRPr lang="en-US" sz="1400" dirty="0">
                <a:cs typeface="Times New Roman" panose="02020603050405020304" pitchFamily="18" charset="0"/>
              </a:endParaRPr>
            </a:p>
          </p:txBody>
        </p:sp>
        <p:sp>
          <p:nvSpPr>
            <p:cNvPr id="11" name="Rectangle 8"/>
            <p:cNvSpPr/>
            <p:nvPr/>
          </p:nvSpPr>
          <p:spPr>
            <a:xfrm rot="16200000">
              <a:off x="2927977" y="6218199"/>
              <a:ext cx="627530" cy="235329"/>
            </a:xfrm>
            <a:prstGeom prst="rect">
              <a:avLst/>
            </a:prstGeom>
            <a:noFill/>
          </p:spPr>
          <p:txBody>
            <a:bodyPr wrap="square" rtlCol="0">
              <a:spAutoFit/>
            </a:bodyPr>
            <a:lstStyle/>
            <a:p>
              <a:pPr algn="ctr"/>
              <a:r>
                <a:rPr lang="en-US" sz="1400" dirty="0">
                  <a:cs typeface="Times New Roman" panose="02020603050405020304" pitchFamily="18" charset="0"/>
                </a:rPr>
                <a:t>50 mm</a:t>
              </a:r>
            </a:p>
          </p:txBody>
        </p:sp>
        <p:sp>
          <p:nvSpPr>
            <p:cNvPr id="12" name="Rectangle 8"/>
            <p:cNvSpPr/>
            <p:nvPr/>
          </p:nvSpPr>
          <p:spPr>
            <a:xfrm>
              <a:off x="3105528" y="6500708"/>
              <a:ext cx="627530" cy="235329"/>
            </a:xfrm>
            <a:prstGeom prst="rect">
              <a:avLst/>
            </a:prstGeom>
            <a:noFill/>
          </p:spPr>
          <p:txBody>
            <a:bodyPr wrap="square" rtlCol="0">
              <a:spAutoFit/>
            </a:bodyPr>
            <a:lstStyle/>
            <a:p>
              <a:pPr algn="ctr"/>
              <a:r>
                <a:rPr lang="en-US" sz="1400" dirty="0">
                  <a:cs typeface="Times New Roman" panose="02020603050405020304" pitchFamily="18" charset="0"/>
                </a:rPr>
                <a:t>25 mm</a:t>
              </a:r>
            </a:p>
          </p:txBody>
        </p:sp>
      </p:grpSp>
      <p:grpSp>
        <p:nvGrpSpPr>
          <p:cNvPr id="13" name="Group 12"/>
          <p:cNvGrpSpPr/>
          <p:nvPr/>
        </p:nvGrpSpPr>
        <p:grpSpPr>
          <a:xfrm>
            <a:off x="4832771" y="707532"/>
            <a:ext cx="4701666" cy="3814954"/>
            <a:chOff x="736128" y="5773045"/>
            <a:chExt cx="3503857" cy="2843046"/>
          </a:xfrm>
        </p:grpSpPr>
        <p:pic>
          <p:nvPicPr>
            <p:cNvPr id="14" name="Picture 27"/>
            <p:cNvPicPr/>
            <p:nvPr/>
          </p:nvPicPr>
          <p:blipFill>
            <a:blip r:embed="rId5" cstate="email">
              <a:extLst>
                <a:ext uri="{28A0092B-C50C-407E-A947-70E740481C1C}">
                  <a14:useLocalDpi xmlns:a14="http://schemas.microsoft.com/office/drawing/2010/main" val="0"/>
                </a:ext>
              </a:extLst>
            </a:blip>
            <a:stretch>
              <a:fillRect/>
            </a:stretch>
          </p:blipFill>
          <p:spPr bwMode="auto">
            <a:xfrm>
              <a:off x="736128" y="5773045"/>
              <a:ext cx="2977267" cy="2843046"/>
            </a:xfrm>
            <a:prstGeom prst="rect">
              <a:avLst/>
            </a:prstGeom>
            <a:noFill/>
            <a:ln>
              <a:noFill/>
            </a:ln>
          </p:spPr>
        </p:pic>
        <p:sp>
          <p:nvSpPr>
            <p:cNvPr id="15" name="Rectangle 8"/>
            <p:cNvSpPr/>
            <p:nvPr/>
          </p:nvSpPr>
          <p:spPr>
            <a:xfrm>
              <a:off x="2178525" y="7558594"/>
              <a:ext cx="2061460" cy="229367"/>
            </a:xfrm>
            <a:prstGeom prst="rect">
              <a:avLst/>
            </a:prstGeom>
            <a:noFill/>
          </p:spPr>
          <p:txBody>
            <a:bodyPr wrap="square" rtlCol="0">
              <a:spAutoFit/>
            </a:bodyPr>
            <a:lstStyle/>
            <a:p>
              <a:pPr algn="ctr"/>
              <a:r>
                <a:rPr lang="en-US" sz="1400" dirty="0">
                  <a:cs typeface="Times New Roman" panose="02020603050405020304" pitchFamily="18" charset="0"/>
                </a:rPr>
                <a:t>2-10mm </a:t>
              </a:r>
              <a:r>
                <a:rPr lang="el-GR" sz="1400" dirty="0">
                  <a:ea typeface="Yu Gothic UI" panose="020B0500000000000000" pitchFamily="34" charset="-128"/>
                  <a:cs typeface="Times New Roman" panose="02020603050405020304" pitchFamily="18" charset="0"/>
                </a:rPr>
                <a:t>Φ</a:t>
              </a:r>
              <a:r>
                <a:rPr lang="en-US" sz="1400" dirty="0">
                  <a:ea typeface="Yu Gothic UI" panose="020B0500000000000000" pitchFamily="34" charset="-128"/>
                  <a:cs typeface="Times New Roman" panose="02020603050405020304" pitchFamily="18" charset="0"/>
                </a:rPr>
                <a:t> bars</a:t>
              </a:r>
              <a:endParaRPr lang="en-US" sz="1400" dirty="0">
                <a:cs typeface="Times New Roman" panose="02020603050405020304" pitchFamily="18" charset="0"/>
              </a:endParaRPr>
            </a:p>
          </p:txBody>
        </p:sp>
      </p:grpSp>
      <p:sp>
        <p:nvSpPr>
          <p:cNvPr id="16" name="Rectangle 15"/>
          <p:cNvSpPr/>
          <p:nvPr/>
        </p:nvSpPr>
        <p:spPr>
          <a:xfrm>
            <a:off x="113673" y="945888"/>
            <a:ext cx="2828210" cy="461665"/>
          </a:xfrm>
          <a:prstGeom prst="rect">
            <a:avLst/>
          </a:prstGeom>
        </p:spPr>
        <p:txBody>
          <a:bodyPr wrap="none">
            <a:spAutoFit/>
          </a:bodyPr>
          <a:lstStyle/>
          <a:p>
            <a:r>
              <a:rPr lang="en-US" sz="2400" dirty="0">
                <a:solidFill>
                  <a:srgbClr val="EE4726"/>
                </a:solidFill>
              </a:rPr>
              <a:t>Mitigation measures:</a:t>
            </a:r>
            <a:endParaRPr lang="en-US" sz="2400" dirty="0"/>
          </a:p>
        </p:txBody>
      </p:sp>
    </p:spTree>
    <p:extLst>
      <p:ext uri="{BB962C8B-B14F-4D97-AF65-F5344CB8AC3E}">
        <p14:creationId xmlns:p14="http://schemas.microsoft.com/office/powerpoint/2010/main" val="35242421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833" y="691075"/>
            <a:ext cx="3225948" cy="461665"/>
          </a:xfrm>
          <a:prstGeom prst="rect">
            <a:avLst/>
          </a:prstGeom>
          <a:solidFill>
            <a:srgbClr val="92D050"/>
          </a:solidFill>
        </p:spPr>
        <p:txBody>
          <a:bodyPr wrap="none">
            <a:spAutoFit/>
          </a:bodyPr>
          <a:lstStyle/>
          <a:p>
            <a:r>
              <a:rPr lang="en-US" sz="2400" dirty="0"/>
              <a:t>Construction Procedure:</a:t>
            </a:r>
          </a:p>
        </p:txBody>
      </p:sp>
      <p:sp>
        <p:nvSpPr>
          <p:cNvPr id="2" name="Slide Number Placeholder 1"/>
          <p:cNvSpPr>
            <a:spLocks noGrp="1"/>
          </p:cNvSpPr>
          <p:nvPr>
            <p:ph type="sldNum" sz="quarter" idx="12"/>
          </p:nvPr>
        </p:nvSpPr>
        <p:spPr>
          <a:xfrm>
            <a:off x="6457950" y="5982270"/>
            <a:ext cx="2057400" cy="365125"/>
          </a:xfrm>
        </p:spPr>
        <p:txBody>
          <a:bodyPr/>
          <a:lstStyle/>
          <a:p>
            <a:fld id="{70D42D0E-A88D-4DDD-9A0B-9B8A68EFDB8F}" type="slidenum">
              <a:rPr lang="en-US" smtClean="0"/>
              <a:t>66</a:t>
            </a:fld>
            <a:endParaRPr lang="en-US"/>
          </a:p>
        </p:txBody>
      </p:sp>
      <p:pic>
        <p:nvPicPr>
          <p:cNvPr id="3" name="Picture 2" descr="D:\Work NSET\Baliyo Ghar\Corrective measures\SKETCHES\CDR\STEPS\New folder\Band_Retrofit_1 Removing plaster.png"/>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07813" y="1312310"/>
            <a:ext cx="2906863" cy="1934280"/>
          </a:xfrm>
          <a:prstGeom prst="rect">
            <a:avLst/>
          </a:prstGeom>
          <a:noFill/>
          <a:ln>
            <a:noFill/>
          </a:ln>
        </p:spPr>
      </p:pic>
      <p:pic>
        <p:nvPicPr>
          <p:cNvPr id="4" name="Picture 3" descr="D:\Work NSET\Baliyo Ghar\Corrective measures\SKETCHES\CDR\STEPS\New folder\Band_Retrofit_2 Horizontal bar with ring.png"/>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449779" y="1284599"/>
            <a:ext cx="2788586" cy="1798203"/>
          </a:xfrm>
          <a:prstGeom prst="rect">
            <a:avLst/>
          </a:prstGeom>
          <a:noFill/>
          <a:ln>
            <a:noFill/>
          </a:ln>
        </p:spPr>
      </p:pic>
      <p:pic>
        <p:nvPicPr>
          <p:cNvPr id="5" name="Picture 4" descr="D:\Work NSET\Baliyo Ghar\Corrective measures\SKETCHES\CDR\STEPS\Vertical splint Welded Mesh_Process Opt1_ANCHOR BAR.png"/>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802582" y="1201469"/>
            <a:ext cx="1972663" cy="1860957"/>
          </a:xfrm>
          <a:prstGeom prst="rect">
            <a:avLst/>
          </a:prstGeom>
          <a:noFill/>
          <a:ln>
            <a:noFill/>
          </a:ln>
        </p:spPr>
      </p:pic>
      <p:pic>
        <p:nvPicPr>
          <p:cNvPr id="6" name="Picture 5" descr="D:\Work NSET\Baliyo Ghar\Corrective measures\SKETCHES\CDR\STEPS\Vertical splint Welded Mesh_Process Opt1_REMOVING STONE.png"/>
          <p:cNvPicPr/>
          <p:nvPr/>
        </p:nvPicPr>
        <p:blipFill rotWithShape="1">
          <a:blip r:embed="rId6" cstate="email">
            <a:extLst>
              <a:ext uri="{28A0092B-C50C-407E-A947-70E740481C1C}">
                <a14:useLocalDpi xmlns:a14="http://schemas.microsoft.com/office/drawing/2010/main" val="0"/>
              </a:ext>
            </a:extLst>
          </a:blip>
          <a:srcRect r="39015"/>
          <a:stretch/>
        </p:blipFill>
        <p:spPr bwMode="auto">
          <a:xfrm>
            <a:off x="4374769" y="7679175"/>
            <a:ext cx="1359201" cy="1227959"/>
          </a:xfrm>
          <a:prstGeom prst="rect">
            <a:avLst/>
          </a:prstGeom>
          <a:noFill/>
          <a:ln>
            <a:noFill/>
          </a:ln>
        </p:spPr>
      </p:pic>
      <p:sp>
        <p:nvSpPr>
          <p:cNvPr id="7" name="TextBox 6"/>
          <p:cNvSpPr txBox="1"/>
          <p:nvPr/>
        </p:nvSpPr>
        <p:spPr>
          <a:xfrm>
            <a:off x="5599124" y="8029973"/>
            <a:ext cx="617539" cy="707886"/>
          </a:xfrm>
          <a:prstGeom prst="rect">
            <a:avLst/>
          </a:prstGeom>
          <a:noFill/>
        </p:spPr>
        <p:txBody>
          <a:bodyPr wrap="square" rtlCol="0">
            <a:spAutoFit/>
          </a:bodyPr>
          <a:lstStyle/>
          <a:p>
            <a:r>
              <a:rPr lang="en-US" sz="800" dirty="0"/>
              <a:t>Remove stone from one side of wall</a:t>
            </a:r>
          </a:p>
        </p:txBody>
      </p:sp>
      <p:sp>
        <p:nvSpPr>
          <p:cNvPr id="8" name="TextBox 7"/>
          <p:cNvSpPr txBox="1"/>
          <p:nvPr/>
        </p:nvSpPr>
        <p:spPr>
          <a:xfrm>
            <a:off x="-1" y="2105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pic>
        <p:nvPicPr>
          <p:cNvPr id="10" name="Picture 9" descr="D:\Work NSET\Baliyo Ghar\Corrective measures\SKETCHES\CDR\STEPS\New folder\Band_Retrofit_2 Horizontal bar fitting.png"/>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66246" y="3849531"/>
            <a:ext cx="2862231" cy="1845097"/>
          </a:xfrm>
          <a:prstGeom prst="rect">
            <a:avLst/>
          </a:prstGeom>
          <a:noFill/>
          <a:ln>
            <a:noFill/>
          </a:ln>
        </p:spPr>
      </p:pic>
      <p:pic>
        <p:nvPicPr>
          <p:cNvPr id="11" name="Picture 10" descr="D:\Work NSET\Baliyo Ghar\Corrective measures\SKETCHES\CDR\STEPS\New folder\Band_Retrofit_3 Concrete.png"/>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3449779" y="3710759"/>
            <a:ext cx="2948722" cy="1983108"/>
          </a:xfrm>
          <a:prstGeom prst="rect">
            <a:avLst/>
          </a:prstGeom>
          <a:noFill/>
          <a:ln>
            <a:noFill/>
          </a:ln>
        </p:spPr>
      </p:pic>
      <p:pic>
        <p:nvPicPr>
          <p:cNvPr id="12" name="Picture 11" descr="D:\Work NSET\Baliyo Ghar\Corrective measures\SKETCHES\CDR\STEPS\New folder\Band_Retrofit_4 Curing.png"/>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6481631" y="3827859"/>
            <a:ext cx="2657867" cy="2364664"/>
          </a:xfrm>
          <a:prstGeom prst="rect">
            <a:avLst/>
          </a:prstGeom>
          <a:noFill/>
          <a:ln>
            <a:noFill/>
          </a:ln>
        </p:spPr>
      </p:pic>
      <p:grpSp>
        <p:nvGrpSpPr>
          <p:cNvPr id="15" name="Group 14"/>
          <p:cNvGrpSpPr/>
          <p:nvPr/>
        </p:nvGrpSpPr>
        <p:grpSpPr>
          <a:xfrm>
            <a:off x="113673" y="1139466"/>
            <a:ext cx="467366" cy="453807"/>
            <a:chOff x="-1343891" y="1385455"/>
            <a:chExt cx="609600" cy="591914"/>
          </a:xfrm>
        </p:grpSpPr>
        <p:sp>
          <p:nvSpPr>
            <p:cNvPr id="14" name="Oval 13"/>
            <p:cNvSpPr/>
            <p:nvPr/>
          </p:nvSpPr>
          <p:spPr>
            <a:xfrm>
              <a:off x="-1343891" y="1385455"/>
              <a:ext cx="609600" cy="591914"/>
            </a:xfrm>
            <a:prstGeom prst="ellipse">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243399" y="1405153"/>
              <a:ext cx="472965" cy="430887"/>
            </a:xfrm>
            <a:prstGeom prst="rect">
              <a:avLst/>
            </a:prstGeom>
            <a:noFill/>
          </p:spPr>
          <p:txBody>
            <a:bodyPr wrap="square" rtlCol="0">
              <a:spAutoFit/>
            </a:bodyPr>
            <a:lstStyle/>
            <a:p>
              <a:r>
                <a:rPr lang="en-US" sz="2200" dirty="0"/>
                <a:t>1</a:t>
              </a:r>
            </a:p>
          </p:txBody>
        </p:sp>
      </p:grpSp>
      <p:grpSp>
        <p:nvGrpSpPr>
          <p:cNvPr id="16" name="Group 15"/>
          <p:cNvGrpSpPr/>
          <p:nvPr/>
        </p:nvGrpSpPr>
        <p:grpSpPr>
          <a:xfrm>
            <a:off x="3476256" y="1130618"/>
            <a:ext cx="467366" cy="453807"/>
            <a:chOff x="-1343891" y="1385455"/>
            <a:chExt cx="609600" cy="591914"/>
          </a:xfrm>
        </p:grpSpPr>
        <p:sp>
          <p:nvSpPr>
            <p:cNvPr id="17" name="Oval 16"/>
            <p:cNvSpPr/>
            <p:nvPr/>
          </p:nvSpPr>
          <p:spPr>
            <a:xfrm>
              <a:off x="-1343891" y="1385455"/>
              <a:ext cx="609600" cy="591914"/>
            </a:xfrm>
            <a:prstGeom prst="ellipse">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225327" y="1387083"/>
              <a:ext cx="472965" cy="430887"/>
            </a:xfrm>
            <a:prstGeom prst="rect">
              <a:avLst/>
            </a:prstGeom>
            <a:noFill/>
          </p:spPr>
          <p:txBody>
            <a:bodyPr wrap="square" rtlCol="0">
              <a:spAutoFit/>
            </a:bodyPr>
            <a:lstStyle/>
            <a:p>
              <a:r>
                <a:rPr lang="en-US" sz="2200" dirty="0"/>
                <a:t>2</a:t>
              </a:r>
            </a:p>
          </p:txBody>
        </p:sp>
      </p:grpSp>
      <p:grpSp>
        <p:nvGrpSpPr>
          <p:cNvPr id="19" name="Group 18"/>
          <p:cNvGrpSpPr/>
          <p:nvPr/>
        </p:nvGrpSpPr>
        <p:grpSpPr>
          <a:xfrm>
            <a:off x="6377849" y="1102554"/>
            <a:ext cx="467366" cy="453807"/>
            <a:chOff x="-1343891" y="1385455"/>
            <a:chExt cx="609600" cy="591914"/>
          </a:xfrm>
        </p:grpSpPr>
        <p:sp>
          <p:nvSpPr>
            <p:cNvPr id="20" name="Oval 19"/>
            <p:cNvSpPr/>
            <p:nvPr/>
          </p:nvSpPr>
          <p:spPr>
            <a:xfrm>
              <a:off x="-1343891" y="1385455"/>
              <a:ext cx="609600" cy="591914"/>
            </a:xfrm>
            <a:prstGeom prst="ellipse">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225327" y="1387083"/>
              <a:ext cx="472965" cy="562019"/>
            </a:xfrm>
            <a:prstGeom prst="rect">
              <a:avLst/>
            </a:prstGeom>
            <a:noFill/>
          </p:spPr>
          <p:txBody>
            <a:bodyPr wrap="square" rtlCol="0">
              <a:spAutoFit/>
            </a:bodyPr>
            <a:lstStyle/>
            <a:p>
              <a:r>
                <a:rPr lang="en-US" sz="2200" dirty="0"/>
                <a:t>3</a:t>
              </a:r>
            </a:p>
          </p:txBody>
        </p:sp>
      </p:grpSp>
      <p:grpSp>
        <p:nvGrpSpPr>
          <p:cNvPr id="22" name="Group 21"/>
          <p:cNvGrpSpPr/>
          <p:nvPr/>
        </p:nvGrpSpPr>
        <p:grpSpPr>
          <a:xfrm>
            <a:off x="113671" y="3688699"/>
            <a:ext cx="467366" cy="453807"/>
            <a:chOff x="-1343891" y="1385455"/>
            <a:chExt cx="609600" cy="591914"/>
          </a:xfrm>
        </p:grpSpPr>
        <p:sp>
          <p:nvSpPr>
            <p:cNvPr id="23" name="Oval 22"/>
            <p:cNvSpPr/>
            <p:nvPr/>
          </p:nvSpPr>
          <p:spPr>
            <a:xfrm>
              <a:off x="-1343891" y="1385455"/>
              <a:ext cx="609600" cy="591914"/>
            </a:xfrm>
            <a:prstGeom prst="ellipse">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1243399" y="1405153"/>
              <a:ext cx="472965" cy="562019"/>
            </a:xfrm>
            <a:prstGeom prst="rect">
              <a:avLst/>
            </a:prstGeom>
            <a:noFill/>
          </p:spPr>
          <p:txBody>
            <a:bodyPr wrap="square" rtlCol="0">
              <a:spAutoFit/>
            </a:bodyPr>
            <a:lstStyle/>
            <a:p>
              <a:r>
                <a:rPr lang="en-US" sz="2200" dirty="0"/>
                <a:t>4</a:t>
              </a:r>
            </a:p>
          </p:txBody>
        </p:sp>
      </p:grpSp>
      <p:grpSp>
        <p:nvGrpSpPr>
          <p:cNvPr id="25" name="Group 24"/>
          <p:cNvGrpSpPr/>
          <p:nvPr/>
        </p:nvGrpSpPr>
        <p:grpSpPr>
          <a:xfrm>
            <a:off x="3476254" y="3679851"/>
            <a:ext cx="467366" cy="453807"/>
            <a:chOff x="-1343891" y="1385455"/>
            <a:chExt cx="609600" cy="591914"/>
          </a:xfrm>
        </p:grpSpPr>
        <p:sp>
          <p:nvSpPr>
            <p:cNvPr id="26" name="Oval 25"/>
            <p:cNvSpPr/>
            <p:nvPr/>
          </p:nvSpPr>
          <p:spPr>
            <a:xfrm>
              <a:off x="-1343891" y="1385455"/>
              <a:ext cx="609600" cy="591914"/>
            </a:xfrm>
            <a:prstGeom prst="ellipse">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1225327" y="1387083"/>
              <a:ext cx="472965" cy="562019"/>
            </a:xfrm>
            <a:prstGeom prst="rect">
              <a:avLst/>
            </a:prstGeom>
            <a:noFill/>
          </p:spPr>
          <p:txBody>
            <a:bodyPr wrap="square" rtlCol="0">
              <a:spAutoFit/>
            </a:bodyPr>
            <a:lstStyle/>
            <a:p>
              <a:r>
                <a:rPr lang="en-US" sz="2200" dirty="0"/>
                <a:t>5</a:t>
              </a:r>
            </a:p>
          </p:txBody>
        </p:sp>
      </p:grpSp>
      <p:grpSp>
        <p:nvGrpSpPr>
          <p:cNvPr id="28" name="Group 27"/>
          <p:cNvGrpSpPr/>
          <p:nvPr/>
        </p:nvGrpSpPr>
        <p:grpSpPr>
          <a:xfrm>
            <a:off x="6377847" y="3651787"/>
            <a:ext cx="467366" cy="453807"/>
            <a:chOff x="-1343891" y="1385455"/>
            <a:chExt cx="609600" cy="591914"/>
          </a:xfrm>
        </p:grpSpPr>
        <p:sp>
          <p:nvSpPr>
            <p:cNvPr id="29" name="Oval 28"/>
            <p:cNvSpPr/>
            <p:nvPr/>
          </p:nvSpPr>
          <p:spPr>
            <a:xfrm>
              <a:off x="-1343891" y="1385455"/>
              <a:ext cx="609600" cy="591914"/>
            </a:xfrm>
            <a:prstGeom prst="ellipse">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1225327" y="1387083"/>
              <a:ext cx="472965" cy="562019"/>
            </a:xfrm>
            <a:prstGeom prst="rect">
              <a:avLst/>
            </a:prstGeom>
            <a:noFill/>
          </p:spPr>
          <p:txBody>
            <a:bodyPr wrap="square" rtlCol="0">
              <a:spAutoFit/>
            </a:bodyPr>
            <a:lstStyle/>
            <a:p>
              <a:r>
                <a:rPr lang="en-US" sz="2200" dirty="0"/>
                <a:t>6</a:t>
              </a:r>
            </a:p>
          </p:txBody>
        </p:sp>
      </p:grpSp>
      <p:sp>
        <p:nvSpPr>
          <p:cNvPr id="31" name="Rectangle 30"/>
          <p:cNvSpPr/>
          <p:nvPr/>
        </p:nvSpPr>
        <p:spPr>
          <a:xfrm>
            <a:off x="322374" y="3243712"/>
            <a:ext cx="2290435" cy="400110"/>
          </a:xfrm>
          <a:prstGeom prst="rect">
            <a:avLst/>
          </a:prstGeom>
        </p:spPr>
        <p:txBody>
          <a:bodyPr wrap="none">
            <a:spAutoFit/>
          </a:bodyPr>
          <a:lstStyle/>
          <a:p>
            <a:r>
              <a:rPr lang="en-US" sz="2000" b="1" dirty="0">
                <a:solidFill>
                  <a:srgbClr val="EE4726"/>
                </a:solidFill>
              </a:rPr>
              <a:t>Surface Preparation</a:t>
            </a:r>
            <a:endParaRPr lang="en-US" sz="2000" b="1" dirty="0"/>
          </a:p>
        </p:txBody>
      </p:sp>
      <p:sp>
        <p:nvSpPr>
          <p:cNvPr id="32" name="Rectangle 31"/>
          <p:cNvSpPr/>
          <p:nvPr/>
        </p:nvSpPr>
        <p:spPr>
          <a:xfrm>
            <a:off x="3284807" y="3258032"/>
            <a:ext cx="2794611" cy="400110"/>
          </a:xfrm>
          <a:prstGeom prst="rect">
            <a:avLst/>
          </a:prstGeom>
        </p:spPr>
        <p:txBody>
          <a:bodyPr wrap="none">
            <a:spAutoFit/>
          </a:bodyPr>
          <a:lstStyle/>
          <a:p>
            <a:r>
              <a:rPr lang="en-US" sz="2000" b="1" dirty="0">
                <a:solidFill>
                  <a:srgbClr val="EE4726"/>
                </a:solidFill>
              </a:rPr>
              <a:t>Placing of reinforcement</a:t>
            </a:r>
            <a:endParaRPr lang="en-US" sz="2000" b="1" dirty="0"/>
          </a:p>
        </p:txBody>
      </p:sp>
      <p:sp>
        <p:nvSpPr>
          <p:cNvPr id="33" name="Rectangle 32"/>
          <p:cNvSpPr/>
          <p:nvPr/>
        </p:nvSpPr>
        <p:spPr>
          <a:xfrm>
            <a:off x="100692" y="5695950"/>
            <a:ext cx="3210559" cy="400110"/>
          </a:xfrm>
          <a:prstGeom prst="rect">
            <a:avLst/>
          </a:prstGeom>
        </p:spPr>
        <p:txBody>
          <a:bodyPr wrap="none">
            <a:spAutoFit/>
          </a:bodyPr>
          <a:lstStyle/>
          <a:p>
            <a:r>
              <a:rPr lang="en-US" sz="2000" b="1" dirty="0">
                <a:solidFill>
                  <a:srgbClr val="EE4726"/>
                </a:solidFill>
              </a:rPr>
              <a:t>Anchor reinforcing bar mesh</a:t>
            </a:r>
            <a:endParaRPr lang="en-US" sz="2000" b="1" dirty="0"/>
          </a:p>
        </p:txBody>
      </p:sp>
      <p:sp>
        <p:nvSpPr>
          <p:cNvPr id="34" name="Rectangle 33"/>
          <p:cNvSpPr/>
          <p:nvPr/>
        </p:nvSpPr>
        <p:spPr>
          <a:xfrm>
            <a:off x="3270948" y="5710270"/>
            <a:ext cx="3315331" cy="400110"/>
          </a:xfrm>
          <a:prstGeom prst="rect">
            <a:avLst/>
          </a:prstGeom>
        </p:spPr>
        <p:txBody>
          <a:bodyPr wrap="none">
            <a:spAutoFit/>
          </a:bodyPr>
          <a:lstStyle/>
          <a:p>
            <a:r>
              <a:rPr lang="en-US" sz="2000" b="1" dirty="0">
                <a:solidFill>
                  <a:srgbClr val="EE4726"/>
                </a:solidFill>
              </a:rPr>
              <a:t>Application of micro concrete</a:t>
            </a:r>
            <a:endParaRPr lang="en-US" sz="2000" b="1" dirty="0"/>
          </a:p>
        </p:txBody>
      </p:sp>
      <p:sp>
        <p:nvSpPr>
          <p:cNvPr id="35" name="Rectangle 34"/>
          <p:cNvSpPr/>
          <p:nvPr/>
        </p:nvSpPr>
        <p:spPr>
          <a:xfrm>
            <a:off x="6172144" y="3271326"/>
            <a:ext cx="3141116" cy="400110"/>
          </a:xfrm>
          <a:prstGeom prst="rect">
            <a:avLst/>
          </a:prstGeom>
        </p:spPr>
        <p:txBody>
          <a:bodyPr wrap="none">
            <a:spAutoFit/>
          </a:bodyPr>
          <a:lstStyle/>
          <a:p>
            <a:r>
              <a:rPr lang="en-US" sz="2000" b="1" dirty="0">
                <a:solidFill>
                  <a:srgbClr val="EE4726"/>
                </a:solidFill>
              </a:rPr>
              <a:t>Making holes for anchorage</a:t>
            </a:r>
            <a:endParaRPr lang="en-US" sz="2000" b="1" dirty="0"/>
          </a:p>
        </p:txBody>
      </p:sp>
      <p:sp>
        <p:nvSpPr>
          <p:cNvPr id="36" name="Rectangle 35"/>
          <p:cNvSpPr/>
          <p:nvPr/>
        </p:nvSpPr>
        <p:spPr>
          <a:xfrm>
            <a:off x="8109265" y="5720908"/>
            <a:ext cx="872355" cy="400110"/>
          </a:xfrm>
          <a:prstGeom prst="rect">
            <a:avLst/>
          </a:prstGeom>
        </p:spPr>
        <p:txBody>
          <a:bodyPr wrap="none">
            <a:spAutoFit/>
          </a:bodyPr>
          <a:lstStyle/>
          <a:p>
            <a:r>
              <a:rPr lang="en-US" sz="2000" b="1" dirty="0">
                <a:solidFill>
                  <a:srgbClr val="EE4726"/>
                </a:solidFill>
              </a:rPr>
              <a:t>Curing</a:t>
            </a:r>
            <a:endParaRPr lang="en-US" sz="2000" b="1" dirty="0"/>
          </a:p>
        </p:txBody>
      </p:sp>
    </p:spTree>
    <p:extLst>
      <p:ext uri="{BB962C8B-B14F-4D97-AF65-F5344CB8AC3E}">
        <p14:creationId xmlns:p14="http://schemas.microsoft.com/office/powerpoint/2010/main" val="9806367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67</a:t>
            </a:fld>
            <a:endParaRPr lang="en-US"/>
          </a:p>
        </p:txBody>
      </p:sp>
      <p:sp>
        <p:nvSpPr>
          <p:cNvPr id="3"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sp>
        <p:nvSpPr>
          <p:cNvPr id="5" name="正方形/長方形 2"/>
          <p:cNvSpPr/>
          <p:nvPr/>
        </p:nvSpPr>
        <p:spPr>
          <a:xfrm>
            <a:off x="0" y="976758"/>
            <a:ext cx="9144000" cy="523220"/>
          </a:xfrm>
          <a:prstGeom prst="rect">
            <a:avLst/>
          </a:prstGeom>
          <a:solidFill>
            <a:schemeClr val="accent2">
              <a:lumMod val="60000"/>
              <a:lumOff val="40000"/>
            </a:schemeClr>
          </a:solidFill>
          <a:ln>
            <a:solidFill>
              <a:schemeClr val="accent2">
                <a:lumMod val="60000"/>
                <a:lumOff val="40000"/>
              </a:schemeClr>
            </a:solidFill>
          </a:ln>
        </p:spPr>
        <p:txBody>
          <a:bodyPr wrap="square">
            <a:spAutoFit/>
          </a:bodyPr>
          <a:lstStyle/>
          <a:p>
            <a:pPr algn="ctr"/>
            <a:r>
              <a:rPr lang="en-US" altLang="ja-JP" sz="2800" dirty="0"/>
              <a:t>ANNEX I</a:t>
            </a:r>
          </a:p>
        </p:txBody>
      </p:sp>
      <p:pic>
        <p:nvPicPr>
          <p:cNvPr id="7" name="Picture 6"/>
          <p:cNvPicPr>
            <a:picLocks noChangeAspect="1"/>
          </p:cNvPicPr>
          <p:nvPr/>
        </p:nvPicPr>
        <p:blipFill rotWithShape="1">
          <a:blip r:embed="rId3" cstate="email">
            <a:extLst>
              <a:ext uri="{28A0092B-C50C-407E-A947-70E740481C1C}">
                <a14:useLocalDpi xmlns:a14="http://schemas.microsoft.com/office/drawing/2010/main" val="0"/>
              </a:ext>
            </a:extLst>
          </a:blip>
          <a:srcRect l="8235" t="23246" r="23726" b="18453"/>
          <a:stretch/>
        </p:blipFill>
        <p:spPr>
          <a:xfrm>
            <a:off x="3779077" y="2625659"/>
            <a:ext cx="4147975" cy="2665701"/>
          </a:xfrm>
          <a:prstGeom prst="rect">
            <a:avLst/>
          </a:prstGeom>
        </p:spPr>
      </p:pic>
      <p:grpSp>
        <p:nvGrpSpPr>
          <p:cNvPr id="8" name="Group 7"/>
          <p:cNvGrpSpPr/>
          <p:nvPr/>
        </p:nvGrpSpPr>
        <p:grpSpPr>
          <a:xfrm>
            <a:off x="4409204" y="4942065"/>
            <a:ext cx="343804" cy="227306"/>
            <a:chOff x="2072789" y="1519953"/>
            <a:chExt cx="289890" cy="191661"/>
          </a:xfrm>
        </p:grpSpPr>
        <p:cxnSp>
          <p:nvCxnSpPr>
            <p:cNvPr id="9" name="Straight Arrow Connector 8"/>
            <p:cNvCxnSpPr/>
            <p:nvPr/>
          </p:nvCxnSpPr>
          <p:spPr>
            <a:xfrm flipV="1">
              <a:off x="2072821" y="1519953"/>
              <a:ext cx="0" cy="1916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072789" y="1711614"/>
              <a:ext cx="289890" cy="0"/>
            </a:xfrm>
            <a:prstGeom prst="line">
              <a:avLst/>
            </a:prstGeom>
          </p:spPr>
          <p:style>
            <a:lnRef idx="1">
              <a:schemeClr val="dk1"/>
            </a:lnRef>
            <a:fillRef idx="0">
              <a:schemeClr val="dk1"/>
            </a:fillRef>
            <a:effectRef idx="0">
              <a:schemeClr val="dk1"/>
            </a:effectRef>
            <a:fontRef idx="minor">
              <a:schemeClr val="tx1"/>
            </a:fontRef>
          </p:style>
        </p:cxnSp>
      </p:grpSp>
      <p:sp>
        <p:nvSpPr>
          <p:cNvPr id="11" name="TextBox 10"/>
          <p:cNvSpPr txBox="1"/>
          <p:nvPr/>
        </p:nvSpPr>
        <p:spPr>
          <a:xfrm>
            <a:off x="4724245" y="5023601"/>
            <a:ext cx="1803690" cy="876042"/>
          </a:xfrm>
          <a:prstGeom prst="rect">
            <a:avLst/>
          </a:prstGeom>
          <a:noFill/>
        </p:spPr>
        <p:txBody>
          <a:bodyPr wrap="square" rtlCol="0">
            <a:spAutoFit/>
          </a:bodyPr>
          <a:lstStyle/>
          <a:p>
            <a:r>
              <a:rPr lang="en-US" sz="1400" dirty="0"/>
              <a:t>Cover Plinth band with stabilized mud mortar</a:t>
            </a:r>
          </a:p>
        </p:txBody>
      </p:sp>
      <p:grpSp>
        <p:nvGrpSpPr>
          <p:cNvPr id="35" name="Group 34"/>
          <p:cNvGrpSpPr/>
          <p:nvPr/>
        </p:nvGrpSpPr>
        <p:grpSpPr>
          <a:xfrm>
            <a:off x="5867652" y="4062649"/>
            <a:ext cx="3349447" cy="2466680"/>
            <a:chOff x="5867652" y="4062649"/>
            <a:chExt cx="3349447" cy="2466680"/>
          </a:xfrm>
        </p:grpSpPr>
        <p:sp>
          <p:nvSpPr>
            <p:cNvPr id="12" name="Freeform 11"/>
            <p:cNvSpPr/>
            <p:nvPr/>
          </p:nvSpPr>
          <p:spPr>
            <a:xfrm rot="719710" flipH="1">
              <a:off x="5867652" y="4062649"/>
              <a:ext cx="2563041" cy="1796706"/>
            </a:xfrm>
            <a:custGeom>
              <a:avLst/>
              <a:gdLst>
                <a:gd name="connsiteX0" fmla="*/ 1693032 w 1693113"/>
                <a:gd name="connsiteY0" fmla="*/ 6312 h 1511982"/>
                <a:gd name="connsiteX1" fmla="*/ 1086450 w 1693113"/>
                <a:gd name="connsiteY1" fmla="*/ 938818 h 1511982"/>
                <a:gd name="connsiteX2" fmla="*/ 34 w 1693113"/>
                <a:gd name="connsiteY2" fmla="*/ 1210422 h 1511982"/>
                <a:gd name="connsiteX3" fmla="*/ 1050236 w 1693113"/>
                <a:gd name="connsiteY3" fmla="*/ 1454866 h 1511982"/>
                <a:gd name="connsiteX4" fmla="*/ 1693032 w 1693113"/>
                <a:gd name="connsiteY4" fmla="*/ 6312 h 1511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113" h="1511982">
                  <a:moveTo>
                    <a:pt x="1693032" y="6312"/>
                  </a:moveTo>
                  <a:cubicBezTo>
                    <a:pt x="1699068" y="-79696"/>
                    <a:pt x="1368616" y="738133"/>
                    <a:pt x="1086450" y="938818"/>
                  </a:cubicBezTo>
                  <a:cubicBezTo>
                    <a:pt x="804284" y="1139503"/>
                    <a:pt x="6070" y="1124414"/>
                    <a:pt x="34" y="1210422"/>
                  </a:cubicBezTo>
                  <a:cubicBezTo>
                    <a:pt x="-6002" y="1296430"/>
                    <a:pt x="771087" y="1648007"/>
                    <a:pt x="1050236" y="1454866"/>
                  </a:cubicBezTo>
                  <a:cubicBezTo>
                    <a:pt x="1329385" y="1261725"/>
                    <a:pt x="1686996" y="92320"/>
                    <a:pt x="1693032" y="6312"/>
                  </a:cubicBezTo>
                  <a:close/>
                </a:path>
              </a:pathLst>
            </a:cu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rotWithShape="1">
            <a:blip r:embed="rId4" cstate="email">
              <a:extLst>
                <a:ext uri="{28A0092B-C50C-407E-A947-70E740481C1C}">
                  <a14:useLocalDpi xmlns:a14="http://schemas.microsoft.com/office/drawing/2010/main" val="0"/>
                </a:ext>
              </a:extLst>
            </a:blip>
            <a:srcRect b="7635"/>
            <a:stretch/>
          </p:blipFill>
          <p:spPr>
            <a:xfrm>
              <a:off x="6119993" y="4163321"/>
              <a:ext cx="3097106" cy="2366008"/>
            </a:xfrm>
            <a:prstGeom prst="rect">
              <a:avLst/>
            </a:prstGeom>
          </p:spPr>
        </p:pic>
      </p:grpSp>
      <p:grpSp>
        <p:nvGrpSpPr>
          <p:cNvPr id="14" name="Group 13"/>
          <p:cNvGrpSpPr/>
          <p:nvPr/>
        </p:nvGrpSpPr>
        <p:grpSpPr>
          <a:xfrm>
            <a:off x="6032235" y="2599361"/>
            <a:ext cx="3461425" cy="1925933"/>
            <a:chOff x="3278038" y="5472507"/>
            <a:chExt cx="2918616" cy="1623915"/>
          </a:xfrm>
        </p:grpSpPr>
        <p:grpSp>
          <p:nvGrpSpPr>
            <p:cNvPr id="15" name="Group 14"/>
            <p:cNvGrpSpPr/>
            <p:nvPr/>
          </p:nvGrpSpPr>
          <p:grpSpPr>
            <a:xfrm rot="10800000">
              <a:off x="3931370" y="5592120"/>
              <a:ext cx="1008318" cy="191661"/>
              <a:chOff x="1356989" y="1519953"/>
              <a:chExt cx="1008318" cy="191661"/>
            </a:xfrm>
          </p:grpSpPr>
          <p:cxnSp>
            <p:nvCxnSpPr>
              <p:cNvPr id="29" name="Straight Arrow Connector 28"/>
              <p:cNvCxnSpPr/>
              <p:nvPr/>
            </p:nvCxnSpPr>
            <p:spPr>
              <a:xfrm flipV="1">
                <a:off x="2365307" y="1519953"/>
                <a:ext cx="0" cy="1916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rot="10800000" flipH="1">
                <a:off x="1356989" y="1711614"/>
                <a:ext cx="1005690" cy="0"/>
              </a:xfrm>
              <a:prstGeom prst="line">
                <a:avLst/>
              </a:prstGeom>
            </p:spPr>
            <p:style>
              <a:lnRef idx="1">
                <a:schemeClr val="dk1"/>
              </a:lnRef>
              <a:fillRef idx="0">
                <a:schemeClr val="dk1"/>
              </a:fillRef>
              <a:effectRef idx="0">
                <a:schemeClr val="dk1"/>
              </a:effectRef>
              <a:fontRef idx="minor">
                <a:schemeClr val="tx1"/>
              </a:fontRef>
            </p:style>
          </p:cxnSp>
        </p:grpSp>
        <p:sp>
          <p:nvSpPr>
            <p:cNvPr id="16" name="TextBox 15"/>
            <p:cNvSpPr txBox="1"/>
            <p:nvPr/>
          </p:nvSpPr>
          <p:spPr>
            <a:xfrm>
              <a:off x="4888461" y="5472507"/>
              <a:ext cx="1300539" cy="307777"/>
            </a:xfrm>
            <a:prstGeom prst="rect">
              <a:avLst/>
            </a:prstGeom>
            <a:noFill/>
          </p:spPr>
          <p:txBody>
            <a:bodyPr wrap="square" rtlCol="0">
              <a:spAutoFit/>
            </a:bodyPr>
            <a:lstStyle/>
            <a:p>
              <a:r>
                <a:rPr lang="en-US" sz="1400" dirty="0"/>
                <a:t>Roof band</a:t>
              </a:r>
            </a:p>
          </p:txBody>
        </p:sp>
        <p:cxnSp>
          <p:nvCxnSpPr>
            <p:cNvPr id="17" name="Straight Arrow Connector 16"/>
            <p:cNvCxnSpPr/>
            <p:nvPr/>
          </p:nvCxnSpPr>
          <p:spPr>
            <a:xfrm flipH="1">
              <a:off x="4008408" y="5930488"/>
              <a:ext cx="93128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4886247" y="5808106"/>
              <a:ext cx="1300539" cy="307777"/>
            </a:xfrm>
            <a:prstGeom prst="rect">
              <a:avLst/>
            </a:prstGeom>
            <a:noFill/>
          </p:spPr>
          <p:txBody>
            <a:bodyPr wrap="square" rtlCol="0">
              <a:spAutoFit/>
            </a:bodyPr>
            <a:lstStyle/>
            <a:p>
              <a:r>
                <a:rPr lang="en-US" sz="1400" dirty="0"/>
                <a:t>Lintel band</a:t>
              </a:r>
            </a:p>
          </p:txBody>
        </p:sp>
        <p:cxnSp>
          <p:nvCxnSpPr>
            <p:cNvPr id="19" name="Straight Arrow Connector 18"/>
            <p:cNvCxnSpPr/>
            <p:nvPr/>
          </p:nvCxnSpPr>
          <p:spPr>
            <a:xfrm flipH="1">
              <a:off x="4009651" y="6434477"/>
              <a:ext cx="93128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4887490" y="6312095"/>
              <a:ext cx="1300539" cy="307777"/>
            </a:xfrm>
            <a:prstGeom prst="rect">
              <a:avLst/>
            </a:prstGeom>
            <a:noFill/>
          </p:spPr>
          <p:txBody>
            <a:bodyPr wrap="square" rtlCol="0">
              <a:spAutoFit/>
            </a:bodyPr>
            <a:lstStyle/>
            <a:p>
              <a:r>
                <a:rPr lang="en-US" sz="1400" dirty="0"/>
                <a:t>Stitch band</a:t>
              </a:r>
            </a:p>
          </p:txBody>
        </p:sp>
        <p:cxnSp>
          <p:nvCxnSpPr>
            <p:cNvPr id="21" name="Straight Arrow Connector 20"/>
            <p:cNvCxnSpPr/>
            <p:nvPr/>
          </p:nvCxnSpPr>
          <p:spPr>
            <a:xfrm flipH="1">
              <a:off x="4017033" y="6911027"/>
              <a:ext cx="93128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4894872" y="6788645"/>
              <a:ext cx="1300539" cy="307777"/>
            </a:xfrm>
            <a:prstGeom prst="rect">
              <a:avLst/>
            </a:prstGeom>
            <a:noFill/>
          </p:spPr>
          <p:txBody>
            <a:bodyPr wrap="square" rtlCol="0">
              <a:spAutoFit/>
            </a:bodyPr>
            <a:lstStyle/>
            <a:p>
              <a:r>
                <a:rPr lang="en-US" sz="1400" dirty="0"/>
                <a:t>Sill band</a:t>
              </a:r>
            </a:p>
          </p:txBody>
        </p:sp>
        <p:grpSp>
          <p:nvGrpSpPr>
            <p:cNvPr id="23" name="Group 22"/>
            <p:cNvGrpSpPr/>
            <p:nvPr/>
          </p:nvGrpSpPr>
          <p:grpSpPr>
            <a:xfrm rot="10800000">
              <a:off x="3836478" y="6233355"/>
              <a:ext cx="1100333" cy="191661"/>
              <a:chOff x="1356989" y="1519953"/>
              <a:chExt cx="1100333" cy="191661"/>
            </a:xfrm>
          </p:grpSpPr>
          <p:cxnSp>
            <p:nvCxnSpPr>
              <p:cNvPr id="27" name="Straight Arrow Connector 26"/>
              <p:cNvCxnSpPr/>
              <p:nvPr/>
            </p:nvCxnSpPr>
            <p:spPr>
              <a:xfrm flipV="1">
                <a:off x="2457322" y="1519953"/>
                <a:ext cx="0" cy="1916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rot="10800000" flipH="1">
                <a:off x="1356989" y="1711614"/>
                <a:ext cx="1100333" cy="0"/>
              </a:xfrm>
              <a:prstGeom prst="line">
                <a:avLst/>
              </a:prstGeom>
            </p:spPr>
            <p:style>
              <a:lnRef idx="1">
                <a:schemeClr val="dk1"/>
              </a:lnRef>
              <a:fillRef idx="0">
                <a:schemeClr val="dk1"/>
              </a:fillRef>
              <a:effectRef idx="0">
                <a:schemeClr val="dk1"/>
              </a:effectRef>
              <a:fontRef idx="minor">
                <a:schemeClr val="tx1"/>
              </a:fontRef>
            </p:style>
          </p:cxnSp>
        </p:grpSp>
        <p:sp>
          <p:nvSpPr>
            <p:cNvPr id="24" name="TextBox 23"/>
            <p:cNvSpPr txBox="1"/>
            <p:nvPr/>
          </p:nvSpPr>
          <p:spPr>
            <a:xfrm>
              <a:off x="4885584" y="6113742"/>
              <a:ext cx="1300539" cy="307777"/>
            </a:xfrm>
            <a:prstGeom prst="rect">
              <a:avLst/>
            </a:prstGeom>
            <a:noFill/>
          </p:spPr>
          <p:txBody>
            <a:bodyPr wrap="square" rtlCol="0">
              <a:spAutoFit/>
            </a:bodyPr>
            <a:lstStyle/>
            <a:p>
              <a:r>
                <a:rPr lang="en-US" sz="1400" dirty="0"/>
                <a:t>Connector</a:t>
              </a:r>
            </a:p>
          </p:txBody>
        </p:sp>
        <p:cxnSp>
          <p:nvCxnSpPr>
            <p:cNvPr id="25" name="Straight Arrow Connector 24"/>
            <p:cNvCxnSpPr/>
            <p:nvPr/>
          </p:nvCxnSpPr>
          <p:spPr>
            <a:xfrm flipH="1">
              <a:off x="3278038" y="6678893"/>
              <a:ext cx="16715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4896115" y="6556511"/>
              <a:ext cx="1300539" cy="307777"/>
            </a:xfrm>
            <a:prstGeom prst="rect">
              <a:avLst/>
            </a:prstGeom>
            <a:noFill/>
          </p:spPr>
          <p:txBody>
            <a:bodyPr wrap="square" rtlCol="0">
              <a:spAutoFit/>
            </a:bodyPr>
            <a:lstStyle/>
            <a:p>
              <a:r>
                <a:rPr lang="en-US" sz="1400" dirty="0"/>
                <a:t>Vertical post</a:t>
              </a:r>
            </a:p>
          </p:txBody>
        </p:sp>
      </p:grpSp>
      <p:sp>
        <p:nvSpPr>
          <p:cNvPr id="32" name="Rectangle 31"/>
          <p:cNvSpPr/>
          <p:nvPr/>
        </p:nvSpPr>
        <p:spPr>
          <a:xfrm>
            <a:off x="-243836" y="3581282"/>
            <a:ext cx="4019798" cy="1107996"/>
          </a:xfrm>
          <a:prstGeom prst="rect">
            <a:avLst/>
          </a:prstGeom>
        </p:spPr>
        <p:txBody>
          <a:bodyPr wrap="square">
            <a:spAutoFit/>
          </a:bodyPr>
          <a:lstStyle/>
          <a:p>
            <a:pPr marL="706438" indent="-342900" algn="just">
              <a:buFont typeface="Arial" panose="020B0604020202020204" pitchFamily="34" charset="0"/>
              <a:buChar char="•"/>
              <a:tabLst>
                <a:tab pos="291465" algn="l"/>
              </a:tabLst>
            </a:pPr>
            <a:r>
              <a:rPr lang="en-US" altLang="ja-JP" sz="2200" kern="100" dirty="0">
                <a:ea typeface="Calibri" panose="020F0502020204030204" pitchFamily="34" charset="0"/>
                <a:cs typeface="Arial" panose="020B0604020202020204" pitchFamily="34" charset="0"/>
              </a:rPr>
              <a:t>When all the earthquake resistant elements are missing in the building</a:t>
            </a:r>
          </a:p>
        </p:txBody>
      </p:sp>
      <p:sp>
        <p:nvSpPr>
          <p:cNvPr id="33" name="TextBox 32"/>
          <p:cNvSpPr txBox="1"/>
          <p:nvPr/>
        </p:nvSpPr>
        <p:spPr>
          <a:xfrm>
            <a:off x="62241" y="3083680"/>
            <a:ext cx="2618718" cy="523220"/>
          </a:xfrm>
          <a:prstGeom prst="rect">
            <a:avLst/>
          </a:prstGeom>
          <a:noFill/>
        </p:spPr>
        <p:txBody>
          <a:bodyPr wrap="square" rtlCol="0">
            <a:spAutoFit/>
          </a:bodyPr>
          <a:lstStyle/>
          <a:p>
            <a:r>
              <a:rPr lang="en-US" sz="2800" b="1" dirty="0">
                <a:solidFill>
                  <a:srgbClr val="EE4726"/>
                </a:solidFill>
              </a:rPr>
              <a:t>Applicability:</a:t>
            </a:r>
          </a:p>
        </p:txBody>
      </p:sp>
      <p:sp>
        <p:nvSpPr>
          <p:cNvPr id="34" name="Rectangle 33"/>
          <p:cNvSpPr/>
          <p:nvPr/>
        </p:nvSpPr>
        <p:spPr>
          <a:xfrm>
            <a:off x="-243837" y="1664342"/>
            <a:ext cx="9198266" cy="1107996"/>
          </a:xfrm>
          <a:prstGeom prst="rect">
            <a:avLst/>
          </a:prstGeom>
        </p:spPr>
        <p:txBody>
          <a:bodyPr wrap="square">
            <a:spAutoFit/>
          </a:bodyPr>
          <a:lstStyle/>
          <a:p>
            <a:pPr marL="706438" indent="-342900" algn="just">
              <a:buFont typeface="Arial" panose="020B0604020202020204" pitchFamily="34" charset="0"/>
              <a:buChar char="•"/>
              <a:tabLst>
                <a:tab pos="291465" algn="l"/>
              </a:tabLst>
            </a:pPr>
            <a:r>
              <a:rPr lang="en-US" altLang="ja-JP" sz="2200" kern="100" dirty="0">
                <a:ea typeface="Calibri" panose="020F0502020204030204" pitchFamily="34" charset="0"/>
                <a:cs typeface="Arial" panose="020B0604020202020204" pitchFamily="34" charset="0"/>
              </a:rPr>
              <a:t>Consist of six corrective measures using different construction materials.</a:t>
            </a:r>
          </a:p>
          <a:p>
            <a:pPr marL="706438" indent="-342900" algn="just">
              <a:buFont typeface="Arial" panose="020B0604020202020204" pitchFamily="34" charset="0"/>
              <a:buChar char="•"/>
              <a:tabLst>
                <a:tab pos="291465" algn="l"/>
              </a:tabLst>
            </a:pPr>
            <a:r>
              <a:rPr lang="en-US" altLang="ja-JP" sz="2200" kern="100" dirty="0">
                <a:ea typeface="Calibri" panose="020F0502020204030204" pitchFamily="34" charset="0"/>
                <a:cs typeface="Arial" panose="020B0604020202020204" pitchFamily="34" charset="0"/>
              </a:rPr>
              <a:t>Corrective measures can be adopted according to the locally available materials.</a:t>
            </a:r>
          </a:p>
        </p:txBody>
      </p:sp>
    </p:spTree>
    <p:extLst>
      <p:ext uri="{BB962C8B-B14F-4D97-AF65-F5344CB8AC3E}">
        <p14:creationId xmlns:p14="http://schemas.microsoft.com/office/powerpoint/2010/main" val="4559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0D42D0E-A88D-4DDD-9A0B-9B8A68EFDB8F}" type="slidenum">
              <a:rPr lang="en-US" smtClean="0"/>
              <a:t>68</a:t>
            </a:fld>
            <a:endParaRPr lang="en-US"/>
          </a:p>
        </p:txBody>
      </p:sp>
      <p:sp>
        <p:nvSpPr>
          <p:cNvPr id="3" name="TextBox 3"/>
          <p:cNvSpPr txBox="1"/>
          <p:nvPr/>
        </p:nvSpPr>
        <p:spPr>
          <a:xfrm>
            <a:off x="-1" y="223275"/>
            <a:ext cx="8085221" cy="523220"/>
          </a:xfrm>
          <a:prstGeom prst="rect">
            <a:avLst/>
          </a:prstGeom>
          <a:solidFill>
            <a:srgbClr val="5B7BB4"/>
          </a:solidFill>
        </p:spPr>
        <p:txBody>
          <a:bodyPr wrap="square" rtlCol="0">
            <a:spAutoFit/>
          </a:bodyPr>
          <a:lstStyle/>
          <a:p>
            <a:pPr algn="ctr"/>
            <a:r>
              <a:rPr lang="en-US" sz="2800" b="1" dirty="0">
                <a:solidFill>
                  <a:schemeClr val="bg1"/>
                </a:solidFill>
                <a:latin typeface="+mj-lt"/>
              </a:rPr>
              <a:t>Correction/ Exception Manual</a:t>
            </a:r>
          </a:p>
        </p:txBody>
      </p:sp>
      <p:sp>
        <p:nvSpPr>
          <p:cNvPr id="5" name="正方形/長方形 2"/>
          <p:cNvSpPr/>
          <p:nvPr/>
        </p:nvSpPr>
        <p:spPr>
          <a:xfrm>
            <a:off x="0" y="976758"/>
            <a:ext cx="9144000" cy="523220"/>
          </a:xfrm>
          <a:prstGeom prst="rect">
            <a:avLst/>
          </a:prstGeom>
          <a:solidFill>
            <a:schemeClr val="accent2">
              <a:lumMod val="60000"/>
              <a:lumOff val="40000"/>
            </a:schemeClr>
          </a:solidFill>
          <a:ln>
            <a:solidFill>
              <a:schemeClr val="accent2">
                <a:lumMod val="60000"/>
                <a:lumOff val="40000"/>
              </a:schemeClr>
            </a:solidFill>
          </a:ln>
        </p:spPr>
        <p:txBody>
          <a:bodyPr wrap="square">
            <a:spAutoFit/>
          </a:bodyPr>
          <a:lstStyle/>
          <a:p>
            <a:pPr algn="ctr"/>
            <a:r>
              <a:rPr lang="en-US" altLang="ja-JP" sz="2800" dirty="0"/>
              <a:t>ANNEX II</a:t>
            </a:r>
          </a:p>
        </p:txBody>
      </p:sp>
      <p:sp>
        <p:nvSpPr>
          <p:cNvPr id="32" name="Rectangle 31"/>
          <p:cNvSpPr/>
          <p:nvPr/>
        </p:nvSpPr>
        <p:spPr>
          <a:xfrm>
            <a:off x="-243836" y="1966395"/>
            <a:ext cx="4838138" cy="430887"/>
          </a:xfrm>
          <a:prstGeom prst="rect">
            <a:avLst/>
          </a:prstGeom>
        </p:spPr>
        <p:txBody>
          <a:bodyPr wrap="square">
            <a:spAutoFit/>
          </a:bodyPr>
          <a:lstStyle/>
          <a:p>
            <a:pPr marL="706438" indent="-342900" algn="just">
              <a:buFont typeface="Arial" panose="020B0604020202020204" pitchFamily="34" charset="0"/>
              <a:buChar char="•"/>
              <a:tabLst>
                <a:tab pos="291465" algn="l"/>
              </a:tabLst>
            </a:pPr>
            <a:r>
              <a:rPr lang="en-US" altLang="ja-JP" sz="2200" kern="100" dirty="0">
                <a:ea typeface="Calibri" panose="020F0502020204030204" pitchFamily="34" charset="0"/>
                <a:cs typeface="Arial" panose="020B0604020202020204" pitchFamily="34" charset="0"/>
              </a:rPr>
              <a:t>Hybrid structures</a:t>
            </a:r>
          </a:p>
        </p:txBody>
      </p:sp>
      <p:sp>
        <p:nvSpPr>
          <p:cNvPr id="33" name="TextBox 32"/>
          <p:cNvSpPr txBox="1"/>
          <p:nvPr/>
        </p:nvSpPr>
        <p:spPr>
          <a:xfrm>
            <a:off x="62241" y="1533431"/>
            <a:ext cx="2618718" cy="523220"/>
          </a:xfrm>
          <a:prstGeom prst="rect">
            <a:avLst/>
          </a:prstGeom>
          <a:noFill/>
        </p:spPr>
        <p:txBody>
          <a:bodyPr wrap="square" rtlCol="0">
            <a:spAutoFit/>
          </a:bodyPr>
          <a:lstStyle/>
          <a:p>
            <a:r>
              <a:rPr lang="en-US" sz="2800" b="1" dirty="0">
                <a:solidFill>
                  <a:srgbClr val="EE4726"/>
                </a:solidFill>
              </a:rPr>
              <a:t>Applicability:</a:t>
            </a:r>
          </a:p>
        </p:txBody>
      </p:sp>
      <p:sp>
        <p:nvSpPr>
          <p:cNvPr id="35" name="角丸四角形 19"/>
          <p:cNvSpPr/>
          <p:nvPr/>
        </p:nvSpPr>
        <p:spPr>
          <a:xfrm>
            <a:off x="4709889" y="2418241"/>
            <a:ext cx="4389507" cy="3587794"/>
          </a:xfrm>
          <a:prstGeom prst="roundRect">
            <a:avLst>
              <a:gd name="adj" fmla="val 4804"/>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8" name="Picture 37" descr="F:\pHOTO\Photos from Pradip\FROM DIPENDRA SIR\photo of babare construction\20160518_064210.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881067" y="2661264"/>
            <a:ext cx="4046575" cy="3034932"/>
          </a:xfrm>
          <a:prstGeom prst="rect">
            <a:avLst/>
          </a:prstGeom>
          <a:noFill/>
          <a:ln>
            <a:noFill/>
          </a:ln>
        </p:spPr>
      </p:pic>
      <p:grpSp>
        <p:nvGrpSpPr>
          <p:cNvPr id="6" name="Group 5"/>
          <p:cNvGrpSpPr/>
          <p:nvPr/>
        </p:nvGrpSpPr>
        <p:grpSpPr>
          <a:xfrm>
            <a:off x="5395963" y="3238737"/>
            <a:ext cx="1474686" cy="892013"/>
            <a:chOff x="5395963" y="3238737"/>
            <a:chExt cx="1474686" cy="892013"/>
          </a:xfrm>
          <a:solidFill>
            <a:srgbClr val="DE0000"/>
          </a:solidFill>
        </p:grpSpPr>
        <p:sp>
          <p:nvSpPr>
            <p:cNvPr id="39" name="Rectangle 38"/>
            <p:cNvSpPr/>
            <p:nvPr/>
          </p:nvSpPr>
          <p:spPr>
            <a:xfrm>
              <a:off x="5842371" y="3311800"/>
              <a:ext cx="33721" cy="818950"/>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5395963" y="3311800"/>
              <a:ext cx="33721" cy="818950"/>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378703" y="3262824"/>
              <a:ext cx="33721" cy="818950"/>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6836928" y="3238737"/>
              <a:ext cx="33721" cy="818950"/>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5849338" y="3846527"/>
              <a:ext cx="545383" cy="33721"/>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5854188" y="3424205"/>
              <a:ext cx="545383" cy="33721"/>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p:cNvCxnSpPr>
              <a:stCxn id="40" idx="0"/>
              <a:endCxn id="39" idx="2"/>
            </p:cNvCxnSpPr>
            <p:nvPr/>
          </p:nvCxnSpPr>
          <p:spPr>
            <a:xfrm>
              <a:off x="5412824" y="3311800"/>
              <a:ext cx="446408" cy="818950"/>
            </a:xfrm>
            <a:prstGeom prst="line">
              <a:avLst/>
            </a:prstGeom>
            <a:grpFill/>
            <a:ln w="50800">
              <a:solidFill>
                <a:srgbClr val="DE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9" idx="0"/>
              <a:endCxn id="40" idx="2"/>
            </p:cNvCxnSpPr>
            <p:nvPr/>
          </p:nvCxnSpPr>
          <p:spPr>
            <a:xfrm flipH="1">
              <a:off x="5412824" y="3311800"/>
              <a:ext cx="446408" cy="818950"/>
            </a:xfrm>
            <a:prstGeom prst="line">
              <a:avLst/>
            </a:prstGeom>
            <a:grpFill/>
            <a:ln w="47625">
              <a:solidFill>
                <a:srgbClr val="DE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1" idx="0"/>
              <a:endCxn id="42" idx="2"/>
            </p:cNvCxnSpPr>
            <p:nvPr/>
          </p:nvCxnSpPr>
          <p:spPr>
            <a:xfrm>
              <a:off x="6395564" y="3262824"/>
              <a:ext cx="458225" cy="794863"/>
            </a:xfrm>
            <a:prstGeom prst="line">
              <a:avLst/>
            </a:prstGeom>
            <a:grpFill/>
            <a:ln w="47625">
              <a:solidFill>
                <a:srgbClr val="DE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41" idx="2"/>
              <a:endCxn id="42" idx="0"/>
            </p:cNvCxnSpPr>
            <p:nvPr/>
          </p:nvCxnSpPr>
          <p:spPr>
            <a:xfrm flipV="1">
              <a:off x="6395564" y="3238737"/>
              <a:ext cx="458225" cy="843037"/>
            </a:xfrm>
            <a:prstGeom prst="line">
              <a:avLst/>
            </a:prstGeom>
            <a:grpFill/>
            <a:ln w="47625">
              <a:solidFill>
                <a:srgbClr val="DE0000"/>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5407354" y="3711567"/>
              <a:ext cx="463694" cy="33721"/>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6378703" y="3645687"/>
              <a:ext cx="491945" cy="33721"/>
            </a:xfrm>
            <a:prstGeom prst="rect">
              <a:avLst/>
            </a:prstGeom>
            <a:grpFill/>
            <a:ln>
              <a:solidFill>
                <a:srgbClr val="DE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2" name="Picture 51"/>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501" y="2546418"/>
            <a:ext cx="4568164" cy="3426123"/>
          </a:xfrm>
          <a:prstGeom prst="rect">
            <a:avLst/>
          </a:prstGeom>
        </p:spPr>
      </p:pic>
    </p:spTree>
    <p:extLst>
      <p:ext uri="{BB962C8B-B14F-4D97-AF65-F5344CB8AC3E}">
        <p14:creationId xmlns:p14="http://schemas.microsoft.com/office/powerpoint/2010/main" val="150805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01240"/>
            <a:ext cx="7620000" cy="2407920"/>
          </a:xfrm>
        </p:spPr>
        <p:txBody>
          <a:bodyPr/>
          <a:lstStyle/>
          <a:p>
            <a:pPr marL="114300" indent="0" algn="ctr">
              <a:buNone/>
            </a:pPr>
            <a:r>
              <a:rPr lang="en-US" sz="3600" dirty="0"/>
              <a:t>UPDATED INSPECTION FORM ON THE BASIS OF CORRECTION AND EXCEPTION MANUAL</a:t>
            </a:r>
          </a:p>
          <a:p>
            <a:endParaRPr lang="en-US" dirty="0"/>
          </a:p>
        </p:txBody>
      </p:sp>
    </p:spTree>
    <p:extLst>
      <p:ext uri="{BB962C8B-B14F-4D97-AF65-F5344CB8AC3E}">
        <p14:creationId xmlns:p14="http://schemas.microsoft.com/office/powerpoint/2010/main" val="330098231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96240" y="152400"/>
            <a:ext cx="7650480" cy="6461760"/>
          </a:xfrm>
          <a:prstGeom prst="rect">
            <a:avLst/>
          </a:prstGeom>
        </p:spPr>
      </p:pic>
      <p:sp>
        <p:nvSpPr>
          <p:cNvPr id="4" name="Footer Placeholder 3"/>
          <p:cNvSpPr>
            <a:spLocks noGrp="1"/>
          </p:cNvSpPr>
          <p:nvPr>
            <p:ph type="ftr" sz="quarter" idx="11"/>
          </p:nvPr>
        </p:nvSpPr>
        <p:spPr/>
        <p:txBody>
          <a:bodyPr/>
          <a:lstStyle/>
          <a:p>
            <a:r>
              <a:rPr lang="en-US"/>
              <a:t>Housing Recovery &amp; Reconstruction Platform (HRRP)</a:t>
            </a:r>
          </a:p>
        </p:txBody>
      </p:sp>
    </p:spTree>
    <p:extLst>
      <p:ext uri="{BB962C8B-B14F-4D97-AF65-F5344CB8AC3E}">
        <p14:creationId xmlns:p14="http://schemas.microsoft.com/office/powerpoint/2010/main" val="339954811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Housing Recovery &amp; Reconstruction Platform (HRRP)</a:t>
            </a:r>
          </a:p>
        </p:txBody>
      </p:sp>
      <p:pic>
        <p:nvPicPr>
          <p:cNvPr id="8" name="Content Placeholder 7"/>
          <p:cNvPicPr>
            <a:picLocks noGrp="1" noChangeAspect="1"/>
          </p:cNvPicPr>
          <p:nvPr>
            <p:ph idx="1"/>
          </p:nvPr>
        </p:nvPicPr>
        <p:blipFill>
          <a:blip r:embed="rId2"/>
          <a:stretch>
            <a:fillRect/>
          </a:stretch>
        </p:blipFill>
        <p:spPr>
          <a:xfrm>
            <a:off x="396240" y="152400"/>
            <a:ext cx="7772400" cy="6492239"/>
          </a:xfrm>
          <a:prstGeom prst="rect">
            <a:avLst/>
          </a:prstGeom>
        </p:spPr>
      </p:pic>
    </p:spTree>
    <p:extLst>
      <p:ext uri="{BB962C8B-B14F-4D97-AF65-F5344CB8AC3E}">
        <p14:creationId xmlns:p14="http://schemas.microsoft.com/office/powerpoint/2010/main" val="184166022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04800" y="304800"/>
            <a:ext cx="7863839" cy="6400800"/>
          </a:xfrm>
          <a:prstGeom prst="rect">
            <a:avLst/>
          </a:prstGeom>
        </p:spPr>
      </p:pic>
      <p:sp>
        <p:nvSpPr>
          <p:cNvPr id="4" name="Footer Placeholder 3"/>
          <p:cNvSpPr>
            <a:spLocks noGrp="1"/>
          </p:cNvSpPr>
          <p:nvPr>
            <p:ph type="ftr" sz="quarter" idx="11"/>
          </p:nvPr>
        </p:nvSpPr>
        <p:spPr/>
        <p:txBody>
          <a:bodyPr/>
          <a:lstStyle/>
          <a:p>
            <a:r>
              <a:rPr lang="en-US"/>
              <a:t>Housing Recovery &amp; Reconstruction Platform (HRRP)</a:t>
            </a:r>
          </a:p>
        </p:txBody>
      </p:sp>
    </p:spTree>
    <p:extLst>
      <p:ext uri="{BB962C8B-B14F-4D97-AF65-F5344CB8AC3E}">
        <p14:creationId xmlns:p14="http://schemas.microsoft.com/office/powerpoint/2010/main" val="313694223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57200" y="228600"/>
            <a:ext cx="7467600" cy="6400800"/>
          </a:xfrm>
          <a:prstGeom prst="rect">
            <a:avLst/>
          </a:prstGeom>
        </p:spPr>
      </p:pic>
      <p:sp>
        <p:nvSpPr>
          <p:cNvPr id="4" name="Footer Placeholder 3"/>
          <p:cNvSpPr>
            <a:spLocks noGrp="1"/>
          </p:cNvSpPr>
          <p:nvPr>
            <p:ph type="ftr" sz="quarter" idx="11"/>
          </p:nvPr>
        </p:nvSpPr>
        <p:spPr/>
        <p:txBody>
          <a:bodyPr/>
          <a:lstStyle/>
          <a:p>
            <a:r>
              <a:rPr lang="en-US" dirty="0" err="1"/>
              <a:t>Housinlatform</a:t>
            </a:r>
            <a:r>
              <a:rPr lang="en-US" dirty="0"/>
              <a:t> (HRRP)</a:t>
            </a:r>
          </a:p>
        </p:txBody>
      </p:sp>
    </p:spTree>
    <p:extLst>
      <p:ext uri="{BB962C8B-B14F-4D97-AF65-F5344CB8AC3E}">
        <p14:creationId xmlns:p14="http://schemas.microsoft.com/office/powerpoint/2010/main" val="255840935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114300" indent="0" algn="ctr">
              <a:buNone/>
            </a:pPr>
            <a:endParaRPr lang="en-US" sz="4800" dirty="0" smtClean="0"/>
          </a:p>
          <a:p>
            <a:pPr marL="114300" indent="0" algn="ctr">
              <a:buNone/>
            </a:pPr>
            <a:endParaRPr lang="en-US" sz="4800" dirty="0"/>
          </a:p>
          <a:p>
            <a:pPr marL="114300" indent="0" algn="ctr">
              <a:buNone/>
            </a:pPr>
            <a:r>
              <a:rPr lang="en-US" sz="4800" dirty="0" smtClean="0"/>
              <a:t>Thank You!!!</a:t>
            </a:r>
            <a:endParaRPr lang="en-US" sz="4800" dirty="0"/>
          </a:p>
        </p:txBody>
      </p:sp>
      <p:sp>
        <p:nvSpPr>
          <p:cNvPr id="4" name="Footer Placeholder 3"/>
          <p:cNvSpPr>
            <a:spLocks noGrp="1"/>
          </p:cNvSpPr>
          <p:nvPr>
            <p:ph type="ftr" sz="quarter" idx="11"/>
          </p:nvPr>
        </p:nvSpPr>
        <p:spPr/>
        <p:txBody>
          <a:bodyPr/>
          <a:lstStyle/>
          <a:p>
            <a:r>
              <a:rPr lang="en-US" smtClean="0"/>
              <a:t>Housing Recovery &amp; Reconstruction Platform (HRRP)</a:t>
            </a:r>
            <a:endParaRPr lang="en-US"/>
          </a:p>
        </p:txBody>
      </p:sp>
    </p:spTree>
    <p:extLst>
      <p:ext uri="{BB962C8B-B14F-4D97-AF65-F5344CB8AC3E}">
        <p14:creationId xmlns:p14="http://schemas.microsoft.com/office/powerpoint/2010/main" val="153447279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Adiacenz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22198</TotalTime>
  <Words>5222</Words>
  <Application>Microsoft Office PowerPoint</Application>
  <PresentationFormat>On-screen Show (4:3)</PresentationFormat>
  <Paragraphs>801</Paragraphs>
  <Slides>74</Slides>
  <Notes>39</Notes>
  <HiddenSlides>0</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Adiacenza</vt:lpstr>
      <vt:lpstr>HRRP  Technical Coordination Meeting  </vt:lpstr>
      <vt:lpstr>Agendas</vt:lpstr>
      <vt:lpstr>Enrollment Update   </vt:lpstr>
      <vt:lpstr>Status of Technical Assistance (HRRP 4W)</vt:lpstr>
      <vt:lpstr>Challenges for TA (HRRP Technical Workshop ): </vt:lpstr>
      <vt:lpstr>TECHNICAL COORDINATION BRIEFING</vt:lpstr>
      <vt:lpstr>DUDBC Design Catalogue Vol. 2</vt:lpstr>
      <vt:lpstr>Introduction</vt:lpstr>
      <vt:lpstr>Alternative Construction Materials and Technologies. </vt:lpstr>
      <vt:lpstr>Catalogue Objective</vt:lpstr>
      <vt:lpstr>Catalogue Limitation</vt:lpstr>
      <vt:lpstr>Lists of Model</vt:lpstr>
      <vt:lpstr>Model details</vt:lpstr>
      <vt:lpstr>Model details Contd.</vt:lpstr>
      <vt:lpstr>Model details Contd.</vt:lpstr>
      <vt:lpstr>Model details Contd.</vt:lpstr>
      <vt:lpstr>Model details Contd.</vt:lpstr>
      <vt:lpstr>Model details Contd.</vt:lpstr>
      <vt:lpstr>Review of Typical Non-Compliant RCC Structures</vt:lpstr>
      <vt:lpstr>Content (cases:-</vt:lpstr>
      <vt:lpstr>PowerPoint Presentation</vt:lpstr>
      <vt:lpstr>limitation</vt:lpstr>
      <vt:lpstr>Cantilever 1.5m long</vt:lpstr>
      <vt:lpstr>1x2 , 1x3, 1x4 bays</vt:lpstr>
      <vt:lpstr>1x1 bay, two side eccentric footing</vt:lpstr>
      <vt:lpstr>Room size 4.5mx4.5 &amp; 5.5mx3.5m</vt:lpstr>
      <vt:lpstr>Column at Centre of grid missing</vt:lpstr>
      <vt:lpstr>Passage 1.5 m </vt:lpstr>
      <vt:lpstr>Footings at differential level</vt:lpstr>
      <vt:lpstr>Column size 9”x12”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HRRP CSG Meeting</dc:title>
  <dc:creator>Jennifer</dc:creator>
  <cp:lastModifiedBy>Rijan Gajurel</cp:lastModifiedBy>
  <cp:revision>326</cp:revision>
  <cp:lastPrinted>2016-02-18T08:18:45Z</cp:lastPrinted>
  <dcterms:created xsi:type="dcterms:W3CDTF">2016-01-17T05:06:47Z</dcterms:created>
  <dcterms:modified xsi:type="dcterms:W3CDTF">2017-06-01T17:42:14Z</dcterms:modified>
</cp:coreProperties>
</file>