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0" r:id="rId1"/>
  </p:sldMasterIdLst>
  <p:sldIdLst>
    <p:sldId id="256" r:id="rId2"/>
    <p:sldId id="257" r:id="rId3"/>
    <p:sldId id="283" r:id="rId4"/>
    <p:sldId id="287" r:id="rId5"/>
    <p:sldId id="282" r:id="rId6"/>
    <p:sldId id="288" r:id="rId7"/>
    <p:sldId id="270" r:id="rId8"/>
    <p:sldId id="274" r:id="rId9"/>
    <p:sldId id="275" r:id="rId10"/>
    <p:sldId id="279" r:id="rId11"/>
    <p:sldId id="290" r:id="rId12"/>
    <p:sldId id="292" r:id="rId13"/>
    <p:sldId id="281" r:id="rId14"/>
    <p:sldId id="262" r:id="rId15"/>
    <p:sldId id="268" r:id="rId1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4" autoAdjust="0"/>
    <p:restoredTop sz="98957" autoAdjust="0"/>
  </p:normalViewPr>
  <p:slideViewPr>
    <p:cSldViewPr snapToGrid="0" snapToObjects="1">
      <p:cViewPr varScale="1">
        <p:scale>
          <a:sx n="113" d="100"/>
          <a:sy n="113" d="100"/>
        </p:scale>
        <p:origin x="155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30" y="1160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jennifer:Library:Mail%20Downloads:hrrp-nepal-analysis-160121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jennifer:Library:Mail%20Downloads:hrrp-nepal-analysis-160121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jennifer:Library:Mail%20Downloads:hrrp-nepal-analysis-160121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jennifer:Library:Mail%20Downloads:hrrp-nepal-analysis-160121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jennifer:Library:Mail%20Downloads:hrrp-nepal-analysis-160121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jennifer:Library:Mail%20Downloads:hrrp-nepal-analysis-160121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jennifer:Library:Mail%20Downloads:hrrp-nepal-analysis-160121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rabim\AppData\Roaming\Microsoft\Excel\hrrp-nepal-analysis-160122%20(version%201)%20(version%201).xlsb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rabim\Downloads\hrrp-nepal-analysis-160122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rabim\AppData\Roaming\Microsoft\Excel\hrrp-nepal-analysis-160122%20(version%201).xlsb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rabim\Downloads\hrrp-nepal-analysis-160122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rabim\Downloads\hrrp-nepal-analysis-160122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Brabim\Downloads\hrrp-nepal-analysis-16012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/>
              <a:t>Training/Skill Development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'Activities % By District'!$B$1</c:f>
              <c:strCache>
                <c:ptCount val="1"/>
                <c:pt idx="0">
                  <c:v>Carpenter trainings (Unit - Individual): ,451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'Activities % By District'!$A$2:$A$14</c:f>
              <c:strCache>
                <c:ptCount val="11"/>
                <c:pt idx="0">
                  <c:v>Dhading</c:v>
                </c:pt>
                <c:pt idx="1">
                  <c:v>Dolakha</c:v>
                </c:pt>
                <c:pt idx="2">
                  <c:v>Gorkha</c:v>
                </c:pt>
                <c:pt idx="3">
                  <c:v>Kabhrepalanchok</c:v>
                </c:pt>
                <c:pt idx="4">
                  <c:v>Kathmandu</c:v>
                </c:pt>
                <c:pt idx="5">
                  <c:v>Makawanpur</c:v>
                </c:pt>
                <c:pt idx="6">
                  <c:v>Nuwakot</c:v>
                </c:pt>
                <c:pt idx="7">
                  <c:v>Okhaldhunga</c:v>
                </c:pt>
                <c:pt idx="8">
                  <c:v>Ramechhap</c:v>
                </c:pt>
                <c:pt idx="9">
                  <c:v>Rasuwa</c:v>
                </c:pt>
                <c:pt idx="10">
                  <c:v>Sindhupalchok</c:v>
                </c:pt>
              </c:strCache>
              <c:extLst/>
            </c:strRef>
          </c:cat>
          <c:val>
            <c:numRef>
              <c:f>'Activities % By District'!$B$2:$B$14</c:f>
              <c:numCache>
                <c:formatCode>General</c:formatCode>
                <c:ptCount val="11"/>
                <c:pt idx="0" formatCode="0%">
                  <c:v>0.13303769401330401</c:v>
                </c:pt>
                <c:pt idx="3" formatCode="0%">
                  <c:v>0.17960088691796</c:v>
                </c:pt>
                <c:pt idx="6" formatCode="0%">
                  <c:v>0.13303769401330401</c:v>
                </c:pt>
                <c:pt idx="8" formatCode="0%">
                  <c:v>8.86917960088692E-2</c:v>
                </c:pt>
                <c:pt idx="9" formatCode="0%">
                  <c:v>0.13303769401330401</c:v>
                </c:pt>
                <c:pt idx="10" formatCode="0%">
                  <c:v>0.33259423503325902</c:v>
                </c:pt>
              </c:numCache>
              <c:extLst/>
            </c:numRef>
          </c:val>
        </c:ser>
        <c:ser>
          <c:idx val="5"/>
          <c:order val="5"/>
          <c:tx>
            <c:strRef>
              <c:f>'Activities % By District'!$G$1</c:f>
              <c:strCache>
                <c:ptCount val="1"/>
                <c:pt idx="0">
                  <c:v> Electrician trainings (Unit - Individual): ,192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'Activities % By District'!$A$2:$A$14</c:f>
              <c:strCache>
                <c:ptCount val="11"/>
                <c:pt idx="0">
                  <c:v>Dhading</c:v>
                </c:pt>
                <c:pt idx="1">
                  <c:v>Dolakha</c:v>
                </c:pt>
                <c:pt idx="2">
                  <c:v>Gorkha</c:v>
                </c:pt>
                <c:pt idx="3">
                  <c:v>Kabhrepalanchok</c:v>
                </c:pt>
                <c:pt idx="4">
                  <c:v>Kathmandu</c:v>
                </c:pt>
                <c:pt idx="5">
                  <c:v>Makawanpur</c:v>
                </c:pt>
                <c:pt idx="6">
                  <c:v>Nuwakot</c:v>
                </c:pt>
                <c:pt idx="7">
                  <c:v>Okhaldhunga</c:v>
                </c:pt>
                <c:pt idx="8">
                  <c:v>Ramechhap</c:v>
                </c:pt>
                <c:pt idx="9">
                  <c:v>Rasuwa</c:v>
                </c:pt>
                <c:pt idx="10">
                  <c:v>Sindhupalchok</c:v>
                </c:pt>
              </c:strCache>
              <c:extLst/>
            </c:strRef>
          </c:cat>
          <c:val>
            <c:numRef>
              <c:f>'Activities % By District'!$G$2:$G$14</c:f>
              <c:numCache>
                <c:formatCode>General</c:formatCode>
                <c:ptCount val="11"/>
                <c:pt idx="0" formatCode="0%">
                  <c:v>0.3125</c:v>
                </c:pt>
                <c:pt idx="6" formatCode="0%">
                  <c:v>0.3125</c:v>
                </c:pt>
                <c:pt idx="9" formatCode="0%">
                  <c:v>0.375</c:v>
                </c:pt>
              </c:numCache>
              <c:extLst/>
            </c:numRef>
          </c:val>
        </c:ser>
        <c:ser>
          <c:idx val="9"/>
          <c:order val="9"/>
          <c:tx>
            <c:strRef>
              <c:f>'Activities % By District'!$K$1</c:f>
              <c:strCache>
                <c:ptCount val="1"/>
                <c:pt idx="0">
                  <c:v>Masons trainings (Unit - Individual): 8,068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'Activities % By District'!$A$2:$A$14</c:f>
              <c:strCache>
                <c:ptCount val="11"/>
                <c:pt idx="0">
                  <c:v>Dhading</c:v>
                </c:pt>
                <c:pt idx="1">
                  <c:v>Dolakha</c:v>
                </c:pt>
                <c:pt idx="2">
                  <c:v>Gorkha</c:v>
                </c:pt>
                <c:pt idx="3">
                  <c:v>Kabhrepalanchok</c:v>
                </c:pt>
                <c:pt idx="4">
                  <c:v>Kathmandu</c:v>
                </c:pt>
                <c:pt idx="5">
                  <c:v>Makawanpur</c:v>
                </c:pt>
                <c:pt idx="6">
                  <c:v>Nuwakot</c:v>
                </c:pt>
                <c:pt idx="7">
                  <c:v>Okhaldhunga</c:v>
                </c:pt>
                <c:pt idx="8">
                  <c:v>Ramechhap</c:v>
                </c:pt>
                <c:pt idx="9">
                  <c:v>Rasuwa</c:v>
                </c:pt>
                <c:pt idx="10">
                  <c:v>Sindhupalchok</c:v>
                </c:pt>
              </c:strCache>
              <c:extLst/>
            </c:strRef>
          </c:cat>
          <c:val>
            <c:numRef>
              <c:f>'Activities % By District'!$K$2:$K$14</c:f>
              <c:numCache>
                <c:formatCode>0%</c:formatCode>
                <c:ptCount val="11"/>
                <c:pt idx="0">
                  <c:v>0.21715418939018299</c:v>
                </c:pt>
                <c:pt idx="1">
                  <c:v>0.10535448686167601</c:v>
                </c:pt>
                <c:pt idx="2">
                  <c:v>0.14873574615766</c:v>
                </c:pt>
                <c:pt idx="3">
                  <c:v>4.2141794744670301E-2</c:v>
                </c:pt>
                <c:pt idx="4">
                  <c:v>6.5691621219633095E-2</c:v>
                </c:pt>
                <c:pt idx="5">
                  <c:v>3.3465542885473501E-2</c:v>
                </c:pt>
                <c:pt idx="6">
                  <c:v>2.3549826474962801E-2</c:v>
                </c:pt>
                <c:pt idx="7">
                  <c:v>6.1973227565691603E-2</c:v>
                </c:pt>
                <c:pt idx="8">
                  <c:v>8.5523054040654398E-2</c:v>
                </c:pt>
                <c:pt idx="9">
                  <c:v>5.0818046603867101E-2</c:v>
                </c:pt>
                <c:pt idx="10">
                  <c:v>0.16559246405552799</c:v>
                </c:pt>
              </c:numCache>
              <c:extLst/>
            </c:numRef>
          </c:val>
        </c:ser>
        <c:ser>
          <c:idx val="11"/>
          <c:order val="11"/>
          <c:tx>
            <c:strRef>
              <c:f>'Activities % By District'!$M$1</c:f>
              <c:strCache>
                <c:ptCount val="1"/>
                <c:pt idx="0">
                  <c:v>Plumber trainings (Unit - Individual): ,192</c:v>
                </c:pt>
              </c:strCache>
            </c:strRef>
          </c:tx>
          <c:spPr>
            <a:solidFill>
              <a:schemeClr val="accent6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'Activities % By District'!$A$2:$A$14</c:f>
              <c:strCache>
                <c:ptCount val="11"/>
                <c:pt idx="0">
                  <c:v>Dhading</c:v>
                </c:pt>
                <c:pt idx="1">
                  <c:v>Dolakha</c:v>
                </c:pt>
                <c:pt idx="2">
                  <c:v>Gorkha</c:v>
                </c:pt>
                <c:pt idx="3">
                  <c:v>Kabhrepalanchok</c:v>
                </c:pt>
                <c:pt idx="4">
                  <c:v>Kathmandu</c:v>
                </c:pt>
                <c:pt idx="5">
                  <c:v>Makawanpur</c:v>
                </c:pt>
                <c:pt idx="6">
                  <c:v>Nuwakot</c:v>
                </c:pt>
                <c:pt idx="7">
                  <c:v>Okhaldhunga</c:v>
                </c:pt>
                <c:pt idx="8">
                  <c:v>Ramechhap</c:v>
                </c:pt>
                <c:pt idx="9">
                  <c:v>Rasuwa</c:v>
                </c:pt>
                <c:pt idx="10">
                  <c:v>Sindhupalchok</c:v>
                </c:pt>
              </c:strCache>
              <c:extLst/>
            </c:strRef>
          </c:cat>
          <c:val>
            <c:numRef>
              <c:f>'Activities % By District'!$M$2:$M$14</c:f>
              <c:numCache>
                <c:formatCode>General</c:formatCode>
                <c:ptCount val="11"/>
                <c:pt idx="0" formatCode="0%">
                  <c:v>0.3125</c:v>
                </c:pt>
                <c:pt idx="6" formatCode="0%">
                  <c:v>0.3125</c:v>
                </c:pt>
                <c:pt idx="9" formatCode="0%">
                  <c:v>0.375</c:v>
                </c:pt>
              </c:numCache>
              <c:extLst/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0"/>
        <c:axId val="193439096"/>
        <c:axId val="275445240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'Activities % By District'!$C$1</c15:sqref>
                        </c15:formulaRef>
                      </c:ext>
                    </c:extLst>
                    <c:strCache>
                      <c:ptCount val="1"/>
                      <c:pt idx="0">
                        <c:v>Cash/Voucher for building materials (Unit - HH): 8,432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'Activities % By District'!$A$2:$A$14</c15:sqref>
                        </c15:formulaRef>
                      </c:ext>
                    </c:extLst>
                    <c:strCache>
                      <c:ptCount val="11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Kabhrepalanchok</c:v>
                      </c:pt>
                      <c:pt idx="4">
                        <c:v>Kathmandu</c:v>
                      </c:pt>
                      <c:pt idx="5">
                        <c:v>Makawanpur</c:v>
                      </c:pt>
                      <c:pt idx="6">
                        <c:v>Nuwakot</c:v>
                      </c:pt>
                      <c:pt idx="7">
                        <c:v>Okhaldhunga</c:v>
                      </c:pt>
                      <c:pt idx="8">
                        <c:v>Ramechhap</c:v>
                      </c:pt>
                      <c:pt idx="9">
                        <c:v>Rasuwa</c:v>
                      </c:pt>
                      <c:pt idx="10">
                        <c:v>Sindhupalchok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'Activities % By District'!$C$2:$C$14</c15:sqref>
                        </c15:formulaRef>
                      </c:ext>
                    </c:extLst>
                    <c:numCache>
                      <c:formatCode>0%</c:formatCode>
                      <c:ptCount val="11"/>
                      <c:pt idx="1">
                        <c:v>0.29767552182163187</c:v>
                      </c:pt>
                      <c:pt idx="2">
                        <c:v>0.26826375711574951</c:v>
                      </c:pt>
                      <c:pt idx="5">
                        <c:v>7.1157495256166978E-2</c:v>
                      </c:pt>
                      <c:pt idx="8">
                        <c:v>0.36290322580645162</c:v>
                      </c:pt>
                    </c:numCache>
                  </c:numRef>
                </c:val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District'!$D$1</c15:sqref>
                        </c15:formulaRef>
                      </c:ext>
                    </c:extLst>
                    <c:strCache>
                      <c:ptCount val="1"/>
                      <c:pt idx="0">
                        <c:v>Social mobilization for community groups (Unit - Individual): 28,300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District'!$A$2:$A$14</c15:sqref>
                        </c15:formulaRef>
                      </c:ext>
                    </c:extLst>
                    <c:strCache>
                      <c:ptCount val="11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Kabhrepalanchok</c:v>
                      </c:pt>
                      <c:pt idx="4">
                        <c:v>Kathmandu</c:v>
                      </c:pt>
                      <c:pt idx="5">
                        <c:v>Makawanpur</c:v>
                      </c:pt>
                      <c:pt idx="6">
                        <c:v>Nuwakot</c:v>
                      </c:pt>
                      <c:pt idx="7">
                        <c:v>Okhaldhunga</c:v>
                      </c:pt>
                      <c:pt idx="8">
                        <c:v>Ramechhap</c:v>
                      </c:pt>
                      <c:pt idx="9">
                        <c:v>Rasuwa</c:v>
                      </c:pt>
                      <c:pt idx="10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District'!$D$2:$D$14</c15:sqref>
                        </c15:formulaRef>
                      </c:ext>
                    </c:extLst>
                    <c:numCache>
                      <c:formatCode>0%</c:formatCode>
                      <c:ptCount val="11"/>
                      <c:pt idx="0">
                        <c:v>7.0671378091872791E-3</c:v>
                      </c:pt>
                      <c:pt idx="1">
                        <c:v>0.25795053003533569</c:v>
                      </c:pt>
                      <c:pt idx="2">
                        <c:v>0.32508833922261482</c:v>
                      </c:pt>
                      <c:pt idx="8">
                        <c:v>9.187279151943463E-2</c:v>
                      </c:pt>
                      <c:pt idx="10">
                        <c:v>0.31802120141342755</c:v>
                      </c:pt>
                    </c:numCache>
                  </c:numRef>
                </c:val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District'!$E$1</c15:sqref>
                        </c15:formulaRef>
                      </c:ext>
                    </c:extLst>
                    <c:strCache>
                      <c:ptCount val="1"/>
                      <c:pt idx="0">
                        <c:v>Technical assistance on construction guidance and supervision (Unit - Individual): 840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District'!$A$2:$A$14</c15:sqref>
                        </c15:formulaRef>
                      </c:ext>
                    </c:extLst>
                    <c:strCache>
                      <c:ptCount val="11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Kabhrepalanchok</c:v>
                      </c:pt>
                      <c:pt idx="4">
                        <c:v>Kathmandu</c:v>
                      </c:pt>
                      <c:pt idx="5">
                        <c:v>Makawanpur</c:v>
                      </c:pt>
                      <c:pt idx="6">
                        <c:v>Nuwakot</c:v>
                      </c:pt>
                      <c:pt idx="7">
                        <c:v>Okhaldhunga</c:v>
                      </c:pt>
                      <c:pt idx="8">
                        <c:v>Ramechhap</c:v>
                      </c:pt>
                      <c:pt idx="9">
                        <c:v>Rasuwa</c:v>
                      </c:pt>
                      <c:pt idx="10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District'!$E$2:$E$14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3" formatCode="0%">
                        <c:v>0.47619047619047616</c:v>
                      </c:pt>
                      <c:pt idx="10" formatCode="0%">
                        <c:v>0.52380952380952384</c:v>
                      </c:pt>
                    </c:numCache>
                  </c:numRef>
                </c:val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District'!$F$1</c15:sqref>
                        </c15:formulaRef>
                      </c:ext>
                    </c:extLst>
                    <c:strCache>
                      <c:ptCount val="1"/>
                      <c:pt idx="0">
                        <c:v>Core Shelter Construction (Unit - HH): 2,145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District'!$A$2:$A$14</c15:sqref>
                        </c15:formulaRef>
                      </c:ext>
                    </c:extLst>
                    <c:strCache>
                      <c:ptCount val="11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Kabhrepalanchok</c:v>
                      </c:pt>
                      <c:pt idx="4">
                        <c:v>Kathmandu</c:v>
                      </c:pt>
                      <c:pt idx="5">
                        <c:v>Makawanpur</c:v>
                      </c:pt>
                      <c:pt idx="6">
                        <c:v>Nuwakot</c:v>
                      </c:pt>
                      <c:pt idx="7">
                        <c:v>Okhaldhunga</c:v>
                      </c:pt>
                      <c:pt idx="8">
                        <c:v>Ramechhap</c:v>
                      </c:pt>
                      <c:pt idx="9">
                        <c:v>Rasuwa</c:v>
                      </c:pt>
                      <c:pt idx="10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District'!$F$2:$F$14</c15:sqref>
                        </c15:formulaRef>
                      </c:ext>
                    </c:extLst>
                    <c:numCache>
                      <c:formatCode>0%</c:formatCode>
                      <c:ptCount val="11"/>
                      <c:pt idx="1">
                        <c:v>9.3240093240093247E-2</c:v>
                      </c:pt>
                      <c:pt idx="2">
                        <c:v>0.14731934731934732</c:v>
                      </c:pt>
                      <c:pt idx="3">
                        <c:v>5.5944055944055944E-3</c:v>
                      </c:pt>
                      <c:pt idx="6">
                        <c:v>9.3240093240093247E-2</c:v>
                      </c:pt>
                      <c:pt idx="10">
                        <c:v>0.66060606060606064</c:v>
                      </c:pt>
                    </c:numCache>
                  </c:numRef>
                </c:val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District'!$H$1</c15:sqref>
                        </c15:formulaRef>
                      </c:ext>
                    </c:extLst>
                    <c:strCache>
                      <c:ptCount val="1"/>
                      <c:pt idx="0">
                        <c:v>Facilitation to financial and technical assistance (Unit - Community): 090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District'!$A$2:$A$14</c15:sqref>
                        </c15:formulaRef>
                      </c:ext>
                    </c:extLst>
                    <c:strCache>
                      <c:ptCount val="11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Kabhrepalanchok</c:v>
                      </c:pt>
                      <c:pt idx="4">
                        <c:v>Kathmandu</c:v>
                      </c:pt>
                      <c:pt idx="5">
                        <c:v>Makawanpur</c:v>
                      </c:pt>
                      <c:pt idx="6">
                        <c:v>Nuwakot</c:v>
                      </c:pt>
                      <c:pt idx="7">
                        <c:v>Okhaldhunga</c:v>
                      </c:pt>
                      <c:pt idx="8">
                        <c:v>Ramechhap</c:v>
                      </c:pt>
                      <c:pt idx="9">
                        <c:v>Rasuwa</c:v>
                      </c:pt>
                      <c:pt idx="10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District'!$H$2:$H$14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9" formatCode="0%">
                        <c:v>1</c:v>
                      </c:pt>
                    </c:numCache>
                  </c:numRef>
                </c:val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District'!$I$1</c15:sqref>
                        </c15:formulaRef>
                      </c:ext>
                    </c:extLst>
                    <c:strCache>
                      <c:ptCount val="1"/>
                      <c:pt idx="0">
                        <c:v>Technical assistance on guidelines/procedures/curriculum (Unit - Individual): 000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District'!$A$2:$A$14</c15:sqref>
                        </c15:formulaRef>
                      </c:ext>
                    </c:extLst>
                    <c:strCache>
                      <c:ptCount val="11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Kabhrepalanchok</c:v>
                      </c:pt>
                      <c:pt idx="4">
                        <c:v>Kathmandu</c:v>
                      </c:pt>
                      <c:pt idx="5">
                        <c:v>Makawanpur</c:v>
                      </c:pt>
                      <c:pt idx="6">
                        <c:v>Nuwakot</c:v>
                      </c:pt>
                      <c:pt idx="7">
                        <c:v>Okhaldhunga</c:v>
                      </c:pt>
                      <c:pt idx="8">
                        <c:v>Ramechhap</c:v>
                      </c:pt>
                      <c:pt idx="9">
                        <c:v>Rasuwa</c:v>
                      </c:pt>
                      <c:pt idx="10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District'!$I$2:$I$14</c15:sqref>
                        </c15:formulaRef>
                      </c:ext>
                    </c:extLst>
                    <c:numCache>
                      <c:formatCode>0%</c:formatCode>
                      <c:ptCount val="11"/>
                      <c:pt idx="0">
                        <c:v>0.33333333333333331</c:v>
                      </c:pt>
                      <c:pt idx="1">
                        <c:v>0.33333333333333331</c:v>
                      </c:pt>
                      <c:pt idx="2">
                        <c:v>0.33333333333333331</c:v>
                      </c:pt>
                    </c:numCache>
                  </c:numRef>
                </c:val>
              </c15:ser>
            </c15:filteredBarSeries>
            <c15:filteredB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District'!$J$1</c15:sqref>
                        </c15:formulaRef>
                      </c:ext>
                    </c:extLst>
                    <c:strCache>
                      <c:ptCount val="1"/>
                      <c:pt idx="0">
                        <c:v> Locally available/produced construction matefrial support (Unit - HH): 22,355</c:v>
                      </c:pt>
                    </c:strCache>
                  </c:strRef>
                </c:tx>
                <c:spPr>
                  <a:solidFill>
                    <a:schemeClr val="accent3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District'!$A$2:$A$14</c15:sqref>
                        </c15:formulaRef>
                      </c:ext>
                    </c:extLst>
                    <c:strCache>
                      <c:ptCount val="11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Kabhrepalanchok</c:v>
                      </c:pt>
                      <c:pt idx="4">
                        <c:v>Kathmandu</c:v>
                      </c:pt>
                      <c:pt idx="5">
                        <c:v>Makawanpur</c:v>
                      </c:pt>
                      <c:pt idx="6">
                        <c:v>Nuwakot</c:v>
                      </c:pt>
                      <c:pt idx="7">
                        <c:v>Okhaldhunga</c:v>
                      </c:pt>
                      <c:pt idx="8">
                        <c:v>Ramechhap</c:v>
                      </c:pt>
                      <c:pt idx="9">
                        <c:v>Rasuwa</c:v>
                      </c:pt>
                      <c:pt idx="10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District'!$J$2:$J$14</c15:sqref>
                        </c15:formulaRef>
                      </c:ext>
                    </c:extLst>
                    <c:numCache>
                      <c:formatCode>0%</c:formatCode>
                      <c:ptCount val="11"/>
                      <c:pt idx="0">
                        <c:v>9.702527398792217E-2</c:v>
                      </c:pt>
                      <c:pt idx="1">
                        <c:v>0.13263252068888393</c:v>
                      </c:pt>
                      <c:pt idx="2">
                        <c:v>0.14614180272869604</c:v>
                      </c:pt>
                      <c:pt idx="6">
                        <c:v>0.13513755312010736</c:v>
                      </c:pt>
                      <c:pt idx="8">
                        <c:v>0.11630507716394542</c:v>
                      </c:pt>
                      <c:pt idx="9">
                        <c:v>7.6940281816148509E-2</c:v>
                      </c:pt>
                      <c:pt idx="10">
                        <c:v>0.29581749049429656</c:v>
                      </c:pt>
                    </c:numCache>
                  </c:numRef>
                </c:val>
              </c15:ser>
            </c15:filteredBarSeries>
            <c15:filteredB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District'!$L$1</c15:sqref>
                        </c15:formulaRef>
                      </c:ext>
                    </c:extLst>
                    <c:strCache>
                      <c:ptCount val="1"/>
                      <c:pt idx="0">
                        <c:v>Model houses construction (Unit - HH): 030</c:v>
                      </c:pt>
                    </c:strCache>
                  </c:strRef>
                </c:tx>
                <c:spPr>
                  <a:solidFill>
                    <a:schemeClr val="accent5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District'!$A$2:$A$14</c15:sqref>
                        </c15:formulaRef>
                      </c:ext>
                    </c:extLst>
                    <c:strCache>
                      <c:ptCount val="11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Kabhrepalanchok</c:v>
                      </c:pt>
                      <c:pt idx="4">
                        <c:v>Kathmandu</c:v>
                      </c:pt>
                      <c:pt idx="5">
                        <c:v>Makawanpur</c:v>
                      </c:pt>
                      <c:pt idx="6">
                        <c:v>Nuwakot</c:v>
                      </c:pt>
                      <c:pt idx="7">
                        <c:v>Okhaldhunga</c:v>
                      </c:pt>
                      <c:pt idx="8">
                        <c:v>Ramechhap</c:v>
                      </c:pt>
                      <c:pt idx="9">
                        <c:v>Rasuwa</c:v>
                      </c:pt>
                      <c:pt idx="10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District'!$L$2:$L$14</c15:sqref>
                        </c15:formulaRef>
                      </c:ext>
                    </c:extLst>
                    <c:numCache>
                      <c:formatCode>0%</c:formatCode>
                      <c:ptCount val="11"/>
                      <c:pt idx="1">
                        <c:v>0.13333333333333333</c:v>
                      </c:pt>
                      <c:pt idx="2">
                        <c:v>4</c:v>
                      </c:pt>
                      <c:pt idx="6">
                        <c:v>1</c:v>
                      </c:pt>
                      <c:pt idx="10">
                        <c:v>0.36666666666666664</c:v>
                      </c:pt>
                    </c:numCache>
                  </c:numRef>
                </c:val>
              </c15:ser>
            </c15:filteredBarSeries>
            <c15:filteredBar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District'!$N$1</c15:sqref>
                        </c15:formulaRef>
                      </c:ext>
                    </c:extLst>
                    <c:strCache>
                      <c:ptCount val="1"/>
                      <c:pt idx="0">
                        <c:v>Material support towards tools and equipments (Unit - HH): 950</c:v>
                      </c:pt>
                    </c:strCache>
                  </c:strRef>
                </c:tx>
                <c:spPr>
                  <a:solidFill>
                    <a:schemeClr val="accent1">
                      <a:lumMod val="80000"/>
                      <a:lumOff val="2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District'!$A$2:$A$14</c15:sqref>
                        </c15:formulaRef>
                      </c:ext>
                    </c:extLst>
                    <c:strCache>
                      <c:ptCount val="11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Kabhrepalanchok</c:v>
                      </c:pt>
                      <c:pt idx="4">
                        <c:v>Kathmandu</c:v>
                      </c:pt>
                      <c:pt idx="5">
                        <c:v>Makawanpur</c:v>
                      </c:pt>
                      <c:pt idx="6">
                        <c:v>Nuwakot</c:v>
                      </c:pt>
                      <c:pt idx="7">
                        <c:v>Okhaldhunga</c:v>
                      </c:pt>
                      <c:pt idx="8">
                        <c:v>Ramechhap</c:v>
                      </c:pt>
                      <c:pt idx="9">
                        <c:v>Rasuwa</c:v>
                      </c:pt>
                      <c:pt idx="10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District'!$N$2:$N$14</c15:sqref>
                        </c15:formulaRef>
                      </c:ext>
                    </c:extLst>
                    <c:numCache>
                      <c:formatCode>0%</c:formatCode>
                      <c:ptCount val="11"/>
                      <c:pt idx="0">
                        <c:v>0.21052631578947367</c:v>
                      </c:pt>
                      <c:pt idx="1">
                        <c:v>0.21052631578947367</c:v>
                      </c:pt>
                      <c:pt idx="2">
                        <c:v>0.21052631578947367</c:v>
                      </c:pt>
                      <c:pt idx="8">
                        <c:v>0.36842105263157893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193439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5445240"/>
        <c:crosses val="autoZero"/>
        <c:auto val="1"/>
        <c:lblAlgn val="ctr"/>
        <c:lblOffset val="100"/>
        <c:noMultiLvlLbl val="0"/>
      </c:catAx>
      <c:valAx>
        <c:axId val="275445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439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9"/>
          <c:order val="9"/>
          <c:tx>
            <c:strRef>
              <c:f>'Activities % By District'!$K$1</c:f>
              <c:strCache>
                <c:ptCount val="1"/>
                <c:pt idx="0">
                  <c:v>Masons trainings (Unit - Individual): 8,068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2">
                      <a:shade val="51000"/>
                      <a:satMod val="130000"/>
                    </a:schemeClr>
                  </a:gs>
                  <a:gs pos="80000">
                    <a:schemeClr val="accent2">
                      <a:shade val="93000"/>
                      <a:satMod val="130000"/>
                    </a:schemeClr>
                  </a:gs>
                  <a:gs pos="100000">
                    <a:schemeClr val="accent2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shade val="51000"/>
                      <a:satMod val="130000"/>
                    </a:schemeClr>
                  </a:gs>
                  <a:gs pos="80000">
                    <a:schemeClr val="accent6">
                      <a:shade val="93000"/>
                      <a:satMod val="130000"/>
                    </a:schemeClr>
                  </a:gs>
                  <a:gs pos="100000">
                    <a:schemeClr val="accent6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3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2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2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4"/>
            <c:bubble3D val="0"/>
            <c:spPr>
              <a:gradFill rotWithShape="1">
                <a:gsLst>
                  <a:gs pos="0">
                    <a:schemeClr val="accent4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4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4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6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6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6"/>
            <c:bubble3D val="0"/>
            <c:spPr>
              <a:gradFill rotWithShape="1">
                <a:gsLst>
                  <a:gs pos="0">
                    <a:schemeClr val="accent2">
                      <a:lumMod val="80000"/>
                      <a:lumOff val="20000"/>
                      <a:shade val="51000"/>
                      <a:satMod val="130000"/>
                    </a:schemeClr>
                  </a:gs>
                  <a:gs pos="80000">
                    <a:schemeClr val="accent2">
                      <a:lumMod val="80000"/>
                      <a:lumOff val="20000"/>
                      <a:shade val="93000"/>
                      <a:satMod val="130000"/>
                    </a:schemeClr>
                  </a:gs>
                  <a:gs pos="100000">
                    <a:schemeClr val="accent2">
                      <a:lumMod val="80000"/>
                      <a:lumOff val="2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7"/>
            <c:bubble3D val="0"/>
            <c:spPr>
              <a:gradFill rotWithShape="1">
                <a:gsLst>
                  <a:gs pos="0">
                    <a:schemeClr val="accent4">
                      <a:lumMod val="80000"/>
                      <a:lumOff val="20000"/>
                      <a:shade val="51000"/>
                      <a:satMod val="130000"/>
                    </a:schemeClr>
                  </a:gs>
                  <a:gs pos="80000">
                    <a:schemeClr val="accent4">
                      <a:lumMod val="80000"/>
                      <a:lumOff val="20000"/>
                      <a:shade val="93000"/>
                      <a:satMod val="130000"/>
                    </a:schemeClr>
                  </a:gs>
                  <a:gs pos="100000">
                    <a:schemeClr val="accent4">
                      <a:lumMod val="80000"/>
                      <a:lumOff val="2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8"/>
            <c:bubble3D val="0"/>
            <c:spPr>
              <a:gradFill rotWithShape="1">
                <a:gsLst>
                  <a:gs pos="0">
                    <a:schemeClr val="accent6">
                      <a:lumMod val="80000"/>
                      <a:lumOff val="20000"/>
                      <a:shade val="51000"/>
                      <a:satMod val="130000"/>
                    </a:schemeClr>
                  </a:gs>
                  <a:gs pos="80000">
                    <a:schemeClr val="accent6">
                      <a:lumMod val="80000"/>
                      <a:lumOff val="20000"/>
                      <a:shade val="93000"/>
                      <a:satMod val="130000"/>
                    </a:schemeClr>
                  </a:gs>
                  <a:gs pos="100000">
                    <a:schemeClr val="accent6">
                      <a:lumMod val="80000"/>
                      <a:lumOff val="2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9"/>
            <c:bubble3D val="0"/>
            <c:spPr>
              <a:gradFill rotWithShape="1">
                <a:gsLst>
                  <a:gs pos="0">
                    <a:schemeClr val="accent2">
                      <a:lumMod val="80000"/>
                      <a:shade val="51000"/>
                      <a:satMod val="130000"/>
                    </a:schemeClr>
                  </a:gs>
                  <a:gs pos="80000">
                    <a:schemeClr val="accent2">
                      <a:lumMod val="80000"/>
                      <a:shade val="93000"/>
                      <a:satMod val="130000"/>
                    </a:schemeClr>
                  </a:gs>
                  <a:gs pos="100000">
                    <a:schemeClr val="accent2">
                      <a:lumMod val="8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10"/>
            <c:bubble3D val="0"/>
            <c:spPr>
              <a:gradFill rotWithShape="1">
                <a:gsLst>
                  <a:gs pos="0">
                    <a:schemeClr val="accent4">
                      <a:lumMod val="80000"/>
                      <a:shade val="51000"/>
                      <a:satMod val="130000"/>
                    </a:schemeClr>
                  </a:gs>
                  <a:gs pos="80000">
                    <a:schemeClr val="accent4">
                      <a:lumMod val="80000"/>
                      <a:shade val="93000"/>
                      <a:satMod val="130000"/>
                    </a:schemeClr>
                  </a:gs>
                  <a:gs pos="100000">
                    <a:schemeClr val="accent4">
                      <a:lumMod val="8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'Activities % By District'!$A$2:$A$12</c:f>
              <c:strCache>
                <c:ptCount val="11"/>
                <c:pt idx="0">
                  <c:v>Dhading</c:v>
                </c:pt>
                <c:pt idx="1">
                  <c:v>Dolakha</c:v>
                </c:pt>
                <c:pt idx="2">
                  <c:v>Gorkha</c:v>
                </c:pt>
                <c:pt idx="3">
                  <c:v>Kabhrepalanchok</c:v>
                </c:pt>
                <c:pt idx="4">
                  <c:v>Kathmandu</c:v>
                </c:pt>
                <c:pt idx="5">
                  <c:v>Makawanpur</c:v>
                </c:pt>
                <c:pt idx="6">
                  <c:v>Nuwakot</c:v>
                </c:pt>
                <c:pt idx="7">
                  <c:v>Okhaldhunga</c:v>
                </c:pt>
                <c:pt idx="8">
                  <c:v>Ramechhap</c:v>
                </c:pt>
                <c:pt idx="9">
                  <c:v>Rasuwa</c:v>
                </c:pt>
                <c:pt idx="10">
                  <c:v>Sindhupalchok</c:v>
                </c:pt>
              </c:strCache>
            </c:strRef>
          </c:cat>
          <c:val>
            <c:numRef>
              <c:f>'Activities % By District'!$K$2:$K$12</c:f>
              <c:numCache>
                <c:formatCode>0%</c:formatCode>
                <c:ptCount val="11"/>
                <c:pt idx="0">
                  <c:v>0.21715418939018299</c:v>
                </c:pt>
                <c:pt idx="1">
                  <c:v>0.10535448686167601</c:v>
                </c:pt>
                <c:pt idx="2">
                  <c:v>0.14873574615766</c:v>
                </c:pt>
                <c:pt idx="3">
                  <c:v>4.2141794744670301E-2</c:v>
                </c:pt>
                <c:pt idx="4">
                  <c:v>6.5691621219633095E-2</c:v>
                </c:pt>
                <c:pt idx="5">
                  <c:v>3.3465542885473501E-2</c:v>
                </c:pt>
                <c:pt idx="6">
                  <c:v>2.3549826474962801E-2</c:v>
                </c:pt>
                <c:pt idx="7">
                  <c:v>6.1973227565691603E-2</c:v>
                </c:pt>
                <c:pt idx="8">
                  <c:v>8.5523054040654398E-2</c:v>
                </c:pt>
                <c:pt idx="9">
                  <c:v>5.0818046603867101E-2</c:v>
                </c:pt>
                <c:pt idx="10">
                  <c:v>0.16559246405552799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'Activities % By District'!$B$1</c15:sqref>
                        </c15:formulaRef>
                      </c:ext>
                    </c:extLst>
                    <c:strCache>
                      <c:ptCount val="1"/>
                      <c:pt idx="0">
                        <c:v>Carpenter trainings (Unit - Individual): 451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5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6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7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8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9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0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numFmt formatCode="0%;\-0%;" sourceLinked="0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11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Kabhrepalanchok</c:v>
                      </c:pt>
                      <c:pt idx="4">
                        <c:v>Kathmandu</c:v>
                      </c:pt>
                      <c:pt idx="5">
                        <c:v>Makawanpur</c:v>
                      </c:pt>
                      <c:pt idx="6">
                        <c:v>Nuwakot</c:v>
                      </c:pt>
                      <c:pt idx="7">
                        <c:v>Okhaldhunga</c:v>
                      </c:pt>
                      <c:pt idx="8">
                        <c:v>Ramechhap</c:v>
                      </c:pt>
                      <c:pt idx="9">
                        <c:v>Rasuwa</c:v>
                      </c:pt>
                      <c:pt idx="10">
                        <c:v>Sindhupalchok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'Activities % By District'!$B$2:$B$12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 formatCode="0%">
                        <c:v>0.13303769401330376</c:v>
                      </c:pt>
                      <c:pt idx="3" formatCode="0%">
                        <c:v>0.17960088691796008</c:v>
                      </c:pt>
                      <c:pt idx="6" formatCode="0%">
                        <c:v>0.13303769401330376</c:v>
                      </c:pt>
                      <c:pt idx="8" formatCode="0%">
                        <c:v>8.8691796008869186E-2</c:v>
                      </c:pt>
                      <c:pt idx="9" formatCode="0%">
                        <c:v>0.13303769401330376</c:v>
                      </c:pt>
                      <c:pt idx="10" formatCode="0%">
                        <c:v>0.33259423503325941</c:v>
                      </c:pt>
                    </c:numCache>
                  </c:numRef>
                </c:val>
                <c:extLst/>
              </c15:ser>
            </c15:filteredPieSeries>
            <c15:filteredPi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District'!$C$1</c15:sqref>
                        </c15:formulaRef>
                      </c:ext>
                    </c:extLst>
                    <c:strCache>
                      <c:ptCount val="1"/>
                      <c:pt idx="0">
                        <c:v>Cash/Voucher for building materials (Unit - HH): 8,432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5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6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7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8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9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0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11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Kabhrepalanchok</c:v>
                      </c:pt>
                      <c:pt idx="4">
                        <c:v>Kathmandu</c:v>
                      </c:pt>
                      <c:pt idx="5">
                        <c:v>Makawanpur</c:v>
                      </c:pt>
                      <c:pt idx="6">
                        <c:v>Nuwakot</c:v>
                      </c:pt>
                      <c:pt idx="7">
                        <c:v>Okhaldhunga</c:v>
                      </c:pt>
                      <c:pt idx="8">
                        <c:v>Ramechhap</c:v>
                      </c:pt>
                      <c:pt idx="9">
                        <c:v>Rasuwa</c:v>
                      </c:pt>
                      <c:pt idx="10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District'!$C$2:$C$12</c15:sqref>
                        </c15:formulaRef>
                      </c:ext>
                    </c:extLst>
                    <c:numCache>
                      <c:formatCode>0%</c:formatCode>
                      <c:ptCount val="11"/>
                      <c:pt idx="1">
                        <c:v>0.29767552182163187</c:v>
                      </c:pt>
                      <c:pt idx="2">
                        <c:v>0.26826375711574951</c:v>
                      </c:pt>
                      <c:pt idx="5">
                        <c:v>7.1157495256166978E-2</c:v>
                      </c:pt>
                      <c:pt idx="8">
                        <c:v>0.36290322580645162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District'!$D$1</c15:sqref>
                        </c15:formulaRef>
                      </c:ext>
                    </c:extLst>
                    <c:strCache>
                      <c:ptCount val="1"/>
                      <c:pt idx="0">
                        <c:v>Social mobilization for community groups (Unit - Individual): 28,300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5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6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7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8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9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0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11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Kabhrepalanchok</c:v>
                      </c:pt>
                      <c:pt idx="4">
                        <c:v>Kathmandu</c:v>
                      </c:pt>
                      <c:pt idx="5">
                        <c:v>Makawanpur</c:v>
                      </c:pt>
                      <c:pt idx="6">
                        <c:v>Nuwakot</c:v>
                      </c:pt>
                      <c:pt idx="7">
                        <c:v>Okhaldhunga</c:v>
                      </c:pt>
                      <c:pt idx="8">
                        <c:v>Ramechhap</c:v>
                      </c:pt>
                      <c:pt idx="9">
                        <c:v>Rasuwa</c:v>
                      </c:pt>
                      <c:pt idx="10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District'!$D$2:$D$12</c15:sqref>
                        </c15:formulaRef>
                      </c:ext>
                    </c:extLst>
                    <c:numCache>
                      <c:formatCode>0%</c:formatCode>
                      <c:ptCount val="11"/>
                      <c:pt idx="0">
                        <c:v>7.0671378091872791E-3</c:v>
                      </c:pt>
                      <c:pt idx="1">
                        <c:v>0.25795053003533569</c:v>
                      </c:pt>
                      <c:pt idx="2">
                        <c:v>0.32508833922261482</c:v>
                      </c:pt>
                      <c:pt idx="8">
                        <c:v>9.187279151943463E-2</c:v>
                      </c:pt>
                      <c:pt idx="10">
                        <c:v>0.31802120141342755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District'!$E$1</c15:sqref>
                        </c15:formulaRef>
                      </c:ext>
                    </c:extLst>
                    <c:strCache>
                      <c:ptCount val="1"/>
                      <c:pt idx="0">
                        <c:v>Technical assistance on construction guidance and supervision (Unit - Individual): 840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5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6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7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8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9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0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11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Kabhrepalanchok</c:v>
                      </c:pt>
                      <c:pt idx="4">
                        <c:v>Kathmandu</c:v>
                      </c:pt>
                      <c:pt idx="5">
                        <c:v>Makawanpur</c:v>
                      </c:pt>
                      <c:pt idx="6">
                        <c:v>Nuwakot</c:v>
                      </c:pt>
                      <c:pt idx="7">
                        <c:v>Okhaldhunga</c:v>
                      </c:pt>
                      <c:pt idx="8">
                        <c:v>Ramechhap</c:v>
                      </c:pt>
                      <c:pt idx="9">
                        <c:v>Rasuwa</c:v>
                      </c:pt>
                      <c:pt idx="10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District'!$E$2:$E$12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3" formatCode="0%">
                        <c:v>0.47619047619047616</c:v>
                      </c:pt>
                      <c:pt idx="10" formatCode="0%">
                        <c:v>0.52380952380952384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District'!$F$1</c15:sqref>
                        </c15:formulaRef>
                      </c:ext>
                    </c:extLst>
                    <c:strCache>
                      <c:ptCount val="1"/>
                      <c:pt idx="0">
                        <c:v>Core Shelter Construction (Unit - HH): 2,145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5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6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7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8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9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0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11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Kabhrepalanchok</c:v>
                      </c:pt>
                      <c:pt idx="4">
                        <c:v>Kathmandu</c:v>
                      </c:pt>
                      <c:pt idx="5">
                        <c:v>Makawanpur</c:v>
                      </c:pt>
                      <c:pt idx="6">
                        <c:v>Nuwakot</c:v>
                      </c:pt>
                      <c:pt idx="7">
                        <c:v>Okhaldhunga</c:v>
                      </c:pt>
                      <c:pt idx="8">
                        <c:v>Ramechhap</c:v>
                      </c:pt>
                      <c:pt idx="9">
                        <c:v>Rasuwa</c:v>
                      </c:pt>
                      <c:pt idx="10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District'!$F$2:$F$12</c15:sqref>
                        </c15:formulaRef>
                      </c:ext>
                    </c:extLst>
                    <c:numCache>
                      <c:formatCode>0%</c:formatCode>
                      <c:ptCount val="11"/>
                      <c:pt idx="1">
                        <c:v>9.3240093240093247E-2</c:v>
                      </c:pt>
                      <c:pt idx="2">
                        <c:v>0.14731934731934732</c:v>
                      </c:pt>
                      <c:pt idx="3">
                        <c:v>5.5944055944055944E-3</c:v>
                      </c:pt>
                      <c:pt idx="6">
                        <c:v>9.3240093240093247E-2</c:v>
                      </c:pt>
                      <c:pt idx="10">
                        <c:v>0.66060606060606064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District'!$G$1</c15:sqref>
                        </c15:formulaRef>
                      </c:ext>
                    </c:extLst>
                    <c:strCache>
                      <c:ptCount val="1"/>
                      <c:pt idx="0">
                        <c:v> Electrician trainings (Unit - Individual): 192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5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6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7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8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9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0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11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Kabhrepalanchok</c:v>
                      </c:pt>
                      <c:pt idx="4">
                        <c:v>Kathmandu</c:v>
                      </c:pt>
                      <c:pt idx="5">
                        <c:v>Makawanpur</c:v>
                      </c:pt>
                      <c:pt idx="6">
                        <c:v>Nuwakot</c:v>
                      </c:pt>
                      <c:pt idx="7">
                        <c:v>Okhaldhunga</c:v>
                      </c:pt>
                      <c:pt idx="8">
                        <c:v>Ramechhap</c:v>
                      </c:pt>
                      <c:pt idx="9">
                        <c:v>Rasuwa</c:v>
                      </c:pt>
                      <c:pt idx="10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District'!$G$2:$G$12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 formatCode="0%">
                        <c:v>0.3125</c:v>
                      </c:pt>
                      <c:pt idx="6" formatCode="0%">
                        <c:v>0.3125</c:v>
                      </c:pt>
                      <c:pt idx="9" formatCode="0%">
                        <c:v>0.375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District'!$H$1</c15:sqref>
                        </c15:formulaRef>
                      </c:ext>
                    </c:extLst>
                    <c:strCache>
                      <c:ptCount val="1"/>
                      <c:pt idx="0">
                        <c:v>Facilitation to financial and technical assistance (Unit - Community): 090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5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6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7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8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9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0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11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Kabhrepalanchok</c:v>
                      </c:pt>
                      <c:pt idx="4">
                        <c:v>Kathmandu</c:v>
                      </c:pt>
                      <c:pt idx="5">
                        <c:v>Makawanpur</c:v>
                      </c:pt>
                      <c:pt idx="6">
                        <c:v>Nuwakot</c:v>
                      </c:pt>
                      <c:pt idx="7">
                        <c:v>Okhaldhunga</c:v>
                      </c:pt>
                      <c:pt idx="8">
                        <c:v>Ramechhap</c:v>
                      </c:pt>
                      <c:pt idx="9">
                        <c:v>Rasuwa</c:v>
                      </c:pt>
                      <c:pt idx="10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District'!$H$2:$H$12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9" formatCode="0%">
                        <c:v>1</c:v>
                      </c:pt>
                    </c:numCache>
                  </c:numRef>
                </c:val>
              </c15:ser>
            </c15:filteredPieSeries>
            <c15:filteredPi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District'!$I$1</c15:sqref>
                        </c15:formulaRef>
                      </c:ext>
                    </c:extLst>
                    <c:strCache>
                      <c:ptCount val="1"/>
                      <c:pt idx="0">
                        <c:v>Technical assistance on guidelines/procedures/curriculum (Unit - Individual): 000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5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6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7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8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9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0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11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Kabhrepalanchok</c:v>
                      </c:pt>
                      <c:pt idx="4">
                        <c:v>Kathmandu</c:v>
                      </c:pt>
                      <c:pt idx="5">
                        <c:v>Makawanpur</c:v>
                      </c:pt>
                      <c:pt idx="6">
                        <c:v>Nuwakot</c:v>
                      </c:pt>
                      <c:pt idx="7">
                        <c:v>Okhaldhunga</c:v>
                      </c:pt>
                      <c:pt idx="8">
                        <c:v>Ramechhap</c:v>
                      </c:pt>
                      <c:pt idx="9">
                        <c:v>Rasuwa</c:v>
                      </c:pt>
                      <c:pt idx="10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District'!$I$2:$I$12</c15:sqref>
                        </c15:formulaRef>
                      </c:ext>
                    </c:extLst>
                    <c:numCache>
                      <c:formatCode>0%</c:formatCode>
                      <c:ptCount val="11"/>
                      <c:pt idx="0">
                        <c:v>0.33333333333333331</c:v>
                      </c:pt>
                      <c:pt idx="1">
                        <c:v>0.33333333333333331</c:v>
                      </c:pt>
                      <c:pt idx="2">
                        <c:v>0.33333333333333331</c:v>
                      </c:pt>
                    </c:numCache>
                  </c:numRef>
                </c:val>
              </c15:ser>
            </c15:filteredPieSeries>
            <c15:filteredPie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District'!$J$1</c15:sqref>
                        </c15:formulaRef>
                      </c:ext>
                    </c:extLst>
                    <c:strCache>
                      <c:ptCount val="1"/>
                      <c:pt idx="0">
                        <c:v> Locally available/produced construction matefrial support (Unit - HH): 22,355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5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6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7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8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9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0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11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Kabhrepalanchok</c:v>
                      </c:pt>
                      <c:pt idx="4">
                        <c:v>Kathmandu</c:v>
                      </c:pt>
                      <c:pt idx="5">
                        <c:v>Makawanpur</c:v>
                      </c:pt>
                      <c:pt idx="6">
                        <c:v>Nuwakot</c:v>
                      </c:pt>
                      <c:pt idx="7">
                        <c:v>Okhaldhunga</c:v>
                      </c:pt>
                      <c:pt idx="8">
                        <c:v>Ramechhap</c:v>
                      </c:pt>
                      <c:pt idx="9">
                        <c:v>Rasuwa</c:v>
                      </c:pt>
                      <c:pt idx="10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District'!$J$2:$J$12</c15:sqref>
                        </c15:formulaRef>
                      </c:ext>
                    </c:extLst>
                    <c:numCache>
                      <c:formatCode>0%</c:formatCode>
                      <c:ptCount val="11"/>
                      <c:pt idx="0">
                        <c:v>9.702527398792217E-2</c:v>
                      </c:pt>
                      <c:pt idx="1">
                        <c:v>0.13263252068888393</c:v>
                      </c:pt>
                      <c:pt idx="2">
                        <c:v>0.14614180272869604</c:v>
                      </c:pt>
                      <c:pt idx="6">
                        <c:v>0.13513755312010736</c:v>
                      </c:pt>
                      <c:pt idx="8">
                        <c:v>0.11630507716394542</c:v>
                      </c:pt>
                      <c:pt idx="9">
                        <c:v>7.6940281816148509E-2</c:v>
                      </c:pt>
                      <c:pt idx="10">
                        <c:v>0.29581749049429656</c:v>
                      </c:pt>
                    </c:numCache>
                  </c:numRef>
                </c:val>
              </c15:ser>
            </c15:filteredPieSeries>
          </c:ext>
        </c:extLst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12958210198536"/>
          <c:y val="0.33166484397783602"/>
          <c:w val="0.26689065630020398"/>
          <c:h val="0.668335156022163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0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2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'Activities % By District'!$B$1</c:f>
              <c:strCache>
                <c:ptCount val="1"/>
                <c:pt idx="0">
                  <c:v>Carpenter trainings (Unit - Individual): ,451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2">
                      <a:shade val="51000"/>
                      <a:satMod val="130000"/>
                    </a:schemeClr>
                  </a:gs>
                  <a:gs pos="80000">
                    <a:schemeClr val="accent2">
                      <a:shade val="93000"/>
                      <a:satMod val="130000"/>
                    </a:schemeClr>
                  </a:gs>
                  <a:gs pos="100000">
                    <a:schemeClr val="accent2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shade val="51000"/>
                      <a:satMod val="130000"/>
                    </a:schemeClr>
                  </a:gs>
                  <a:gs pos="80000">
                    <a:schemeClr val="accent6">
                      <a:shade val="93000"/>
                      <a:satMod val="130000"/>
                    </a:schemeClr>
                  </a:gs>
                  <a:gs pos="100000">
                    <a:schemeClr val="accent6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3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2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2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4"/>
            <c:bubble3D val="0"/>
            <c:spPr>
              <a:gradFill rotWithShape="1">
                <a:gsLst>
                  <a:gs pos="0">
                    <a:schemeClr val="accent4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4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4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6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6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Lbls>
            <c:numFmt formatCode="0%;\-0%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'Activities % By District'!$A$2:$A$12</c:f>
              <c:strCache>
                <c:ptCount val="6"/>
                <c:pt idx="0">
                  <c:v>Dhading</c:v>
                </c:pt>
                <c:pt idx="1">
                  <c:v>Kabhrepalanchok</c:v>
                </c:pt>
                <c:pt idx="2">
                  <c:v>Nuwakot</c:v>
                </c:pt>
                <c:pt idx="3">
                  <c:v>Ramechhap</c:v>
                </c:pt>
                <c:pt idx="4">
                  <c:v>Rasuwa</c:v>
                </c:pt>
                <c:pt idx="5">
                  <c:v>Sindhupalchok</c:v>
                </c:pt>
              </c:strCache>
              <c:extLst/>
            </c:strRef>
          </c:cat>
          <c:val>
            <c:numRef>
              <c:f>'Activities % By District'!$B$2:$B$12</c:f>
              <c:numCache>
                <c:formatCode>0%</c:formatCode>
                <c:ptCount val="6"/>
                <c:pt idx="0">
                  <c:v>0.13303769401330401</c:v>
                </c:pt>
                <c:pt idx="1">
                  <c:v>0.17960088691796</c:v>
                </c:pt>
                <c:pt idx="2">
                  <c:v>0.13303769401330401</c:v>
                </c:pt>
                <c:pt idx="3">
                  <c:v>8.86917960088692E-2</c:v>
                </c:pt>
                <c:pt idx="4">
                  <c:v>0.13303769401330401</c:v>
                </c:pt>
                <c:pt idx="5">
                  <c:v>0.33259423503325902</c:v>
                </c:pt>
              </c:numCache>
              <c:extLst/>
            </c:numRef>
          </c:val>
          <c:extLst/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12958210198536"/>
          <c:y val="0.33166484397783602"/>
          <c:w val="0.26689065630020398"/>
          <c:h val="0.5474569845435990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2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5"/>
          <c:order val="5"/>
          <c:tx>
            <c:strRef>
              <c:f>'Activities % By District'!$G$1</c:f>
              <c:strCache>
                <c:ptCount val="1"/>
                <c:pt idx="0">
                  <c:v> Electrician trainings (Unit - Individual): ,192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2">
                      <a:shade val="51000"/>
                      <a:satMod val="130000"/>
                    </a:schemeClr>
                  </a:gs>
                  <a:gs pos="80000">
                    <a:schemeClr val="accent2">
                      <a:shade val="93000"/>
                      <a:satMod val="130000"/>
                    </a:schemeClr>
                  </a:gs>
                  <a:gs pos="100000">
                    <a:schemeClr val="accent2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shade val="51000"/>
                      <a:satMod val="130000"/>
                    </a:schemeClr>
                  </a:gs>
                  <a:gs pos="80000">
                    <a:schemeClr val="accent6">
                      <a:shade val="93000"/>
                      <a:satMod val="130000"/>
                    </a:schemeClr>
                  </a:gs>
                  <a:gs pos="100000">
                    <a:schemeClr val="accent6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'Activities % By District'!$A$2:$A$12</c:f>
              <c:strCache>
                <c:ptCount val="3"/>
                <c:pt idx="0">
                  <c:v>Dhading</c:v>
                </c:pt>
                <c:pt idx="1">
                  <c:v>Nuwakot</c:v>
                </c:pt>
                <c:pt idx="2">
                  <c:v>Rasuwa</c:v>
                </c:pt>
              </c:strCache>
              <c:extLst/>
            </c:strRef>
          </c:cat>
          <c:val>
            <c:numRef>
              <c:f>'Activities % By District'!$G$2:$G$12</c:f>
              <c:numCache>
                <c:formatCode>0%</c:formatCode>
                <c:ptCount val="3"/>
                <c:pt idx="0">
                  <c:v>0.3125</c:v>
                </c:pt>
                <c:pt idx="1">
                  <c:v>0.3125</c:v>
                </c:pt>
                <c:pt idx="2">
                  <c:v>0.375</c:v>
                </c:pt>
              </c:numCache>
              <c:extLst/>
            </c:numRef>
          </c:val>
          <c:extLst/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'Activities % By District'!$B$1</c15:sqref>
                        </c15:formulaRef>
                      </c:ext>
                    </c:extLst>
                    <c:strCache>
                      <c:ptCount val="1"/>
                      <c:pt idx="0">
                        <c:v>Carpenter trainings (Unit - Individual): 451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numFmt formatCode="0%;\-0%;" sourceLinked="0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Nuwakot</c:v>
                      </c:pt>
                      <c:pt idx="2">
                        <c:v>Rasuwa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'Activities % By District'!$B$2:$B$12</c15:sqref>
                        </c15:formulaRef>
                      </c:ext>
                    </c:extLst>
                    <c:numCache>
                      <c:formatCode>0%</c:formatCode>
                      <c:ptCount val="3"/>
                      <c:pt idx="0">
                        <c:v>0.13303769401330376</c:v>
                      </c:pt>
                      <c:pt idx="1">
                        <c:v>0.13303769401330376</c:v>
                      </c:pt>
                      <c:pt idx="2">
                        <c:v>0.13303769401330376</c:v>
                      </c:pt>
                    </c:numCache>
                  </c:numRef>
                </c:val>
                <c:extLst/>
              </c15:ser>
            </c15:filteredPieSeries>
            <c15:filteredPi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District'!$C$1</c15:sqref>
                        </c15:formulaRef>
                      </c:ext>
                    </c:extLst>
                    <c:strCache>
                      <c:ptCount val="1"/>
                      <c:pt idx="0">
                        <c:v>Cash/Voucher for building materials (Unit - HH): 8,432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Nuwakot</c:v>
                      </c:pt>
                      <c:pt idx="2">
                        <c:v>Rasuwa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District'!$C$2:$C$12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District'!$D$1</c15:sqref>
                        </c15:formulaRef>
                      </c:ext>
                    </c:extLst>
                    <c:strCache>
                      <c:ptCount val="1"/>
                      <c:pt idx="0">
                        <c:v>Social mobilization for community groups (Unit - Individual): 28,300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Nuwakot</c:v>
                      </c:pt>
                      <c:pt idx="2">
                        <c:v>Rasuwa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District'!$D$2:$D$12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 formatCode="0%">
                        <c:v>7.0671378091872791E-3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District'!$E$1</c15:sqref>
                        </c15:formulaRef>
                      </c:ext>
                    </c:extLst>
                    <c:strCache>
                      <c:ptCount val="1"/>
                      <c:pt idx="0">
                        <c:v>Technical assistance on construction guidance and supervision (Unit - Individual): 840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Nuwakot</c:v>
                      </c:pt>
                      <c:pt idx="2">
                        <c:v>Rasuwa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District'!$E$2:$E$12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District'!$F$1</c15:sqref>
                        </c15:formulaRef>
                      </c:ext>
                    </c:extLst>
                    <c:strCache>
                      <c:ptCount val="1"/>
                      <c:pt idx="0">
                        <c:v>Core Shelter Construction (Unit - HH): 2,145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Nuwakot</c:v>
                      </c:pt>
                      <c:pt idx="2">
                        <c:v>Rasuwa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District'!$F$2:$F$12</c15:sqref>
                        </c15:formulaRef>
                      </c:ext>
                    </c:extLst>
                    <c:numCache>
                      <c:formatCode>0%</c:formatCode>
                      <c:ptCount val="3"/>
                      <c:pt idx="1">
                        <c:v>9.3240093240093247E-2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</c:ext>
        </c:extLst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12958210198536"/>
          <c:y val="0.33166484397783602"/>
          <c:w val="0.25584129347457901"/>
          <c:h val="0.2343766404199479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05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2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11"/>
          <c:order val="11"/>
          <c:tx>
            <c:strRef>
              <c:f>'Activities % By District'!$M$1</c:f>
              <c:strCache>
                <c:ptCount val="1"/>
                <c:pt idx="0">
                  <c:v>Plumber trainings (Unit - Individual): ,192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2">
                      <a:shade val="51000"/>
                      <a:satMod val="130000"/>
                    </a:schemeClr>
                  </a:gs>
                  <a:gs pos="80000">
                    <a:schemeClr val="accent2">
                      <a:shade val="93000"/>
                      <a:satMod val="130000"/>
                    </a:schemeClr>
                  </a:gs>
                  <a:gs pos="100000">
                    <a:schemeClr val="accent2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shade val="51000"/>
                      <a:satMod val="130000"/>
                    </a:schemeClr>
                  </a:gs>
                  <a:gs pos="80000">
                    <a:schemeClr val="accent6">
                      <a:shade val="93000"/>
                      <a:satMod val="130000"/>
                    </a:schemeClr>
                  </a:gs>
                  <a:gs pos="100000">
                    <a:schemeClr val="accent6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'Activities % By District'!$A$2:$A$12</c:f>
              <c:strCache>
                <c:ptCount val="3"/>
                <c:pt idx="0">
                  <c:v>Dhading</c:v>
                </c:pt>
                <c:pt idx="1">
                  <c:v>Nuwakot</c:v>
                </c:pt>
                <c:pt idx="2">
                  <c:v>Rasuwa</c:v>
                </c:pt>
              </c:strCache>
              <c:extLst/>
            </c:strRef>
          </c:cat>
          <c:val>
            <c:numRef>
              <c:f>'Activities % By District'!$M$2:$M$12</c:f>
              <c:numCache>
                <c:formatCode>0%</c:formatCode>
                <c:ptCount val="3"/>
                <c:pt idx="0">
                  <c:v>0.3125</c:v>
                </c:pt>
                <c:pt idx="1">
                  <c:v>0.3125</c:v>
                </c:pt>
                <c:pt idx="2">
                  <c:v>0.375</c:v>
                </c:pt>
              </c:numCache>
              <c:extLst/>
            </c:numRef>
          </c:val>
          <c:extLst/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'Activities % By District'!$B$1</c15:sqref>
                        </c15:formulaRef>
                      </c:ext>
                    </c:extLst>
                    <c:strCache>
                      <c:ptCount val="1"/>
                      <c:pt idx="0">
                        <c:v>Carpenter trainings (Unit - Individual): 451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numFmt formatCode="0%;\-0%;" sourceLinked="0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Nuwakot</c:v>
                      </c:pt>
                      <c:pt idx="2">
                        <c:v>Rasuwa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'Activities % By District'!$B$2:$B$12</c15:sqref>
                        </c15:formulaRef>
                      </c:ext>
                    </c:extLst>
                    <c:numCache>
                      <c:formatCode>0%</c:formatCode>
                      <c:ptCount val="3"/>
                      <c:pt idx="0">
                        <c:v>0.13303769401330376</c:v>
                      </c:pt>
                      <c:pt idx="1">
                        <c:v>0.13303769401330376</c:v>
                      </c:pt>
                      <c:pt idx="2">
                        <c:v>0.13303769401330376</c:v>
                      </c:pt>
                    </c:numCache>
                  </c:numRef>
                </c:val>
                <c:extLst/>
              </c15:ser>
            </c15:filteredPieSeries>
            <c15:filteredPi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District'!$C$1</c15:sqref>
                        </c15:formulaRef>
                      </c:ext>
                    </c:extLst>
                    <c:strCache>
                      <c:ptCount val="1"/>
                      <c:pt idx="0">
                        <c:v>Cash/Voucher for building materials (Unit - HH): 8,432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Nuwakot</c:v>
                      </c:pt>
                      <c:pt idx="2">
                        <c:v>Rasuwa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District'!$C$2:$C$12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District'!$D$1</c15:sqref>
                        </c15:formulaRef>
                      </c:ext>
                    </c:extLst>
                    <c:strCache>
                      <c:ptCount val="1"/>
                      <c:pt idx="0">
                        <c:v>Social mobilization for community groups (Unit - Individual): 28,300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Nuwakot</c:v>
                      </c:pt>
                      <c:pt idx="2">
                        <c:v>Rasuwa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District'!$D$2:$D$12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 formatCode="0%">
                        <c:v>7.0671378091872791E-3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District'!$E$1</c15:sqref>
                        </c15:formulaRef>
                      </c:ext>
                    </c:extLst>
                    <c:strCache>
                      <c:ptCount val="1"/>
                      <c:pt idx="0">
                        <c:v>Technical assistance on construction guidance and supervision (Unit - Individual): 840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Nuwakot</c:v>
                      </c:pt>
                      <c:pt idx="2">
                        <c:v>Rasuwa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District'!$E$2:$E$12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District'!$F$1</c15:sqref>
                        </c15:formulaRef>
                      </c:ext>
                    </c:extLst>
                    <c:strCache>
                      <c:ptCount val="1"/>
                      <c:pt idx="0">
                        <c:v>Core Shelter Construction (Unit - HH): 2,145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Nuwakot</c:v>
                      </c:pt>
                      <c:pt idx="2">
                        <c:v>Rasuwa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District'!$F$2:$F$12</c15:sqref>
                        </c15:formulaRef>
                      </c:ext>
                    </c:extLst>
                    <c:numCache>
                      <c:formatCode>0%</c:formatCode>
                      <c:ptCount val="3"/>
                      <c:pt idx="1">
                        <c:v>9.3240093240093247E-2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District'!$G$1</c15:sqref>
                        </c15:formulaRef>
                      </c:ext>
                    </c:extLst>
                    <c:strCache>
                      <c:ptCount val="1"/>
                      <c:pt idx="0">
                        <c:v> Electrician trainings (Unit - Individual): 192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Nuwakot</c:v>
                      </c:pt>
                      <c:pt idx="2">
                        <c:v>Rasuwa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District'!$G$2:$G$12</c15:sqref>
                        </c15:formulaRef>
                      </c:ext>
                    </c:extLst>
                    <c:numCache>
                      <c:formatCode>0%</c:formatCode>
                      <c:ptCount val="3"/>
                      <c:pt idx="0">
                        <c:v>0.3125</c:v>
                      </c:pt>
                      <c:pt idx="1">
                        <c:v>0.3125</c:v>
                      </c:pt>
                      <c:pt idx="2">
                        <c:v>0.375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District'!$H$1</c15:sqref>
                        </c15:formulaRef>
                      </c:ext>
                    </c:extLst>
                    <c:strCache>
                      <c:ptCount val="1"/>
                      <c:pt idx="0">
                        <c:v>Facilitation to financial and technical assistance (Unit - Community): 090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Nuwakot</c:v>
                      </c:pt>
                      <c:pt idx="2">
                        <c:v>Rasuwa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District'!$H$2:$H$12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2" formatCode="0%">
                        <c:v>1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District'!$I$1</c15:sqref>
                        </c15:formulaRef>
                      </c:ext>
                    </c:extLst>
                    <c:strCache>
                      <c:ptCount val="1"/>
                      <c:pt idx="0">
                        <c:v>Technical assistance on guidelines/procedures/curriculum (Unit - Individual): 000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Nuwakot</c:v>
                      </c:pt>
                      <c:pt idx="2">
                        <c:v>Rasuwa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District'!$I$2:$I$12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 formatCode="0%">
                        <c:v>0.33333333333333331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District'!$J$1</c15:sqref>
                        </c15:formulaRef>
                      </c:ext>
                    </c:extLst>
                    <c:strCache>
                      <c:ptCount val="1"/>
                      <c:pt idx="0">
                        <c:v> Locally available/produced construction matefrial support (Unit - HH): 22,355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Nuwakot</c:v>
                      </c:pt>
                      <c:pt idx="2">
                        <c:v>Rasuwa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District'!$J$2:$J$12</c15:sqref>
                        </c15:formulaRef>
                      </c:ext>
                    </c:extLst>
                    <c:numCache>
                      <c:formatCode>0%</c:formatCode>
                      <c:ptCount val="3"/>
                      <c:pt idx="0">
                        <c:v>9.702527398792217E-2</c:v>
                      </c:pt>
                      <c:pt idx="1">
                        <c:v>0.13513755312010736</c:v>
                      </c:pt>
                      <c:pt idx="2">
                        <c:v>7.6940281816148509E-2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District'!$K$1</c15:sqref>
                        </c15:formulaRef>
                      </c:ext>
                    </c:extLst>
                    <c:strCache>
                      <c:ptCount val="1"/>
                      <c:pt idx="0">
                        <c:v>Masons trainings (Unit - Individual): 8,068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Nuwakot</c:v>
                      </c:pt>
                      <c:pt idx="2">
                        <c:v>Rasuwa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District'!$K$2:$K$12</c15:sqref>
                        </c15:formulaRef>
                      </c:ext>
                    </c:extLst>
                    <c:numCache>
                      <c:formatCode>0%</c:formatCode>
                      <c:ptCount val="3"/>
                      <c:pt idx="0">
                        <c:v>0.21715418939018344</c:v>
                      </c:pt>
                      <c:pt idx="1">
                        <c:v>2.3549826474962815E-2</c:v>
                      </c:pt>
                      <c:pt idx="2">
                        <c:v>5.0818046603867129E-2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District'!$L$1</c15:sqref>
                        </c15:formulaRef>
                      </c:ext>
                    </c:extLst>
                    <c:strCache>
                      <c:ptCount val="1"/>
                      <c:pt idx="0">
                        <c:v>Model houses construction (Unit - HH): 030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Nuwakot</c:v>
                      </c:pt>
                      <c:pt idx="2">
                        <c:v>Rasuwa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District'!$L$2:$L$12</c15:sqref>
                        </c15:formulaRef>
                      </c:ext>
                    </c:extLst>
                    <c:numCache>
                      <c:formatCode>0%</c:formatCode>
                      <c:ptCount val="3"/>
                      <c:pt idx="1">
                        <c:v>1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</c:ext>
        </c:extLst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4862029573752498"/>
          <c:y val="0.33166497391254701"/>
          <c:w val="0.22299656015265501"/>
          <c:h val="0.2343766404199479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05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2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3"/>
          <c:order val="3"/>
          <c:tx>
            <c:strRef>
              <c:f>'Activities % By District'!$E$1</c:f>
              <c:strCache>
                <c:ptCount val="1"/>
                <c:pt idx="0">
                  <c:v>Technical assistance on construction guidance and supervision (Unit - Individual): ,840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2">
                      <a:shade val="51000"/>
                      <a:satMod val="130000"/>
                    </a:schemeClr>
                  </a:gs>
                  <a:gs pos="80000">
                    <a:schemeClr val="accent2">
                      <a:shade val="93000"/>
                      <a:satMod val="130000"/>
                    </a:schemeClr>
                  </a:gs>
                  <a:gs pos="100000">
                    <a:schemeClr val="accent2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 xmlns:c15="http://schemas.microsoft.com/office/drawing/2012/chart"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'Activities % By District'!$A$2:$A$12</c:f>
              <c:strCache>
                <c:ptCount val="2"/>
                <c:pt idx="0">
                  <c:v>Kabhrepalanchok</c:v>
                </c:pt>
                <c:pt idx="1">
                  <c:v>Sindhupalchok</c:v>
                </c:pt>
              </c:strCache>
              <c:extLst/>
            </c:strRef>
          </c:cat>
          <c:val>
            <c:numRef>
              <c:f>'Activities % By District'!$E$2:$E$12</c:f>
              <c:numCache>
                <c:formatCode>0%</c:formatCode>
                <c:ptCount val="2"/>
                <c:pt idx="0">
                  <c:v>0.476190476190476</c:v>
                </c:pt>
                <c:pt idx="1">
                  <c:v>0.52380952380952395</c:v>
                </c:pt>
              </c:numCache>
              <c:extLst/>
            </c:numRef>
          </c:val>
          <c:extLst xmlns:c15="http://schemas.microsoft.com/office/drawing/2012/chart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'Activities % By District'!$B$1</c15:sqref>
                        </c15:formulaRef>
                      </c:ext>
                    </c:extLst>
                    <c:strCache>
                      <c:ptCount val="1"/>
                      <c:pt idx="0">
                        <c:v>Carpenter trainings (Unit - Individual): 451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numFmt formatCode="0%;\-0%;" sourceLinked="0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2"/>
                      <c:pt idx="0">
                        <c:v>Kabhrepalanchok</c:v>
                      </c:pt>
                      <c:pt idx="1">
                        <c:v>Sindhupalchok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'Activities % By District'!$B$2:$B$12</c15:sqref>
                        </c15:formulaRef>
                      </c:ext>
                    </c:extLst>
                    <c:numCache>
                      <c:formatCode>0%</c:formatCode>
                      <c:ptCount val="2"/>
                      <c:pt idx="0">
                        <c:v>0.17960088691796008</c:v>
                      </c:pt>
                      <c:pt idx="1">
                        <c:v>0.33259423503325941</c:v>
                      </c:pt>
                    </c:numCache>
                  </c:numRef>
                </c:val>
                <c:extLst/>
              </c15:ser>
            </c15:filteredPieSeries>
            <c15:filteredPi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District'!$C$1</c15:sqref>
                        </c15:formulaRef>
                      </c:ext>
                    </c:extLst>
                    <c:strCache>
                      <c:ptCount val="1"/>
                      <c:pt idx="0">
                        <c:v>Cash/Voucher for building materials (Unit - HH): 8,432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2"/>
                      <c:pt idx="0">
                        <c:v>Kabhrepalanchok</c:v>
                      </c:pt>
                      <c:pt idx="1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District'!$C$2:$C$12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District'!$D$1</c15:sqref>
                        </c15:formulaRef>
                      </c:ext>
                    </c:extLst>
                    <c:strCache>
                      <c:ptCount val="1"/>
                      <c:pt idx="0">
                        <c:v>Social mobilization for community groups (Unit - Individual): 28,300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2"/>
                      <c:pt idx="0">
                        <c:v>Kabhrepalanchok</c:v>
                      </c:pt>
                      <c:pt idx="1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District'!$D$2:$D$12</c15:sqref>
                        </c15:formulaRef>
                      </c:ext>
                    </c:extLst>
                    <c:numCache>
                      <c:formatCode>0%</c:formatCode>
                      <c:ptCount val="2"/>
                      <c:pt idx="1">
                        <c:v>0.31802120141342755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District'!$F$1</c15:sqref>
                        </c15:formulaRef>
                      </c:ext>
                    </c:extLst>
                    <c:strCache>
                      <c:ptCount val="1"/>
                      <c:pt idx="0">
                        <c:v>Core Shelter Construction (Unit - HH): 2,145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2"/>
                      <c:pt idx="0">
                        <c:v>Kabhrepalanchok</c:v>
                      </c:pt>
                      <c:pt idx="1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District'!$F$2:$F$12</c15:sqref>
                        </c15:formulaRef>
                      </c:ext>
                    </c:extLst>
                    <c:numCache>
                      <c:formatCode>0%</c:formatCode>
                      <c:ptCount val="2"/>
                      <c:pt idx="0">
                        <c:v>5.5944055944055944E-3</c:v>
                      </c:pt>
                      <c:pt idx="1">
                        <c:v>0.66060606060606064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District'!$G$1</c15:sqref>
                        </c15:formulaRef>
                      </c:ext>
                    </c:extLst>
                    <c:strCache>
                      <c:ptCount val="1"/>
                      <c:pt idx="0">
                        <c:v> Electrician trainings (Unit - Individual): 192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2"/>
                      <c:pt idx="0">
                        <c:v>Kabhrepalanchok</c:v>
                      </c:pt>
                      <c:pt idx="1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District'!$G$2:$G$12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District'!$H$1</c15:sqref>
                        </c15:formulaRef>
                      </c:ext>
                    </c:extLst>
                    <c:strCache>
                      <c:ptCount val="1"/>
                      <c:pt idx="0">
                        <c:v>Facilitation to financial and technical assistance (Unit - Community): 090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2"/>
                      <c:pt idx="0">
                        <c:v>Kabhrepalanchok</c:v>
                      </c:pt>
                      <c:pt idx="1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District'!$H$2:$H$12</c15:sqref>
                        </c15:formulaRef>
                      </c:ext>
                    </c:extLst>
                    <c:numCache>
                      <c:formatCode>General</c:formatCode>
                      <c:ptCount val="2"/>
                    </c:numCache>
                  </c:numRef>
                </c:val>
                <c:extLst xmlns:c15="http://schemas.microsoft.com/office/drawing/2012/chart"/>
              </c15:ser>
            </c15:filteredPieSeries>
          </c:ext>
        </c:extLst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6652865368796301"/>
          <c:y val="0.58357247276900703"/>
          <c:w val="0.34429309671311598"/>
          <c:h val="0.2738134883551859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2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2"/>
          <c:order val="2"/>
          <c:tx>
            <c:strRef>
              <c:f>'Activities % By District'!$D$1</c:f>
              <c:strCache>
                <c:ptCount val="1"/>
                <c:pt idx="0">
                  <c:v>Social mobilization for community groups (Unit - Individual): 28,300</c:v>
                </c:pt>
              </c:strCache>
              <c:extLst xmlns:c15="http://schemas.microsoft.com/office/drawing/2012/chart"/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2">
                      <a:shade val="51000"/>
                      <a:satMod val="130000"/>
                    </a:schemeClr>
                  </a:gs>
                  <a:gs pos="80000">
                    <a:schemeClr val="accent2">
                      <a:shade val="93000"/>
                      <a:satMod val="130000"/>
                    </a:schemeClr>
                  </a:gs>
                  <a:gs pos="100000">
                    <a:schemeClr val="accent2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shade val="51000"/>
                      <a:satMod val="130000"/>
                    </a:schemeClr>
                  </a:gs>
                  <a:gs pos="80000">
                    <a:schemeClr val="accent6">
                      <a:shade val="93000"/>
                      <a:satMod val="130000"/>
                    </a:schemeClr>
                  </a:gs>
                  <a:gs pos="100000">
                    <a:schemeClr val="accent6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3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2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2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4"/>
            <c:bubble3D val="0"/>
            <c:spPr>
              <a:gradFill rotWithShape="1">
                <a:gsLst>
                  <a:gs pos="0">
                    <a:schemeClr val="accent4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4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4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 xmlns:c15="http://schemas.microsoft.com/office/drawing/2012/chart"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'Activities % By District'!$A$2:$A$12</c:f>
              <c:strCache>
                <c:ptCount val="5"/>
                <c:pt idx="0">
                  <c:v>Dhading</c:v>
                </c:pt>
                <c:pt idx="1">
                  <c:v>Dolakha</c:v>
                </c:pt>
                <c:pt idx="2">
                  <c:v>Gorkha</c:v>
                </c:pt>
                <c:pt idx="3">
                  <c:v>Ramechhap</c:v>
                </c:pt>
                <c:pt idx="4">
                  <c:v>Sindhupalchok</c:v>
                </c:pt>
              </c:strCache>
              <c:extLst/>
            </c:strRef>
          </c:cat>
          <c:val>
            <c:numRef>
              <c:f>'Activities % By District'!$D$2:$D$12</c:f>
              <c:numCache>
                <c:formatCode>0%</c:formatCode>
                <c:ptCount val="5"/>
                <c:pt idx="0">
                  <c:v>7.0671378091872799E-3</c:v>
                </c:pt>
                <c:pt idx="1">
                  <c:v>0.25795053003533602</c:v>
                </c:pt>
                <c:pt idx="2">
                  <c:v>0.32508833922261499</c:v>
                </c:pt>
                <c:pt idx="3">
                  <c:v>9.1872791519434602E-2</c:v>
                </c:pt>
                <c:pt idx="4">
                  <c:v>0.31802120141342699</c:v>
                </c:pt>
              </c:numCache>
              <c:extLst/>
            </c:numRef>
          </c:val>
          <c:extLst xmlns:c15="http://schemas.microsoft.com/office/drawing/2012/chart"/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'Activities % By District'!$B$1</c15:sqref>
                        </c15:formulaRef>
                      </c:ext>
                    </c:extLst>
                    <c:strCache>
                      <c:ptCount val="1"/>
                      <c:pt idx="0">
                        <c:v>Carpenter trainings (Unit - Individual): 451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numFmt formatCode="0%;\-0%;" sourceLinked="0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5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Ramechhap</c:v>
                      </c:pt>
                      <c:pt idx="4">
                        <c:v>Sindhupalchok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'Activities % By District'!$B$2:$B$12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 formatCode="0%">
                        <c:v>0.13303769401330376</c:v>
                      </c:pt>
                      <c:pt idx="3" formatCode="0%">
                        <c:v>8.8691796008869186E-2</c:v>
                      </c:pt>
                      <c:pt idx="4" formatCode="0%">
                        <c:v>0.33259423503325941</c:v>
                      </c:pt>
                    </c:numCache>
                  </c:numRef>
                </c:val>
                <c:extLst/>
              </c15:ser>
            </c15:filteredPieSeries>
            <c15:filteredPi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District'!$C$1</c15:sqref>
                        </c15:formulaRef>
                      </c:ext>
                    </c:extLst>
                    <c:strCache>
                      <c:ptCount val="1"/>
                      <c:pt idx="0">
                        <c:v>Cash/Voucher for building materials (Unit - HH): 8,432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5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Ramechhap</c:v>
                      </c:pt>
                      <c:pt idx="4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District'!$C$2:$C$12</c15:sqref>
                        </c15:formulaRef>
                      </c:ext>
                    </c:extLst>
                    <c:numCache>
                      <c:formatCode>0%</c:formatCode>
                      <c:ptCount val="5"/>
                      <c:pt idx="1">
                        <c:v>0.29767552182163187</c:v>
                      </c:pt>
                      <c:pt idx="2">
                        <c:v>0.26826375711574951</c:v>
                      </c:pt>
                      <c:pt idx="3">
                        <c:v>0.36290322580645162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District'!$E$1</c15:sqref>
                        </c15:formulaRef>
                      </c:ext>
                    </c:extLst>
                    <c:strCache>
                      <c:ptCount val="1"/>
                      <c:pt idx="0">
                        <c:v>Technical assistance on construction guidance and supervision (Unit - Individual): 840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5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Ramechhap</c:v>
                      </c:pt>
                      <c:pt idx="4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District'!$E$2:$E$12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4" formatCode="0%">
                        <c:v>0.52380952380952384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District'!$F$1</c15:sqref>
                        </c15:formulaRef>
                      </c:ext>
                    </c:extLst>
                    <c:strCache>
                      <c:ptCount val="1"/>
                      <c:pt idx="0">
                        <c:v>Core Shelter Construction (Unit - HH): 2,145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5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Ramechhap</c:v>
                      </c:pt>
                      <c:pt idx="4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District'!$F$2:$F$12</c15:sqref>
                        </c15:formulaRef>
                      </c:ext>
                    </c:extLst>
                    <c:numCache>
                      <c:formatCode>0%</c:formatCode>
                      <c:ptCount val="5"/>
                      <c:pt idx="1">
                        <c:v>9.3240093240093247E-2</c:v>
                      </c:pt>
                      <c:pt idx="2">
                        <c:v>0.14731934731934732</c:v>
                      </c:pt>
                      <c:pt idx="4">
                        <c:v>0.66060606060606064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District'!$G$1</c15:sqref>
                        </c15:formulaRef>
                      </c:ext>
                    </c:extLst>
                    <c:strCache>
                      <c:ptCount val="1"/>
                      <c:pt idx="0">
                        <c:v> Electrician trainings (Unit - Individual): 192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5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Ramechhap</c:v>
                      </c:pt>
                      <c:pt idx="4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District'!$G$2:$G$12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 formatCode="0%">
                        <c:v>0.3125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</c:ext>
        </c:extLst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12958210198536"/>
          <c:y val="0.33166484397783602"/>
          <c:w val="0.186000173473333"/>
          <c:h val="0.2343766404199479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2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7"/>
          <c:order val="7"/>
          <c:tx>
            <c:strRef>
              <c:f>'Activities % By District'!$I$1</c:f>
              <c:strCache>
                <c:ptCount val="1"/>
                <c:pt idx="0">
                  <c:v>Technical assistance on guidelines/procedures/curriculum (Unit - Individual): 600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2">
                      <a:shade val="51000"/>
                      <a:satMod val="130000"/>
                    </a:schemeClr>
                  </a:gs>
                  <a:gs pos="80000">
                    <a:schemeClr val="accent2">
                      <a:shade val="93000"/>
                      <a:satMod val="130000"/>
                    </a:schemeClr>
                  </a:gs>
                  <a:gs pos="100000">
                    <a:schemeClr val="accent2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shade val="51000"/>
                      <a:satMod val="130000"/>
                    </a:schemeClr>
                  </a:gs>
                  <a:gs pos="80000">
                    <a:schemeClr val="accent6">
                      <a:shade val="93000"/>
                      <a:satMod val="130000"/>
                    </a:schemeClr>
                  </a:gs>
                  <a:gs pos="100000">
                    <a:schemeClr val="accent6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'Activities % By District'!$A$2:$A$12</c:f>
              <c:strCache>
                <c:ptCount val="3"/>
                <c:pt idx="0">
                  <c:v>Dhading</c:v>
                </c:pt>
                <c:pt idx="1">
                  <c:v>Dolakha</c:v>
                </c:pt>
                <c:pt idx="2">
                  <c:v>Gorkha</c:v>
                </c:pt>
              </c:strCache>
              <c:extLst/>
            </c:strRef>
          </c:cat>
          <c:val>
            <c:numRef>
              <c:f>'Activities % By District'!$I$2:$I$12</c:f>
              <c:numCache>
                <c:formatCode>0%</c:formatCode>
                <c:ptCount val="3"/>
                <c:pt idx="0">
                  <c:v>0.33333333333333298</c:v>
                </c:pt>
                <c:pt idx="1">
                  <c:v>0.33333333333333298</c:v>
                </c:pt>
                <c:pt idx="2">
                  <c:v>0.33333333333333298</c:v>
                </c:pt>
              </c:numCache>
              <c:extLst/>
            </c:numRef>
          </c:val>
          <c:extLst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'Activities % By District'!$B$1</c15:sqref>
                        </c15:formulaRef>
                      </c:ext>
                    </c:extLst>
                    <c:strCache>
                      <c:ptCount val="1"/>
                      <c:pt idx="0">
                        <c:v>Carpenter trainings (Unit - Individual): 451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numFmt formatCode="0%;\-0%;" sourceLinked="0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'Activities % By District'!$B$2:$B$12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 formatCode="0%">
                        <c:v>0.13303769401330376</c:v>
                      </c:pt>
                    </c:numCache>
                  </c:numRef>
                </c:val>
                <c:extLst/>
              </c15:ser>
            </c15:filteredPieSeries>
            <c15:filteredPi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District'!$C$1</c15:sqref>
                        </c15:formulaRef>
                      </c:ext>
                    </c:extLst>
                    <c:strCache>
                      <c:ptCount val="1"/>
                      <c:pt idx="0">
                        <c:v>Cash/Voucher for building materials (Unit - HH): 8,432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District'!$C$2:$C$12</c15:sqref>
                        </c15:formulaRef>
                      </c:ext>
                    </c:extLst>
                    <c:numCache>
                      <c:formatCode>0%</c:formatCode>
                      <c:ptCount val="3"/>
                      <c:pt idx="1">
                        <c:v>0.29767552182163187</c:v>
                      </c:pt>
                      <c:pt idx="2">
                        <c:v>0.26826375711574951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District'!$D$1</c15:sqref>
                        </c15:formulaRef>
                      </c:ext>
                    </c:extLst>
                    <c:strCache>
                      <c:ptCount val="1"/>
                      <c:pt idx="0">
                        <c:v>Social mobilization for community groups (Unit - Individual): 28,300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District'!$D$2:$D$12</c15:sqref>
                        </c15:formulaRef>
                      </c:ext>
                    </c:extLst>
                    <c:numCache>
                      <c:formatCode>0%</c:formatCode>
                      <c:ptCount val="3"/>
                      <c:pt idx="0">
                        <c:v>7.0671378091872791E-3</c:v>
                      </c:pt>
                      <c:pt idx="1">
                        <c:v>0.25795053003533569</c:v>
                      </c:pt>
                      <c:pt idx="2">
                        <c:v>0.32508833922261482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District'!$E$1</c15:sqref>
                        </c15:formulaRef>
                      </c:ext>
                    </c:extLst>
                    <c:strCache>
                      <c:ptCount val="1"/>
                      <c:pt idx="0">
                        <c:v>Technical assistance on construction guidance and supervision (Unit - Individual): 840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District'!$E$2:$E$12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District'!$F$1</c15:sqref>
                        </c15:formulaRef>
                      </c:ext>
                    </c:extLst>
                    <c:strCache>
                      <c:ptCount val="1"/>
                      <c:pt idx="0">
                        <c:v>Core Shelter Construction (Unit - HH): 2,145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District'!$F$2:$F$12</c15:sqref>
                        </c15:formulaRef>
                      </c:ext>
                    </c:extLst>
                    <c:numCache>
                      <c:formatCode>0%</c:formatCode>
                      <c:ptCount val="3"/>
                      <c:pt idx="1">
                        <c:v>9.3240093240093247E-2</c:v>
                      </c:pt>
                      <c:pt idx="2">
                        <c:v>0.14731934731934732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District'!$G$1</c15:sqref>
                        </c15:formulaRef>
                      </c:ext>
                    </c:extLst>
                    <c:strCache>
                      <c:ptCount val="1"/>
                      <c:pt idx="0">
                        <c:v> Electrician trainings (Unit - Individual): 192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District'!$G$2:$G$12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 formatCode="0%">
                        <c:v>0.3125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District'!$H$1</c15:sqref>
                        </c15:formulaRef>
                      </c:ext>
                    </c:extLst>
                    <c:strCache>
                      <c:ptCount val="1"/>
                      <c:pt idx="0">
                        <c:v>Facilitation to financial and technical assistance (Unit - Community): 90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District'!$H$2:$H$12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District'!$J$1</c15:sqref>
                        </c15:formulaRef>
                      </c:ext>
                    </c:extLst>
                    <c:strCache>
                      <c:ptCount val="1"/>
                      <c:pt idx="0">
                        <c:v> Locally available/produced construction matefrial support (Unit - HH): 22,355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District'!$J$2:$J$12</c15:sqref>
                        </c15:formulaRef>
                      </c:ext>
                    </c:extLst>
                    <c:numCache>
                      <c:formatCode>0%</c:formatCode>
                      <c:ptCount val="3"/>
                      <c:pt idx="0">
                        <c:v>9.702527398792217E-2</c:v>
                      </c:pt>
                      <c:pt idx="1">
                        <c:v>0.13263252068888393</c:v>
                      </c:pt>
                      <c:pt idx="2">
                        <c:v>0.14614180272869604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District'!$K$1</c15:sqref>
                        </c15:formulaRef>
                      </c:ext>
                    </c:extLst>
                    <c:strCache>
                      <c:ptCount val="1"/>
                      <c:pt idx="0">
                        <c:v>Masons trainings (Unit - Individual): 8,068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District'!$K$2:$K$12</c15:sqref>
                        </c15:formulaRef>
                      </c:ext>
                    </c:extLst>
                    <c:numCache>
                      <c:formatCode>0%</c:formatCode>
                      <c:ptCount val="3"/>
                      <c:pt idx="0">
                        <c:v>0.21715418939018344</c:v>
                      </c:pt>
                      <c:pt idx="1">
                        <c:v>0.10535448686167576</c:v>
                      </c:pt>
                      <c:pt idx="2">
                        <c:v>0.14873574615765989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District'!$L$1</c15:sqref>
                        </c15:formulaRef>
                      </c:ext>
                    </c:extLst>
                    <c:strCache>
                      <c:ptCount val="1"/>
                      <c:pt idx="0">
                        <c:v>Model houses construction (Unit - HH): 30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District'!$L$2:$L$12</c15:sqref>
                        </c15:formulaRef>
                      </c:ext>
                    </c:extLst>
                    <c:numCache>
                      <c:formatCode>0%</c:formatCode>
                      <c:ptCount val="3"/>
                      <c:pt idx="1">
                        <c:v>0.13333333333333333</c:v>
                      </c:pt>
                      <c:pt idx="2">
                        <c:v>4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District'!$M$1</c15:sqref>
                        </c15:formulaRef>
                      </c:ext>
                    </c:extLst>
                    <c:strCache>
                      <c:ptCount val="1"/>
                      <c:pt idx="0">
                        <c:v>Plumber trainings (Unit - Individual): 192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District'!$M$2:$M$12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 formatCode="0%">
                        <c:v>0.3125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District'!$N$1</c15:sqref>
                        </c15:formulaRef>
                      </c:ext>
                    </c:extLst>
                    <c:strCache>
                      <c:ptCount val="1"/>
                      <c:pt idx="0">
                        <c:v>Material support towards tools and equipments (Unit - HH): 950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3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District'!$N$2:$N$12</c15:sqref>
                        </c15:formulaRef>
                      </c:ext>
                    </c:extLst>
                    <c:numCache>
                      <c:formatCode>0%</c:formatCode>
                      <c:ptCount val="3"/>
                      <c:pt idx="0">
                        <c:v>0.21052631578947367</c:v>
                      </c:pt>
                      <c:pt idx="1">
                        <c:v>0.21052631578947367</c:v>
                      </c:pt>
                      <c:pt idx="2">
                        <c:v>0.21052631578947367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</c:ext>
        </c:extLst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2627316549309895"/>
          <c:y val="0.62574296718839095"/>
          <c:w val="0.15523645186669099"/>
          <c:h val="0.2343766404199479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1"/>
          <c:order val="1"/>
          <c:tx>
            <c:strRef>
              <c:f>'[hrrp-nepal-analysis-160122.xlsx]Activities % By District'!$C$1</c:f>
              <c:strCache>
                <c:ptCount val="1"/>
                <c:pt idx="0">
                  <c:v>Cash/Voucher for building materials (Unit - HH): 8,432</c:v>
                </c:pt>
              </c:strCache>
              <c:extLst xmlns:c15="http://schemas.microsoft.com/office/drawing/2012/chart"/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6">
                      <a:shade val="51000"/>
                      <a:satMod val="130000"/>
                    </a:schemeClr>
                  </a:gs>
                  <a:gs pos="80000">
                    <a:schemeClr val="accent6">
                      <a:shade val="93000"/>
                      <a:satMod val="130000"/>
                    </a:schemeClr>
                  </a:gs>
                  <a:gs pos="100000">
                    <a:schemeClr val="accent6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shade val="51000"/>
                      <a:satMod val="130000"/>
                    </a:schemeClr>
                  </a:gs>
                  <a:gs pos="80000">
                    <a:schemeClr val="accent6">
                      <a:shade val="93000"/>
                      <a:satMod val="130000"/>
                    </a:schemeClr>
                  </a:gs>
                  <a:gs pos="100000">
                    <a:schemeClr val="accent6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3"/>
            <c:bubble3D val="0"/>
            <c:spPr>
              <a:gradFill rotWithShape="1">
                <a:gsLst>
                  <a:gs pos="0">
                    <a:schemeClr val="accent6">
                      <a:lumMod val="80000"/>
                      <a:lumOff val="20000"/>
                      <a:shade val="51000"/>
                      <a:satMod val="130000"/>
                    </a:schemeClr>
                  </a:gs>
                  <a:gs pos="80000">
                    <a:schemeClr val="accent6">
                      <a:lumMod val="80000"/>
                      <a:lumOff val="20000"/>
                      <a:shade val="93000"/>
                      <a:satMod val="130000"/>
                    </a:schemeClr>
                  </a:gs>
                  <a:gs pos="100000">
                    <a:schemeClr val="accent6">
                      <a:lumMod val="80000"/>
                      <a:lumOff val="2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 xmlns:c15="http://schemas.microsoft.com/office/drawing/2012/chart"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'Activities % By District'!$A$2:$A$12</c:f>
              <c:strCache>
                <c:ptCount val="4"/>
                <c:pt idx="0">
                  <c:v>Dolakha</c:v>
                </c:pt>
                <c:pt idx="1">
                  <c:v>Gorkha</c:v>
                </c:pt>
                <c:pt idx="2">
                  <c:v>Makawanpur</c:v>
                </c:pt>
                <c:pt idx="3">
                  <c:v>Ramechhap</c:v>
                </c:pt>
              </c:strCache>
              <c:extLst/>
            </c:strRef>
          </c:cat>
          <c:val>
            <c:numRef>
              <c:f>'Activities % By District'!$C$2:$C$12</c:f>
              <c:numCache>
                <c:formatCode>0%</c:formatCode>
                <c:ptCount val="4"/>
                <c:pt idx="0">
                  <c:v>0.29767552182163198</c:v>
                </c:pt>
                <c:pt idx="1">
                  <c:v>0.26826375711574901</c:v>
                </c:pt>
                <c:pt idx="2">
                  <c:v>7.1157495256167005E-2</c:v>
                </c:pt>
                <c:pt idx="3">
                  <c:v>0.36290322580645201</c:v>
                </c:pt>
              </c:numCache>
              <c:extLst/>
            </c:numRef>
          </c:val>
          <c:extLst xmlns:c15="http://schemas.microsoft.com/office/drawing/2012/chart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'Activities % By District'!$B$1</c15:sqref>
                        </c15:formulaRef>
                      </c:ext>
                    </c:extLst>
                    <c:strCache>
                      <c:ptCount val="1"/>
                      <c:pt idx="0">
                        <c:v>Carpenter trainings (Unit - Individual): 451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numFmt formatCode="0%;\-0%;" sourceLinked="0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Dolakha</c:v>
                      </c:pt>
                      <c:pt idx="1">
                        <c:v>Gorkha</c:v>
                      </c:pt>
                      <c:pt idx="2">
                        <c:v>Makawanpur</c:v>
                      </c:pt>
                      <c:pt idx="3">
                        <c:v>Ramechhap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'Activities % By District'!$B$2:$B$12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3" formatCode="0%">
                        <c:v>8.8691796008869186E-2</c:v>
                      </c:pt>
                    </c:numCache>
                  </c:numRef>
                </c:val>
                <c:extLst/>
              </c15:ser>
            </c15:filteredPieSeries>
            <c15:filteredPi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District'!$D$1</c15:sqref>
                        </c15:formulaRef>
                      </c:ext>
                    </c:extLst>
                    <c:strCache>
                      <c:ptCount val="1"/>
                      <c:pt idx="0">
                        <c:v>Social mobilization for community groups (Unit - Individual): 28,300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Dolakha</c:v>
                      </c:pt>
                      <c:pt idx="1">
                        <c:v>Gorkha</c:v>
                      </c:pt>
                      <c:pt idx="2">
                        <c:v>Makawanpur</c:v>
                      </c:pt>
                      <c:pt idx="3">
                        <c:v>Ramechhap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District'!$D$2:$D$12</c15:sqref>
                        </c15:formulaRef>
                      </c:ext>
                    </c:extLst>
                    <c:numCache>
                      <c:formatCode>0%</c:formatCode>
                      <c:ptCount val="4"/>
                      <c:pt idx="0">
                        <c:v>0.25795053003533569</c:v>
                      </c:pt>
                      <c:pt idx="1">
                        <c:v>0.32508833922261482</c:v>
                      </c:pt>
                      <c:pt idx="3">
                        <c:v>9.187279151943463E-2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District'!$E$1</c15:sqref>
                        </c15:formulaRef>
                      </c:ext>
                    </c:extLst>
                    <c:strCache>
                      <c:ptCount val="1"/>
                      <c:pt idx="0">
                        <c:v>Technical assistance on construction guidance and supervision (Unit - Individual): 840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Dolakha</c:v>
                      </c:pt>
                      <c:pt idx="1">
                        <c:v>Gorkha</c:v>
                      </c:pt>
                      <c:pt idx="2">
                        <c:v>Makawanpur</c:v>
                      </c:pt>
                      <c:pt idx="3">
                        <c:v>Ramechhap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District'!$E$2:$E$12</c15:sqref>
                        </c15:formulaRef>
                      </c:ext>
                    </c:extLst>
                    <c:numCache>
                      <c:formatCode>General</c:formatCode>
                      <c:ptCount val="4"/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District'!$F$1</c15:sqref>
                        </c15:formulaRef>
                      </c:ext>
                    </c:extLst>
                    <c:strCache>
                      <c:ptCount val="1"/>
                      <c:pt idx="0">
                        <c:v>Core Shelter Construction (Unit - HH): 2,145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Dolakha</c:v>
                      </c:pt>
                      <c:pt idx="1">
                        <c:v>Gorkha</c:v>
                      </c:pt>
                      <c:pt idx="2">
                        <c:v>Makawanpur</c:v>
                      </c:pt>
                      <c:pt idx="3">
                        <c:v>Ramechhap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District'!$F$2:$F$12</c15:sqref>
                        </c15:formulaRef>
                      </c:ext>
                    </c:extLst>
                    <c:numCache>
                      <c:formatCode>0%</c:formatCode>
                      <c:ptCount val="4"/>
                      <c:pt idx="0">
                        <c:v>9.3240093240093247E-2</c:v>
                      </c:pt>
                      <c:pt idx="1">
                        <c:v>0.14731934731934732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District'!$G$1</c15:sqref>
                        </c15:formulaRef>
                      </c:ext>
                    </c:extLst>
                    <c:strCache>
                      <c:ptCount val="1"/>
                      <c:pt idx="0">
                        <c:v> Electrician trainings (Unit - Individual): 192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Dolakha</c:v>
                      </c:pt>
                      <c:pt idx="1">
                        <c:v>Gorkha</c:v>
                      </c:pt>
                      <c:pt idx="2">
                        <c:v>Makawanpur</c:v>
                      </c:pt>
                      <c:pt idx="3">
                        <c:v>Ramechhap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District'!$G$2:$G$12</c15:sqref>
                        </c15:formulaRef>
                      </c:ext>
                    </c:extLst>
                    <c:numCache>
                      <c:formatCode>General</c:formatCode>
                      <c:ptCount val="4"/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District'!$H$1</c15:sqref>
                        </c15:formulaRef>
                      </c:ext>
                    </c:extLst>
                    <c:strCache>
                      <c:ptCount val="1"/>
                      <c:pt idx="0">
                        <c:v>Facilitation to financial and technical assistance (Unit - Community): 90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Dolakha</c:v>
                      </c:pt>
                      <c:pt idx="1">
                        <c:v>Gorkha</c:v>
                      </c:pt>
                      <c:pt idx="2">
                        <c:v>Makawanpur</c:v>
                      </c:pt>
                      <c:pt idx="3">
                        <c:v>Ramechhap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District'!$H$2:$H$12</c15:sqref>
                        </c15:formulaRef>
                      </c:ext>
                    </c:extLst>
                    <c:numCache>
                      <c:formatCode>General</c:formatCode>
                      <c:ptCount val="4"/>
                    </c:numCache>
                  </c:numRef>
                </c:val>
                <c:extLst xmlns:c15="http://schemas.microsoft.com/office/drawing/2012/chart"/>
              </c15:ser>
            </c15:filteredPieSeries>
          </c:ext>
        </c:extLst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9616559894748697"/>
          <c:y val="0.461294473607466"/>
          <c:w val="0.26689065630020398"/>
          <c:h val="0.2951399825021869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2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4"/>
          <c:order val="4"/>
          <c:tx>
            <c:strRef>
              <c:f>'Activities % By District'!$F$1</c:f>
              <c:strCache>
                <c:ptCount val="1"/>
                <c:pt idx="0">
                  <c:v>Core Shelter Construction (Unit - HH): 2,145</c:v>
                </c:pt>
              </c:strCache>
              <c:extLst xmlns:c15="http://schemas.microsoft.com/office/drawing/2012/chart"/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6">
                      <a:shade val="51000"/>
                      <a:satMod val="130000"/>
                    </a:schemeClr>
                  </a:gs>
                  <a:gs pos="80000">
                    <a:schemeClr val="accent6">
                      <a:shade val="93000"/>
                      <a:satMod val="130000"/>
                    </a:schemeClr>
                  </a:gs>
                  <a:gs pos="100000">
                    <a:schemeClr val="accent6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shade val="51000"/>
                      <a:satMod val="130000"/>
                    </a:schemeClr>
                  </a:gs>
                  <a:gs pos="80000">
                    <a:schemeClr val="accent6">
                      <a:shade val="93000"/>
                      <a:satMod val="130000"/>
                    </a:schemeClr>
                  </a:gs>
                  <a:gs pos="100000">
                    <a:schemeClr val="accent6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3"/>
            <c:bubble3D val="0"/>
            <c:spPr>
              <a:gradFill rotWithShape="1">
                <a:gsLst>
                  <a:gs pos="0">
                    <a:schemeClr val="accent2">
                      <a:lumMod val="80000"/>
                      <a:lumOff val="20000"/>
                      <a:shade val="51000"/>
                      <a:satMod val="130000"/>
                    </a:schemeClr>
                  </a:gs>
                  <a:gs pos="80000">
                    <a:schemeClr val="accent2">
                      <a:lumMod val="80000"/>
                      <a:lumOff val="20000"/>
                      <a:shade val="93000"/>
                      <a:satMod val="130000"/>
                    </a:schemeClr>
                  </a:gs>
                  <a:gs pos="100000">
                    <a:schemeClr val="accent2">
                      <a:lumMod val="80000"/>
                      <a:lumOff val="2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4"/>
            <c:bubble3D val="0"/>
            <c:spPr>
              <a:gradFill rotWithShape="1">
                <a:gsLst>
                  <a:gs pos="0">
                    <a:schemeClr val="accent4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4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4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 xmlns:c15="http://schemas.microsoft.com/office/drawing/2012/chart"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'Activities % By District'!$A$2:$A$12</c:f>
              <c:strCache>
                <c:ptCount val="5"/>
                <c:pt idx="0">
                  <c:v>Dolakha</c:v>
                </c:pt>
                <c:pt idx="1">
                  <c:v>Gorkha</c:v>
                </c:pt>
                <c:pt idx="2">
                  <c:v>Kabhrepalanchok</c:v>
                </c:pt>
                <c:pt idx="3">
                  <c:v>Nuwakot</c:v>
                </c:pt>
                <c:pt idx="4">
                  <c:v>Sindhupalchok</c:v>
                </c:pt>
              </c:strCache>
              <c:extLst/>
            </c:strRef>
          </c:cat>
          <c:val>
            <c:numRef>
              <c:f>'Activities % By District'!$F$2:$F$12</c:f>
              <c:numCache>
                <c:formatCode>0%</c:formatCode>
                <c:ptCount val="5"/>
                <c:pt idx="0">
                  <c:v>9.3240093240093205E-2</c:v>
                </c:pt>
                <c:pt idx="1">
                  <c:v>0.14731934731934701</c:v>
                </c:pt>
                <c:pt idx="2">
                  <c:v>5.5944055944055901E-3</c:v>
                </c:pt>
                <c:pt idx="3">
                  <c:v>9.3240093240093205E-2</c:v>
                </c:pt>
                <c:pt idx="4">
                  <c:v>0.66060606060606097</c:v>
                </c:pt>
              </c:numCache>
              <c:extLst/>
            </c:numRef>
          </c:val>
          <c:extLst xmlns:c15="http://schemas.microsoft.com/office/drawing/2012/chart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'Activities % By District'!$B$1</c15:sqref>
                        </c15:formulaRef>
                      </c:ext>
                    </c:extLst>
                    <c:strCache>
                      <c:ptCount val="1"/>
                      <c:pt idx="0">
                        <c:v>Carpenter trainings (Unit - Individual): 451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numFmt formatCode="0%;\-0%;" sourceLinked="0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5"/>
                      <c:pt idx="0">
                        <c:v>Dolakha</c:v>
                      </c:pt>
                      <c:pt idx="1">
                        <c:v>Gorkha</c:v>
                      </c:pt>
                      <c:pt idx="2">
                        <c:v>Kabhrepalanchok</c:v>
                      </c:pt>
                      <c:pt idx="3">
                        <c:v>Nuwakot</c:v>
                      </c:pt>
                      <c:pt idx="4">
                        <c:v>Sindhupalchok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'Activities % By District'!$B$2:$B$12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2" formatCode="0%">
                        <c:v>0.17960088691796008</c:v>
                      </c:pt>
                      <c:pt idx="3" formatCode="0%">
                        <c:v>0.13303769401330376</c:v>
                      </c:pt>
                      <c:pt idx="4" formatCode="0%">
                        <c:v>0.33259423503325941</c:v>
                      </c:pt>
                    </c:numCache>
                  </c:numRef>
                </c:val>
                <c:extLst/>
              </c15:ser>
            </c15:filteredPieSeries>
            <c15:filteredPi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District'!$C$1</c15:sqref>
                        </c15:formulaRef>
                      </c:ext>
                    </c:extLst>
                    <c:strCache>
                      <c:ptCount val="1"/>
                      <c:pt idx="0">
                        <c:v>Cash/Voucher for building materials (Unit - HH): 8,432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5"/>
                      <c:pt idx="0">
                        <c:v>Dolakha</c:v>
                      </c:pt>
                      <c:pt idx="1">
                        <c:v>Gorkha</c:v>
                      </c:pt>
                      <c:pt idx="2">
                        <c:v>Kabhrepalanchok</c:v>
                      </c:pt>
                      <c:pt idx="3">
                        <c:v>Nuwakot</c:v>
                      </c:pt>
                      <c:pt idx="4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District'!$C$2:$C$12</c15:sqref>
                        </c15:formulaRef>
                      </c:ext>
                    </c:extLst>
                    <c:numCache>
                      <c:formatCode>0%</c:formatCode>
                      <c:ptCount val="5"/>
                      <c:pt idx="0">
                        <c:v>0.29767552182163187</c:v>
                      </c:pt>
                      <c:pt idx="1">
                        <c:v>0.26826375711574951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District'!$D$1</c15:sqref>
                        </c15:formulaRef>
                      </c:ext>
                    </c:extLst>
                    <c:strCache>
                      <c:ptCount val="1"/>
                      <c:pt idx="0">
                        <c:v>Social mobilization for community groups (Unit - Individual): 28,300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5"/>
                      <c:pt idx="0">
                        <c:v>Dolakha</c:v>
                      </c:pt>
                      <c:pt idx="1">
                        <c:v>Gorkha</c:v>
                      </c:pt>
                      <c:pt idx="2">
                        <c:v>Kabhrepalanchok</c:v>
                      </c:pt>
                      <c:pt idx="3">
                        <c:v>Nuwakot</c:v>
                      </c:pt>
                      <c:pt idx="4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District'!$D$2:$D$12</c15:sqref>
                        </c15:formulaRef>
                      </c:ext>
                    </c:extLst>
                    <c:numCache>
                      <c:formatCode>0%</c:formatCode>
                      <c:ptCount val="5"/>
                      <c:pt idx="0">
                        <c:v>0.25795053003533569</c:v>
                      </c:pt>
                      <c:pt idx="1">
                        <c:v>0.32508833922261482</c:v>
                      </c:pt>
                      <c:pt idx="4">
                        <c:v>0.31802120141342755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District'!$E$1</c15:sqref>
                        </c15:formulaRef>
                      </c:ext>
                    </c:extLst>
                    <c:strCache>
                      <c:ptCount val="1"/>
                      <c:pt idx="0">
                        <c:v>Technical assistance on construction guidance and supervision (Unit - Individual): 840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5"/>
                      <c:pt idx="0">
                        <c:v>Dolakha</c:v>
                      </c:pt>
                      <c:pt idx="1">
                        <c:v>Gorkha</c:v>
                      </c:pt>
                      <c:pt idx="2">
                        <c:v>Kabhrepalanchok</c:v>
                      </c:pt>
                      <c:pt idx="3">
                        <c:v>Nuwakot</c:v>
                      </c:pt>
                      <c:pt idx="4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District'!$E$2:$E$12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2" formatCode="0%">
                        <c:v>0.47619047619047616</c:v>
                      </c:pt>
                      <c:pt idx="4" formatCode="0%">
                        <c:v>0.52380952380952384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District'!$G$1</c15:sqref>
                        </c15:formulaRef>
                      </c:ext>
                    </c:extLst>
                    <c:strCache>
                      <c:ptCount val="1"/>
                      <c:pt idx="0">
                        <c:v> Electrician trainings (Unit - Individual): 192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5"/>
                      <c:pt idx="0">
                        <c:v>Dolakha</c:v>
                      </c:pt>
                      <c:pt idx="1">
                        <c:v>Gorkha</c:v>
                      </c:pt>
                      <c:pt idx="2">
                        <c:v>Kabhrepalanchok</c:v>
                      </c:pt>
                      <c:pt idx="3">
                        <c:v>Nuwakot</c:v>
                      </c:pt>
                      <c:pt idx="4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District'!$G$2:$G$12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3" formatCode="0%">
                        <c:v>0.3125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District'!$H$1</c15:sqref>
                        </c15:formulaRef>
                      </c:ext>
                    </c:extLst>
                    <c:strCache>
                      <c:ptCount val="1"/>
                      <c:pt idx="0">
                        <c:v>Facilitation to financial and technical assistance (Unit - Community): 90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5"/>
                      <c:pt idx="0">
                        <c:v>Dolakha</c:v>
                      </c:pt>
                      <c:pt idx="1">
                        <c:v>Gorkha</c:v>
                      </c:pt>
                      <c:pt idx="2">
                        <c:v>Kabhrepalanchok</c:v>
                      </c:pt>
                      <c:pt idx="3">
                        <c:v>Nuwakot</c:v>
                      </c:pt>
                      <c:pt idx="4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District'!$H$2:$H$12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 xmlns:c15="http://schemas.microsoft.com/office/drawing/2012/chart"/>
              </c15:ser>
            </c15:filteredPieSeries>
          </c:ext>
        </c:extLst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9616559894748697"/>
          <c:y val="0.30388706620005801"/>
          <c:w val="0.26689065630020398"/>
          <c:h val="0.5034733158355210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05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2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8"/>
          <c:order val="8"/>
          <c:tx>
            <c:strRef>
              <c:f>'Activities % By District'!$J$1</c:f>
              <c:strCache>
                <c:ptCount val="1"/>
                <c:pt idx="0">
                  <c:v> Locally available/produced construction matefrial support (Unit - HH): 22,355</c:v>
                </c:pt>
              </c:strCache>
              <c:extLst xmlns:c15="http://schemas.microsoft.com/office/drawing/2012/chart"/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2">
                      <a:shade val="51000"/>
                      <a:satMod val="130000"/>
                    </a:schemeClr>
                  </a:gs>
                  <a:gs pos="80000">
                    <a:schemeClr val="accent2">
                      <a:shade val="93000"/>
                      <a:satMod val="130000"/>
                    </a:schemeClr>
                  </a:gs>
                  <a:gs pos="100000">
                    <a:schemeClr val="accent2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shade val="51000"/>
                      <a:satMod val="130000"/>
                    </a:schemeClr>
                  </a:gs>
                  <a:gs pos="80000">
                    <a:schemeClr val="accent6">
                      <a:shade val="93000"/>
                      <a:satMod val="130000"/>
                    </a:schemeClr>
                  </a:gs>
                  <a:gs pos="100000">
                    <a:schemeClr val="accent6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3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2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2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4"/>
            <c:bubble3D val="0"/>
            <c:spPr>
              <a:gradFill rotWithShape="1">
                <a:gsLst>
                  <a:gs pos="0">
                    <a:schemeClr val="accent4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4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4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6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6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6"/>
            <c:bubble3D val="0"/>
            <c:spPr>
              <a:gradFill rotWithShape="1">
                <a:gsLst>
                  <a:gs pos="0">
                    <a:schemeClr val="accent2">
                      <a:lumMod val="80000"/>
                      <a:lumOff val="20000"/>
                      <a:shade val="51000"/>
                      <a:satMod val="130000"/>
                    </a:schemeClr>
                  </a:gs>
                  <a:gs pos="80000">
                    <a:schemeClr val="accent2">
                      <a:lumMod val="80000"/>
                      <a:lumOff val="20000"/>
                      <a:shade val="93000"/>
                      <a:satMod val="130000"/>
                    </a:schemeClr>
                  </a:gs>
                  <a:gs pos="100000">
                    <a:schemeClr val="accent2">
                      <a:lumMod val="80000"/>
                      <a:lumOff val="2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 xmlns:c15="http://schemas.microsoft.com/office/drawing/2012/chart"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'Activities % By District'!$A$2:$A$12</c:f>
              <c:strCache>
                <c:ptCount val="7"/>
                <c:pt idx="0">
                  <c:v>Dhading</c:v>
                </c:pt>
                <c:pt idx="1">
                  <c:v>Dolakha</c:v>
                </c:pt>
                <c:pt idx="2">
                  <c:v>Gorkha</c:v>
                </c:pt>
                <c:pt idx="3">
                  <c:v>Nuwakot</c:v>
                </c:pt>
                <c:pt idx="4">
                  <c:v>Ramechhap</c:v>
                </c:pt>
                <c:pt idx="5">
                  <c:v>Rasuwa</c:v>
                </c:pt>
                <c:pt idx="6">
                  <c:v>Sindhupalchok</c:v>
                </c:pt>
              </c:strCache>
              <c:extLst/>
            </c:strRef>
          </c:cat>
          <c:val>
            <c:numRef>
              <c:f>'Activities % By District'!$J$2:$J$12</c:f>
              <c:numCache>
                <c:formatCode>0%</c:formatCode>
                <c:ptCount val="7"/>
                <c:pt idx="0">
                  <c:v>9.7025273987922198E-2</c:v>
                </c:pt>
                <c:pt idx="1">
                  <c:v>0.13263252068888401</c:v>
                </c:pt>
                <c:pt idx="2">
                  <c:v>0.14614180272869601</c:v>
                </c:pt>
                <c:pt idx="3">
                  <c:v>0.135137553120107</c:v>
                </c:pt>
                <c:pt idx="4">
                  <c:v>0.116305077163945</c:v>
                </c:pt>
                <c:pt idx="5">
                  <c:v>7.6940281816148495E-2</c:v>
                </c:pt>
                <c:pt idx="6">
                  <c:v>0.29581749049429701</c:v>
                </c:pt>
              </c:numCache>
              <c:extLst/>
            </c:numRef>
          </c:val>
          <c:extLst xmlns:c15="http://schemas.microsoft.com/office/drawing/2012/chart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'Activities % By District'!$B$1</c15:sqref>
                        </c15:formulaRef>
                      </c:ext>
                    </c:extLst>
                    <c:strCache>
                      <c:ptCount val="1"/>
                      <c:pt idx="0">
                        <c:v>Carpenter trainings (Unit - Individual): 451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5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6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numFmt formatCode="0%;\-0%;" sourceLinked="0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7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Nuwakot</c:v>
                      </c:pt>
                      <c:pt idx="4">
                        <c:v>Ramechhap</c:v>
                      </c:pt>
                      <c:pt idx="5">
                        <c:v>Rasuwa</c:v>
                      </c:pt>
                      <c:pt idx="6">
                        <c:v>Sindhupalchok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'Activities % By District'!$B$2:$B$12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 formatCode="0%">
                        <c:v>0.13303769401330376</c:v>
                      </c:pt>
                      <c:pt idx="3" formatCode="0%">
                        <c:v>0.13303769401330376</c:v>
                      </c:pt>
                      <c:pt idx="4" formatCode="0%">
                        <c:v>8.8691796008869186E-2</c:v>
                      </c:pt>
                      <c:pt idx="5" formatCode="0%">
                        <c:v>0.13303769401330376</c:v>
                      </c:pt>
                      <c:pt idx="6" formatCode="0%">
                        <c:v>0.33259423503325941</c:v>
                      </c:pt>
                    </c:numCache>
                  </c:numRef>
                </c:val>
                <c:extLst/>
              </c15:ser>
            </c15:filteredPieSeries>
            <c15:filteredPi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District'!$C$1</c15:sqref>
                        </c15:formulaRef>
                      </c:ext>
                    </c:extLst>
                    <c:strCache>
                      <c:ptCount val="1"/>
                      <c:pt idx="0">
                        <c:v>Cash/Voucher for building materials (Unit - HH): 8,432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5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6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7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Nuwakot</c:v>
                      </c:pt>
                      <c:pt idx="4">
                        <c:v>Ramechhap</c:v>
                      </c:pt>
                      <c:pt idx="5">
                        <c:v>Rasuwa</c:v>
                      </c:pt>
                      <c:pt idx="6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District'!$C$2:$C$12</c15:sqref>
                        </c15:formulaRef>
                      </c:ext>
                    </c:extLst>
                    <c:numCache>
                      <c:formatCode>0%</c:formatCode>
                      <c:ptCount val="7"/>
                      <c:pt idx="1">
                        <c:v>0.29767552182163187</c:v>
                      </c:pt>
                      <c:pt idx="2">
                        <c:v>0.26826375711574951</c:v>
                      </c:pt>
                      <c:pt idx="4">
                        <c:v>0.36290322580645162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District'!$D$1</c15:sqref>
                        </c15:formulaRef>
                      </c:ext>
                    </c:extLst>
                    <c:strCache>
                      <c:ptCount val="1"/>
                      <c:pt idx="0">
                        <c:v>Social mobilization for community groups (Unit - Individual): 28,300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5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6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7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Nuwakot</c:v>
                      </c:pt>
                      <c:pt idx="4">
                        <c:v>Ramechhap</c:v>
                      </c:pt>
                      <c:pt idx="5">
                        <c:v>Rasuwa</c:v>
                      </c:pt>
                      <c:pt idx="6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District'!$D$2:$D$12</c15:sqref>
                        </c15:formulaRef>
                      </c:ext>
                    </c:extLst>
                    <c:numCache>
                      <c:formatCode>0%</c:formatCode>
                      <c:ptCount val="7"/>
                      <c:pt idx="0">
                        <c:v>7.0671378091872791E-3</c:v>
                      </c:pt>
                      <c:pt idx="1">
                        <c:v>0.25795053003533569</c:v>
                      </c:pt>
                      <c:pt idx="2">
                        <c:v>0.32508833922261482</c:v>
                      </c:pt>
                      <c:pt idx="4">
                        <c:v>9.187279151943463E-2</c:v>
                      </c:pt>
                      <c:pt idx="6">
                        <c:v>0.31802120141342755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District'!$E$1</c15:sqref>
                        </c15:formulaRef>
                      </c:ext>
                    </c:extLst>
                    <c:strCache>
                      <c:ptCount val="1"/>
                      <c:pt idx="0">
                        <c:v>Technical assistance on construction guidance and supervision (Unit - Individual): 840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5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6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7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Nuwakot</c:v>
                      </c:pt>
                      <c:pt idx="4">
                        <c:v>Ramechhap</c:v>
                      </c:pt>
                      <c:pt idx="5">
                        <c:v>Rasuwa</c:v>
                      </c:pt>
                      <c:pt idx="6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District'!$E$2:$E$12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6" formatCode="0%">
                        <c:v>0.52380952380952384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District'!$F$1</c15:sqref>
                        </c15:formulaRef>
                      </c:ext>
                    </c:extLst>
                    <c:strCache>
                      <c:ptCount val="1"/>
                      <c:pt idx="0">
                        <c:v>Core Shelter Construction (Unit - HH): 2,145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5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6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7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Nuwakot</c:v>
                      </c:pt>
                      <c:pt idx="4">
                        <c:v>Ramechhap</c:v>
                      </c:pt>
                      <c:pt idx="5">
                        <c:v>Rasuwa</c:v>
                      </c:pt>
                      <c:pt idx="6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District'!$F$2:$F$12</c15:sqref>
                        </c15:formulaRef>
                      </c:ext>
                    </c:extLst>
                    <c:numCache>
                      <c:formatCode>0%</c:formatCode>
                      <c:ptCount val="7"/>
                      <c:pt idx="1">
                        <c:v>9.3240093240093247E-2</c:v>
                      </c:pt>
                      <c:pt idx="2">
                        <c:v>0.14731934731934732</c:v>
                      </c:pt>
                      <c:pt idx="3">
                        <c:v>9.3240093240093247E-2</c:v>
                      </c:pt>
                      <c:pt idx="6">
                        <c:v>0.66060606060606064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District'!$G$1</c15:sqref>
                        </c15:formulaRef>
                      </c:ext>
                    </c:extLst>
                    <c:strCache>
                      <c:ptCount val="1"/>
                      <c:pt idx="0">
                        <c:v> Electrician trainings (Unit - Individual): 192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5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6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7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Nuwakot</c:v>
                      </c:pt>
                      <c:pt idx="4">
                        <c:v>Ramechhap</c:v>
                      </c:pt>
                      <c:pt idx="5">
                        <c:v>Rasuwa</c:v>
                      </c:pt>
                      <c:pt idx="6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District'!$G$2:$G$12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 formatCode="0%">
                        <c:v>0.3125</c:v>
                      </c:pt>
                      <c:pt idx="3" formatCode="0%">
                        <c:v>0.3125</c:v>
                      </c:pt>
                      <c:pt idx="5" formatCode="0%">
                        <c:v>0.375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District'!$H$1</c15:sqref>
                        </c15:formulaRef>
                      </c:ext>
                    </c:extLst>
                    <c:strCache>
                      <c:ptCount val="1"/>
                      <c:pt idx="0">
                        <c:v>Facilitation to financial and technical assistance (Unit - Community): 90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5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6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7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Nuwakot</c:v>
                      </c:pt>
                      <c:pt idx="4">
                        <c:v>Ramechhap</c:v>
                      </c:pt>
                      <c:pt idx="5">
                        <c:v>Rasuwa</c:v>
                      </c:pt>
                      <c:pt idx="6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District'!$H$2:$H$12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5" formatCode="0%">
                        <c:v>1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District'!$I$1</c15:sqref>
                        </c15:formulaRef>
                      </c:ext>
                    </c:extLst>
                    <c:strCache>
                      <c:ptCount val="1"/>
                      <c:pt idx="0">
                        <c:v>Technical assistance on guidelines/procedures/curriculum (Unit - Individual): 600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5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6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7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Nuwakot</c:v>
                      </c:pt>
                      <c:pt idx="4">
                        <c:v>Ramechhap</c:v>
                      </c:pt>
                      <c:pt idx="5">
                        <c:v>Rasuwa</c:v>
                      </c:pt>
                      <c:pt idx="6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District'!$I$2:$I$12</c15:sqref>
                        </c15:formulaRef>
                      </c:ext>
                    </c:extLst>
                    <c:numCache>
                      <c:formatCode>0%</c:formatCode>
                      <c:ptCount val="7"/>
                      <c:pt idx="0">
                        <c:v>0.33333333333333331</c:v>
                      </c:pt>
                      <c:pt idx="1">
                        <c:v>0.33333333333333331</c:v>
                      </c:pt>
                      <c:pt idx="2">
                        <c:v>0.33333333333333331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District'!$K$1</c15:sqref>
                        </c15:formulaRef>
                      </c:ext>
                    </c:extLst>
                    <c:strCache>
                      <c:ptCount val="1"/>
                      <c:pt idx="0">
                        <c:v>Masons trainings (Unit - Individual): 8,068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5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6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7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Nuwakot</c:v>
                      </c:pt>
                      <c:pt idx="4">
                        <c:v>Ramechhap</c:v>
                      </c:pt>
                      <c:pt idx="5">
                        <c:v>Rasuwa</c:v>
                      </c:pt>
                      <c:pt idx="6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District'!$K$2:$K$12</c15:sqref>
                        </c15:formulaRef>
                      </c:ext>
                    </c:extLst>
                    <c:numCache>
                      <c:formatCode>0%</c:formatCode>
                      <c:ptCount val="7"/>
                      <c:pt idx="0">
                        <c:v>0.21715418939018344</c:v>
                      </c:pt>
                      <c:pt idx="1">
                        <c:v>0.10535448686167576</c:v>
                      </c:pt>
                      <c:pt idx="2">
                        <c:v>0.14873574615765989</c:v>
                      </c:pt>
                      <c:pt idx="3">
                        <c:v>2.3549826474962815E-2</c:v>
                      </c:pt>
                      <c:pt idx="4">
                        <c:v>8.5523054040654439E-2</c:v>
                      </c:pt>
                      <c:pt idx="5">
                        <c:v>5.0818046603867129E-2</c:v>
                      </c:pt>
                      <c:pt idx="6">
                        <c:v>0.16559246405552802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District'!$L$1</c15:sqref>
                        </c15:formulaRef>
                      </c:ext>
                    </c:extLst>
                    <c:strCache>
                      <c:ptCount val="1"/>
                      <c:pt idx="0">
                        <c:v>Model houses construction (Unit - HH): 30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5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6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7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Nuwakot</c:v>
                      </c:pt>
                      <c:pt idx="4">
                        <c:v>Ramechhap</c:v>
                      </c:pt>
                      <c:pt idx="5">
                        <c:v>Rasuwa</c:v>
                      </c:pt>
                      <c:pt idx="6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District'!$L$2:$L$12</c15:sqref>
                        </c15:formulaRef>
                      </c:ext>
                    </c:extLst>
                    <c:numCache>
                      <c:formatCode>0%</c:formatCode>
                      <c:ptCount val="7"/>
                      <c:pt idx="1">
                        <c:v>0.13333333333333333</c:v>
                      </c:pt>
                      <c:pt idx="2">
                        <c:v>4</c:v>
                      </c:pt>
                      <c:pt idx="3">
                        <c:v>1</c:v>
                      </c:pt>
                      <c:pt idx="6">
                        <c:v>0.36666666666666664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District'!$M$1</c15:sqref>
                        </c15:formulaRef>
                      </c:ext>
                    </c:extLst>
                    <c:strCache>
                      <c:ptCount val="1"/>
                      <c:pt idx="0">
                        <c:v>Plumber trainings (Unit - Individual): 192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5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6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7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Nuwakot</c:v>
                      </c:pt>
                      <c:pt idx="4">
                        <c:v>Ramechhap</c:v>
                      </c:pt>
                      <c:pt idx="5">
                        <c:v>Rasuwa</c:v>
                      </c:pt>
                      <c:pt idx="6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District'!$M$2:$M$12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 formatCode="0%">
                        <c:v>0.3125</c:v>
                      </c:pt>
                      <c:pt idx="3" formatCode="0%">
                        <c:v>0.3125</c:v>
                      </c:pt>
                      <c:pt idx="5" formatCode="0%">
                        <c:v>0.375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District'!$N$1</c15:sqref>
                        </c15:formulaRef>
                      </c:ext>
                    </c:extLst>
                    <c:strCache>
                      <c:ptCount val="1"/>
                      <c:pt idx="0">
                        <c:v>Material support towards tools and equipments (Unit - HH): 950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4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5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6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7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Nuwakot</c:v>
                      </c:pt>
                      <c:pt idx="4">
                        <c:v>Ramechhap</c:v>
                      </c:pt>
                      <c:pt idx="5">
                        <c:v>Rasuwa</c:v>
                      </c:pt>
                      <c:pt idx="6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District'!$N$2:$N$12</c15:sqref>
                        </c15:formulaRef>
                      </c:ext>
                    </c:extLst>
                    <c:numCache>
                      <c:formatCode>0%</c:formatCode>
                      <c:ptCount val="7"/>
                      <c:pt idx="0">
                        <c:v>0.21052631578947367</c:v>
                      </c:pt>
                      <c:pt idx="1">
                        <c:v>0.21052631578947367</c:v>
                      </c:pt>
                      <c:pt idx="2">
                        <c:v>0.21052631578947367</c:v>
                      </c:pt>
                      <c:pt idx="4">
                        <c:v>0.36842105263157893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</c:ext>
        </c:extLst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586333194496804"/>
          <c:y val="0.30388706620005801"/>
          <c:w val="0.319804042126976"/>
          <c:h val="0.6278951589384660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5938459201361797E-2"/>
          <c:y val="0.29046356698960701"/>
          <c:w val="0.621714393925205"/>
          <c:h val="0.56279539833211201"/>
        </c:manualLayout>
      </c:layout>
      <c:doughnutChart>
        <c:varyColors val="1"/>
        <c:ser>
          <c:idx val="10"/>
          <c:order val="10"/>
          <c:tx>
            <c:strRef>
              <c:f>'Activities % By District'!$L$1</c:f>
              <c:strCache>
                <c:ptCount val="1"/>
                <c:pt idx="0">
                  <c:v>Model houses construction (Unit - HH): 30</c:v>
                </c:pt>
              </c:strCache>
              <c:extLst xmlns:c15="http://schemas.microsoft.com/office/drawing/2012/chart"/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2">
                      <a:shade val="51000"/>
                      <a:satMod val="130000"/>
                    </a:schemeClr>
                  </a:gs>
                  <a:gs pos="80000">
                    <a:schemeClr val="accent2">
                      <a:shade val="93000"/>
                      <a:satMod val="130000"/>
                    </a:schemeClr>
                  </a:gs>
                  <a:gs pos="100000">
                    <a:schemeClr val="accent2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shade val="51000"/>
                      <a:satMod val="130000"/>
                    </a:schemeClr>
                  </a:gs>
                  <a:gs pos="80000">
                    <a:schemeClr val="accent6">
                      <a:shade val="93000"/>
                      <a:satMod val="130000"/>
                    </a:schemeClr>
                  </a:gs>
                  <a:gs pos="100000">
                    <a:schemeClr val="accent6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3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shade val="51000"/>
                      <a:satMod val="130000"/>
                    </a:schemeClr>
                  </a:gs>
                  <a:gs pos="80000">
                    <a:schemeClr val="accent2">
                      <a:lumMod val="60000"/>
                      <a:shade val="93000"/>
                      <a:satMod val="130000"/>
                    </a:schemeClr>
                  </a:gs>
                  <a:gs pos="100000">
                    <a:schemeClr val="accent2">
                      <a:lumMod val="6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 xmlns:c15="http://schemas.microsoft.com/office/drawing/2012/chart"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'Activities % By District'!$A$2:$A$12</c:f>
              <c:strCache>
                <c:ptCount val="4"/>
                <c:pt idx="0">
                  <c:v>Dolakha</c:v>
                </c:pt>
                <c:pt idx="1">
                  <c:v>Gorkha</c:v>
                </c:pt>
                <c:pt idx="2">
                  <c:v>Nuwakot</c:v>
                </c:pt>
                <c:pt idx="3">
                  <c:v>Sindhupalchok</c:v>
                </c:pt>
              </c:strCache>
              <c:extLst/>
            </c:strRef>
          </c:cat>
          <c:val>
            <c:numRef>
              <c:f>'Activities % By District'!$L$2:$L$12</c:f>
              <c:numCache>
                <c:formatCode>0%</c:formatCode>
                <c:ptCount val="4"/>
                <c:pt idx="0">
                  <c:v>0.133333333333333</c:v>
                </c:pt>
                <c:pt idx="1">
                  <c:v>4</c:v>
                </c:pt>
                <c:pt idx="2">
                  <c:v>1</c:v>
                </c:pt>
                <c:pt idx="3">
                  <c:v>0.36666666666666697</c:v>
                </c:pt>
              </c:numCache>
              <c:extLst/>
            </c:numRef>
          </c:val>
          <c:extLst xmlns:c15="http://schemas.microsoft.com/office/drawing/2012/chart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'Activities % By District'!$B$1</c15:sqref>
                        </c15:formulaRef>
                      </c:ext>
                    </c:extLst>
                    <c:strCache>
                      <c:ptCount val="1"/>
                      <c:pt idx="0">
                        <c:v>Carpenter trainings (Unit - Individual): 451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numFmt formatCode="0%;\-0%;" sourceLinked="0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Dolakha</c:v>
                      </c:pt>
                      <c:pt idx="1">
                        <c:v>Gorkha</c:v>
                      </c:pt>
                      <c:pt idx="2">
                        <c:v>Nuwakot</c:v>
                      </c:pt>
                      <c:pt idx="3">
                        <c:v>Sindhupalchok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'Activities % By District'!$B$2:$B$12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2" formatCode="0%">
                        <c:v>0.13303769401330376</c:v>
                      </c:pt>
                      <c:pt idx="3" formatCode="0%">
                        <c:v>0.33259423503325941</c:v>
                      </c:pt>
                    </c:numCache>
                  </c:numRef>
                </c:val>
                <c:extLst/>
              </c15:ser>
            </c15:filteredPieSeries>
            <c15:filteredPi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District'!$C$1</c15:sqref>
                        </c15:formulaRef>
                      </c:ext>
                    </c:extLst>
                    <c:strCache>
                      <c:ptCount val="1"/>
                      <c:pt idx="0">
                        <c:v>Cash/Voucher for building materials (Unit - HH): 8,432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Dolakha</c:v>
                      </c:pt>
                      <c:pt idx="1">
                        <c:v>Gorkha</c:v>
                      </c:pt>
                      <c:pt idx="2">
                        <c:v>Nuwakot</c:v>
                      </c:pt>
                      <c:pt idx="3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District'!$C$2:$C$12</c15:sqref>
                        </c15:formulaRef>
                      </c:ext>
                    </c:extLst>
                    <c:numCache>
                      <c:formatCode>0%</c:formatCode>
                      <c:ptCount val="4"/>
                      <c:pt idx="0">
                        <c:v>0.29767552182163187</c:v>
                      </c:pt>
                      <c:pt idx="1">
                        <c:v>0.26826375711574951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District'!$D$1</c15:sqref>
                        </c15:formulaRef>
                      </c:ext>
                    </c:extLst>
                    <c:strCache>
                      <c:ptCount val="1"/>
                      <c:pt idx="0">
                        <c:v>Social mobilization for community groups (Unit - Individual): 28,300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Dolakha</c:v>
                      </c:pt>
                      <c:pt idx="1">
                        <c:v>Gorkha</c:v>
                      </c:pt>
                      <c:pt idx="2">
                        <c:v>Nuwakot</c:v>
                      </c:pt>
                      <c:pt idx="3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District'!$D$2:$D$12</c15:sqref>
                        </c15:formulaRef>
                      </c:ext>
                    </c:extLst>
                    <c:numCache>
                      <c:formatCode>0%</c:formatCode>
                      <c:ptCount val="4"/>
                      <c:pt idx="0">
                        <c:v>0.25795053003533569</c:v>
                      </c:pt>
                      <c:pt idx="1">
                        <c:v>0.32508833922261482</c:v>
                      </c:pt>
                      <c:pt idx="3">
                        <c:v>0.31802120141342755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District'!$E$1</c15:sqref>
                        </c15:formulaRef>
                      </c:ext>
                    </c:extLst>
                    <c:strCache>
                      <c:ptCount val="1"/>
                      <c:pt idx="0">
                        <c:v>Technical assistance on construction guidance and supervision (Unit - Individual): 840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Dolakha</c:v>
                      </c:pt>
                      <c:pt idx="1">
                        <c:v>Gorkha</c:v>
                      </c:pt>
                      <c:pt idx="2">
                        <c:v>Nuwakot</c:v>
                      </c:pt>
                      <c:pt idx="3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District'!$E$2:$E$12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3" formatCode="0%">
                        <c:v>0.52380952380952384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District'!$F$1</c15:sqref>
                        </c15:formulaRef>
                      </c:ext>
                    </c:extLst>
                    <c:strCache>
                      <c:ptCount val="1"/>
                      <c:pt idx="0">
                        <c:v>Core Shelter Construction (Unit - HH): 2,145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Dolakha</c:v>
                      </c:pt>
                      <c:pt idx="1">
                        <c:v>Gorkha</c:v>
                      </c:pt>
                      <c:pt idx="2">
                        <c:v>Nuwakot</c:v>
                      </c:pt>
                      <c:pt idx="3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District'!$F$2:$F$12</c15:sqref>
                        </c15:formulaRef>
                      </c:ext>
                    </c:extLst>
                    <c:numCache>
                      <c:formatCode>0%</c:formatCode>
                      <c:ptCount val="4"/>
                      <c:pt idx="0">
                        <c:v>9.3240093240093247E-2</c:v>
                      </c:pt>
                      <c:pt idx="1">
                        <c:v>0.14731934731934732</c:v>
                      </c:pt>
                      <c:pt idx="2">
                        <c:v>9.3240093240093247E-2</c:v>
                      </c:pt>
                      <c:pt idx="3">
                        <c:v>0.66060606060606064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District'!$G$1</c15:sqref>
                        </c15:formulaRef>
                      </c:ext>
                    </c:extLst>
                    <c:strCache>
                      <c:ptCount val="1"/>
                      <c:pt idx="0">
                        <c:v> Electrician trainings (Unit - Individual): 192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Dolakha</c:v>
                      </c:pt>
                      <c:pt idx="1">
                        <c:v>Gorkha</c:v>
                      </c:pt>
                      <c:pt idx="2">
                        <c:v>Nuwakot</c:v>
                      </c:pt>
                      <c:pt idx="3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District'!$G$2:$G$12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2" formatCode="0%">
                        <c:v>0.3125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District'!$H$1</c15:sqref>
                        </c15:formulaRef>
                      </c:ext>
                    </c:extLst>
                    <c:strCache>
                      <c:ptCount val="1"/>
                      <c:pt idx="0">
                        <c:v>Facilitation to financial and technical assistance (Unit - Community): 90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4">
                            <a:lumMod val="80000"/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lumMod val="80000"/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lumMod val="8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Dolakha</c:v>
                      </c:pt>
                      <c:pt idx="1">
                        <c:v>Gorkha</c:v>
                      </c:pt>
                      <c:pt idx="2">
                        <c:v>Nuwakot</c:v>
                      </c:pt>
                      <c:pt idx="3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District'!$H$2:$H$12</c15:sqref>
                        </c15:formulaRef>
                      </c:ext>
                    </c:extLst>
                    <c:numCache>
                      <c:formatCode>General</c:formatCode>
                      <c:ptCount val="4"/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District'!$I$1</c15:sqref>
                        </c15:formulaRef>
                      </c:ext>
                    </c:extLst>
                    <c:strCache>
                      <c:ptCount val="1"/>
                      <c:pt idx="0">
                        <c:v>Technical assistance on guidelines/procedures/curriculum (Unit - Individual): 600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Dolakha</c:v>
                      </c:pt>
                      <c:pt idx="1">
                        <c:v>Gorkha</c:v>
                      </c:pt>
                      <c:pt idx="2">
                        <c:v>Nuwakot</c:v>
                      </c:pt>
                      <c:pt idx="3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District'!$I$2:$I$12</c15:sqref>
                        </c15:formulaRef>
                      </c:ext>
                    </c:extLst>
                    <c:numCache>
                      <c:formatCode>0%</c:formatCode>
                      <c:ptCount val="4"/>
                      <c:pt idx="0">
                        <c:v>0.33333333333333331</c:v>
                      </c:pt>
                      <c:pt idx="1">
                        <c:v>0.33333333333333331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District'!$J$1</c15:sqref>
                        </c15:formulaRef>
                      </c:ext>
                    </c:extLst>
                    <c:strCache>
                      <c:ptCount val="1"/>
                      <c:pt idx="0">
                        <c:v> Locally available/produced construction matefrial support (Unit - HH): 22,355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Dolakha</c:v>
                      </c:pt>
                      <c:pt idx="1">
                        <c:v>Gorkha</c:v>
                      </c:pt>
                      <c:pt idx="2">
                        <c:v>Nuwakot</c:v>
                      </c:pt>
                      <c:pt idx="3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District'!$J$2:$J$12</c15:sqref>
                        </c15:formulaRef>
                      </c:ext>
                    </c:extLst>
                    <c:numCache>
                      <c:formatCode>0%</c:formatCode>
                      <c:ptCount val="4"/>
                      <c:pt idx="0">
                        <c:v>0.13263252068888393</c:v>
                      </c:pt>
                      <c:pt idx="1">
                        <c:v>0.14614180272869604</c:v>
                      </c:pt>
                      <c:pt idx="2">
                        <c:v>0.13513755312010736</c:v>
                      </c:pt>
                      <c:pt idx="3">
                        <c:v>0.29581749049429656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District'!$K$1</c15:sqref>
                        </c15:formulaRef>
                      </c:ext>
                    </c:extLst>
                    <c:strCache>
                      <c:ptCount val="1"/>
                      <c:pt idx="0">
                        <c:v>Masons trainings (Unit - Individual): 8,068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Dolakha</c:v>
                      </c:pt>
                      <c:pt idx="1">
                        <c:v>Gorkha</c:v>
                      </c:pt>
                      <c:pt idx="2">
                        <c:v>Nuwakot</c:v>
                      </c:pt>
                      <c:pt idx="3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District'!$K$2:$K$12</c15:sqref>
                        </c15:formulaRef>
                      </c:ext>
                    </c:extLst>
                    <c:numCache>
                      <c:formatCode>0%</c:formatCode>
                      <c:ptCount val="4"/>
                      <c:pt idx="0">
                        <c:v>0.10535448686167576</c:v>
                      </c:pt>
                      <c:pt idx="1">
                        <c:v>0.14873574615765989</c:v>
                      </c:pt>
                      <c:pt idx="2">
                        <c:v>2.3549826474962815E-2</c:v>
                      </c:pt>
                      <c:pt idx="3">
                        <c:v>0.16559246405552802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District'!$M$1</c15:sqref>
                        </c15:formulaRef>
                      </c:ext>
                    </c:extLst>
                    <c:strCache>
                      <c:ptCount val="1"/>
                      <c:pt idx="0">
                        <c:v>Plumber trainings (Unit - Individual): 192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Dolakha</c:v>
                      </c:pt>
                      <c:pt idx="1">
                        <c:v>Gorkha</c:v>
                      </c:pt>
                      <c:pt idx="2">
                        <c:v>Nuwakot</c:v>
                      </c:pt>
                      <c:pt idx="3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District'!$M$2:$M$12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2" formatCode="0%">
                        <c:v>0.3125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District'!$N$1</c15:sqref>
                        </c15:formulaRef>
                      </c:ext>
                    </c:extLst>
                    <c:strCache>
                      <c:ptCount val="1"/>
                      <c:pt idx="0">
                        <c:v>Material support towards tools and equipments (Unit - HH): 950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2">
                            <a:lumMod val="60000"/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lumMod val="60000"/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lumMod val="6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Dolakha</c:v>
                      </c:pt>
                      <c:pt idx="1">
                        <c:v>Gorkha</c:v>
                      </c:pt>
                      <c:pt idx="2">
                        <c:v>Nuwakot</c:v>
                      </c:pt>
                      <c:pt idx="3">
                        <c:v>Sindhupalchok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District'!$N$2:$N$12</c15:sqref>
                        </c15:formulaRef>
                      </c:ext>
                    </c:extLst>
                    <c:numCache>
                      <c:formatCode>0%</c:formatCode>
                      <c:ptCount val="4"/>
                      <c:pt idx="0">
                        <c:v>0.21052631578947367</c:v>
                      </c:pt>
                      <c:pt idx="1">
                        <c:v>0.21052631578947367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</c:ext>
        </c:extLst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586333194496804"/>
          <c:y val="0.211182139621099"/>
          <c:w val="0.319804042126976"/>
          <c:h val="0.3917840478273549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2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12"/>
          <c:order val="12"/>
          <c:tx>
            <c:strRef>
              <c:f>'Activities % By District'!$N$1</c:f>
              <c:strCache>
                <c:ptCount val="1"/>
                <c:pt idx="0">
                  <c:v>Material support towards tools and equipments (Unit - HH): 950</c:v>
                </c:pt>
              </c:strCache>
              <c:extLst xmlns:c15="http://schemas.microsoft.com/office/drawing/2012/chart"/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2">
                      <a:shade val="51000"/>
                      <a:satMod val="130000"/>
                    </a:schemeClr>
                  </a:gs>
                  <a:gs pos="80000">
                    <a:schemeClr val="accent2">
                      <a:shade val="93000"/>
                      <a:satMod val="130000"/>
                    </a:schemeClr>
                  </a:gs>
                  <a:gs pos="100000">
                    <a:schemeClr val="accent2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1"/>
            <c:bubble3D val="0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2"/>
            <c:bubble3D val="0"/>
            <c:spPr>
              <a:gradFill rotWithShape="1">
                <a:gsLst>
                  <a:gs pos="0">
                    <a:schemeClr val="accent6">
                      <a:shade val="51000"/>
                      <a:satMod val="130000"/>
                    </a:schemeClr>
                  </a:gs>
                  <a:gs pos="80000">
                    <a:schemeClr val="accent6">
                      <a:shade val="93000"/>
                      <a:satMod val="130000"/>
                    </a:schemeClr>
                  </a:gs>
                  <a:gs pos="100000">
                    <a:schemeClr val="accent6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Pt>
            <c:idx val="3"/>
            <c:bubble3D val="0"/>
            <c:spPr>
              <a:gradFill rotWithShape="1">
                <a:gsLst>
                  <a:gs pos="0">
                    <a:schemeClr val="accent6">
                      <a:lumMod val="80000"/>
                      <a:lumOff val="20000"/>
                      <a:shade val="51000"/>
                      <a:satMod val="130000"/>
                    </a:schemeClr>
                  </a:gs>
                  <a:gs pos="80000">
                    <a:schemeClr val="accent6">
                      <a:lumMod val="80000"/>
                      <a:lumOff val="20000"/>
                      <a:shade val="93000"/>
                      <a:satMod val="130000"/>
                    </a:schemeClr>
                  </a:gs>
                  <a:gs pos="100000">
                    <a:schemeClr val="accent6">
                      <a:lumMod val="80000"/>
                      <a:lumOff val="20000"/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 xmlns:c15="http://schemas.microsoft.com/office/drawing/2012/chart"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'Activities % By District'!$A$2:$A$12</c:f>
              <c:strCache>
                <c:ptCount val="4"/>
                <c:pt idx="0">
                  <c:v>Dhading</c:v>
                </c:pt>
                <c:pt idx="1">
                  <c:v>Dolakha</c:v>
                </c:pt>
                <c:pt idx="2">
                  <c:v>Gorkha</c:v>
                </c:pt>
                <c:pt idx="3">
                  <c:v>Ramechhap</c:v>
                </c:pt>
              </c:strCache>
              <c:extLst/>
            </c:strRef>
          </c:cat>
          <c:val>
            <c:numRef>
              <c:f>'Activities % By District'!$N$2:$N$12</c:f>
              <c:numCache>
                <c:formatCode>0%</c:formatCode>
                <c:ptCount val="4"/>
                <c:pt idx="0">
                  <c:v>0.21052631578947401</c:v>
                </c:pt>
                <c:pt idx="1">
                  <c:v>0.21052631578947401</c:v>
                </c:pt>
                <c:pt idx="2">
                  <c:v>0.21052631578947401</c:v>
                </c:pt>
                <c:pt idx="3">
                  <c:v>0.36842105263157898</c:v>
                </c:pt>
              </c:numCache>
              <c:extLst/>
            </c:numRef>
          </c:val>
          <c:extLst xmlns:c15="http://schemas.microsoft.com/office/drawing/2012/chart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'Activities % By District'!$B$1</c15:sqref>
                        </c15:formulaRef>
                      </c:ext>
                    </c:extLst>
                    <c:strCache>
                      <c:ptCount val="1"/>
                      <c:pt idx="0">
                        <c:v>Carpenter trainings (Unit - Individual): 451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numFmt formatCode="0%;\-0%;" sourceLinked="0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Ramechhap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'Activities % By District'!$B$2:$B$12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 formatCode="0%">
                        <c:v>0.13303769401330376</c:v>
                      </c:pt>
                      <c:pt idx="3" formatCode="0%">
                        <c:v>8.8691796008869186E-2</c:v>
                      </c:pt>
                    </c:numCache>
                  </c:numRef>
                </c:val>
                <c:extLst/>
              </c15:ser>
            </c15:filteredPieSeries>
            <c15:filteredPi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District'!$C$1</c15:sqref>
                        </c15:formulaRef>
                      </c:ext>
                    </c:extLst>
                    <c:strCache>
                      <c:ptCount val="1"/>
                      <c:pt idx="0">
                        <c:v>Cash/Voucher for building materials (Unit - HH): 8,432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Ramechhap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District'!$C$2:$C$12</c15:sqref>
                        </c15:formulaRef>
                      </c:ext>
                    </c:extLst>
                    <c:numCache>
                      <c:formatCode>0%</c:formatCode>
                      <c:ptCount val="4"/>
                      <c:pt idx="1">
                        <c:v>0.29767552182163187</c:v>
                      </c:pt>
                      <c:pt idx="2">
                        <c:v>0.26826375711574951</c:v>
                      </c:pt>
                      <c:pt idx="3">
                        <c:v>0.36290322580645162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District'!$D$1</c15:sqref>
                        </c15:formulaRef>
                      </c:ext>
                    </c:extLst>
                    <c:strCache>
                      <c:ptCount val="1"/>
                      <c:pt idx="0">
                        <c:v>Social mobilization for community groups (Unit - Individual): 28,300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Ramechhap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District'!$D$2:$D$12</c15:sqref>
                        </c15:formulaRef>
                      </c:ext>
                    </c:extLst>
                    <c:numCache>
                      <c:formatCode>0%</c:formatCode>
                      <c:ptCount val="4"/>
                      <c:pt idx="0">
                        <c:v>7.0671378091872791E-3</c:v>
                      </c:pt>
                      <c:pt idx="1">
                        <c:v>0.25795053003533569</c:v>
                      </c:pt>
                      <c:pt idx="2">
                        <c:v>0.32508833922261482</c:v>
                      </c:pt>
                      <c:pt idx="3">
                        <c:v>9.187279151943463E-2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District'!$E$1</c15:sqref>
                        </c15:formulaRef>
                      </c:ext>
                    </c:extLst>
                    <c:strCache>
                      <c:ptCount val="1"/>
                      <c:pt idx="0">
                        <c:v>Technical assistance on construction guidance and supervision (Unit - Individual): 840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Ramechhap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District'!$E$2:$E$12</c15:sqref>
                        </c15:formulaRef>
                      </c:ext>
                    </c:extLst>
                    <c:numCache>
                      <c:formatCode>General</c:formatCode>
                      <c:ptCount val="4"/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District'!$F$1</c15:sqref>
                        </c15:formulaRef>
                      </c:ext>
                    </c:extLst>
                    <c:strCache>
                      <c:ptCount val="1"/>
                      <c:pt idx="0">
                        <c:v>Core Shelter Construction (Unit - HH): 2,145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Ramechhap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District'!$F$2:$F$12</c15:sqref>
                        </c15:formulaRef>
                      </c:ext>
                    </c:extLst>
                    <c:numCache>
                      <c:formatCode>0%</c:formatCode>
                      <c:ptCount val="4"/>
                      <c:pt idx="1">
                        <c:v>9.3240093240093247E-2</c:v>
                      </c:pt>
                      <c:pt idx="2">
                        <c:v>0.14731934731934732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District'!$G$1</c15:sqref>
                        </c15:formulaRef>
                      </c:ext>
                    </c:extLst>
                    <c:strCache>
                      <c:ptCount val="1"/>
                      <c:pt idx="0">
                        <c:v> Electrician trainings (Unit - Individual): 192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Ramechhap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District'!$G$2:$G$12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 formatCode="0%">
                        <c:v>0.3125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District'!$H$1</c15:sqref>
                        </c15:formulaRef>
                      </c:ext>
                    </c:extLst>
                    <c:strCache>
                      <c:ptCount val="1"/>
                      <c:pt idx="0">
                        <c:v>Facilitation to financial and technical assistance (Unit - Community): 90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Ramechhap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District'!$H$2:$H$12</c15:sqref>
                        </c15:formulaRef>
                      </c:ext>
                    </c:extLst>
                    <c:numCache>
                      <c:formatCode>General</c:formatCode>
                      <c:ptCount val="4"/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District'!$I$1</c15:sqref>
                        </c15:formulaRef>
                      </c:ext>
                    </c:extLst>
                    <c:strCache>
                      <c:ptCount val="1"/>
                      <c:pt idx="0">
                        <c:v>Technical assistance on guidelines/procedures/curriculum (Unit - Individual): 600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Ramechhap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District'!$I$2:$I$12</c15:sqref>
                        </c15:formulaRef>
                      </c:ext>
                    </c:extLst>
                    <c:numCache>
                      <c:formatCode>0%</c:formatCode>
                      <c:ptCount val="4"/>
                      <c:pt idx="0">
                        <c:v>0.33333333333333331</c:v>
                      </c:pt>
                      <c:pt idx="1">
                        <c:v>0.33333333333333331</c:v>
                      </c:pt>
                      <c:pt idx="2">
                        <c:v>0.33333333333333331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District'!$J$1</c15:sqref>
                        </c15:formulaRef>
                      </c:ext>
                    </c:extLst>
                    <c:strCache>
                      <c:ptCount val="1"/>
                      <c:pt idx="0">
                        <c:v> Locally available/produced construction matefrial support (Unit - HH): 22,355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Ramechhap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District'!$J$2:$J$12</c15:sqref>
                        </c15:formulaRef>
                      </c:ext>
                    </c:extLst>
                    <c:numCache>
                      <c:formatCode>0%</c:formatCode>
                      <c:ptCount val="4"/>
                      <c:pt idx="0">
                        <c:v>9.702527398792217E-2</c:v>
                      </c:pt>
                      <c:pt idx="1">
                        <c:v>0.13263252068888393</c:v>
                      </c:pt>
                      <c:pt idx="2">
                        <c:v>0.14614180272869604</c:v>
                      </c:pt>
                      <c:pt idx="3">
                        <c:v>0.11630507716394542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District'!$K$1</c15:sqref>
                        </c15:formulaRef>
                      </c:ext>
                    </c:extLst>
                    <c:strCache>
                      <c:ptCount val="1"/>
                      <c:pt idx="0">
                        <c:v>Masons trainings (Unit - Individual): 8,068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Ramechhap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District'!$K$2:$K$12</c15:sqref>
                        </c15:formulaRef>
                      </c:ext>
                    </c:extLst>
                    <c:numCache>
                      <c:formatCode>0%</c:formatCode>
                      <c:ptCount val="4"/>
                      <c:pt idx="0">
                        <c:v>0.21715418939018344</c:v>
                      </c:pt>
                      <c:pt idx="1">
                        <c:v>0.10535448686167576</c:v>
                      </c:pt>
                      <c:pt idx="2">
                        <c:v>0.14873574615765989</c:v>
                      </c:pt>
                      <c:pt idx="3">
                        <c:v>8.5523054040654439E-2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District'!$L$1</c15:sqref>
                        </c15:formulaRef>
                      </c:ext>
                    </c:extLst>
                    <c:strCache>
                      <c:ptCount val="1"/>
                      <c:pt idx="0">
                        <c:v>Model houses construction (Unit - HH): 30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Ramechhap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District'!$L$2:$L$12</c15:sqref>
                        </c15:formulaRef>
                      </c:ext>
                    </c:extLst>
                    <c:numCache>
                      <c:formatCode>0%</c:formatCode>
                      <c:ptCount val="4"/>
                      <c:pt idx="1">
                        <c:v>0.13333333333333333</c:v>
                      </c:pt>
                      <c:pt idx="2">
                        <c:v>4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  <c15:filteredPie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District'!$M$1</c15:sqref>
                        </c15:formulaRef>
                      </c:ext>
                    </c:extLst>
                    <c:strCache>
                      <c:ptCount val="1"/>
                      <c:pt idx="0">
                        <c:v>Plumber trainings (Unit - Individual): 192</c:v>
                      </c:pt>
                    </c:strCache>
                  </c:strRef>
                </c:tx>
                <c:dPt>
                  <c:idx val="0"/>
                  <c:bubble3D val="0"/>
                  <c:spPr>
                    <a:gradFill rotWithShape="1">
                      <a:gsLst>
                        <a:gs pos="0">
                          <a:schemeClr val="accent2">
                            <a:shade val="51000"/>
                            <a:satMod val="130000"/>
                          </a:schemeClr>
                        </a:gs>
                        <a:gs pos="80000">
                          <a:schemeClr val="accent2">
                            <a:shade val="93000"/>
                            <a:satMod val="130000"/>
                          </a:schemeClr>
                        </a:gs>
                        <a:gs pos="100000">
                          <a:schemeClr val="accent2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1"/>
                  <c:bubble3D val="0"/>
                  <c:spPr>
                    <a:gradFill rotWithShape="1">
                      <a:gsLst>
                        <a:gs pos="0">
                          <a:schemeClr val="accent4">
                            <a:shade val="51000"/>
                            <a:satMod val="130000"/>
                          </a:schemeClr>
                        </a:gs>
                        <a:gs pos="80000">
                          <a:schemeClr val="accent4">
                            <a:shade val="93000"/>
                            <a:satMod val="130000"/>
                          </a:schemeClr>
                        </a:gs>
                        <a:gs pos="100000">
                          <a:schemeClr val="accent4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2"/>
                  <c:bubble3D val="0"/>
                  <c:spPr>
                    <a:gradFill rotWithShape="1">
                      <a:gsLst>
                        <a:gs pos="0">
                          <a:schemeClr val="accent6"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Pt>
                  <c:idx val="3"/>
                  <c:bubble3D val="0"/>
                  <c:spPr>
                    <a:gradFill rotWithShape="1">
                      <a:gsLst>
                        <a:gs pos="0">
                          <a:schemeClr val="accent6">
                            <a:lumMod val="80000"/>
                            <a:lumOff val="20000"/>
                            <a:shade val="51000"/>
                            <a:satMod val="130000"/>
                          </a:schemeClr>
                        </a:gs>
                        <a:gs pos="80000">
                          <a:schemeClr val="accent6">
                            <a:lumMod val="80000"/>
                            <a:lumOff val="20000"/>
                            <a:shade val="93000"/>
                            <a:satMod val="130000"/>
                          </a:schemeClr>
                        </a:gs>
                        <a:gs pos="100000">
                          <a:schemeClr val="accent6">
                            <a:lumMod val="80000"/>
                            <a:lumOff val="20000"/>
                            <a:shade val="94000"/>
                            <a:satMod val="135000"/>
                          </a:schemeClr>
                        </a:gs>
                      </a:gsLst>
                      <a:lin ang="16200000" scaled="0"/>
                    </a:gradFill>
                    <a:ln>
                      <a:noFill/>
                    </a:ln>
                    <a:effectLst>
                      <a:outerShdw blurRad="40000" dist="23000" dir="5400000" rotWithShape="0">
                        <a:srgbClr val="000000">
                          <a:alpha val="35000"/>
                        </a:srgbClr>
                      </a:outerShdw>
                    </a:effectLst>
                  </c:spPr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>
                        <a:solidFill>
                          <a:schemeClr val="tx2">
                            <a:lumMod val="35000"/>
                            <a:lumOff val="65000"/>
                          </a:schemeClr>
                        </a:solidFill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District'!$A$2:$A$12</c15:sqref>
                        </c15:formulaRef>
                      </c:ext>
                    </c:extLst>
                    <c:strCache>
                      <c:ptCount val="4"/>
                      <c:pt idx="0">
                        <c:v>Dhading</c:v>
                      </c:pt>
                      <c:pt idx="1">
                        <c:v>Dolakha</c:v>
                      </c:pt>
                      <c:pt idx="2">
                        <c:v>Gorkha</c:v>
                      </c:pt>
                      <c:pt idx="3">
                        <c:v>Ramechhap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'Activities % By District'!$M$2:$M$12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 formatCode="0%">
                        <c:v>0.3125</c:v>
                      </c:pt>
                    </c:numCache>
                  </c:numRef>
                </c:val>
                <c:extLst xmlns:c15="http://schemas.microsoft.com/office/drawing/2012/chart"/>
              </c15:ser>
            </c15:filteredPieSeries>
          </c:ext>
        </c:extLst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45787765194338"/>
          <c:y val="0.38722039953339199"/>
          <c:w val="0.319804042126976"/>
          <c:h val="0.4288210848643920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2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2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fr-CH" smtClean="0"/>
              <a:t>Fare clic per modificare stile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CH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466F-BDA4-4F18-9C7B-FF0A9A1B0E80}" type="datetime1">
              <a:rPr lang="en-US" smtClean="0"/>
              <a:pPr/>
              <a:t>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smtClean="0"/>
              <a:t>Fare clic per modificare stile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H" smtClean="0"/>
              <a:t>Fare clic per modificare gli stili del testo dello schema</a:t>
            </a:r>
          </a:p>
          <a:p>
            <a:pPr lvl="1"/>
            <a:r>
              <a:rPr lang="fr-CH" smtClean="0"/>
              <a:t>Secondo livello</a:t>
            </a:r>
          </a:p>
          <a:p>
            <a:pPr lvl="2"/>
            <a:r>
              <a:rPr lang="fr-CH" smtClean="0"/>
              <a:t>Terzo livello</a:t>
            </a:r>
          </a:p>
          <a:p>
            <a:pPr lvl="3"/>
            <a:r>
              <a:rPr lang="fr-CH" smtClean="0"/>
              <a:t>Quarto livello</a:t>
            </a:r>
          </a:p>
          <a:p>
            <a:pPr lvl="4"/>
            <a:r>
              <a:rPr lang="fr-CH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607B-A47E-422C-9BEF-122CCDB7C526}" type="datetime1">
              <a:rPr lang="en-US" smtClean="0"/>
              <a:pPr/>
              <a:t>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fr-CH" smtClean="0"/>
              <a:t>Fare clic per modificare stile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CH" smtClean="0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A7CB-BEE6-4F99-898E-913F06E8E125}" type="datetime1">
              <a:rPr lang="en-US" smtClean="0"/>
              <a:pPr/>
              <a:t>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smtClean="0"/>
              <a:t>Fare clic per modificare stile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H" smtClean="0"/>
              <a:t>Fare clic per modificare gli stili del testo dello schema</a:t>
            </a:r>
          </a:p>
          <a:p>
            <a:pPr lvl="1"/>
            <a:r>
              <a:rPr lang="fr-CH" smtClean="0"/>
              <a:t>Secondo livello</a:t>
            </a:r>
          </a:p>
          <a:p>
            <a:pPr lvl="2"/>
            <a:r>
              <a:rPr lang="fr-CH" smtClean="0"/>
              <a:t>Terzo livello</a:t>
            </a:r>
          </a:p>
          <a:p>
            <a:pPr lvl="3"/>
            <a:r>
              <a:rPr lang="fr-CH" smtClean="0"/>
              <a:t>Quarto livello</a:t>
            </a:r>
          </a:p>
          <a:p>
            <a:pPr lvl="4"/>
            <a:r>
              <a:rPr lang="fr-CH" smtClean="0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CH" smtClean="0"/>
              <a:t>Fare clic per modificare gli stili del testo dello schema</a:t>
            </a:r>
          </a:p>
          <a:p>
            <a:pPr lvl="1"/>
            <a:r>
              <a:rPr lang="fr-CH" smtClean="0"/>
              <a:t>Secondo livello</a:t>
            </a:r>
          </a:p>
          <a:p>
            <a:pPr lvl="2"/>
            <a:r>
              <a:rPr lang="fr-CH" smtClean="0"/>
              <a:t>Terzo livello</a:t>
            </a:r>
          </a:p>
          <a:p>
            <a:pPr lvl="3"/>
            <a:r>
              <a:rPr lang="fr-CH" smtClean="0"/>
              <a:t>Quarto livello</a:t>
            </a:r>
          </a:p>
          <a:p>
            <a:pPr lvl="4"/>
            <a:r>
              <a:rPr lang="fr-CH" smtClean="0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300C-6FC5-4FC3-AF1A-075E4F50620D}" type="datetime1">
              <a:rPr lang="en-US" smtClean="0"/>
              <a:pPr/>
              <a:t>1/27/2016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CH" smtClean="0"/>
              <a:t>Fare clic per modificare stile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H" smtClean="0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H" smtClean="0"/>
              <a:t>Fare clic per modificare gli stili del testo dello schema</a:t>
            </a:r>
          </a:p>
          <a:p>
            <a:pPr lvl="1"/>
            <a:r>
              <a:rPr lang="fr-CH" smtClean="0"/>
              <a:t>Secondo livello</a:t>
            </a:r>
          </a:p>
          <a:p>
            <a:pPr lvl="2"/>
            <a:r>
              <a:rPr lang="fr-CH" smtClean="0"/>
              <a:t>Terzo livello</a:t>
            </a:r>
          </a:p>
          <a:p>
            <a:pPr lvl="3"/>
            <a:r>
              <a:rPr lang="fr-CH" smtClean="0"/>
              <a:t>Quarto livello</a:t>
            </a:r>
          </a:p>
          <a:p>
            <a:pPr lvl="4"/>
            <a:r>
              <a:rPr lang="fr-CH" smtClean="0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H" smtClean="0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CH" smtClean="0"/>
              <a:t>Fare clic per modificare gli stili del testo dello schema</a:t>
            </a:r>
          </a:p>
          <a:p>
            <a:pPr lvl="1"/>
            <a:r>
              <a:rPr lang="fr-CH" smtClean="0"/>
              <a:t>Secondo livello</a:t>
            </a:r>
          </a:p>
          <a:p>
            <a:pPr lvl="2"/>
            <a:r>
              <a:rPr lang="fr-CH" smtClean="0"/>
              <a:t>Terzo livello</a:t>
            </a:r>
          </a:p>
          <a:p>
            <a:pPr lvl="3"/>
            <a:r>
              <a:rPr lang="fr-CH" smtClean="0"/>
              <a:t>Quarto livello</a:t>
            </a:r>
          </a:p>
          <a:p>
            <a:pPr lvl="4"/>
            <a:r>
              <a:rPr lang="fr-CH" smtClean="0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295D-4A77-4DEB-B04C-9F4282A8BC04}" type="datetime1">
              <a:rPr lang="en-US" smtClean="0"/>
              <a:pPr/>
              <a:t>1/27/2016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smtClean="0"/>
              <a:t>Fare clic per modificare stile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8685-4D0C-42D5-8013-B5904CD1FCBC}" type="datetime1">
              <a:rPr lang="en-US" smtClean="0"/>
              <a:pPr/>
              <a:t>1/27/2016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6C0-9885-4BA9-BBFA-A52CBFEBB775}" type="datetime1">
              <a:rPr lang="en-US" smtClean="0"/>
              <a:pPr/>
              <a:t>1/27/2016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fr-CH" smtClean="0"/>
              <a:t>Fare clic per modificare stile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H" smtClean="0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E1B38-C5EB-4D66-9137-0AFE9CDEDE8F}" type="datetime1">
              <a:rPr lang="en-US" smtClean="0"/>
              <a:pPr/>
              <a:t>1/27/2016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fr-CH" smtClean="0"/>
              <a:t>Fare clic per modificare gli stili del testo dello schema</a:t>
            </a:r>
          </a:p>
          <a:p>
            <a:pPr lvl="1"/>
            <a:r>
              <a:rPr lang="fr-CH" smtClean="0"/>
              <a:t>Secondo livello</a:t>
            </a:r>
          </a:p>
          <a:p>
            <a:pPr lvl="2"/>
            <a:r>
              <a:rPr lang="fr-CH" smtClean="0"/>
              <a:t>Terzo livello</a:t>
            </a:r>
          </a:p>
          <a:p>
            <a:pPr lvl="3"/>
            <a:r>
              <a:rPr lang="fr-CH" smtClean="0"/>
              <a:t>Quarto livello</a:t>
            </a:r>
          </a:p>
          <a:p>
            <a:pPr lvl="4"/>
            <a:r>
              <a:rPr lang="fr-CH" smtClean="0"/>
              <a:t>Quinto livello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fr-CH" smtClean="0"/>
              <a:t>Fare clic per modificare stile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CH" smtClean="0"/>
              <a:t>Trascinare l'immagine su un segnaposto o fare clic sull'icona per aggiungerla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CH" smtClean="0"/>
              <a:t>Fare clic per modificare gli stili del testo dello schema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B613C-1AD7-49D3-885D-F654C5CDBAA6}" type="datetime1">
              <a:rPr lang="en-US" smtClean="0"/>
              <a:pPr/>
              <a:t>1/27/2016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smtClean="0"/>
              <a:t>Fare clic per modificare stile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H" smtClean="0"/>
              <a:t>Fare clic per modificare gli stili del testo dello schema</a:t>
            </a:r>
          </a:p>
          <a:p>
            <a:pPr lvl="1"/>
            <a:r>
              <a:rPr lang="fr-CH" smtClean="0"/>
              <a:t>Secondo livello</a:t>
            </a:r>
          </a:p>
          <a:p>
            <a:pPr lvl="2"/>
            <a:r>
              <a:rPr lang="fr-CH" smtClean="0"/>
              <a:t>Terzo livello</a:t>
            </a:r>
          </a:p>
          <a:p>
            <a:pPr lvl="3"/>
            <a:r>
              <a:rPr lang="fr-CH" smtClean="0"/>
              <a:t>Quarto livello</a:t>
            </a:r>
          </a:p>
          <a:p>
            <a:pPr lvl="4"/>
            <a:r>
              <a:rPr lang="fr-CH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4290-6522-4139-852E-05BD9E7F0D2E}" type="datetime1">
              <a:rPr lang="en-US" smtClean="0"/>
              <a:pPr/>
              <a:t>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fr-CH" smtClean="0"/>
              <a:t>Fare clic per modificare stile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CH" smtClean="0"/>
              <a:t>Fare clic per modificare gli stili del testo dello schema</a:t>
            </a:r>
          </a:p>
          <a:p>
            <a:pPr lvl="1"/>
            <a:r>
              <a:rPr lang="fr-CH" smtClean="0"/>
              <a:t>Secondo livello</a:t>
            </a:r>
          </a:p>
          <a:p>
            <a:pPr lvl="2"/>
            <a:r>
              <a:rPr lang="fr-CH" smtClean="0"/>
              <a:t>Terzo livello</a:t>
            </a:r>
          </a:p>
          <a:p>
            <a:pPr lvl="3"/>
            <a:r>
              <a:rPr lang="fr-CH" smtClean="0"/>
              <a:t>Quarto livello</a:t>
            </a:r>
          </a:p>
          <a:p>
            <a:pPr lvl="4"/>
            <a:r>
              <a:rPr lang="fr-CH" smtClean="0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955F9-81EA-47C5-8059-9E5C2B437C70}" type="datetime1">
              <a:rPr lang="en-US" smtClean="0"/>
              <a:pPr/>
              <a:t>1/27/2016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CH" smtClean="0"/>
              <a:t>Fare clic per modificare stile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H" smtClean="0"/>
              <a:t>Fare clic per modificare gli stili del testo dello schema</a:t>
            </a:r>
          </a:p>
          <a:p>
            <a:pPr lvl="1"/>
            <a:r>
              <a:rPr lang="fr-CH" smtClean="0"/>
              <a:t>Secondo livello</a:t>
            </a:r>
          </a:p>
          <a:p>
            <a:pPr lvl="2"/>
            <a:r>
              <a:rPr lang="fr-CH" smtClean="0"/>
              <a:t>Terzo livello</a:t>
            </a:r>
          </a:p>
          <a:p>
            <a:pPr lvl="3"/>
            <a:r>
              <a:rPr lang="fr-CH" smtClean="0"/>
              <a:t>Quarto livello</a:t>
            </a:r>
          </a:p>
          <a:p>
            <a:pPr lvl="4"/>
            <a:r>
              <a:rPr lang="fr-CH" smtClean="0"/>
              <a:t>Quinto livello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327B613C-1AD7-49D3-885D-F654C5CDBAA6}" type="datetime1">
              <a:rPr lang="en-US" smtClean="0"/>
              <a:pPr/>
              <a:t>1/27/2016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  <p:sldLayoutId id="2147483952" r:id="rId2"/>
    <p:sldLayoutId id="2147483953" r:id="rId3"/>
    <p:sldLayoutId id="2147483954" r:id="rId4"/>
    <p:sldLayoutId id="2147483955" r:id="rId5"/>
    <p:sldLayoutId id="2147483956" r:id="rId6"/>
    <p:sldLayoutId id="2147483957" r:id="rId7"/>
    <p:sldLayoutId id="2147483958" r:id="rId8"/>
    <p:sldLayoutId id="2147483959" r:id="rId9"/>
    <p:sldLayoutId id="2147483960" r:id="rId10"/>
    <p:sldLayoutId id="2147483961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ask@hrrp.or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hrrpnepal.org/news-events/news-updates/hrrp-nepal-4w-tool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41101" y="1612901"/>
            <a:ext cx="7543800" cy="1816099"/>
          </a:xfrm>
        </p:spPr>
        <p:txBody>
          <a:bodyPr/>
          <a:lstStyle/>
          <a:p>
            <a:pPr algn="ctr"/>
            <a:r>
              <a:rPr lang="en-GB" b="1" dirty="0" smtClean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en-GB" b="1" dirty="0" smtClean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sz="5400" b="1" dirty="0" smtClean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en-GB" sz="5400" b="1" dirty="0" smtClean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sz="5400" b="1" dirty="0" smtClean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en-GB" sz="5400" b="1" dirty="0" smtClean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sz="5400" b="1" dirty="0">
                <a:solidFill>
                  <a:schemeClr val="tx2">
                    <a:lumMod val="50000"/>
                  </a:schemeClr>
                </a:solidFill>
              </a:rPr>
              <a:t/>
            </a:r>
            <a:br>
              <a:rPr lang="en-GB" sz="5400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GB" sz="5400" b="1" dirty="0" smtClean="0">
                <a:solidFill>
                  <a:schemeClr val="tx2">
                    <a:lumMod val="50000"/>
                  </a:schemeClr>
                </a:solidFill>
              </a:rPr>
              <a:t>HRRP General  Meeting</a:t>
            </a:r>
            <a:endParaRPr lang="en-GB" sz="5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6461760" cy="1435100"/>
          </a:xfrm>
        </p:spPr>
        <p:txBody>
          <a:bodyPr>
            <a:noAutofit/>
          </a:bodyPr>
          <a:lstStyle/>
          <a:p>
            <a:r>
              <a:rPr lang="en-GB" sz="1800" b="1" dirty="0" smtClean="0">
                <a:solidFill>
                  <a:schemeClr val="tx2">
                    <a:lumMod val="50000"/>
                  </a:schemeClr>
                </a:solidFill>
              </a:rPr>
              <a:t>Chair: Mr</a:t>
            </a:r>
            <a:r>
              <a:rPr lang="en-GB" sz="1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1800" b="1" dirty="0" smtClean="0">
                <a:solidFill>
                  <a:schemeClr val="tx2">
                    <a:lumMod val="50000"/>
                  </a:schemeClr>
                </a:solidFill>
              </a:rPr>
              <a:t> Rabi Shah, DDG, DUDBC</a:t>
            </a:r>
          </a:p>
          <a:p>
            <a:r>
              <a:rPr lang="en-GB" sz="1800" b="1" dirty="0" smtClean="0">
                <a:solidFill>
                  <a:schemeClr val="tx2">
                    <a:lumMod val="50000"/>
                  </a:schemeClr>
                </a:solidFill>
              </a:rPr>
              <a:t>Chief Guest: Dr Chandra </a:t>
            </a:r>
            <a:r>
              <a:rPr lang="en-GB" sz="1800" b="1" dirty="0" err="1" smtClean="0">
                <a:solidFill>
                  <a:schemeClr val="tx2">
                    <a:lumMod val="50000"/>
                  </a:schemeClr>
                </a:solidFill>
              </a:rPr>
              <a:t>Shrestha</a:t>
            </a:r>
            <a:r>
              <a:rPr lang="en-GB" sz="1800" b="1" dirty="0" smtClean="0">
                <a:solidFill>
                  <a:schemeClr val="tx2">
                    <a:lumMod val="50000"/>
                  </a:schemeClr>
                </a:solidFill>
              </a:rPr>
              <a:t>, Executive Member, NRA</a:t>
            </a:r>
          </a:p>
          <a:p>
            <a:r>
              <a:rPr lang="en-GB" sz="1800" b="1" dirty="0" smtClean="0">
                <a:solidFill>
                  <a:schemeClr val="tx2">
                    <a:lumMod val="50000"/>
                  </a:schemeClr>
                </a:solidFill>
              </a:rPr>
              <a:t>Moderation and updates: Dr Jennifer </a:t>
            </a:r>
            <a:r>
              <a:rPr lang="en-GB" sz="1800" b="1" dirty="0" err="1" smtClean="0">
                <a:solidFill>
                  <a:schemeClr val="tx2">
                    <a:lumMod val="50000"/>
                  </a:schemeClr>
                </a:solidFill>
              </a:rPr>
              <a:t>Duyne</a:t>
            </a:r>
            <a:r>
              <a:rPr lang="en-GB" sz="1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1800" b="1" dirty="0" smtClean="0">
                <a:solidFill>
                  <a:schemeClr val="tx2">
                    <a:lumMod val="50000"/>
                  </a:schemeClr>
                </a:solidFill>
              </a:rPr>
              <a:t>and Mr </a:t>
            </a:r>
            <a:r>
              <a:rPr lang="en-GB" sz="1800" b="1" dirty="0" err="1" smtClean="0">
                <a:solidFill>
                  <a:schemeClr val="tx2">
                    <a:lumMod val="50000"/>
                  </a:schemeClr>
                </a:solidFill>
              </a:rPr>
              <a:t>Arshad</a:t>
            </a:r>
            <a:r>
              <a:rPr lang="en-GB" sz="1800" b="1" dirty="0" smtClean="0">
                <a:solidFill>
                  <a:schemeClr val="tx2">
                    <a:lumMod val="50000"/>
                  </a:schemeClr>
                </a:solidFill>
              </a:rPr>
              <a:t> Rashid, Team Leaders </a:t>
            </a:r>
            <a:r>
              <a:rPr lang="en-GB" sz="1800" b="1" dirty="0">
                <a:solidFill>
                  <a:schemeClr val="tx2">
                    <a:lumMod val="50000"/>
                  </a:schemeClr>
                </a:solidFill>
              </a:rPr>
              <a:t>HRRP </a:t>
            </a:r>
            <a:r>
              <a:rPr lang="en-GB" sz="1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  <a:p>
            <a:endParaRPr lang="en-GB" sz="18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GB" sz="1600" dirty="0">
                <a:solidFill>
                  <a:schemeClr val="tx2">
                    <a:lumMod val="50000"/>
                  </a:schemeClr>
                </a:solidFill>
              </a:rPr>
              <a:t>Kathmandu, Babar </a:t>
            </a:r>
            <a:r>
              <a:rPr lang="en-GB" sz="1600" dirty="0" err="1" smtClean="0">
                <a:solidFill>
                  <a:schemeClr val="tx2">
                    <a:lumMod val="50000"/>
                  </a:schemeClr>
                </a:solidFill>
              </a:rPr>
              <a:t>Mahal</a:t>
            </a:r>
            <a:r>
              <a:rPr lang="en-GB" sz="1600" dirty="0" smtClean="0">
                <a:solidFill>
                  <a:schemeClr val="tx2">
                    <a:lumMod val="50000"/>
                  </a:schemeClr>
                </a:solidFill>
              </a:rPr>
              <a:t>, DUDBC, Meeting Hall, </a:t>
            </a:r>
          </a:p>
          <a:p>
            <a:r>
              <a:rPr lang="en-GB" sz="1600" dirty="0" smtClean="0">
                <a:solidFill>
                  <a:schemeClr val="tx2">
                    <a:lumMod val="50000"/>
                  </a:schemeClr>
                </a:solidFill>
              </a:rPr>
              <a:t>Friday, 22 January 2016, 15:00 -16:30 </a:t>
            </a:r>
            <a:endParaRPr lang="en-GB" sz="16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241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7785279" cy="1143000"/>
          </a:xfr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z="4000" b="1" dirty="0">
                <a:solidFill>
                  <a:schemeClr val="tx2">
                    <a:lumMod val="50000"/>
                  </a:schemeClr>
                </a:solidFill>
              </a:rPr>
              <a:t>Agenda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583267"/>
            <a:ext cx="7785278" cy="5029203"/>
          </a:xfr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>
            <a:normAutofit fontScale="92500" lnSpcReduction="10000"/>
          </a:bodyPr>
          <a:lstStyle/>
          <a:p>
            <a:r>
              <a:rPr lang="fr-CH" sz="2800" dirty="0" smtClean="0">
                <a:solidFill>
                  <a:schemeClr val="tx2">
                    <a:lumMod val="50000"/>
                  </a:schemeClr>
                </a:solidFill>
              </a:rPr>
              <a:t>Welcome </a:t>
            </a:r>
            <a:endParaRPr lang="it-CH" sz="28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GB" sz="2800" dirty="0">
                <a:solidFill>
                  <a:schemeClr val="tx2">
                    <a:lumMod val="50000"/>
                  </a:schemeClr>
                </a:solidFill>
              </a:rPr>
              <a:t>Update on housing reconstruction policy and </a:t>
            </a:r>
            <a:r>
              <a:rPr lang="en-GB" sz="2800" dirty="0" smtClean="0">
                <a:solidFill>
                  <a:schemeClr val="tx2">
                    <a:lumMod val="50000"/>
                  </a:schemeClr>
                </a:solidFill>
              </a:rPr>
              <a:t>programme by Mr Rabi Shah, DUDBC</a:t>
            </a:r>
          </a:p>
          <a:p>
            <a:r>
              <a:rPr lang="en-GB" sz="2800" dirty="0" smtClean="0">
                <a:solidFill>
                  <a:schemeClr val="tx2">
                    <a:lumMod val="50000"/>
                  </a:schemeClr>
                </a:solidFill>
              </a:rPr>
              <a:t>Update </a:t>
            </a:r>
            <a:r>
              <a:rPr lang="en-GB" sz="2800" dirty="0">
                <a:solidFill>
                  <a:schemeClr val="tx2">
                    <a:lumMod val="50000"/>
                  </a:schemeClr>
                </a:solidFill>
              </a:rPr>
              <a:t>on </a:t>
            </a:r>
            <a:r>
              <a:rPr lang="en-GB" sz="2800" dirty="0" smtClean="0">
                <a:solidFill>
                  <a:schemeClr val="tx2">
                    <a:lumMod val="50000"/>
                  </a:schemeClr>
                </a:solidFill>
              </a:rPr>
              <a:t>NRA and CBS </a:t>
            </a:r>
            <a:r>
              <a:rPr lang="en-GB" sz="2800" dirty="0">
                <a:solidFill>
                  <a:schemeClr val="tx2">
                    <a:lumMod val="50000"/>
                  </a:schemeClr>
                </a:solidFill>
              </a:rPr>
              <a:t>Survey </a:t>
            </a:r>
            <a:r>
              <a:rPr lang="en-GB" sz="2800" dirty="0" smtClean="0">
                <a:solidFill>
                  <a:schemeClr val="tx2">
                    <a:lumMod val="50000"/>
                  </a:schemeClr>
                </a:solidFill>
              </a:rPr>
              <a:t>by Dr Chandra </a:t>
            </a:r>
            <a:r>
              <a:rPr lang="en-GB" sz="2800" dirty="0" err="1" smtClean="0">
                <a:solidFill>
                  <a:schemeClr val="tx2">
                    <a:lumMod val="50000"/>
                  </a:schemeClr>
                </a:solidFill>
              </a:rPr>
              <a:t>Shrestha</a:t>
            </a:r>
            <a:r>
              <a:rPr lang="en-GB" sz="2800" dirty="0" smtClean="0">
                <a:solidFill>
                  <a:schemeClr val="tx2">
                    <a:lumMod val="50000"/>
                  </a:schemeClr>
                </a:solidFill>
              </a:rPr>
              <a:t>, NRA</a:t>
            </a:r>
          </a:p>
          <a:p>
            <a:r>
              <a:rPr lang="en-GB" sz="2800" dirty="0" smtClean="0">
                <a:solidFill>
                  <a:schemeClr val="tx2">
                    <a:lumMod val="50000"/>
                  </a:schemeClr>
                </a:solidFill>
              </a:rPr>
              <a:t>Update on HRRP’s activities </a:t>
            </a:r>
          </a:p>
          <a:p>
            <a:r>
              <a:rPr lang="en-GB" sz="2800" dirty="0" smtClean="0">
                <a:solidFill>
                  <a:schemeClr val="tx2">
                    <a:lumMod val="50000"/>
                  </a:schemeClr>
                </a:solidFill>
              </a:rPr>
              <a:t>Update </a:t>
            </a:r>
            <a:r>
              <a:rPr lang="en-GB" sz="2800" dirty="0">
                <a:solidFill>
                  <a:schemeClr val="tx2">
                    <a:lumMod val="50000"/>
                  </a:schemeClr>
                </a:solidFill>
              </a:rPr>
              <a:t>and analysis on </a:t>
            </a:r>
            <a:r>
              <a:rPr lang="en-GB" sz="2800" dirty="0" smtClean="0">
                <a:solidFill>
                  <a:schemeClr val="tx2">
                    <a:lumMod val="50000"/>
                  </a:schemeClr>
                </a:solidFill>
              </a:rPr>
              <a:t>4W </a:t>
            </a:r>
          </a:p>
          <a:p>
            <a:r>
              <a:rPr lang="en-GB" sz="2800" dirty="0" smtClean="0">
                <a:solidFill>
                  <a:schemeClr val="tx2">
                    <a:lumMod val="50000"/>
                  </a:schemeClr>
                </a:solidFill>
              </a:rPr>
              <a:t>PO Mapping</a:t>
            </a:r>
            <a:r>
              <a:rPr lang="en-GB" sz="28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2800" dirty="0" smtClean="0">
                <a:solidFill>
                  <a:schemeClr val="tx2">
                    <a:lumMod val="50000"/>
                  </a:schemeClr>
                </a:solidFill>
              </a:rPr>
              <a:t>by DUDBC </a:t>
            </a:r>
          </a:p>
          <a:p>
            <a:r>
              <a:rPr lang="en-GB" sz="2800" dirty="0" smtClean="0">
                <a:solidFill>
                  <a:schemeClr val="tx2">
                    <a:lumMod val="50000"/>
                  </a:schemeClr>
                </a:solidFill>
              </a:rPr>
              <a:t>Comments, questions </a:t>
            </a:r>
            <a:r>
              <a:rPr lang="en-GB" sz="2800" dirty="0">
                <a:solidFill>
                  <a:schemeClr val="tx2">
                    <a:lumMod val="50000"/>
                  </a:schemeClr>
                </a:solidFill>
              </a:rPr>
              <a:t>and suggestions by POs </a:t>
            </a:r>
            <a:endParaRPr lang="it-CH" sz="28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GB" sz="2800" dirty="0">
                <a:solidFill>
                  <a:schemeClr val="tx2">
                    <a:lumMod val="50000"/>
                  </a:schemeClr>
                </a:solidFill>
              </a:rPr>
              <a:t>Next meetings</a:t>
            </a:r>
            <a:endParaRPr lang="it-CH" sz="28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GB" sz="2800" dirty="0" smtClean="0">
                <a:solidFill>
                  <a:schemeClr val="tx2">
                    <a:lumMod val="50000"/>
                  </a:schemeClr>
                </a:solidFill>
              </a:rPr>
              <a:t>AOB</a:t>
            </a:r>
            <a:endParaRPr lang="it-CH" sz="28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207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z="4000" b="1" dirty="0">
                <a:solidFill>
                  <a:schemeClr val="tx2">
                    <a:lumMod val="50000"/>
                  </a:schemeClr>
                </a:solidFill>
              </a:rPr>
              <a:t>Update on HRRP’s activities 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583267"/>
            <a:ext cx="7620000" cy="5029203"/>
          </a:xfrm>
          <a:ln>
            <a:solidFill>
              <a:schemeClr val="accent1"/>
            </a:solidFill>
          </a:ln>
        </p:spPr>
        <p:txBody>
          <a:bodyPr>
            <a:normAutofit fontScale="77500" lnSpcReduction="20000"/>
          </a:bodyPr>
          <a:lstStyle/>
          <a:p>
            <a:pPr>
              <a:spcAft>
                <a:spcPts val="600"/>
              </a:spcAft>
            </a:pPr>
            <a:r>
              <a:rPr lang="fr-CH" sz="2300" dirty="0" smtClean="0">
                <a:solidFill>
                  <a:schemeClr val="tx2">
                    <a:lumMod val="50000"/>
                  </a:schemeClr>
                </a:solidFill>
              </a:rPr>
              <a:t>TOR approved by DUDBC </a:t>
            </a:r>
          </a:p>
          <a:p>
            <a:pPr>
              <a:spcAft>
                <a:spcPts val="600"/>
              </a:spcAft>
            </a:pPr>
            <a:r>
              <a:rPr lang="fr-CH" sz="2300" dirty="0" smtClean="0">
                <a:solidFill>
                  <a:schemeClr val="tx2">
                    <a:lumMod val="50000"/>
                  </a:schemeClr>
                </a:solidFill>
              </a:rPr>
              <a:t>Almost full team on board</a:t>
            </a:r>
          </a:p>
          <a:p>
            <a:pPr>
              <a:spcAft>
                <a:spcPts val="600"/>
              </a:spcAft>
            </a:pPr>
            <a:r>
              <a:rPr lang="fr-CH" sz="2300" dirty="0" smtClean="0">
                <a:solidFill>
                  <a:schemeClr val="tx2">
                    <a:lumMod val="50000"/>
                  </a:schemeClr>
                </a:solidFill>
              </a:rPr>
              <a:t>Office with meeting rooms and working space for </a:t>
            </a:r>
            <a:r>
              <a:rPr lang="fr-CH" sz="2300" dirty="0" err="1" smtClean="0">
                <a:solidFill>
                  <a:schemeClr val="tx2">
                    <a:lumMod val="50000"/>
                  </a:schemeClr>
                </a:solidFill>
              </a:rPr>
              <a:t>POs</a:t>
            </a:r>
            <a:r>
              <a:rPr lang="fr-CH" sz="2300" dirty="0" smtClean="0">
                <a:solidFill>
                  <a:schemeClr val="tx2">
                    <a:lumMod val="50000"/>
                  </a:schemeClr>
                </a:solidFill>
              </a:rPr>
              <a:t> established  </a:t>
            </a:r>
          </a:p>
          <a:p>
            <a:pPr>
              <a:spcAft>
                <a:spcPts val="600"/>
              </a:spcAft>
            </a:pPr>
            <a:r>
              <a:rPr lang="fr-CH" sz="2300" dirty="0" smtClean="0">
                <a:solidFill>
                  <a:schemeClr val="tx2">
                    <a:lumMod val="50000"/>
                  </a:schemeClr>
                </a:solidFill>
              </a:rPr>
              <a:t>District Focal Points (DFP) and Hub Coordination (HC) established </a:t>
            </a:r>
          </a:p>
          <a:p>
            <a:pPr>
              <a:spcAft>
                <a:spcPts val="600"/>
              </a:spcAft>
            </a:pPr>
            <a:r>
              <a:rPr lang="fr-CH" sz="2300" dirty="0" smtClean="0">
                <a:solidFill>
                  <a:schemeClr val="tx2">
                    <a:lumMod val="50000"/>
                  </a:schemeClr>
                </a:solidFill>
              </a:rPr>
              <a:t>HRRP website </a:t>
            </a:r>
            <a:r>
              <a:rPr lang="fr-CH" sz="2300" dirty="0" err="1" smtClean="0">
                <a:solidFill>
                  <a:schemeClr val="tx2">
                    <a:lumMod val="50000"/>
                  </a:schemeClr>
                </a:solidFill>
              </a:rPr>
              <a:t>operational</a:t>
            </a:r>
            <a:r>
              <a:rPr lang="fr-CH" sz="23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fr-CH" sz="2300" dirty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fr-CH" sz="2300" dirty="0">
                <a:solidFill>
                  <a:srgbClr val="0070C0"/>
                </a:solidFill>
              </a:rPr>
              <a:t>http://hrrpnepal.org</a:t>
            </a:r>
            <a:r>
              <a:rPr lang="fr-CH" sz="2300" dirty="0">
                <a:solidFill>
                  <a:schemeClr val="tx2">
                    <a:lumMod val="50000"/>
                  </a:schemeClr>
                </a:solidFill>
              </a:rPr>
              <a:t>/)</a:t>
            </a:r>
          </a:p>
          <a:p>
            <a:pPr>
              <a:spcAft>
                <a:spcPts val="600"/>
              </a:spcAft>
            </a:pPr>
            <a:r>
              <a:rPr lang="fr-CH" sz="2300" dirty="0" smtClean="0">
                <a:solidFill>
                  <a:schemeClr val="tx2">
                    <a:lumMod val="50000"/>
                  </a:schemeClr>
                </a:solidFill>
              </a:rPr>
              <a:t>Q&amp;A system operational: for questions related to housing recovery and reconstruction please write to: </a:t>
            </a:r>
            <a:r>
              <a:rPr lang="en-GB" sz="2300" dirty="0" smtClean="0">
                <a:solidFill>
                  <a:srgbClr val="0070C0"/>
                </a:solidFill>
                <a:hlinkClick r:id="rId2"/>
              </a:rPr>
              <a:t>ask@hrrpnepal.org</a:t>
            </a:r>
            <a:r>
              <a:rPr lang="en-GB" sz="2300" dirty="0" smtClean="0">
                <a:solidFill>
                  <a:srgbClr val="0070C0"/>
                </a:solidFill>
              </a:rPr>
              <a:t> </a:t>
            </a:r>
            <a:endParaRPr lang="fr-CH" sz="2300" dirty="0" smtClean="0">
              <a:solidFill>
                <a:srgbClr val="0070C0"/>
              </a:solidFill>
            </a:endParaRPr>
          </a:p>
          <a:p>
            <a:pPr>
              <a:spcAft>
                <a:spcPts val="600"/>
              </a:spcAft>
            </a:pPr>
            <a:r>
              <a:rPr lang="fr-CH" sz="2300" dirty="0" smtClean="0">
                <a:solidFill>
                  <a:schemeClr val="tx2">
                    <a:lumMod val="50000"/>
                  </a:schemeClr>
                </a:solidFill>
              </a:rPr>
              <a:t>4W survey with focus on reconstruction started in parallel with district level data collection (merging of data ongoing)</a:t>
            </a:r>
          </a:p>
          <a:p>
            <a:pPr>
              <a:spcAft>
                <a:spcPts val="600"/>
              </a:spcAft>
            </a:pPr>
            <a:r>
              <a:rPr lang="fr-CH" sz="2300" dirty="0" smtClean="0">
                <a:solidFill>
                  <a:schemeClr val="tx2">
                    <a:lumMod val="50000"/>
                  </a:schemeClr>
                </a:solidFill>
              </a:rPr>
              <a:t>Support to DUDBC for PO mapping provided</a:t>
            </a:r>
          </a:p>
          <a:p>
            <a:pPr>
              <a:spcAft>
                <a:spcPts val="600"/>
              </a:spcAft>
            </a:pPr>
            <a:r>
              <a:rPr lang="fr-CH" sz="2300" dirty="0" smtClean="0">
                <a:solidFill>
                  <a:schemeClr val="tx2">
                    <a:lumMod val="50000"/>
                  </a:schemeClr>
                </a:solidFill>
              </a:rPr>
              <a:t>Support to NRA on </a:t>
            </a:r>
            <a:r>
              <a:rPr lang="fr-CH" sz="2300" dirty="0">
                <a:solidFill>
                  <a:schemeClr val="tx2">
                    <a:lumMod val="50000"/>
                  </a:schemeClr>
                </a:solidFill>
              </a:rPr>
              <a:t>various communication aspects provided </a:t>
            </a:r>
            <a:r>
              <a:rPr lang="fr-CH" sz="2300" dirty="0" smtClean="0">
                <a:solidFill>
                  <a:schemeClr val="tx2">
                    <a:lumMod val="50000"/>
                  </a:schemeClr>
                </a:solidFill>
              </a:rPr>
              <a:t> (immediate action plan for NRA launch, NRA website, logo, slogan and PSAs) </a:t>
            </a:r>
          </a:p>
          <a:p>
            <a:pPr>
              <a:spcAft>
                <a:spcPts val="600"/>
              </a:spcAft>
            </a:pPr>
            <a:r>
              <a:rPr lang="fr-CH" sz="2300" dirty="0" smtClean="0">
                <a:solidFill>
                  <a:schemeClr val="tx2">
                    <a:lumMod val="50000"/>
                  </a:schemeClr>
                </a:solidFill>
              </a:rPr>
              <a:t>Technical Notes </a:t>
            </a:r>
            <a:r>
              <a:rPr lang="en-GB" sz="2300" dirty="0" smtClean="0">
                <a:solidFill>
                  <a:schemeClr val="tx2">
                    <a:lumMod val="50000"/>
                  </a:schemeClr>
                </a:solidFill>
              </a:rPr>
              <a:t>on housing </a:t>
            </a:r>
            <a:r>
              <a:rPr lang="en-GB" sz="2300" dirty="0">
                <a:solidFill>
                  <a:schemeClr val="tx2">
                    <a:lumMod val="50000"/>
                  </a:schemeClr>
                </a:solidFill>
              </a:rPr>
              <a:t>standards, training, financial inclusion, social </a:t>
            </a:r>
            <a:r>
              <a:rPr lang="en-GB" sz="2300" dirty="0" smtClean="0">
                <a:solidFill>
                  <a:schemeClr val="tx2">
                    <a:lumMod val="50000"/>
                  </a:schemeClr>
                </a:solidFill>
              </a:rPr>
              <a:t>inclusion and mobilisation, communication, and supply chain </a:t>
            </a:r>
            <a:r>
              <a:rPr lang="fr-CH" sz="2300" dirty="0" smtClean="0">
                <a:solidFill>
                  <a:schemeClr val="tx2">
                    <a:lumMod val="50000"/>
                  </a:schemeClr>
                </a:solidFill>
              </a:rPr>
              <a:t>under preparation</a:t>
            </a:r>
          </a:p>
          <a:p>
            <a:pPr marL="342900" lvl="1">
              <a:spcAft>
                <a:spcPts val="600"/>
              </a:spcAft>
              <a:buClr>
                <a:schemeClr val="accent1"/>
              </a:buClr>
            </a:pPr>
            <a:r>
              <a:rPr lang="en-GB" sz="2300" dirty="0">
                <a:solidFill>
                  <a:schemeClr val="tx2">
                    <a:lumMod val="50000"/>
                  </a:schemeClr>
                </a:solidFill>
              </a:rPr>
              <a:t>Market Study and Urban study tendering done and consultants selected</a:t>
            </a:r>
          </a:p>
          <a:p>
            <a:pPr marL="342900" lvl="1">
              <a:spcAft>
                <a:spcPts val="600"/>
              </a:spcAft>
              <a:buClr>
                <a:schemeClr val="accent1"/>
              </a:buClr>
            </a:pPr>
            <a:endParaRPr lang="fr-CH" sz="2100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114300" lvl="1" indent="0">
              <a:buClr>
                <a:schemeClr val="accent1"/>
              </a:buClr>
              <a:buNone/>
            </a:pPr>
            <a:endParaRPr lang="fr-CH" sz="2800" dirty="0" smtClean="0">
              <a:solidFill>
                <a:schemeClr val="tx2">
                  <a:lumMod val="50000"/>
                </a:schemeClr>
              </a:solidFill>
            </a:endParaRPr>
          </a:p>
          <a:p>
            <a:endParaRPr lang="it-CH" sz="28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649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z="4000" b="1" dirty="0">
                <a:solidFill>
                  <a:schemeClr val="tx2">
                    <a:lumMod val="50000"/>
                  </a:schemeClr>
                </a:solidFill>
              </a:rPr>
              <a:t>HRRP Office location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00199"/>
            <a:ext cx="7620000" cy="5124250"/>
          </a:xfrm>
        </p:spPr>
      </p:pic>
    </p:spTree>
    <p:extLst>
      <p:ext uri="{BB962C8B-B14F-4D97-AF65-F5344CB8AC3E}">
        <p14:creationId xmlns:p14="http://schemas.microsoft.com/office/powerpoint/2010/main" val="1498315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z="4000" b="1" dirty="0">
                <a:solidFill>
                  <a:schemeClr val="tx2">
                    <a:lumMod val="50000"/>
                  </a:schemeClr>
                </a:solidFill>
              </a:rPr>
              <a:t> HRRP TA Team 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596980"/>
            <a:ext cx="7620000" cy="4803820"/>
          </a:xfr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GB" sz="1800" b="1" dirty="0" smtClean="0">
                <a:solidFill>
                  <a:schemeClr val="tx2">
                    <a:lumMod val="50000"/>
                  </a:schemeClr>
                </a:solidFill>
              </a:rPr>
              <a:t>Dr Jennifer </a:t>
            </a:r>
            <a:r>
              <a:rPr lang="en-GB" sz="1800" b="1" dirty="0" err="1" smtClean="0">
                <a:solidFill>
                  <a:schemeClr val="tx2">
                    <a:lumMod val="50000"/>
                  </a:schemeClr>
                </a:solidFill>
              </a:rPr>
              <a:t>Duyne</a:t>
            </a:r>
            <a:r>
              <a:rPr lang="en-GB" sz="1800" b="1" dirty="0" smtClean="0">
                <a:solidFill>
                  <a:schemeClr val="tx2">
                    <a:lumMod val="50000"/>
                  </a:schemeClr>
                </a:solidFill>
              </a:rPr>
              <a:t> Barenstein</a:t>
            </a:r>
            <a:r>
              <a:rPr lang="en-GB" sz="1800" dirty="0" smtClean="0">
                <a:solidFill>
                  <a:schemeClr val="tx2">
                    <a:lumMod val="50000"/>
                  </a:schemeClr>
                </a:solidFill>
              </a:rPr>
              <a:t>, Team Leader</a:t>
            </a:r>
          </a:p>
          <a:p>
            <a:pPr>
              <a:spcAft>
                <a:spcPts val="1200"/>
              </a:spcAft>
            </a:pPr>
            <a:r>
              <a:rPr lang="en-GB" sz="1800" b="1" dirty="0" err="1" smtClean="0">
                <a:solidFill>
                  <a:schemeClr val="tx2">
                    <a:lumMod val="50000"/>
                  </a:schemeClr>
                </a:solidFill>
              </a:rPr>
              <a:t>Prafulla</a:t>
            </a:r>
            <a:r>
              <a:rPr lang="en-GB" sz="1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1800" b="1" dirty="0" err="1" smtClean="0">
                <a:solidFill>
                  <a:schemeClr val="tx2">
                    <a:lumMod val="50000"/>
                  </a:schemeClr>
                </a:solidFill>
              </a:rPr>
              <a:t>Pradhan</a:t>
            </a:r>
            <a:r>
              <a:rPr lang="en-GB" sz="1800" dirty="0">
                <a:solidFill>
                  <a:schemeClr val="tx2">
                    <a:lumMod val="50000"/>
                  </a:schemeClr>
                </a:solidFill>
              </a:rPr>
              <a:t>:</a:t>
            </a:r>
            <a:r>
              <a:rPr lang="en-GB" sz="1800" dirty="0" smtClean="0">
                <a:solidFill>
                  <a:schemeClr val="tx2">
                    <a:lumMod val="50000"/>
                  </a:schemeClr>
                </a:solidFill>
              </a:rPr>
              <a:t>  Government Liaison Advisor </a:t>
            </a:r>
          </a:p>
          <a:p>
            <a:pPr>
              <a:spcAft>
                <a:spcPts val="1200"/>
              </a:spcAft>
            </a:pPr>
            <a:r>
              <a:rPr lang="en-US" sz="1800" b="1" dirty="0" smtClean="0">
                <a:solidFill>
                  <a:schemeClr val="tx2">
                    <a:lumMod val="50000"/>
                  </a:schemeClr>
                </a:solidFill>
              </a:rPr>
              <a:t>Ramesh Kumar </a:t>
            </a:r>
            <a:r>
              <a:rPr lang="en-US" sz="1800" b="1" dirty="0" err="1" smtClean="0">
                <a:solidFill>
                  <a:schemeClr val="tx2">
                    <a:lumMod val="50000"/>
                  </a:schemeClr>
                </a:solidFill>
              </a:rPr>
              <a:t>Gautam</a:t>
            </a:r>
            <a:r>
              <a:rPr lang="en-US" sz="1800" dirty="0" smtClean="0">
                <a:solidFill>
                  <a:schemeClr val="tx2">
                    <a:lumMod val="50000"/>
                  </a:schemeClr>
                </a:solidFill>
              </a:rPr>
              <a:t>,</a:t>
            </a:r>
            <a:r>
              <a:rPr lang="en-US" sz="1800" dirty="0">
                <a:solidFill>
                  <a:schemeClr val="tx2">
                    <a:lumMod val="50000"/>
                  </a:schemeClr>
                </a:solidFill>
              </a:rPr>
              <a:t> Financial Inclusion Specialist</a:t>
            </a:r>
            <a:r>
              <a:rPr lang="it-CH" sz="18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US" sz="1800" dirty="0" smtClean="0">
              <a:solidFill>
                <a:schemeClr val="tx2">
                  <a:lumMod val="50000"/>
                </a:schemeClr>
              </a:solidFill>
            </a:endParaRPr>
          </a:p>
          <a:p>
            <a:pPr>
              <a:spcAft>
                <a:spcPts val="1200"/>
              </a:spcAft>
            </a:pPr>
            <a:r>
              <a:rPr lang="en-US" sz="1800" b="1" dirty="0" err="1" smtClean="0">
                <a:solidFill>
                  <a:schemeClr val="tx2">
                    <a:lumMod val="50000"/>
                  </a:schemeClr>
                </a:solidFill>
              </a:rPr>
              <a:t>Suman</a:t>
            </a:r>
            <a:r>
              <a:rPr lang="en-US" sz="1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1800" b="1" dirty="0" err="1" smtClean="0">
                <a:solidFill>
                  <a:schemeClr val="tx2">
                    <a:lumMod val="50000"/>
                  </a:schemeClr>
                </a:solidFill>
              </a:rPr>
              <a:t>Shakya</a:t>
            </a:r>
            <a:r>
              <a:rPr lang="en-US" sz="1800" dirty="0">
                <a:solidFill>
                  <a:schemeClr val="tx2">
                    <a:lumMod val="50000"/>
                  </a:schemeClr>
                </a:solidFill>
              </a:rPr>
              <a:t>:</a:t>
            </a:r>
            <a:r>
              <a:rPr lang="it-CH" sz="18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1800" dirty="0">
                <a:solidFill>
                  <a:schemeClr val="tx2">
                    <a:lumMod val="50000"/>
                  </a:schemeClr>
                </a:solidFill>
              </a:rPr>
              <a:t>Marketing /Logistic Specialist</a:t>
            </a:r>
            <a:r>
              <a:rPr lang="it-CH" sz="1800" dirty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it-CH" sz="1800" dirty="0" smtClean="0">
              <a:solidFill>
                <a:schemeClr val="tx2">
                  <a:lumMod val="50000"/>
                </a:schemeClr>
              </a:solidFill>
            </a:endParaRPr>
          </a:p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chemeClr val="tx2">
                    <a:lumMod val="50000"/>
                  </a:schemeClr>
                </a:solidFill>
              </a:rPr>
              <a:t>Om </a:t>
            </a:r>
            <a:r>
              <a:rPr lang="en-US" sz="1800" b="1" dirty="0" err="1">
                <a:solidFill>
                  <a:schemeClr val="tx2">
                    <a:lumMod val="50000"/>
                  </a:schemeClr>
                </a:solidFill>
              </a:rPr>
              <a:t>Dharananda</a:t>
            </a:r>
            <a:r>
              <a:rPr lang="en-US" sz="1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1800" b="1" dirty="0" err="1" smtClean="0">
                <a:solidFill>
                  <a:schemeClr val="tx2">
                    <a:lumMod val="50000"/>
                  </a:schemeClr>
                </a:solidFill>
              </a:rPr>
              <a:t>Rajopadhyaya</a:t>
            </a:r>
            <a:r>
              <a:rPr lang="en-US" sz="1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1800" dirty="0" smtClean="0">
                <a:solidFill>
                  <a:schemeClr val="tx2">
                    <a:lumMod val="50000"/>
                  </a:schemeClr>
                </a:solidFill>
              </a:rPr>
              <a:t>with  </a:t>
            </a:r>
            <a:r>
              <a:rPr lang="en-US" sz="1800" b="1" dirty="0" smtClean="0">
                <a:solidFill>
                  <a:schemeClr val="tx2">
                    <a:lumMod val="50000"/>
                  </a:schemeClr>
                </a:solidFill>
              </a:rPr>
              <a:t>Anil </a:t>
            </a:r>
            <a:r>
              <a:rPr lang="en-US" sz="1800" b="1" dirty="0" err="1">
                <a:solidFill>
                  <a:schemeClr val="tx2">
                    <a:lumMod val="50000"/>
                  </a:schemeClr>
                </a:solidFill>
              </a:rPr>
              <a:t>Maharjan</a:t>
            </a:r>
            <a:r>
              <a:rPr lang="it-CH" sz="1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1800" dirty="0" smtClean="0">
                <a:solidFill>
                  <a:schemeClr val="tx2">
                    <a:lumMod val="50000"/>
                  </a:schemeClr>
                </a:solidFill>
              </a:rPr>
              <a:t>: </a:t>
            </a:r>
            <a:r>
              <a:rPr lang="en-US" sz="1800" dirty="0">
                <a:solidFill>
                  <a:schemeClr val="tx2">
                    <a:lumMod val="50000"/>
                  </a:schemeClr>
                </a:solidFill>
              </a:rPr>
              <a:t>Housing </a:t>
            </a:r>
            <a:r>
              <a:rPr lang="en-US" sz="1800" dirty="0" smtClean="0">
                <a:solidFill>
                  <a:schemeClr val="tx2">
                    <a:lumMod val="50000"/>
                  </a:schemeClr>
                </a:solidFill>
              </a:rPr>
              <a:t>Standard</a:t>
            </a:r>
            <a:r>
              <a:rPr lang="en-US" sz="1800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1800" dirty="0" smtClean="0">
                <a:solidFill>
                  <a:schemeClr val="tx2">
                    <a:lumMod val="50000"/>
                  </a:schemeClr>
                </a:solidFill>
              </a:rPr>
              <a:t>Specialists</a:t>
            </a:r>
            <a:r>
              <a:rPr lang="it-CH" sz="18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  <a:p>
            <a:pPr>
              <a:spcAft>
                <a:spcPts val="1200"/>
              </a:spcAft>
            </a:pPr>
            <a:r>
              <a:rPr lang="en-US" sz="1800" b="1" dirty="0" err="1">
                <a:solidFill>
                  <a:schemeClr val="tx2">
                    <a:lumMod val="50000"/>
                  </a:schemeClr>
                </a:solidFill>
              </a:rPr>
              <a:t>Arjun</a:t>
            </a:r>
            <a:r>
              <a:rPr lang="en-US" sz="1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1800" b="1" dirty="0" err="1" smtClean="0">
                <a:solidFill>
                  <a:schemeClr val="tx2">
                    <a:lumMod val="50000"/>
                  </a:schemeClr>
                </a:solidFill>
              </a:rPr>
              <a:t>Koirala</a:t>
            </a:r>
            <a:r>
              <a:rPr lang="en-US" sz="1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1800" dirty="0" smtClean="0">
                <a:solidFill>
                  <a:schemeClr val="tx2">
                    <a:lumMod val="50000"/>
                  </a:schemeClr>
                </a:solidFill>
              </a:rPr>
              <a:t>with </a:t>
            </a:r>
            <a:r>
              <a:rPr lang="en-US" sz="1800" b="1" dirty="0" err="1">
                <a:solidFill>
                  <a:schemeClr val="tx2">
                    <a:lumMod val="50000"/>
                  </a:schemeClr>
                </a:solidFill>
              </a:rPr>
              <a:t>Jeny</a:t>
            </a:r>
            <a:r>
              <a:rPr lang="en-US" sz="1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1800" b="1" dirty="0" err="1" smtClean="0">
                <a:solidFill>
                  <a:schemeClr val="tx2">
                    <a:lumMod val="50000"/>
                  </a:schemeClr>
                </a:solidFill>
              </a:rPr>
              <a:t>Shrestha</a:t>
            </a:r>
            <a:r>
              <a:rPr lang="it-CH" sz="1800" dirty="0" smtClean="0">
                <a:solidFill>
                  <a:schemeClr val="tx2">
                    <a:lumMod val="50000"/>
                  </a:schemeClr>
                </a:solidFill>
              </a:rPr>
              <a:t>: Technical training specialists</a:t>
            </a:r>
          </a:p>
          <a:p>
            <a:pPr>
              <a:spcAft>
                <a:spcPts val="1200"/>
              </a:spcAft>
            </a:pPr>
            <a:r>
              <a:rPr lang="en-US" sz="1800" b="1" dirty="0" err="1">
                <a:solidFill>
                  <a:schemeClr val="tx2">
                    <a:lumMod val="50000"/>
                  </a:schemeClr>
                </a:solidFill>
              </a:rPr>
              <a:t>Usha</a:t>
            </a:r>
            <a:r>
              <a:rPr lang="en-US" sz="1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1800" b="1" dirty="0" err="1">
                <a:solidFill>
                  <a:schemeClr val="tx2">
                    <a:lumMod val="50000"/>
                  </a:schemeClr>
                </a:solidFill>
              </a:rPr>
              <a:t>Maskey</a:t>
            </a:r>
            <a:r>
              <a:rPr lang="it-CH" sz="1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it-CH" sz="1800" dirty="0" smtClean="0">
                <a:solidFill>
                  <a:schemeClr val="tx2">
                    <a:lumMod val="50000"/>
                  </a:schemeClr>
                </a:solidFill>
              </a:rPr>
              <a:t>with </a:t>
            </a:r>
            <a:r>
              <a:rPr lang="it-CH" sz="1800" b="1" dirty="0" smtClean="0">
                <a:solidFill>
                  <a:schemeClr val="tx2">
                    <a:lumMod val="50000"/>
                  </a:schemeClr>
                </a:solidFill>
              </a:rPr>
              <a:t>Nitu Barnawal</a:t>
            </a:r>
            <a:r>
              <a:rPr lang="it-CH" sz="1800" dirty="0" smtClean="0">
                <a:solidFill>
                  <a:schemeClr val="tx2">
                    <a:lumMod val="50000"/>
                  </a:schemeClr>
                </a:solidFill>
              </a:rPr>
              <a:t>: </a:t>
            </a:r>
            <a:r>
              <a:rPr lang="en-US" sz="1800" dirty="0">
                <a:solidFill>
                  <a:schemeClr val="tx2">
                    <a:lumMod val="50000"/>
                  </a:schemeClr>
                </a:solidFill>
              </a:rPr>
              <a:t>Social </a:t>
            </a:r>
            <a:r>
              <a:rPr lang="en-US" sz="1800" dirty="0" smtClean="0">
                <a:solidFill>
                  <a:schemeClr val="tx2">
                    <a:lumMod val="50000"/>
                  </a:schemeClr>
                </a:solidFill>
              </a:rPr>
              <a:t>Mobilization and inclusion  specialists</a:t>
            </a:r>
            <a:r>
              <a:rPr lang="it-CH" sz="1800" dirty="0" smtClean="0">
                <a:solidFill>
                  <a:schemeClr val="tx2">
                    <a:lumMod val="50000"/>
                  </a:schemeClr>
                </a:solidFill>
              </a:rPr>
              <a:t>  </a:t>
            </a:r>
          </a:p>
          <a:p>
            <a:pPr>
              <a:spcAft>
                <a:spcPts val="1200"/>
              </a:spcAft>
            </a:pPr>
            <a:r>
              <a:rPr lang="en-US" sz="1800" b="1" dirty="0" err="1">
                <a:solidFill>
                  <a:schemeClr val="tx2">
                    <a:lumMod val="50000"/>
                  </a:schemeClr>
                </a:solidFill>
              </a:rPr>
              <a:t>Brabim</a:t>
            </a:r>
            <a:r>
              <a:rPr lang="en-US" sz="18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1800" b="1" dirty="0" smtClean="0">
                <a:solidFill>
                  <a:schemeClr val="tx2">
                    <a:lumMod val="50000"/>
                  </a:schemeClr>
                </a:solidFill>
              </a:rPr>
              <a:t>Kumar </a:t>
            </a:r>
            <a:r>
              <a:rPr lang="en-US" sz="1800" dirty="0" smtClean="0">
                <a:solidFill>
                  <a:schemeClr val="tx2">
                    <a:lumMod val="50000"/>
                  </a:schemeClr>
                </a:solidFill>
              </a:rPr>
              <a:t>K.C. Communication and outreach specialist</a:t>
            </a:r>
          </a:p>
          <a:p>
            <a:pPr marL="411480" lvl="1" indent="0">
              <a:spcAft>
                <a:spcPts val="600"/>
              </a:spcAft>
              <a:buNone/>
            </a:pPr>
            <a:endParaRPr lang="en-US" sz="1800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411480" lvl="1" indent="0">
              <a:buNone/>
            </a:pPr>
            <a:r>
              <a:rPr lang="it-CH" sz="18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  <a:p>
            <a:pPr lvl="1"/>
            <a:endParaRPr lang="it-CH" sz="1800" dirty="0" smtClean="0">
              <a:solidFill>
                <a:schemeClr val="tx2">
                  <a:lumMod val="50000"/>
                </a:schemeClr>
              </a:solidFill>
            </a:endParaRPr>
          </a:p>
          <a:p>
            <a:pPr lvl="1"/>
            <a:endParaRPr lang="it-CH" sz="1800" dirty="0" smtClean="0">
              <a:solidFill>
                <a:schemeClr val="tx2">
                  <a:lumMod val="50000"/>
                </a:schemeClr>
              </a:solidFill>
            </a:endParaRPr>
          </a:p>
          <a:p>
            <a:pPr lvl="1"/>
            <a:endParaRPr lang="en-GB" sz="1800" b="1" dirty="0" smtClean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094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72400" cy="1143000"/>
          </a:xfrm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z="4000" b="1" dirty="0">
                <a:solidFill>
                  <a:schemeClr val="tx2">
                    <a:lumMod val="50000"/>
                  </a:schemeClr>
                </a:solidFill>
              </a:rPr>
              <a:t>Role of HRRP TA team 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87132"/>
            <a:ext cx="7772400" cy="4713668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GB" sz="2800" dirty="0" smtClean="0">
                <a:solidFill>
                  <a:schemeClr val="tx2">
                    <a:lumMod val="50000"/>
                  </a:schemeClr>
                </a:solidFill>
              </a:rPr>
              <a:t>Provide support to GON in finalizing/detailing reconstruction policy and implementation strategy;</a:t>
            </a:r>
          </a:p>
          <a:p>
            <a:r>
              <a:rPr lang="en-GB" sz="2800" dirty="0" smtClean="0">
                <a:solidFill>
                  <a:schemeClr val="tx2">
                    <a:lumMod val="50000"/>
                  </a:schemeClr>
                </a:solidFill>
              </a:rPr>
              <a:t>Facilitate the establishment of and participate in TWGs</a:t>
            </a:r>
            <a:endParaRPr lang="en-GB" sz="28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GB" sz="2800" dirty="0" smtClean="0">
                <a:solidFill>
                  <a:schemeClr val="tx2">
                    <a:lumMod val="50000"/>
                  </a:schemeClr>
                </a:solidFill>
              </a:rPr>
              <a:t>Collect, consolidate and disseminate housing reconstruction and recovery policy instruments;</a:t>
            </a:r>
          </a:p>
          <a:p>
            <a:r>
              <a:rPr lang="en-GB" sz="2800" dirty="0" smtClean="0">
                <a:solidFill>
                  <a:schemeClr val="tx2">
                    <a:lumMod val="50000"/>
                  </a:schemeClr>
                </a:solidFill>
              </a:rPr>
              <a:t>Provide support and guidance to POs on relevant topics </a:t>
            </a:r>
          </a:p>
          <a:p>
            <a:r>
              <a:rPr lang="en-GB" sz="2800" dirty="0" smtClean="0">
                <a:solidFill>
                  <a:schemeClr val="tx2">
                    <a:lumMod val="50000"/>
                  </a:schemeClr>
                </a:solidFill>
              </a:rPr>
              <a:t>Facilitate contacts amongst POs</a:t>
            </a:r>
            <a:endParaRPr lang="en-GB" sz="2600" dirty="0" smtClean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142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GB" sz="4000" b="1" dirty="0" smtClean="0">
                <a:solidFill>
                  <a:schemeClr val="tx2">
                    <a:lumMod val="50000"/>
                  </a:schemeClr>
                </a:solidFill>
              </a:rPr>
              <a:t>Update on 4W survey </a:t>
            </a:r>
            <a:endParaRPr lang="en-GB" sz="40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GB" sz="2800" dirty="0" smtClean="0">
                <a:solidFill>
                  <a:schemeClr val="tx2">
                    <a:lumMod val="50000"/>
                  </a:schemeClr>
                </a:solidFill>
              </a:rPr>
              <a:t>4W survey by HRRP sent to POs on 5</a:t>
            </a:r>
            <a:r>
              <a:rPr lang="en-GB" sz="2800" baseline="30000" dirty="0" smtClean="0">
                <a:solidFill>
                  <a:schemeClr val="tx2">
                    <a:lumMod val="50000"/>
                  </a:schemeClr>
                </a:solidFill>
              </a:rPr>
              <a:t>th</a:t>
            </a:r>
            <a:r>
              <a:rPr lang="en-GB" sz="2800" dirty="0" smtClean="0">
                <a:solidFill>
                  <a:schemeClr val="tx2">
                    <a:lumMod val="50000"/>
                  </a:schemeClr>
                </a:solidFill>
              </a:rPr>
              <a:t> January 2016, 24 POs responded so far; </a:t>
            </a:r>
          </a:p>
          <a:p>
            <a:pPr>
              <a:spcAft>
                <a:spcPts val="600"/>
              </a:spcAft>
            </a:pPr>
            <a:r>
              <a:rPr lang="en-GB" sz="2800" dirty="0" smtClean="0">
                <a:solidFill>
                  <a:schemeClr val="tx2">
                    <a:lumMod val="50000"/>
                  </a:schemeClr>
                </a:solidFill>
              </a:rPr>
              <a:t>Survey content is being updated and revised with the aim of collecting more focused information on reconstruction and recovery;</a:t>
            </a:r>
          </a:p>
          <a:p>
            <a:pPr>
              <a:spcAft>
                <a:spcPts val="600"/>
              </a:spcAft>
            </a:pPr>
            <a:r>
              <a:rPr lang="en-GB" sz="2800" dirty="0" smtClean="0">
                <a:solidFill>
                  <a:schemeClr val="tx2">
                    <a:lumMod val="50000"/>
                  </a:schemeClr>
                </a:solidFill>
              </a:rPr>
              <a:t>4W survey will be conducted fortnightly ;</a:t>
            </a:r>
          </a:p>
          <a:p>
            <a:pPr>
              <a:spcAft>
                <a:spcPts val="600"/>
              </a:spcAft>
            </a:pPr>
            <a:r>
              <a:rPr lang="en-GB" sz="2800" dirty="0" smtClean="0">
                <a:solidFill>
                  <a:schemeClr val="tx2">
                    <a:lumMod val="50000"/>
                  </a:schemeClr>
                </a:solidFill>
              </a:rPr>
              <a:t>We are working on simplifying  the system!</a:t>
            </a:r>
          </a:p>
          <a:p>
            <a:pPr marL="114300" indent="0">
              <a:spcAft>
                <a:spcPts val="600"/>
              </a:spcAft>
              <a:buNone/>
            </a:pPr>
            <a:r>
              <a:rPr lang="en-GB" sz="2800" b="1" i="1" dirty="0" smtClean="0">
                <a:solidFill>
                  <a:schemeClr val="tx2">
                    <a:lumMod val="50000"/>
                  </a:schemeClr>
                </a:solidFill>
              </a:rPr>
              <a:t>For those among you who have not yet responded, please kindly do so</a:t>
            </a:r>
            <a:r>
              <a:rPr lang="en-GB" sz="2800" i="1" dirty="0" smtClean="0">
                <a:solidFill>
                  <a:schemeClr val="tx2">
                    <a:lumMod val="50000"/>
                  </a:schemeClr>
                </a:solidFill>
              </a:rPr>
              <a:t>! </a:t>
            </a:r>
          </a:p>
          <a:p>
            <a:pPr marL="114300" indent="0">
              <a:buNone/>
            </a:pPr>
            <a:r>
              <a:rPr lang="en-GB" sz="28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endParaRPr lang="en-GB" sz="28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6939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z="4400" dirty="0"/>
              <a:t>Training and skills development</a:t>
            </a:r>
          </a:p>
        </p:txBody>
      </p:sp>
      <p:graphicFrame>
        <p:nvGraphicFramePr>
          <p:cNvPr id="4" name="Chart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9756158"/>
              </p:ext>
            </p:extLst>
          </p:nvPr>
        </p:nvGraphicFramePr>
        <p:xfrm>
          <a:off x="457199" y="1600200"/>
          <a:ext cx="3509493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0146464"/>
              </p:ext>
            </p:extLst>
          </p:nvPr>
        </p:nvGraphicFramePr>
        <p:xfrm>
          <a:off x="4211392" y="1600201"/>
          <a:ext cx="3865808" cy="2289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4379905"/>
              </p:ext>
            </p:extLst>
          </p:nvPr>
        </p:nvGraphicFramePr>
        <p:xfrm>
          <a:off x="4211393" y="4121240"/>
          <a:ext cx="3865808" cy="2511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12460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z="4000" b="1" dirty="0"/>
              <a:t>Training and skills development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0880816"/>
              </p:ext>
            </p:extLst>
          </p:nvPr>
        </p:nvGraphicFramePr>
        <p:xfrm>
          <a:off x="457199" y="1600200"/>
          <a:ext cx="3767071" cy="33613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9588508"/>
              </p:ext>
            </p:extLst>
          </p:nvPr>
        </p:nvGraphicFramePr>
        <p:xfrm>
          <a:off x="4378816" y="1600200"/>
          <a:ext cx="3917325" cy="33613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82653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40755" y="274638"/>
            <a:ext cx="7736445" cy="1143000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GB" sz="3000" b="1" dirty="0" smtClean="0"/>
              <a:t>Social Mobilisation, supervision and guidance </a:t>
            </a:r>
            <a:endParaRPr lang="en-GB" sz="3000" b="1" dirty="0"/>
          </a:p>
        </p:txBody>
      </p:sp>
      <p:graphicFrame>
        <p:nvGraphicFramePr>
          <p:cNvPr id="4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9151940"/>
              </p:ext>
            </p:extLst>
          </p:nvPr>
        </p:nvGraphicFramePr>
        <p:xfrm>
          <a:off x="340755" y="2203482"/>
          <a:ext cx="2917600" cy="23298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40756" y="1557150"/>
            <a:ext cx="3510028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>
                <a:solidFill>
                  <a:schemeClr val="tx2">
                    <a:lumMod val="50000"/>
                  </a:schemeClr>
                </a:solidFill>
              </a:rPr>
              <a:t>Construction supervision and guidance</a:t>
            </a:r>
            <a:endParaRPr lang="en-US" sz="1600" b="1" dirty="0"/>
          </a:p>
        </p:txBody>
      </p:sp>
      <p:graphicFrame>
        <p:nvGraphicFramePr>
          <p:cNvPr id="6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3075524"/>
              </p:ext>
            </p:extLst>
          </p:nvPr>
        </p:nvGraphicFramePr>
        <p:xfrm>
          <a:off x="4754450" y="2178919"/>
          <a:ext cx="3322750" cy="23298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870361" y="1557150"/>
            <a:ext cx="3206839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>
                    <a:lumMod val="50000"/>
                  </a:schemeClr>
                </a:solidFill>
              </a:rPr>
              <a:t>Social Mobilization</a:t>
            </a: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675265"/>
              </p:ext>
            </p:extLst>
          </p:nvPr>
        </p:nvGraphicFramePr>
        <p:xfrm>
          <a:off x="340756" y="4700789"/>
          <a:ext cx="5905497" cy="18545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677770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sz="3200" b="1" dirty="0" smtClean="0"/>
              <a:t>Other support to housing reconstruction</a:t>
            </a:r>
            <a:endParaRPr lang="en-US" sz="3200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4426827"/>
              </p:ext>
            </p:extLst>
          </p:nvPr>
        </p:nvGraphicFramePr>
        <p:xfrm>
          <a:off x="457200" y="1600200"/>
          <a:ext cx="3908738" cy="2147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9799756"/>
              </p:ext>
            </p:extLst>
          </p:nvPr>
        </p:nvGraphicFramePr>
        <p:xfrm>
          <a:off x="4921876" y="1600200"/>
          <a:ext cx="3155324" cy="405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7113057"/>
              </p:ext>
            </p:extLst>
          </p:nvPr>
        </p:nvGraphicFramePr>
        <p:xfrm>
          <a:off x="457200" y="4082603"/>
          <a:ext cx="3908738" cy="24341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808890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 smtClean="0"/>
              <a:t>4W Findings 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0179380"/>
              </p:ext>
            </p:extLst>
          </p:nvPr>
        </p:nvGraphicFramePr>
        <p:xfrm>
          <a:off x="457200" y="1600200"/>
          <a:ext cx="3844344" cy="42468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334386"/>
              </p:ext>
            </p:extLst>
          </p:nvPr>
        </p:nvGraphicFramePr>
        <p:xfrm>
          <a:off x="4780544" y="1600199"/>
          <a:ext cx="3397542" cy="41308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211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/>
            </a:r>
            <a:br>
              <a:rPr lang="en-GB" dirty="0"/>
            </a:br>
            <a:r>
              <a:rPr lang="en-GB" sz="4400" b="1" dirty="0"/>
              <a:t>PO Mapping by DUDBC</a:t>
            </a:r>
            <a:r>
              <a:rPr lang="en-GB" dirty="0"/>
              <a:t> </a:t>
            </a:r>
            <a:br>
              <a:rPr lang="en-GB" dirty="0"/>
            </a:b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>
            <a:normAutofit fontScale="92500"/>
          </a:bodyPr>
          <a:lstStyle/>
          <a:p>
            <a:r>
              <a:rPr lang="en-GB" dirty="0" smtClean="0">
                <a:solidFill>
                  <a:schemeClr val="tx2">
                    <a:lumMod val="50000"/>
                  </a:schemeClr>
                </a:solidFill>
              </a:rPr>
              <a:t>DUDBC kindly request the support of HRRP for conducting a PO mapping.</a:t>
            </a:r>
          </a:p>
          <a:p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DUDBC’s PO mapping is not to be confused with  </a:t>
            </a:r>
            <a:r>
              <a:rPr lang="en-GB" dirty="0" smtClean="0">
                <a:solidFill>
                  <a:schemeClr val="tx2">
                    <a:lumMod val="50000"/>
                  </a:schemeClr>
                </a:solidFill>
              </a:rPr>
              <a:t>4W survey! It needs to be filled out only once and updated upon DUDBC’s request </a:t>
            </a:r>
          </a:p>
          <a:p>
            <a:r>
              <a:rPr lang="en-GB" dirty="0" smtClean="0">
                <a:solidFill>
                  <a:schemeClr val="tx2">
                    <a:lumMod val="50000"/>
                  </a:schemeClr>
                </a:solidFill>
              </a:rPr>
              <a:t>DUDBC’s questionnaire was sent via email through HRRP to POs on </a:t>
            </a:r>
          </a:p>
          <a:p>
            <a:r>
              <a:rPr lang="en-GB" dirty="0" smtClean="0">
                <a:solidFill>
                  <a:schemeClr val="tx2">
                    <a:lumMod val="50000"/>
                  </a:schemeClr>
                </a:solidFill>
              </a:rPr>
              <a:t>So far </a:t>
            </a:r>
            <a:r>
              <a:rPr lang="en-GB" dirty="0">
                <a:solidFill>
                  <a:schemeClr val="tx2">
                    <a:lumMod val="50000"/>
                  </a:schemeClr>
                </a:solidFill>
              </a:rPr>
              <a:t>8</a:t>
            </a:r>
            <a:r>
              <a:rPr lang="en-GB" dirty="0" smtClean="0">
                <a:solidFill>
                  <a:schemeClr val="tx2">
                    <a:lumMod val="50000"/>
                  </a:schemeClr>
                </a:solidFill>
              </a:rPr>
              <a:t> responses received</a:t>
            </a:r>
          </a:p>
          <a:p>
            <a:r>
              <a:rPr lang="en-GB" dirty="0" smtClean="0">
                <a:solidFill>
                  <a:schemeClr val="tx2">
                    <a:lumMod val="50000"/>
                  </a:schemeClr>
                </a:solidFill>
              </a:rPr>
              <a:t>For those have not yet compiled it please do so asap!</a:t>
            </a:r>
          </a:p>
          <a:p>
            <a:r>
              <a:rPr lang="en-GB" dirty="0" smtClean="0">
                <a:solidFill>
                  <a:schemeClr val="tx2">
                    <a:lumMod val="50000"/>
                  </a:schemeClr>
                </a:solidFill>
              </a:rPr>
              <a:t>For those who have not received it: the questionnaire can be downloaded from HRRPs website (</a:t>
            </a:r>
            <a:r>
              <a:rPr lang="en-GB" dirty="0" smtClean="0">
                <a:solidFill>
                  <a:schemeClr val="tx2">
                    <a:lumMod val="50000"/>
                  </a:schemeClr>
                </a:solidFill>
                <a:hlinkClick r:id="rId2"/>
              </a:rPr>
              <a:t>http</a:t>
            </a:r>
            <a:r>
              <a:rPr lang="en-GB" dirty="0">
                <a:solidFill>
                  <a:schemeClr val="tx2">
                    <a:lumMod val="50000"/>
                  </a:schemeClr>
                </a:solidFill>
                <a:hlinkClick r:id="rId2"/>
              </a:rPr>
              <a:t>://hrrpnepal.org/news-events/news-updates/hrrp-nepal-4w-tool</a:t>
            </a:r>
            <a:r>
              <a:rPr lang="en-GB" dirty="0" smtClean="0">
                <a:solidFill>
                  <a:schemeClr val="tx2">
                    <a:lumMod val="50000"/>
                  </a:schemeClr>
                </a:solidFill>
                <a:hlinkClick r:id="rId2"/>
              </a:rPr>
              <a:t>/</a:t>
            </a:r>
            <a:r>
              <a:rPr lang="en-GB" dirty="0" smtClean="0">
                <a:solidFill>
                  <a:schemeClr val="tx2">
                    <a:lumMod val="50000"/>
                  </a:schemeClr>
                </a:solidFill>
              </a:rPr>
              <a:t> )</a:t>
            </a:r>
          </a:p>
          <a:p>
            <a:endParaRPr lang="en-GB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114300" indent="0">
              <a:buNone/>
            </a:pPr>
            <a:r>
              <a:rPr lang="en-GB" sz="2400" b="1" dirty="0" smtClean="0">
                <a:solidFill>
                  <a:schemeClr val="tx2">
                    <a:lumMod val="50000"/>
                  </a:schemeClr>
                </a:solidFill>
              </a:rPr>
              <a:t>Thank you for your cooperation!</a:t>
            </a:r>
          </a:p>
          <a:p>
            <a:endParaRPr lang="en-GB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361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b="1" dirty="0"/>
              <a:t>Schedule of future meetings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635617"/>
            <a:ext cx="7620000" cy="476518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endParaRPr lang="en-GB" sz="20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GB" sz="2400" b="1" dirty="0">
                <a:solidFill>
                  <a:schemeClr val="tx2">
                    <a:lumMod val="50000"/>
                  </a:schemeClr>
                </a:solidFill>
              </a:rPr>
              <a:t>CSG</a:t>
            </a:r>
            <a:r>
              <a:rPr lang="en-GB" sz="2400" dirty="0">
                <a:solidFill>
                  <a:schemeClr val="tx2">
                    <a:lumMod val="50000"/>
                  </a:schemeClr>
                </a:solidFill>
              </a:rPr>
              <a:t> and </a:t>
            </a:r>
            <a:r>
              <a:rPr lang="en-GB" sz="2400" b="1" dirty="0">
                <a:solidFill>
                  <a:schemeClr val="tx2">
                    <a:lumMod val="50000"/>
                  </a:schemeClr>
                </a:solidFill>
              </a:rPr>
              <a:t>HRRP General </a:t>
            </a:r>
            <a:r>
              <a:rPr lang="en-GB" sz="2400" b="1" dirty="0" smtClean="0">
                <a:solidFill>
                  <a:schemeClr val="tx2">
                    <a:lumMod val="50000"/>
                  </a:schemeClr>
                </a:solidFill>
              </a:rPr>
              <a:t>Meeting </a:t>
            </a:r>
            <a:r>
              <a:rPr lang="en-GB" sz="2400" dirty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en-GB" sz="2400" dirty="0" smtClean="0">
                <a:solidFill>
                  <a:schemeClr val="tx2">
                    <a:lumMod val="50000"/>
                  </a:schemeClr>
                </a:solidFill>
              </a:rPr>
              <a:t>GM</a:t>
            </a:r>
            <a:r>
              <a:rPr lang="en-GB" sz="2400" dirty="0">
                <a:solidFill>
                  <a:schemeClr val="tx2">
                    <a:lumMod val="50000"/>
                  </a:schemeClr>
                </a:solidFill>
              </a:rPr>
              <a:t>) </a:t>
            </a:r>
            <a:r>
              <a:rPr lang="en-GB" sz="2400" dirty="0" smtClean="0">
                <a:solidFill>
                  <a:schemeClr val="tx2">
                    <a:lumMod val="50000"/>
                  </a:schemeClr>
                </a:solidFill>
              </a:rPr>
              <a:t>every fortnight: Next HRRP GMs on </a:t>
            </a:r>
            <a:r>
              <a:rPr lang="en-GB" sz="2400" b="1" dirty="0" smtClean="0">
                <a:solidFill>
                  <a:schemeClr val="tx2">
                    <a:lumMod val="50000"/>
                  </a:schemeClr>
                </a:solidFill>
              </a:rPr>
              <a:t>Thursday 4.02.16 </a:t>
            </a:r>
            <a:endParaRPr lang="en-GB" sz="2400" b="1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GB" sz="2400" b="1" dirty="0">
                <a:solidFill>
                  <a:schemeClr val="tx2">
                    <a:lumMod val="50000"/>
                  </a:schemeClr>
                </a:solidFill>
              </a:rPr>
              <a:t>PO Forum </a:t>
            </a:r>
            <a:r>
              <a:rPr lang="en-GB" sz="2400" dirty="0">
                <a:solidFill>
                  <a:schemeClr val="tx2">
                    <a:lumMod val="50000"/>
                  </a:schemeClr>
                </a:solidFill>
              </a:rPr>
              <a:t>possibly every fortnight </a:t>
            </a:r>
            <a:r>
              <a:rPr lang="en-GB" sz="2400" dirty="0" smtClean="0">
                <a:solidFill>
                  <a:schemeClr val="tx2">
                    <a:lumMod val="50000"/>
                  </a:schemeClr>
                </a:solidFill>
              </a:rPr>
              <a:t>combined with HRRP GM with </a:t>
            </a:r>
            <a:r>
              <a:rPr lang="en-GB" sz="2400" dirty="0">
                <a:solidFill>
                  <a:schemeClr val="tx2">
                    <a:lumMod val="50000"/>
                  </a:schemeClr>
                </a:solidFill>
              </a:rPr>
              <a:t>t</a:t>
            </a:r>
            <a:r>
              <a:rPr lang="en-GB" sz="2400" dirty="0" smtClean="0">
                <a:solidFill>
                  <a:schemeClr val="tx2">
                    <a:lumMod val="50000"/>
                  </a:schemeClr>
                </a:solidFill>
              </a:rPr>
              <a:t>hematic </a:t>
            </a:r>
            <a:r>
              <a:rPr lang="en-GB" sz="2400" dirty="0">
                <a:solidFill>
                  <a:schemeClr val="tx2">
                    <a:lumMod val="50000"/>
                  </a:schemeClr>
                </a:solidFill>
              </a:rPr>
              <a:t>f</a:t>
            </a:r>
            <a:r>
              <a:rPr lang="en-GB" sz="2400" dirty="0" smtClean="0">
                <a:solidFill>
                  <a:schemeClr val="tx2">
                    <a:lumMod val="50000"/>
                  </a:schemeClr>
                </a:solidFill>
              </a:rPr>
              <a:t>ocus</a:t>
            </a:r>
            <a:r>
              <a:rPr lang="en-GB" sz="2400" b="1" dirty="0" smtClean="0">
                <a:solidFill>
                  <a:schemeClr val="tx2">
                    <a:lumMod val="50000"/>
                  </a:schemeClr>
                </a:solidFill>
              </a:rPr>
              <a:t>: </a:t>
            </a:r>
            <a:r>
              <a:rPr lang="en-GB" sz="2400" b="1" u="sng" dirty="0" smtClean="0">
                <a:solidFill>
                  <a:schemeClr val="tx2">
                    <a:lumMod val="50000"/>
                  </a:schemeClr>
                </a:solidFill>
              </a:rPr>
              <a:t>POs are invited to make proposal for themes and presentations! </a:t>
            </a:r>
            <a:endParaRPr lang="en-GB" sz="2400" b="1" u="sng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GB" sz="2400" b="1" dirty="0" smtClean="0">
                <a:solidFill>
                  <a:schemeClr val="tx2">
                    <a:lumMod val="50000"/>
                  </a:schemeClr>
                </a:solidFill>
              </a:rPr>
              <a:t>TWG</a:t>
            </a:r>
            <a:r>
              <a:rPr lang="en-GB" sz="24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GB" sz="2400" dirty="0">
                <a:solidFill>
                  <a:schemeClr val="tx2">
                    <a:lumMod val="50000"/>
                  </a:schemeClr>
                </a:solidFill>
              </a:rPr>
              <a:t>to be </a:t>
            </a:r>
            <a:r>
              <a:rPr lang="en-GB" sz="2400" dirty="0" smtClean="0">
                <a:solidFill>
                  <a:schemeClr val="tx2">
                    <a:lumMod val="50000"/>
                  </a:schemeClr>
                </a:solidFill>
              </a:rPr>
              <a:t>convened based on needs  </a:t>
            </a:r>
            <a:endParaRPr lang="en-GB" sz="24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GB" sz="2400" b="1" dirty="0">
                <a:solidFill>
                  <a:schemeClr val="tx2">
                    <a:lumMod val="50000"/>
                  </a:schemeClr>
                </a:solidFill>
              </a:rPr>
              <a:t>Special events </a:t>
            </a:r>
            <a:r>
              <a:rPr lang="en-GB" sz="2400" dirty="0">
                <a:solidFill>
                  <a:schemeClr val="tx2">
                    <a:lumMod val="50000"/>
                  </a:schemeClr>
                </a:solidFill>
              </a:rPr>
              <a:t>(workshops, conferences</a:t>
            </a:r>
            <a:r>
              <a:rPr lang="en-GB" sz="2400" dirty="0" smtClean="0">
                <a:solidFill>
                  <a:schemeClr val="tx2">
                    <a:lumMod val="50000"/>
                  </a:schemeClr>
                </a:solidFill>
              </a:rPr>
              <a:t>) may be organised in collaboration with GON and POs</a:t>
            </a:r>
            <a:endParaRPr lang="en-GB" sz="24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919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b="1" dirty="0"/>
              <a:t>AOB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GB" sz="3600" dirty="0">
                <a:solidFill>
                  <a:schemeClr val="tx2">
                    <a:lumMod val="50000"/>
                  </a:schemeClr>
                </a:solidFill>
              </a:rPr>
              <a:t>Other issues? </a:t>
            </a:r>
            <a:endParaRPr lang="en-GB" sz="3600" dirty="0" smtClean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GB" sz="3600" dirty="0" smtClean="0">
                <a:solidFill>
                  <a:schemeClr val="tx2">
                    <a:lumMod val="50000"/>
                  </a:schemeClr>
                </a:solidFill>
              </a:rPr>
              <a:t>Questions?</a:t>
            </a:r>
          </a:p>
          <a:p>
            <a:r>
              <a:rPr lang="en-GB" sz="3600" dirty="0" smtClean="0">
                <a:solidFill>
                  <a:schemeClr val="tx2">
                    <a:lumMod val="50000"/>
                  </a:schemeClr>
                </a:solidFill>
              </a:rPr>
              <a:t>Comments?</a:t>
            </a:r>
          </a:p>
          <a:p>
            <a:endParaRPr lang="en-GB" sz="3600" dirty="0">
              <a:solidFill>
                <a:schemeClr val="tx2">
                  <a:lumMod val="50000"/>
                </a:schemeClr>
              </a:solidFill>
            </a:endParaRPr>
          </a:p>
          <a:p>
            <a:endParaRPr lang="en-GB" sz="3600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114300" indent="0">
              <a:buNone/>
            </a:pPr>
            <a:r>
              <a:rPr lang="en-GB" sz="6000" b="1" i="1" dirty="0" smtClean="0">
                <a:solidFill>
                  <a:schemeClr val="tx2">
                    <a:lumMod val="50000"/>
                  </a:schemeClr>
                </a:solidFill>
              </a:rPr>
              <a:t>Thank you! </a:t>
            </a:r>
            <a:endParaRPr lang="en-GB" sz="6000" b="1" i="1" dirty="0">
              <a:solidFill>
                <a:schemeClr val="tx2">
                  <a:lumMod val="50000"/>
                </a:schemeClr>
              </a:solidFill>
            </a:endParaRPr>
          </a:p>
          <a:p>
            <a:endParaRPr lang="en-GB" dirty="0" smtClean="0">
              <a:solidFill>
                <a:schemeClr val="tx2">
                  <a:lumMod val="50000"/>
                </a:schemeClr>
              </a:solidFill>
            </a:endParaRPr>
          </a:p>
          <a:p>
            <a:endParaRPr lang="en-GB" dirty="0">
              <a:solidFill>
                <a:schemeClr val="tx2">
                  <a:lumMod val="50000"/>
                </a:schemeClr>
              </a:solidFill>
            </a:endParaRPr>
          </a:p>
          <a:p>
            <a:endParaRPr lang="en-GB" dirty="0" smtClean="0">
              <a:solidFill>
                <a:schemeClr val="tx2">
                  <a:lumMod val="50000"/>
                </a:schemeClr>
              </a:solidFill>
            </a:endParaRPr>
          </a:p>
          <a:p>
            <a:endParaRPr lang="en-GB" dirty="0">
              <a:solidFill>
                <a:schemeClr val="tx2">
                  <a:lumMod val="50000"/>
                </a:schemeClr>
              </a:solidFill>
            </a:endParaRPr>
          </a:p>
          <a:p>
            <a:endParaRPr lang="en-GB" dirty="0" smtClean="0">
              <a:solidFill>
                <a:schemeClr val="tx2">
                  <a:lumMod val="50000"/>
                </a:schemeClr>
              </a:solidFill>
            </a:endParaRPr>
          </a:p>
          <a:p>
            <a:endParaRPr lang="en-GB" dirty="0">
              <a:solidFill>
                <a:schemeClr val="tx2">
                  <a:lumMod val="50000"/>
                </a:schemeClr>
              </a:solidFill>
            </a:endParaRPr>
          </a:p>
          <a:p>
            <a:endParaRPr lang="en-GB" dirty="0" smtClean="0">
              <a:solidFill>
                <a:schemeClr val="tx2">
                  <a:lumMod val="50000"/>
                </a:schemeClr>
              </a:solidFill>
            </a:endParaRPr>
          </a:p>
          <a:p>
            <a:endParaRPr lang="en-GB" dirty="0">
              <a:solidFill>
                <a:schemeClr val="tx2">
                  <a:lumMod val="50000"/>
                </a:schemeClr>
              </a:solidFill>
            </a:endParaRPr>
          </a:p>
          <a:p>
            <a:pPr marL="114300" indent="0">
              <a:buNone/>
            </a:pPr>
            <a:endParaRPr lang="en-GB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5026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iacenz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djacency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1882</TotalTime>
  <Words>771</Words>
  <Application>Microsoft Office PowerPoint</Application>
  <PresentationFormat>On-screen Show (4:3)</PresentationFormat>
  <Paragraphs>105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Adiacenza</vt:lpstr>
      <vt:lpstr>    HRRP General  Meeting</vt:lpstr>
      <vt:lpstr>Agenda</vt:lpstr>
      <vt:lpstr>Update on HRRP’s activities </vt:lpstr>
      <vt:lpstr>HRRP Office location </vt:lpstr>
      <vt:lpstr> HRRP TA Team </vt:lpstr>
      <vt:lpstr>Role of HRRP TA team </vt:lpstr>
      <vt:lpstr>Update on 4W survey </vt:lpstr>
      <vt:lpstr>Training and skills development</vt:lpstr>
      <vt:lpstr>Training and skills development</vt:lpstr>
      <vt:lpstr>Social Mobilisation, supervision and guidance </vt:lpstr>
      <vt:lpstr>Other support to housing reconstruction</vt:lpstr>
      <vt:lpstr>4W Findings </vt:lpstr>
      <vt:lpstr> PO Mapping by DUDBC  </vt:lpstr>
      <vt:lpstr>Schedule of future meetings</vt:lpstr>
      <vt:lpstr>AOB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HRRP CSG Meeting</dc:title>
  <dc:creator>Jennifer</dc:creator>
  <cp:lastModifiedBy>Kashif Khan</cp:lastModifiedBy>
  <cp:revision>65</cp:revision>
  <dcterms:created xsi:type="dcterms:W3CDTF">2016-01-17T05:06:47Z</dcterms:created>
  <dcterms:modified xsi:type="dcterms:W3CDTF">2016-01-27T10:04:06Z</dcterms:modified>
</cp:coreProperties>
</file>