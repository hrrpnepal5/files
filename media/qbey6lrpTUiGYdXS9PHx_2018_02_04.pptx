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36"/>
  </p:notesMasterIdLst>
  <p:sldIdLst>
    <p:sldId id="256" r:id="rId2"/>
    <p:sldId id="364" r:id="rId3"/>
    <p:sldId id="369" r:id="rId4"/>
    <p:sldId id="366" r:id="rId5"/>
    <p:sldId id="367" r:id="rId6"/>
    <p:sldId id="368" r:id="rId7"/>
    <p:sldId id="370" r:id="rId8"/>
    <p:sldId id="371" r:id="rId9"/>
    <p:sldId id="372" r:id="rId10"/>
    <p:sldId id="373" r:id="rId11"/>
    <p:sldId id="375" r:id="rId12"/>
    <p:sldId id="376" r:id="rId13"/>
    <p:sldId id="377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87" r:id="rId22"/>
    <p:sldId id="390" r:id="rId23"/>
    <p:sldId id="389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0" r:id="rId34"/>
    <p:sldId id="401" r:id="rId35"/>
  </p:sldIdLst>
  <p:sldSz cx="10688638" cy="75533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xmi Prasad Bhatta" initials="LPB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6600FF"/>
    <a:srgbClr val="0F5AA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4" autoAdjust="0"/>
    <p:restoredTop sz="94434" autoAdjust="0"/>
  </p:normalViewPr>
  <p:slideViewPr>
    <p:cSldViewPr snapToGrid="0">
      <p:cViewPr>
        <p:scale>
          <a:sx n="69" d="100"/>
          <a:sy n="69" d="100"/>
        </p:scale>
        <p:origin x="-810" y="-72"/>
      </p:cViewPr>
      <p:guideLst>
        <p:guide orient="horz" pos="2379"/>
        <p:guide pos="336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7.xml"/><Relationship Id="rId1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F01DF-AA2A-4663-97ED-1D4900288616}" type="datetimeFigureOut">
              <a:rPr lang="en-US" smtClean="0"/>
              <a:t>9/4/2017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0BC69-F121-432B-8CE8-45C4ACD01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A88478-859F-4FC3-AC4D-B54C22FA0F48}" type="slidenum">
              <a:rPr lang="en-US"/>
              <a:pPr/>
              <a:t>21</a:t>
            </a:fld>
            <a:endParaRPr lang="en-US"/>
          </a:p>
        </p:txBody>
      </p:sp>
      <p:sp>
        <p:nvSpPr>
          <p:cNvPr id="67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39813" y="696913"/>
            <a:ext cx="4945062" cy="3494087"/>
          </a:xfrm>
          <a:ln/>
        </p:spPr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950" y="4422229"/>
            <a:ext cx="5151202" cy="4189903"/>
          </a:xfrm>
        </p:spPr>
        <p:txBody>
          <a:bodyPr/>
          <a:lstStyle/>
          <a:p>
            <a:pPr defTabSz="9144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0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A88478-859F-4FC3-AC4D-B54C22FA0F48}" type="slidenum">
              <a:rPr lang="en-US"/>
              <a:pPr/>
              <a:t>27</a:t>
            </a:fld>
            <a:endParaRPr lang="en-US"/>
          </a:p>
        </p:txBody>
      </p:sp>
      <p:sp>
        <p:nvSpPr>
          <p:cNvPr id="67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39813" y="696913"/>
            <a:ext cx="4945062" cy="3494087"/>
          </a:xfrm>
          <a:ln/>
        </p:spPr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950" y="4422229"/>
            <a:ext cx="5151202" cy="4189903"/>
          </a:xfrm>
        </p:spPr>
        <p:txBody>
          <a:bodyPr/>
          <a:lstStyle/>
          <a:p>
            <a:pPr defTabSz="9144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64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99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3852" y="835901"/>
            <a:ext cx="4276253" cy="3927729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208" spc="-44" baseline="0">
                <a:solidFill>
                  <a:srgbClr val="0F5AA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6281" y="4907370"/>
            <a:ext cx="4276253" cy="1258888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104" cap="all" spc="175" baseline="0">
                <a:solidFill>
                  <a:schemeClr val="tx1"/>
                </a:solidFill>
                <a:latin typeface="+mj-lt"/>
              </a:defRPr>
            </a:lvl1pPr>
            <a:lvl2pPr marL="400827" indent="0" algn="ctr">
              <a:buNone/>
              <a:defRPr sz="2104"/>
            </a:lvl2pPr>
            <a:lvl3pPr marL="801654" indent="0" algn="ctr">
              <a:buNone/>
              <a:defRPr sz="2104"/>
            </a:lvl3pPr>
            <a:lvl4pPr marL="1202482" indent="0" algn="ctr">
              <a:buNone/>
              <a:defRPr sz="1753"/>
            </a:lvl4pPr>
            <a:lvl5pPr marL="1603309" indent="0" algn="ctr">
              <a:buNone/>
              <a:defRPr sz="1753"/>
            </a:lvl5pPr>
            <a:lvl6pPr marL="2004136" indent="0" algn="ctr">
              <a:buNone/>
              <a:defRPr sz="1753"/>
            </a:lvl6pPr>
            <a:lvl7pPr marL="2404963" indent="0" algn="ctr">
              <a:buNone/>
              <a:defRPr sz="1753"/>
            </a:lvl7pPr>
            <a:lvl8pPr marL="2805791" indent="0" algn="ctr">
              <a:buNone/>
              <a:defRPr sz="1753"/>
            </a:lvl8pPr>
            <a:lvl9pPr marL="3206618" indent="0" algn="ctr">
              <a:buNone/>
              <a:defRPr sz="17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2141717" y="7163266"/>
            <a:ext cx="1994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www.hrrpnepal.org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06" y="1360037"/>
            <a:ext cx="4726382" cy="432218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491497" y="5696937"/>
            <a:ext cx="46086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F5AA5"/>
                </a:solidFill>
              </a:rPr>
              <a:t>Housing Recovery and Reconstruction Platform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5344319" y="835903"/>
            <a:ext cx="0" cy="5522420"/>
          </a:xfrm>
          <a:prstGeom prst="line">
            <a:avLst/>
          </a:prstGeom>
          <a:ln>
            <a:solidFill>
              <a:srgbClr val="0F5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212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>
            <a:lvl1pPr marL="0"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629" y="1762300"/>
            <a:ext cx="10021795" cy="5031936"/>
          </a:xfrm>
        </p:spPr>
        <p:txBody>
          <a:bodyPr/>
          <a:lstStyle>
            <a:lvl1pPr>
              <a:defRPr sz="2279">
                <a:latin typeface="+mn-lt"/>
              </a:defRPr>
            </a:lvl1pPr>
            <a:lvl2pPr>
              <a:defRPr sz="2279">
                <a:latin typeface="+mn-lt"/>
              </a:defRPr>
            </a:lvl2pPr>
            <a:lvl3pPr>
              <a:defRPr sz="2279">
                <a:latin typeface="+mn-lt"/>
              </a:defRPr>
            </a:lvl3pPr>
            <a:lvl4pPr>
              <a:defRPr sz="2279">
                <a:latin typeface="+mn-lt"/>
              </a:defRPr>
            </a:lvl4pPr>
            <a:lvl5pPr>
              <a:defRPr sz="2279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3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978" y="835901"/>
            <a:ext cx="8818126" cy="3927729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014" b="0">
                <a:solidFill>
                  <a:srgbClr val="0F5AA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978" y="4904625"/>
            <a:ext cx="8818126" cy="1258888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104" cap="all" spc="175" baseline="0">
                <a:solidFill>
                  <a:schemeClr val="tx1"/>
                </a:solidFill>
                <a:latin typeface="+mj-lt"/>
              </a:defRPr>
            </a:lvl1pPr>
            <a:lvl2pPr marL="400827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2pPr>
            <a:lvl3pPr marL="80165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3pPr>
            <a:lvl4pPr marL="1202482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4pPr>
            <a:lvl5pPr marL="1603309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5pPr>
            <a:lvl6pPr marL="2004136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6pPr>
            <a:lvl7pPr marL="2404963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7pPr>
            <a:lvl8pPr marL="2805791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8pPr>
            <a:lvl9pPr marL="3206618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341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75694" y="300631"/>
            <a:ext cx="8818126" cy="10666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14" y="1521798"/>
            <a:ext cx="4328898" cy="5287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73378" y="1521799"/>
            <a:ext cx="4328898" cy="5287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436845" y="1521798"/>
            <a:ext cx="0" cy="5287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74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91941" y="315663"/>
            <a:ext cx="8818126" cy="159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942" y="2033221"/>
            <a:ext cx="4328898" cy="81093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753" b="0" cap="all" baseline="0">
                <a:solidFill>
                  <a:schemeClr val="tx2"/>
                </a:solidFill>
              </a:defRPr>
            </a:lvl1pPr>
            <a:lvl2pPr marL="400827" indent="0">
              <a:buNone/>
              <a:defRPr sz="1753" b="1"/>
            </a:lvl2pPr>
            <a:lvl3pPr marL="801654" indent="0">
              <a:buNone/>
              <a:defRPr sz="1578" b="1"/>
            </a:lvl3pPr>
            <a:lvl4pPr marL="1202482" indent="0">
              <a:buNone/>
              <a:defRPr sz="1403" b="1"/>
            </a:lvl4pPr>
            <a:lvl5pPr marL="1603309" indent="0">
              <a:buNone/>
              <a:defRPr sz="1403" b="1"/>
            </a:lvl5pPr>
            <a:lvl6pPr marL="2004136" indent="0">
              <a:buNone/>
              <a:defRPr sz="1403" b="1"/>
            </a:lvl6pPr>
            <a:lvl7pPr marL="2404963" indent="0">
              <a:buNone/>
              <a:defRPr sz="1403" b="1"/>
            </a:lvl7pPr>
            <a:lvl8pPr marL="2805791" indent="0">
              <a:buNone/>
              <a:defRPr sz="1403" b="1"/>
            </a:lvl8pPr>
            <a:lvl9pPr marL="3206618" indent="0">
              <a:buNone/>
              <a:defRPr sz="140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942" y="2844154"/>
            <a:ext cx="4328898" cy="372071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1169" y="2033221"/>
            <a:ext cx="4328898" cy="81093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753" b="0" cap="all" baseline="0">
                <a:solidFill>
                  <a:schemeClr val="tx2"/>
                </a:solidFill>
              </a:defRPr>
            </a:lvl1pPr>
            <a:lvl2pPr marL="400827" indent="0">
              <a:buNone/>
              <a:defRPr sz="1753" b="1"/>
            </a:lvl2pPr>
            <a:lvl3pPr marL="801654" indent="0">
              <a:buNone/>
              <a:defRPr sz="1578" b="1"/>
            </a:lvl3pPr>
            <a:lvl4pPr marL="1202482" indent="0">
              <a:buNone/>
              <a:defRPr sz="1403" b="1"/>
            </a:lvl4pPr>
            <a:lvl5pPr marL="1603309" indent="0">
              <a:buNone/>
              <a:defRPr sz="1403" b="1"/>
            </a:lvl5pPr>
            <a:lvl6pPr marL="2004136" indent="0">
              <a:buNone/>
              <a:defRPr sz="1403" b="1"/>
            </a:lvl6pPr>
            <a:lvl7pPr marL="2404963" indent="0">
              <a:buNone/>
              <a:defRPr sz="1403" b="1"/>
            </a:lvl7pPr>
            <a:lvl8pPr marL="2805791" indent="0">
              <a:buNone/>
              <a:defRPr sz="1403" b="1"/>
            </a:lvl8pPr>
            <a:lvl9pPr marL="3206618" indent="0">
              <a:buNone/>
              <a:defRPr sz="140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1169" y="2844154"/>
            <a:ext cx="4328898" cy="372071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7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35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256" y="3338297"/>
            <a:ext cx="8818126" cy="87673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12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173598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rgbClr val="0070C0"/>
                </a:solidFill>
              </a:rPr>
              <a:t>www.hrrpnepal.org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883" y="321915"/>
            <a:ext cx="1192040" cy="1090096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7173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3551299" cy="755332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541902" y="0"/>
            <a:ext cx="56115" cy="7553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25" y="654620"/>
            <a:ext cx="2805767" cy="2517775"/>
          </a:xfrm>
        </p:spPr>
        <p:txBody>
          <a:bodyPr anchor="b">
            <a:normAutofit/>
          </a:bodyPr>
          <a:lstStyle>
            <a:lvl1pPr>
              <a:defRPr sz="3156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981" y="805688"/>
            <a:ext cx="5433198" cy="57908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0825" y="3222752"/>
            <a:ext cx="2805767" cy="372173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315">
                <a:solidFill>
                  <a:srgbClr val="FFFFFF"/>
                </a:solidFill>
              </a:defRPr>
            </a:lvl1pPr>
            <a:lvl2pPr marL="400827" indent="0">
              <a:buNone/>
              <a:defRPr sz="1052"/>
            </a:lvl2pPr>
            <a:lvl3pPr marL="801654" indent="0">
              <a:buNone/>
              <a:defRPr sz="877"/>
            </a:lvl3pPr>
            <a:lvl4pPr marL="1202482" indent="0">
              <a:buNone/>
              <a:defRPr sz="789"/>
            </a:lvl4pPr>
            <a:lvl5pPr marL="1603309" indent="0">
              <a:buNone/>
              <a:defRPr sz="789"/>
            </a:lvl5pPr>
            <a:lvl6pPr marL="2004136" indent="0">
              <a:buNone/>
              <a:defRPr sz="789"/>
            </a:lvl6pPr>
            <a:lvl7pPr marL="2404963" indent="0">
              <a:buNone/>
              <a:defRPr sz="789"/>
            </a:lvl7pPr>
            <a:lvl8pPr marL="2805791" indent="0">
              <a:buNone/>
              <a:defRPr sz="789"/>
            </a:lvl8pPr>
            <a:lvl9pPr marL="3206618" indent="0">
              <a:buNone/>
              <a:defRPr sz="78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53982" y="7114737"/>
            <a:ext cx="3923403" cy="40214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4990" y="7114737"/>
            <a:ext cx="1107440" cy="40214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883" y="321915"/>
            <a:ext cx="1192040" cy="1090096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F5AA5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349482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455179"/>
            <a:ext cx="10685855" cy="2098146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5413410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979" y="5589461"/>
            <a:ext cx="8866225" cy="906399"/>
          </a:xfrm>
        </p:spPr>
        <p:txBody>
          <a:bodyPr lIns="91440" tIns="0" rIns="91440" bIns="0" anchor="b">
            <a:noAutofit/>
          </a:bodyPr>
          <a:lstStyle>
            <a:lvl1pPr>
              <a:defRPr sz="3156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0688625" cy="5413410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805">
                <a:solidFill>
                  <a:schemeClr val="bg1"/>
                </a:solidFill>
              </a:defRPr>
            </a:lvl1pPr>
            <a:lvl2pPr marL="400827" indent="0">
              <a:buNone/>
              <a:defRPr sz="2455"/>
            </a:lvl2pPr>
            <a:lvl3pPr marL="801654" indent="0">
              <a:buNone/>
              <a:defRPr sz="2104"/>
            </a:lvl3pPr>
            <a:lvl4pPr marL="1202482" indent="0">
              <a:buNone/>
              <a:defRPr sz="1753"/>
            </a:lvl4pPr>
            <a:lvl5pPr marL="1603309" indent="0">
              <a:buNone/>
              <a:defRPr sz="1753"/>
            </a:lvl5pPr>
            <a:lvl6pPr marL="2004136" indent="0">
              <a:buNone/>
              <a:defRPr sz="1753"/>
            </a:lvl6pPr>
            <a:lvl7pPr marL="2404963" indent="0">
              <a:buNone/>
              <a:defRPr sz="1753"/>
            </a:lvl7pPr>
            <a:lvl8pPr marL="2805791" indent="0">
              <a:buNone/>
              <a:defRPr sz="1753"/>
            </a:lvl8pPr>
            <a:lvl9pPr marL="3206618" indent="0">
              <a:buNone/>
              <a:defRPr sz="175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1979" y="6505929"/>
            <a:ext cx="8866225" cy="65462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26"/>
              </a:spcAft>
              <a:buNone/>
              <a:defRPr sz="1315">
                <a:solidFill>
                  <a:srgbClr val="FFFFFF"/>
                </a:solidFill>
              </a:defRPr>
            </a:lvl1pPr>
            <a:lvl2pPr marL="400827" indent="0">
              <a:buNone/>
              <a:defRPr sz="1052"/>
            </a:lvl2pPr>
            <a:lvl3pPr marL="801654" indent="0">
              <a:buNone/>
              <a:defRPr sz="877"/>
            </a:lvl3pPr>
            <a:lvl4pPr marL="1202482" indent="0">
              <a:buNone/>
              <a:defRPr sz="789"/>
            </a:lvl4pPr>
            <a:lvl5pPr marL="1603309" indent="0">
              <a:buNone/>
              <a:defRPr sz="789"/>
            </a:lvl5pPr>
            <a:lvl6pPr marL="2004136" indent="0">
              <a:buNone/>
              <a:defRPr sz="789"/>
            </a:lvl6pPr>
            <a:lvl7pPr marL="2404963" indent="0">
              <a:buNone/>
              <a:defRPr sz="789"/>
            </a:lvl7pPr>
            <a:lvl8pPr marL="2805791" indent="0">
              <a:buNone/>
              <a:defRPr sz="789"/>
            </a:lvl8pPr>
            <a:lvl9pPr marL="3206618" indent="0">
              <a:buNone/>
              <a:defRPr sz="78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00"/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918918" y="7163266"/>
            <a:ext cx="1769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3268925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611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49056" y="456833"/>
            <a:ext cx="2304738" cy="63411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4845" y="456832"/>
            <a:ext cx="6780605" cy="6341161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8782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32" y="1227056"/>
            <a:ext cx="9280499" cy="8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243907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>
          <a:solidFill>
            <a:srgbClr val="5283AB"/>
          </a:solidFill>
        </p:spPr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712576" y="1443524"/>
            <a:ext cx="9530702" cy="53544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064802"/>
            <a:ext cx="10688638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578" dirty="0"/>
          </a:p>
        </p:txBody>
      </p:sp>
      <p:sp>
        <p:nvSpPr>
          <p:cNvPr id="9" name="Rectangle 8"/>
          <p:cNvSpPr/>
          <p:nvPr/>
        </p:nvSpPr>
        <p:spPr>
          <a:xfrm>
            <a:off x="0" y="6976545"/>
            <a:ext cx="10688639" cy="726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3907" y="285600"/>
            <a:ext cx="8818126" cy="1204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627" y="1762300"/>
            <a:ext cx="10122016" cy="50319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652" y="7114737"/>
            <a:ext cx="4228117" cy="402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9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178" y="7114737"/>
            <a:ext cx="1150243" cy="402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rgbClr val="FFFFFF"/>
                </a:solidFill>
              </a:defRPr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603" y="36002"/>
            <a:ext cx="1192040" cy="1090096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8728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1" r:id="rId7"/>
    <p:sldLayoutId id="2147483676" r:id="rId8"/>
    <p:sldLayoutId id="2147483682" r:id="rId9"/>
    <p:sldLayoutId id="2147483677" r:id="rId10"/>
    <p:sldLayoutId id="2147483678" r:id="rId11"/>
    <p:sldLayoutId id="2147483679" r:id="rId12"/>
    <p:sldLayoutId id="2147483680" r:id="rId13"/>
    <p:sldLayoutId id="2147483685" r:id="rId14"/>
    <p:sldLayoutId id="2147483686" r:id="rId15"/>
  </p:sldLayoutIdLst>
  <p:hf hdr="0" ftr="0" dt="0"/>
  <p:txStyles>
    <p:titleStyle>
      <a:lvl1pPr algn="l" defTabSz="801654" rtl="0" eaLnBrk="1" latinLnBrk="0" hangingPunct="1">
        <a:lnSpc>
          <a:spcPct val="85000"/>
        </a:lnSpc>
        <a:spcBef>
          <a:spcPct val="0"/>
        </a:spcBef>
        <a:buNone/>
        <a:defRPr sz="4208" b="0" kern="1200" spc="-44" baseline="0">
          <a:solidFill>
            <a:srgbClr val="0F5AA5"/>
          </a:solidFill>
          <a:latin typeface="Georgia" panose="02040502050405020303" pitchFamily="18" charset="0"/>
          <a:ea typeface="+mj-ea"/>
          <a:cs typeface="Helvetica" panose="020B0604020202020204" pitchFamily="34" charset="0"/>
        </a:defRPr>
      </a:lvl1pPr>
    </p:titleStyle>
    <p:bodyStyle>
      <a:lvl1pPr marL="299229" indent="-299229" algn="l" defTabSz="801654" rtl="0" eaLnBrk="1" latinLnBrk="0" hangingPunct="1">
        <a:lnSpc>
          <a:spcPct val="114000"/>
        </a:lnSpc>
        <a:spcBef>
          <a:spcPts val="1052"/>
        </a:spcBef>
        <a:spcAft>
          <a:spcPts val="175"/>
        </a:spcAft>
        <a:buClr>
          <a:srgbClr val="0F5AA5"/>
        </a:buClr>
        <a:buSzPct val="100000"/>
        <a:buFont typeface="Wingdings" panose="05000000000000000000" pitchFamily="2" charset="2"/>
        <a:buChar char="§"/>
        <a:defRPr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02426" indent="-203197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rgbClr val="0F5AA5"/>
        </a:buClr>
        <a:buFont typeface="Calibri" pitchFamily="34" charset="0"/>
        <a:buChar char="◦"/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497026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657357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17688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96437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3971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31505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9039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827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654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482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3309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4136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4963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5791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6618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379" userDrawn="1">
          <p15:clr>
            <a:srgbClr val="F26B43"/>
          </p15:clr>
        </p15:guide>
        <p15:guide id="2" pos="33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25" y="4975864"/>
            <a:ext cx="7452227" cy="175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78" b="1" dirty="0">
                <a:latin typeface="Arial (Body)"/>
                <a:cs typeface="Arial" panose="020B0604020202020204" pitchFamily="34" charset="0"/>
              </a:rPr>
              <a:t>Organized by:</a:t>
            </a:r>
          </a:p>
          <a:p>
            <a:pPr>
              <a:spcBef>
                <a:spcPts val="526"/>
              </a:spcBef>
            </a:pPr>
            <a:r>
              <a:rPr lang="en-US" sz="2000" b="1" dirty="0">
                <a:solidFill>
                  <a:srgbClr val="002060"/>
                </a:solidFill>
                <a:cs typeface="Arial" panose="020B0604020202020204" pitchFamily="34" charset="0"/>
              </a:rPr>
              <a:t>National Reconstruction Authority(NRA)</a:t>
            </a:r>
          </a:p>
          <a:p>
            <a:pPr>
              <a:spcBef>
                <a:spcPts val="526"/>
              </a:spcBef>
            </a:pPr>
            <a:r>
              <a:rPr lang="en-US" sz="2000" b="1" dirty="0">
                <a:solidFill>
                  <a:srgbClr val="002060"/>
                </a:solidFill>
                <a:cs typeface="Arial" panose="020B0604020202020204" pitchFamily="34" charset="0"/>
              </a:rPr>
              <a:t>MOUD/District Project Implementation Unit (DLPIU)</a:t>
            </a:r>
          </a:p>
          <a:p>
            <a:pPr>
              <a:spcBef>
                <a:spcPts val="526"/>
              </a:spcBef>
            </a:pPr>
            <a:r>
              <a:rPr lang="en-US" sz="2000" b="1" dirty="0">
                <a:solidFill>
                  <a:srgbClr val="002060"/>
                </a:solidFill>
                <a:cs typeface="Arial" panose="020B0604020202020204" pitchFamily="34" charset="0"/>
              </a:rPr>
              <a:t>Housing Recovery and Reconstruction Platform-Nepal (HRRP</a:t>
            </a:r>
            <a:r>
              <a:rPr 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</a:p>
          <a:p>
            <a:endParaRPr lang="en-US" sz="2000" dirty="0">
              <a:latin typeface="Arial (Body)"/>
              <a:cs typeface="Arial" panose="020B0604020202020204" pitchFamily="34" charset="0"/>
            </a:endParaRPr>
          </a:p>
        </p:txBody>
      </p:sp>
      <p:sp>
        <p:nvSpPr>
          <p:cNvPr id="5" name="Titolo 1"/>
          <p:cNvSpPr txBox="1">
            <a:spLocks/>
          </p:cNvSpPr>
          <p:nvPr/>
        </p:nvSpPr>
        <p:spPr>
          <a:xfrm>
            <a:off x="206486" y="1484027"/>
            <a:ext cx="10361580" cy="3697356"/>
          </a:xfrm>
          <a:prstGeom prst="rect">
            <a:avLst/>
          </a:prstGeom>
        </p:spPr>
        <p:txBody>
          <a:bodyPr vert="horz" lIns="80165" tIns="40082" rIns="80165" bIns="40082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0" kern="1200" spc="-50" baseline="0">
                <a:solidFill>
                  <a:srgbClr val="0F5AA5"/>
                </a:solidFill>
                <a:latin typeface="Georgia" panose="02040502050405020303" pitchFamily="18" charset="0"/>
                <a:ea typeface="+mj-ea"/>
                <a:cs typeface="Helvetica" panose="020B060402020202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1929" b="1" dirty="0">
                <a:latin typeface="Arial" panose="020B0604020202020204" pitchFamily="34" charset="0"/>
                <a:cs typeface="Arial" panose="020B0604020202020204" pitchFamily="34" charset="0"/>
              </a:rPr>
              <a:t>Housing Recovery and Reconstruction Platform-Nepal (HRRP)</a:t>
            </a:r>
            <a:r>
              <a:rPr lang="en-GB" sz="1753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1753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67" b="1" dirty="0">
                <a:solidFill>
                  <a:srgbClr val="000000"/>
                </a:solidFill>
                <a:cs typeface="Arial" panose="020B0604020202020204" pitchFamily="34" charset="0"/>
              </a:rPr>
              <a:t>Orientation Program </a:t>
            </a:r>
            <a:r>
              <a:rPr lang="en-US" sz="2367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367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 organizations </a:t>
            </a:r>
            <a:endParaRPr lang="en-US" sz="2367" i="1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367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</a:p>
          <a:p>
            <a:pPr algn="ctr">
              <a:lnSpc>
                <a:spcPct val="150000"/>
              </a:lnSpc>
            </a:pPr>
            <a:r>
              <a:rPr lang="en-US" sz="3500" dirty="0" smtClean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Dry Stone Masonry  Construction</a:t>
            </a:r>
            <a:r>
              <a:rPr lang="en-US" sz="2016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br>
              <a:rPr lang="en-US" sz="2016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GB" sz="2630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86" y="252366"/>
            <a:ext cx="1074208" cy="98335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43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05" y="215167"/>
            <a:ext cx="8818126" cy="665877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Why Dry Stone Masonry ?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16178" y="2008681"/>
            <a:ext cx="10372459" cy="690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defTabSz="801654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Tx/>
              <a:buChar char="•"/>
            </a:pPr>
            <a:r>
              <a:rPr lang="en-US" sz="2800" dirty="0">
                <a:solidFill>
                  <a:srgbClr val="0000CC"/>
                </a:solidFill>
                <a:latin typeface="Arial" charset="0"/>
              </a:rPr>
              <a:t>This Type of Construction Common in Northern  Area of Nepal</a:t>
            </a:r>
          </a:p>
          <a:p>
            <a:pPr marL="457200" indent="-457200">
              <a:buSzPct val="150000"/>
              <a:buFont typeface="Arial" panose="020B0604020202020204" pitchFamily="34" charset="0"/>
              <a:buChar char="•"/>
            </a:pPr>
            <a:endParaRPr lang="en-US" sz="2800" dirty="0">
              <a:latin typeface="Arial "/>
            </a:endParaRPr>
          </a:p>
          <a:p>
            <a:pPr marL="457200" indent="-457200">
              <a:buSzPct val="15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 "/>
              </a:rPr>
              <a:t>In Northern  Parts People don’t Prefer Mud mortar</a:t>
            </a:r>
          </a:p>
          <a:p>
            <a:pPr marL="457200" indent="-457200">
              <a:buSzPct val="150000"/>
              <a:buFont typeface="Arial" panose="020B0604020202020204" pitchFamily="34" charset="0"/>
              <a:buChar char="•"/>
            </a:pPr>
            <a:endParaRPr lang="en-US" sz="2800" dirty="0">
              <a:latin typeface="Arial "/>
            </a:endParaRPr>
          </a:p>
          <a:p>
            <a:pPr marL="457200" indent="-457200" algn="just" defTabSz="801654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Tx/>
              <a:buChar char="•"/>
            </a:pPr>
            <a:r>
              <a:rPr lang="en-US" sz="2800" dirty="0">
                <a:solidFill>
                  <a:srgbClr val="0000CC"/>
                </a:solidFill>
                <a:latin typeface="Arial" charset="0"/>
              </a:rPr>
              <a:t>it is difficult to transport cement and steel since these sites are very remote and have no road access</a:t>
            </a:r>
          </a:p>
          <a:p>
            <a:pPr marL="457200" indent="-457200" algn="just" defTabSz="801654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Tx/>
              <a:buChar char="•"/>
            </a:pPr>
            <a:endParaRPr lang="en-US" sz="2800" dirty="0">
              <a:solidFill>
                <a:srgbClr val="0000CC"/>
              </a:solidFill>
              <a:latin typeface="Arial" charset="0"/>
            </a:endParaRPr>
          </a:p>
          <a:p>
            <a:pPr marL="457200" indent="-457200">
              <a:buSzPct val="150000"/>
              <a:buFont typeface="Arial" panose="020B0604020202020204" pitchFamily="34" charset="0"/>
              <a:buChar char="•"/>
            </a:pPr>
            <a:r>
              <a:rPr lang="en-US" sz="2800" dirty="0">
                <a:latin typeface="Arial "/>
              </a:rPr>
              <a:t>Many </a:t>
            </a:r>
            <a:r>
              <a:rPr lang="en-US" sz="2800" dirty="0" smtClean="0">
                <a:latin typeface="Arial "/>
              </a:rPr>
              <a:t>Dry Stone Masonry Houses </a:t>
            </a:r>
            <a:r>
              <a:rPr lang="en-US" sz="2800" dirty="0">
                <a:latin typeface="Arial "/>
              </a:rPr>
              <a:t>are already under </a:t>
            </a:r>
            <a:r>
              <a:rPr lang="en-US" sz="2800" dirty="0" smtClean="0">
                <a:latin typeface="Arial "/>
              </a:rPr>
              <a:t>Construction</a:t>
            </a:r>
            <a:endParaRPr lang="en-US" sz="2800" dirty="0">
              <a:latin typeface="Arial "/>
            </a:endParaRPr>
          </a:p>
          <a:p>
            <a:pPr marL="457200" indent="-457200">
              <a:buSzPct val="150000"/>
              <a:buFont typeface="Arial" panose="020B0604020202020204" pitchFamily="34" charset="0"/>
              <a:buChar char="•"/>
            </a:pPr>
            <a:endParaRPr lang="en-US" sz="2800" dirty="0">
              <a:latin typeface="Arial 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Arial "/>
            </a:endParaRP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5630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30" y="-334139"/>
            <a:ext cx="8818126" cy="1204819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Building Practices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</a:t>
            </a:fld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21" y="3021494"/>
            <a:ext cx="4182778" cy="3749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909" y="3067214"/>
            <a:ext cx="4462336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58458" y="2295395"/>
            <a:ext cx="24237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78171" y="1563014"/>
            <a:ext cx="9998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15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Extensive longitudinal walls and open front</a:t>
            </a:r>
          </a:p>
        </p:txBody>
      </p:sp>
    </p:spTree>
    <p:extLst>
      <p:ext uri="{BB962C8B-B14F-4D97-AF65-F5344CB8AC3E}">
        <p14:creationId xmlns:p14="http://schemas.microsoft.com/office/powerpoint/2010/main" val="158816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044"/>
            <a:ext cx="10688637" cy="602226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Building Practices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7448"/>
            <a:ext cx="5003596" cy="411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26" y="3004608"/>
            <a:ext cx="4710982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7114" y="1466107"/>
            <a:ext cx="84265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5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CC"/>
                </a:solidFill>
                <a:latin typeface="Arial" charset="0"/>
              </a:rPr>
              <a:t>Stand alone, most with open fronts</a:t>
            </a:r>
          </a:p>
        </p:txBody>
      </p:sp>
    </p:spTree>
    <p:extLst>
      <p:ext uri="{BB962C8B-B14F-4D97-AF65-F5344CB8AC3E}">
        <p14:creationId xmlns:p14="http://schemas.microsoft.com/office/powerpoint/2010/main" val="299688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990" y="-48566"/>
            <a:ext cx="8818126" cy="806364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Building Practices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8990" y="3137755"/>
            <a:ext cx="4872037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9190" y="3021867"/>
            <a:ext cx="4149725" cy="377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528990" y="1080355"/>
            <a:ext cx="9783763" cy="1371600"/>
          </a:xfrm>
          <a:prstGeom prst="rect">
            <a:avLst/>
          </a:prstGeom>
        </p:spPr>
        <p:txBody>
          <a:bodyPr/>
          <a:lstStyle>
            <a:lvl1pPr marL="299229" indent="-299229" algn="l" defTabSz="801654" rtl="0" eaLnBrk="1" latinLnBrk="0" hangingPunct="1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 typeface="Wingdings" panose="05000000000000000000" pitchFamily="2" charset="2"/>
              <a:buChar char="§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426" indent="-203197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rgbClr val="0F5AA5"/>
              </a:buClr>
              <a:buFont typeface="Calibri" pitchFamily="34" charset="0"/>
              <a:buChar char="◦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7026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7357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17688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96437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13971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31505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49039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Tx/>
              <a:buChar char="•"/>
            </a:pPr>
            <a:r>
              <a:rPr lang="en-US" sz="2800" dirty="0" smtClean="0">
                <a:solidFill>
                  <a:srgbClr val="0000CC"/>
                </a:solidFill>
                <a:latin typeface="Arial" charset="0"/>
              </a:rPr>
              <a:t>Dry Stone masonry or Stone in mud buildings with heavy Stone roofs </a:t>
            </a:r>
          </a:p>
          <a:p>
            <a:pPr marL="457200" indent="-457200" algn="just">
              <a:buFontTx/>
              <a:buChar char="•"/>
            </a:pPr>
            <a:r>
              <a:rPr lang="en-US" sz="2800" dirty="0" smtClean="0">
                <a:latin typeface="Arial" charset="0"/>
              </a:rPr>
              <a:t>Presence of corner stones </a:t>
            </a:r>
            <a:endParaRPr lang="en-US" sz="2800" dirty="0">
              <a:solidFill>
                <a:srgbClr val="0000CC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92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885" y="0"/>
            <a:ext cx="8818126" cy="737767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Building Practices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78" y="1379892"/>
            <a:ext cx="9783763" cy="1371600"/>
          </a:xfrm>
          <a:prstGeom prst="rect">
            <a:avLst/>
          </a:prstGeom>
        </p:spPr>
        <p:txBody>
          <a:bodyPr/>
          <a:lstStyle>
            <a:lvl1pPr marL="299229" indent="-299229" algn="l" defTabSz="801654" rtl="0" eaLnBrk="1" latinLnBrk="0" hangingPunct="1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 typeface="Wingdings" panose="05000000000000000000" pitchFamily="2" charset="2"/>
              <a:buChar char="§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426" indent="-203197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rgbClr val="0F5AA5"/>
              </a:buClr>
              <a:buFont typeface="Calibri" pitchFamily="34" charset="0"/>
              <a:buChar char="◦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7026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7357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17688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96437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13971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31505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49039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Tx/>
              <a:buChar char="•"/>
            </a:pPr>
            <a:r>
              <a:rPr lang="en-US" sz="2800" dirty="0" smtClean="0">
                <a:solidFill>
                  <a:srgbClr val="0000CC"/>
                </a:solidFill>
                <a:latin typeface="Arial" charset="0"/>
              </a:rPr>
              <a:t>No other Earthquake Resisting Element </a:t>
            </a:r>
            <a:endParaRPr lang="en-US" sz="2800" dirty="0">
              <a:solidFill>
                <a:srgbClr val="0000CC"/>
              </a:solidFill>
              <a:latin typeface="Arial" charset="0"/>
            </a:endParaRP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74359" y="2751492"/>
            <a:ext cx="586740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0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930" y="-293105"/>
            <a:ext cx="10319708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Building Practices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85" y="2770386"/>
            <a:ext cx="3659685" cy="3749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408" y="2221746"/>
            <a:ext cx="3862117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2728" y="1507025"/>
            <a:ext cx="695873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rgbClr val="0000CC"/>
                </a:solidFill>
                <a:latin typeface="Arial" charset="0"/>
              </a:rPr>
              <a:t>Steep Gable</a:t>
            </a:r>
            <a:endParaRPr lang="en-US" sz="3000" dirty="0">
              <a:solidFill>
                <a:srgbClr val="0000CC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10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7" y="281354"/>
            <a:ext cx="10234591" cy="487367"/>
          </a:xfrm>
        </p:spPr>
        <p:txBody>
          <a:bodyPr>
            <a:no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Building Practices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5794" y="2905709"/>
            <a:ext cx="59912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45839" y="1304249"/>
            <a:ext cx="9889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Tx/>
              <a:buChar char="•"/>
            </a:pPr>
            <a:r>
              <a:rPr lang="en-US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proper connection of ridge beam, rafter and bottom chord</a:t>
            </a:r>
          </a:p>
          <a:p>
            <a:pPr marL="457200" indent="-457200" algn="just">
              <a:buFontTx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No proper connection of roof elements with wall</a:t>
            </a:r>
          </a:p>
        </p:txBody>
      </p:sp>
    </p:spTree>
    <p:extLst>
      <p:ext uri="{BB962C8B-B14F-4D97-AF65-F5344CB8AC3E}">
        <p14:creationId xmlns:p14="http://schemas.microsoft.com/office/powerpoint/2010/main" val="229737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354745" y="-102503"/>
            <a:ext cx="9256835" cy="985837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Building Practices</a:t>
            </a:r>
            <a:endParaRPr lang="en-US" sz="3500" dirty="0">
              <a:solidFill>
                <a:schemeClr val="tx1"/>
              </a:solidFill>
              <a:latin typeface="Arial Black" charset="0"/>
              <a:cs typeface="Arial" charset="0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622300" y="1643063"/>
            <a:ext cx="4113213" cy="4495800"/>
          </a:xfrm>
        </p:spPr>
        <p:txBody>
          <a:bodyPr/>
          <a:lstStyle/>
          <a:p>
            <a:pPr marL="457200" indent="-457200" algn="just">
              <a:buSzPct val="145000"/>
              <a:buFontTx/>
              <a:buChar char="•"/>
            </a:pPr>
            <a:r>
              <a:rPr sz="2800" b="0" dirty="0">
                <a:solidFill>
                  <a:schemeClr val="tx1"/>
                </a:solidFill>
                <a:latin typeface="Arial" charset="0"/>
              </a:rPr>
              <a:t>Dry Stone masonry with light CGI sheets</a:t>
            </a:r>
          </a:p>
          <a:p>
            <a:pPr marL="457200" indent="-457200" algn="just">
              <a:buSzPct val="145000"/>
              <a:buFontTx/>
              <a:buChar char="•"/>
            </a:pPr>
            <a:r>
              <a:rPr sz="2800" b="0" dirty="0">
                <a:solidFill>
                  <a:srgbClr val="0000CC"/>
                </a:solidFill>
                <a:latin typeface="Arial" charset="0"/>
              </a:rPr>
              <a:t>No earthquake resisting elements</a:t>
            </a:r>
          </a:p>
          <a:p>
            <a:pPr marL="457200" indent="-457200" algn="just">
              <a:buSzPct val="145000"/>
              <a:buFontTx/>
              <a:buChar char="•"/>
            </a:pPr>
            <a:r>
              <a:rPr sz="2800" b="0" dirty="0">
                <a:solidFill>
                  <a:schemeClr val="tx1"/>
                </a:solidFill>
                <a:latin typeface="Arial" charset="0"/>
              </a:rPr>
              <a:t>Presence of corner stones</a:t>
            </a:r>
          </a:p>
          <a:p>
            <a:pPr marL="457200" indent="-457200" algn="just">
              <a:buSzPct val="145000"/>
              <a:buFontTx/>
              <a:buChar char="•"/>
            </a:pPr>
            <a:r>
              <a:rPr sz="2800" b="0" dirty="0" smtClean="0">
                <a:solidFill>
                  <a:schemeClr val="tx1"/>
                </a:solidFill>
                <a:latin typeface="Arial" charset="0"/>
              </a:rPr>
              <a:t>Use </a:t>
            </a:r>
            <a:r>
              <a:rPr sz="2800" b="0" dirty="0">
                <a:solidFill>
                  <a:schemeClr val="tx1"/>
                </a:solidFill>
                <a:latin typeface="Arial" charset="0"/>
              </a:rPr>
              <a:t>Gable wall </a:t>
            </a:r>
          </a:p>
        </p:txBody>
      </p:sp>
      <p:pic>
        <p:nvPicPr>
          <p:cNvPr id="14340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36382" y="1557338"/>
            <a:ext cx="5735637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24780" y="6252261"/>
            <a:ext cx="868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Construction after Earthquake</a:t>
            </a:r>
            <a:endParaRPr 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65164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28135" y="305211"/>
            <a:ext cx="10688638" cy="559777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Building Practices</a:t>
            </a:r>
            <a:endParaRPr lang="en-US" sz="3500" dirty="0">
              <a:solidFill>
                <a:schemeClr val="tx1"/>
              </a:solidFill>
              <a:latin typeface="Arial Black" charset="0"/>
              <a:cs typeface="Arial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258848" y="1527970"/>
            <a:ext cx="10170942" cy="838200"/>
          </a:xfrm>
        </p:spPr>
        <p:txBody>
          <a:bodyPr>
            <a:noAutofit/>
          </a:bodyPr>
          <a:lstStyle/>
          <a:p>
            <a:pPr marL="457200" indent="-457200" algn="just">
              <a:buFontTx/>
              <a:buChar char="•"/>
            </a:pPr>
            <a:r>
              <a:rPr sz="2800" b="0" dirty="0">
                <a:solidFill>
                  <a:schemeClr val="tx1"/>
                </a:solidFill>
                <a:latin typeface="Arial" charset="0"/>
              </a:rPr>
              <a:t>Timber walls at the front part and inner side of all stone walls</a:t>
            </a:r>
            <a:endParaRPr sz="2800" b="0" dirty="0">
              <a:solidFill>
                <a:srgbClr val="0000CC"/>
              </a:solidFill>
              <a:latin typeface="Arial" charset="0"/>
            </a:endParaRPr>
          </a:p>
        </p:txBody>
      </p:sp>
      <p:pic>
        <p:nvPicPr>
          <p:cNvPr id="15364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95925" y="2779713"/>
            <a:ext cx="5192713" cy="389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513" y="2840038"/>
            <a:ext cx="507365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25748" y="6645275"/>
            <a:ext cx="6518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Buildings!</a:t>
            </a:r>
            <a:endParaRPr lang="en-US" sz="2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70700" y="2790826"/>
            <a:ext cx="868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Construction after Earthquake</a:t>
            </a:r>
            <a:endParaRPr 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4599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" y="6775"/>
            <a:ext cx="9706708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Construction-Deficiencies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12576" y="1919511"/>
            <a:ext cx="6152458" cy="4428247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CC"/>
                </a:solidFill>
                <a:latin typeface="Arial" charset="0"/>
              </a:rPr>
              <a:t>Gable End Wall Damage</a:t>
            </a:r>
          </a:p>
          <a:p>
            <a:pPr>
              <a:lnSpc>
                <a:spcPct val="15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Heavy masonry gable walls are unsupported  and subject to lateral loads from roof</a:t>
            </a: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951" y="1722563"/>
            <a:ext cx="3830447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6610" y="-140677"/>
            <a:ext cx="10134321" cy="1204819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Construction-Deficiencies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67220" y="2067964"/>
            <a:ext cx="5360825" cy="4712663"/>
          </a:xfrm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6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charset="0"/>
              </a:rPr>
              <a:t>Short Wall Out-Of-Plane</a:t>
            </a:r>
          </a:p>
          <a:p>
            <a:pPr>
              <a:lnSpc>
                <a:spcPct val="16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Weak attachment between end walls and diaphragms.</a:t>
            </a:r>
          </a:p>
          <a:p>
            <a:pPr>
              <a:lnSpc>
                <a:spcPct val="16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charset="0"/>
              </a:rPr>
              <a:t>Damage to and subsequent collapse of end walls due to out-of-plane demands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6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Wooden slab diaphragm unable to transfer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Earthquake force Properly.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045" y="1204819"/>
            <a:ext cx="3405662" cy="34747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7934" y="4263314"/>
            <a:ext cx="3900704" cy="329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84" y="211015"/>
            <a:ext cx="8994838" cy="75889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Dry Stone Construction-Deficiencies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64932" y="1919511"/>
            <a:ext cx="5343601" cy="4674910"/>
          </a:xfrm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charset="0"/>
              </a:rPr>
              <a:t>Wall Delamination in both directions</a:t>
            </a:r>
          </a:p>
          <a:p>
            <a:pPr>
              <a:lnSpc>
                <a:spcPct val="15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thick walls (&gt;=45cm) constructed of interior and exterior facing stones.  Required bonding elements are sometimes missing or inadequate.</a:t>
            </a:r>
          </a:p>
          <a:p>
            <a:pPr>
              <a:lnSpc>
                <a:spcPct val="150000"/>
              </a:lnSpc>
              <a:buSzPct val="14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charset="0"/>
              </a:rPr>
              <a:t>Wall delamination occurs, can lead to subsequent collapse.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533" y="2177410"/>
            <a:ext cx="4875190" cy="41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3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576" y="196948"/>
            <a:ext cx="8838882" cy="662545"/>
          </a:xfrm>
        </p:spPr>
        <p:txBody>
          <a:bodyPr>
            <a:normAutofit/>
          </a:bodyPr>
          <a:lstStyle/>
          <a:p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Type Design On Dry Stone Masonry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14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16178" y="1649438"/>
            <a:ext cx="10028572" cy="54652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3200" dirty="0" smtClean="0">
              <a:solidFill>
                <a:srgbClr val="0000CC"/>
              </a:solidFill>
              <a:latin typeface="Arial" charset="0"/>
            </a:endParaRPr>
          </a:p>
          <a:p>
            <a:pPr>
              <a:buSzPct val="140000"/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0000CC"/>
                </a:solidFill>
                <a:latin typeface="Arial" charset="0"/>
              </a:rPr>
              <a:t>Dressed </a:t>
            </a:r>
            <a:r>
              <a:rPr lang="en-US" sz="3200" dirty="0">
                <a:solidFill>
                  <a:srgbClr val="0000CC"/>
                </a:solidFill>
                <a:latin typeface="Arial" charset="0"/>
              </a:rPr>
              <a:t>Stone Masonry</a:t>
            </a:r>
          </a:p>
          <a:p>
            <a:pPr>
              <a:buSzPct val="140000"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CC"/>
              </a:solidFill>
              <a:latin typeface="Arial" charset="0"/>
            </a:endParaRPr>
          </a:p>
          <a:p>
            <a:pPr marL="0" indent="0">
              <a:buSzPct val="140000"/>
              <a:buNone/>
            </a:pP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SzPct val="140000"/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Random Rubble Masonry with GI Wire Mesh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4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06" y="-97777"/>
            <a:ext cx="10158939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Dressed Stone Masonry</a:t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15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" t="14267" r="2810" b="2936"/>
          <a:stretch/>
        </p:blipFill>
        <p:spPr>
          <a:xfrm>
            <a:off x="4459936" y="2768853"/>
            <a:ext cx="6002909" cy="384048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8" t="432" r="9151" b="2395"/>
          <a:stretch/>
        </p:blipFill>
        <p:spPr>
          <a:xfrm>
            <a:off x="303906" y="2263449"/>
            <a:ext cx="3291839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6178" y="1155453"/>
            <a:ext cx="92128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No. of </a:t>
            </a:r>
            <a:r>
              <a:rPr lang="en-US" sz="22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Storey</a:t>
            </a: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Flexible Floor &amp; Roof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Plinth Area</a:t>
            </a: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22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588 </a:t>
            </a:r>
            <a:r>
              <a:rPr lang="en-US" sz="22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sq.ft</a:t>
            </a:r>
            <a:endParaRPr lang="en-US" sz="22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95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567" y="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Dressed Stone Masonry</a:t>
            </a:r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16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" t="1236" r="612" b="3730"/>
          <a:stretch/>
        </p:blipFill>
        <p:spPr>
          <a:xfrm>
            <a:off x="0" y="1701165"/>
            <a:ext cx="4962630" cy="5852160"/>
          </a:xfrm>
        </p:spPr>
      </p:pic>
      <p:sp>
        <p:nvSpPr>
          <p:cNvPr id="6" name="TextBox 5"/>
          <p:cNvSpPr txBox="1"/>
          <p:nvPr/>
        </p:nvSpPr>
        <p:spPr>
          <a:xfrm>
            <a:off x="6202017" y="1701165"/>
            <a:ext cx="44866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Foundation</a:t>
            </a:r>
          </a:p>
          <a:p>
            <a:endParaRPr lang="en-US" sz="25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Width: 900 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Depth : 900 mm</a:t>
            </a:r>
            <a:endParaRPr lang="en-US" sz="25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13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060" y="-7804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Dressed Stone Masonry</a:t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17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4" t="5854" r="4658" b="3176"/>
          <a:stretch/>
        </p:blipFill>
        <p:spPr>
          <a:xfrm>
            <a:off x="595877" y="1581698"/>
            <a:ext cx="4455953" cy="4731026"/>
          </a:xfrm>
        </p:spPr>
      </p:pic>
      <p:sp>
        <p:nvSpPr>
          <p:cNvPr id="6" name="TextBox 5"/>
          <p:cNvSpPr txBox="1"/>
          <p:nvPr/>
        </p:nvSpPr>
        <p:spPr>
          <a:xfrm>
            <a:off x="5190979" y="2366432"/>
            <a:ext cx="54976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Horizontal Band at Plinth, Sill , Lintel &amp;Roof level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Well Seasoned Locally available hardwood can be used</a:t>
            </a:r>
          </a:p>
          <a:p>
            <a:pPr>
              <a:buSzPct val="140000"/>
            </a:pPr>
            <a:endParaRPr lang="en-US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59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Dressed Stone Masonry</a:t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18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0" t="10281" r="16266" b="7107"/>
          <a:stretch/>
        </p:blipFill>
        <p:spPr>
          <a:xfrm>
            <a:off x="891299" y="2892190"/>
            <a:ext cx="8502469" cy="3931920"/>
          </a:xfrm>
        </p:spPr>
      </p:pic>
      <p:sp>
        <p:nvSpPr>
          <p:cNvPr id="8" name="TextBox 7"/>
          <p:cNvSpPr txBox="1"/>
          <p:nvPr/>
        </p:nvSpPr>
        <p:spPr>
          <a:xfrm>
            <a:off x="422822" y="1204819"/>
            <a:ext cx="94394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12000"/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Wall Thickness : 600mm</a:t>
            </a:r>
          </a:p>
          <a:p>
            <a:pPr marL="285750" indent="-285750">
              <a:buSzPct val="112000"/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Spacing of through stone should not be more than more than 1200 mm horizontally &amp; 600 mm Vertically</a:t>
            </a:r>
          </a:p>
          <a:p>
            <a:pPr marL="285750" indent="-285750">
              <a:buSzPct val="112000"/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Vertical Member at Corner of Wall</a:t>
            </a:r>
          </a:p>
          <a:p>
            <a:pPr marL="285750" indent="-285750">
              <a:buSzPct val="112000"/>
              <a:buFont typeface="Arial" panose="020B0604020202020204" pitchFamily="34" charset="0"/>
              <a:buChar char="•"/>
            </a:pPr>
            <a:endParaRPr lang="en-US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6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158818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Vertical Member Detailing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19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1" t="18591" r="3240" b="3677"/>
          <a:stretch/>
        </p:blipFill>
        <p:spPr>
          <a:xfrm>
            <a:off x="6217920" y="3551730"/>
            <a:ext cx="4326774" cy="2743200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3" t="9558" r="5098" b="14151"/>
          <a:stretch/>
        </p:blipFill>
        <p:spPr>
          <a:xfrm>
            <a:off x="140677" y="1677210"/>
            <a:ext cx="6472702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8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51" y="-248972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Roof Detailing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20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6" t="17988" r="1948" b="3432"/>
          <a:stretch/>
        </p:blipFill>
        <p:spPr>
          <a:xfrm>
            <a:off x="6577609" y="3840480"/>
            <a:ext cx="3981157" cy="2335236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5" t="11529" r="3711" b="11791"/>
          <a:stretch/>
        </p:blipFill>
        <p:spPr>
          <a:xfrm>
            <a:off x="612907" y="1149278"/>
            <a:ext cx="5964702" cy="28557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8" t="9568" r="6105" b="8633"/>
          <a:stretch/>
        </p:blipFill>
        <p:spPr>
          <a:xfrm>
            <a:off x="7090116" y="1503108"/>
            <a:ext cx="3179300" cy="2532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6178" y="6126442"/>
            <a:ext cx="98107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timber  connection it need give Special attention in Joint !</a:t>
            </a:r>
            <a:endParaRPr lang="en-US" sz="2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81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88594" y="119061"/>
            <a:ext cx="8818126" cy="553194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Wooden Key </a:t>
            </a:r>
            <a:endParaRPr lang="en-US" sz="3500" dirty="0"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306720" y="6824663"/>
            <a:ext cx="846930" cy="380999"/>
          </a:xfrm>
        </p:spPr>
        <p:txBody>
          <a:bodyPr/>
          <a:lstStyle/>
          <a:p>
            <a:fld id="{86949250-7475-452A-AEED-20887F79B93F}" type="slidenum">
              <a:rPr lang="en-US"/>
              <a:pPr/>
              <a:t>21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1047750" y="1838325"/>
            <a:ext cx="3067050" cy="1533525"/>
          </a:xfrm>
          <a:custGeom>
            <a:avLst/>
            <a:gdLst>
              <a:gd name="connsiteX0" fmla="*/ 66675 w 3067050"/>
              <a:gd name="connsiteY0" fmla="*/ 1066800 h 1533525"/>
              <a:gd name="connsiteX1" fmla="*/ 2867025 w 3067050"/>
              <a:gd name="connsiteY1" fmla="*/ 0 h 1533525"/>
              <a:gd name="connsiteX2" fmla="*/ 3067050 w 3067050"/>
              <a:gd name="connsiteY2" fmla="*/ 466725 h 1533525"/>
              <a:gd name="connsiteX3" fmla="*/ 2266950 w 3067050"/>
              <a:gd name="connsiteY3" fmla="*/ 771525 h 1533525"/>
              <a:gd name="connsiteX4" fmla="*/ 1838325 w 3067050"/>
              <a:gd name="connsiteY4" fmla="*/ 771525 h 1533525"/>
              <a:gd name="connsiteX5" fmla="*/ 1838325 w 3067050"/>
              <a:gd name="connsiteY5" fmla="*/ 942975 h 1533525"/>
              <a:gd name="connsiteX6" fmla="*/ 1114425 w 3067050"/>
              <a:gd name="connsiteY6" fmla="*/ 1200150 h 1533525"/>
              <a:gd name="connsiteX7" fmla="*/ 666750 w 3067050"/>
              <a:gd name="connsiteY7" fmla="*/ 1209675 h 1533525"/>
              <a:gd name="connsiteX8" fmla="*/ 657225 w 3067050"/>
              <a:gd name="connsiteY8" fmla="*/ 1381125 h 1533525"/>
              <a:gd name="connsiteX9" fmla="*/ 276225 w 3067050"/>
              <a:gd name="connsiteY9" fmla="*/ 1533525 h 1533525"/>
              <a:gd name="connsiteX10" fmla="*/ 190500 w 3067050"/>
              <a:gd name="connsiteY10" fmla="*/ 1400175 h 1533525"/>
              <a:gd name="connsiteX11" fmla="*/ 314325 w 3067050"/>
              <a:gd name="connsiteY11" fmla="*/ 1343025 h 1533525"/>
              <a:gd name="connsiteX12" fmla="*/ 0 w 3067050"/>
              <a:gd name="connsiteY12" fmla="*/ 1304925 h 1533525"/>
              <a:gd name="connsiteX13" fmla="*/ 133350 w 3067050"/>
              <a:gd name="connsiteY13" fmla="*/ 1247775 h 1533525"/>
              <a:gd name="connsiteX14" fmla="*/ 66675 w 3067050"/>
              <a:gd name="connsiteY14" fmla="*/ 1066800 h 153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67050" h="1533525">
                <a:moveTo>
                  <a:pt x="66675" y="1066800"/>
                </a:moveTo>
                <a:lnTo>
                  <a:pt x="2867025" y="0"/>
                </a:lnTo>
                <a:lnTo>
                  <a:pt x="3067050" y="466725"/>
                </a:lnTo>
                <a:lnTo>
                  <a:pt x="2266950" y="771525"/>
                </a:lnTo>
                <a:lnTo>
                  <a:pt x="1838325" y="771525"/>
                </a:lnTo>
                <a:lnTo>
                  <a:pt x="1838325" y="942975"/>
                </a:lnTo>
                <a:lnTo>
                  <a:pt x="1114425" y="1200150"/>
                </a:lnTo>
                <a:lnTo>
                  <a:pt x="666750" y="1209675"/>
                </a:lnTo>
                <a:lnTo>
                  <a:pt x="657225" y="1381125"/>
                </a:lnTo>
                <a:lnTo>
                  <a:pt x="276225" y="1533525"/>
                </a:lnTo>
                <a:lnTo>
                  <a:pt x="190500" y="1400175"/>
                </a:lnTo>
                <a:lnTo>
                  <a:pt x="314325" y="1343025"/>
                </a:lnTo>
                <a:lnTo>
                  <a:pt x="0" y="1304925"/>
                </a:lnTo>
                <a:lnTo>
                  <a:pt x="133350" y="1247775"/>
                </a:lnTo>
                <a:lnTo>
                  <a:pt x="66675" y="106680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734344" y="3052762"/>
            <a:ext cx="533400" cy="304800"/>
          </a:xfrm>
          <a:prstGeom prst="rect">
            <a:avLst/>
          </a:prstGeom>
          <a:solidFill>
            <a:srgbClr val="FF99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896394" y="2624137"/>
            <a:ext cx="533400" cy="304800"/>
          </a:xfrm>
          <a:prstGeom prst="rect">
            <a:avLst/>
          </a:prstGeom>
          <a:solidFill>
            <a:srgbClr val="FF99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Freeform 9"/>
          <p:cNvSpPr/>
          <p:nvPr/>
        </p:nvSpPr>
        <p:spPr bwMode="auto">
          <a:xfrm>
            <a:off x="1485900" y="1490662"/>
            <a:ext cx="238125" cy="923925"/>
          </a:xfrm>
          <a:custGeom>
            <a:avLst/>
            <a:gdLst>
              <a:gd name="connsiteX0" fmla="*/ 0 w 238125"/>
              <a:gd name="connsiteY0" fmla="*/ 0 h 923925"/>
              <a:gd name="connsiteX1" fmla="*/ 114300 w 238125"/>
              <a:gd name="connsiteY1" fmla="*/ 923925 h 923925"/>
              <a:gd name="connsiteX2" fmla="*/ 228600 w 238125"/>
              <a:gd name="connsiteY2" fmla="*/ 923925 h 923925"/>
              <a:gd name="connsiteX3" fmla="*/ 238125 w 238125"/>
              <a:gd name="connsiteY3" fmla="*/ 0 h 923925"/>
              <a:gd name="connsiteX4" fmla="*/ 0 w 238125"/>
              <a:gd name="connsiteY4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25" h="923925">
                <a:moveTo>
                  <a:pt x="0" y="0"/>
                </a:moveTo>
                <a:lnTo>
                  <a:pt x="114300" y="923925"/>
                </a:lnTo>
                <a:lnTo>
                  <a:pt x="228600" y="923925"/>
                </a:lnTo>
                <a:lnTo>
                  <a:pt x="238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Freeform 10"/>
          <p:cNvSpPr/>
          <p:nvPr/>
        </p:nvSpPr>
        <p:spPr bwMode="auto">
          <a:xfrm>
            <a:off x="4963319" y="1414462"/>
            <a:ext cx="238125" cy="923925"/>
          </a:xfrm>
          <a:custGeom>
            <a:avLst/>
            <a:gdLst>
              <a:gd name="connsiteX0" fmla="*/ 0 w 238125"/>
              <a:gd name="connsiteY0" fmla="*/ 0 h 923925"/>
              <a:gd name="connsiteX1" fmla="*/ 114300 w 238125"/>
              <a:gd name="connsiteY1" fmla="*/ 923925 h 923925"/>
              <a:gd name="connsiteX2" fmla="*/ 228600 w 238125"/>
              <a:gd name="connsiteY2" fmla="*/ 923925 h 923925"/>
              <a:gd name="connsiteX3" fmla="*/ 238125 w 238125"/>
              <a:gd name="connsiteY3" fmla="*/ 0 h 923925"/>
              <a:gd name="connsiteX4" fmla="*/ 0 w 238125"/>
              <a:gd name="connsiteY4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25" h="923925">
                <a:moveTo>
                  <a:pt x="0" y="0"/>
                </a:moveTo>
                <a:lnTo>
                  <a:pt x="114300" y="923925"/>
                </a:lnTo>
                <a:lnTo>
                  <a:pt x="228600" y="923925"/>
                </a:lnTo>
                <a:lnTo>
                  <a:pt x="238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Freeform 11"/>
          <p:cNvSpPr/>
          <p:nvPr/>
        </p:nvSpPr>
        <p:spPr bwMode="auto">
          <a:xfrm>
            <a:off x="3429000" y="1828800"/>
            <a:ext cx="257175" cy="933450"/>
          </a:xfrm>
          <a:custGeom>
            <a:avLst/>
            <a:gdLst>
              <a:gd name="connsiteX0" fmla="*/ 0 w 257175"/>
              <a:gd name="connsiteY0" fmla="*/ 0 h 933450"/>
              <a:gd name="connsiteX1" fmla="*/ 28575 w 257175"/>
              <a:gd name="connsiteY1" fmla="*/ 933450 h 933450"/>
              <a:gd name="connsiteX2" fmla="*/ 142875 w 257175"/>
              <a:gd name="connsiteY2" fmla="*/ 923925 h 933450"/>
              <a:gd name="connsiteX3" fmla="*/ 257175 w 257175"/>
              <a:gd name="connsiteY3" fmla="*/ 0 h 933450"/>
              <a:gd name="connsiteX4" fmla="*/ 0 w 257175"/>
              <a:gd name="connsiteY4" fmla="*/ 0 h 93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75" h="933450">
                <a:moveTo>
                  <a:pt x="0" y="0"/>
                </a:moveTo>
                <a:lnTo>
                  <a:pt x="28575" y="933450"/>
                </a:lnTo>
                <a:lnTo>
                  <a:pt x="142875" y="92392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1733550" y="2786062"/>
            <a:ext cx="1723043" cy="2924174"/>
            <a:chOff x="1733550" y="4205287"/>
            <a:chExt cx="1723043" cy="2924174"/>
          </a:xfrm>
        </p:grpSpPr>
        <p:sp>
          <p:nvSpPr>
            <p:cNvPr id="13" name="Freeform 12"/>
            <p:cNvSpPr/>
            <p:nvPr/>
          </p:nvSpPr>
          <p:spPr bwMode="auto">
            <a:xfrm>
              <a:off x="1733550" y="4205287"/>
              <a:ext cx="1714500" cy="1171575"/>
            </a:xfrm>
            <a:custGeom>
              <a:avLst/>
              <a:gdLst>
                <a:gd name="connsiteX0" fmla="*/ 0 w 1714500"/>
                <a:gd name="connsiteY0" fmla="*/ 571500 h 1171575"/>
                <a:gd name="connsiteX1" fmla="*/ 9525 w 1714500"/>
                <a:gd name="connsiteY1" fmla="*/ 1171575 h 1171575"/>
                <a:gd name="connsiteX2" fmla="*/ 1714500 w 1714500"/>
                <a:gd name="connsiteY2" fmla="*/ 1171575 h 1171575"/>
                <a:gd name="connsiteX3" fmla="*/ 1695450 w 1714500"/>
                <a:gd name="connsiteY3" fmla="*/ 152400 h 1171575"/>
                <a:gd name="connsiteX4" fmla="*/ 1162050 w 1714500"/>
                <a:gd name="connsiteY4" fmla="*/ 142875 h 1171575"/>
                <a:gd name="connsiteX5" fmla="*/ 1162050 w 1714500"/>
                <a:gd name="connsiteY5" fmla="*/ 0 h 1171575"/>
                <a:gd name="connsiteX6" fmla="*/ 533400 w 1714500"/>
                <a:gd name="connsiteY6" fmla="*/ 228600 h 1171575"/>
                <a:gd name="connsiteX7" fmla="*/ 542925 w 1714500"/>
                <a:gd name="connsiteY7" fmla="*/ 590550 h 1171575"/>
                <a:gd name="connsiteX8" fmla="*/ 0 w 1714500"/>
                <a:gd name="connsiteY8" fmla="*/ 571500 h 117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4500" h="1171575">
                  <a:moveTo>
                    <a:pt x="0" y="571500"/>
                  </a:moveTo>
                  <a:lnTo>
                    <a:pt x="9525" y="1171575"/>
                  </a:lnTo>
                  <a:lnTo>
                    <a:pt x="1714500" y="1171575"/>
                  </a:lnTo>
                  <a:lnTo>
                    <a:pt x="1695450" y="152400"/>
                  </a:lnTo>
                  <a:lnTo>
                    <a:pt x="1162050" y="142875"/>
                  </a:lnTo>
                  <a:lnTo>
                    <a:pt x="1162050" y="0"/>
                  </a:lnTo>
                  <a:lnTo>
                    <a:pt x="533400" y="228600"/>
                  </a:lnTo>
                  <a:lnTo>
                    <a:pt x="542925" y="59055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1737521" y="5326062"/>
              <a:ext cx="1719072" cy="18033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7630319" y="2565070"/>
            <a:ext cx="1715562" cy="2887992"/>
            <a:chOff x="7630319" y="2565070"/>
            <a:chExt cx="1715562" cy="2887992"/>
          </a:xfrm>
        </p:grpSpPr>
        <p:sp>
          <p:nvSpPr>
            <p:cNvPr id="19" name="Freeform 18"/>
            <p:cNvSpPr/>
            <p:nvPr/>
          </p:nvSpPr>
          <p:spPr bwMode="auto">
            <a:xfrm>
              <a:off x="7635834" y="2565070"/>
              <a:ext cx="1710047" cy="1377538"/>
            </a:xfrm>
            <a:custGeom>
              <a:avLst/>
              <a:gdLst>
                <a:gd name="connsiteX0" fmla="*/ 0 w 1710047"/>
                <a:gd name="connsiteY0" fmla="*/ 1377538 h 1377538"/>
                <a:gd name="connsiteX1" fmla="*/ 0 w 1710047"/>
                <a:gd name="connsiteY1" fmla="*/ 641268 h 1377538"/>
                <a:gd name="connsiteX2" fmla="*/ 558140 w 1710047"/>
                <a:gd name="connsiteY2" fmla="*/ 415636 h 1377538"/>
                <a:gd name="connsiteX3" fmla="*/ 593766 w 1710047"/>
                <a:gd name="connsiteY3" fmla="*/ 522514 h 1377538"/>
                <a:gd name="connsiteX4" fmla="*/ 1128156 w 1710047"/>
                <a:gd name="connsiteY4" fmla="*/ 534390 h 1377538"/>
                <a:gd name="connsiteX5" fmla="*/ 1116280 w 1710047"/>
                <a:gd name="connsiteY5" fmla="*/ 213756 h 1377538"/>
                <a:gd name="connsiteX6" fmla="*/ 1698171 w 1710047"/>
                <a:gd name="connsiteY6" fmla="*/ 0 h 1377538"/>
                <a:gd name="connsiteX7" fmla="*/ 1710047 w 1710047"/>
                <a:gd name="connsiteY7" fmla="*/ 1365662 h 1377538"/>
                <a:gd name="connsiteX8" fmla="*/ 0 w 1710047"/>
                <a:gd name="connsiteY8" fmla="*/ 1377538 h 1377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0047" h="1377538">
                  <a:moveTo>
                    <a:pt x="0" y="1377538"/>
                  </a:moveTo>
                  <a:lnTo>
                    <a:pt x="0" y="641268"/>
                  </a:lnTo>
                  <a:lnTo>
                    <a:pt x="558140" y="415636"/>
                  </a:lnTo>
                  <a:lnTo>
                    <a:pt x="593766" y="522514"/>
                  </a:lnTo>
                  <a:lnTo>
                    <a:pt x="1128156" y="534390"/>
                  </a:lnTo>
                  <a:lnTo>
                    <a:pt x="1116280" y="213756"/>
                  </a:lnTo>
                  <a:lnTo>
                    <a:pt x="1698171" y="0"/>
                  </a:lnTo>
                  <a:lnTo>
                    <a:pt x="1710047" y="1365662"/>
                  </a:lnTo>
                  <a:lnTo>
                    <a:pt x="0" y="1377538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7630319" y="3852862"/>
              <a:ext cx="1709928" cy="160020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2" name="Rectangle 21"/>
          <p:cNvSpPr/>
          <p:nvPr/>
        </p:nvSpPr>
        <p:spPr bwMode="auto">
          <a:xfrm>
            <a:off x="8228044" y="2850387"/>
            <a:ext cx="533400" cy="304800"/>
          </a:xfrm>
          <a:prstGeom prst="rect">
            <a:avLst/>
          </a:prstGeom>
          <a:solidFill>
            <a:srgbClr val="FF99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Freeform 22"/>
          <p:cNvSpPr/>
          <p:nvPr/>
        </p:nvSpPr>
        <p:spPr bwMode="auto">
          <a:xfrm>
            <a:off x="6958940" y="1840675"/>
            <a:ext cx="3135086" cy="1520042"/>
          </a:xfrm>
          <a:custGeom>
            <a:avLst/>
            <a:gdLst>
              <a:gd name="connsiteX0" fmla="*/ 261257 w 3135086"/>
              <a:gd name="connsiteY0" fmla="*/ 1520042 h 1520042"/>
              <a:gd name="connsiteX1" fmla="*/ 201881 w 3135086"/>
              <a:gd name="connsiteY1" fmla="*/ 1365663 h 1520042"/>
              <a:gd name="connsiteX2" fmla="*/ 308759 w 3135086"/>
              <a:gd name="connsiteY2" fmla="*/ 1318161 h 1520042"/>
              <a:gd name="connsiteX3" fmla="*/ 0 w 3135086"/>
              <a:gd name="connsiteY3" fmla="*/ 1294411 h 1520042"/>
              <a:gd name="connsiteX4" fmla="*/ 130629 w 3135086"/>
              <a:gd name="connsiteY4" fmla="*/ 1211283 h 1520042"/>
              <a:gd name="connsiteX5" fmla="*/ 47502 w 3135086"/>
              <a:gd name="connsiteY5" fmla="*/ 1068780 h 1520042"/>
              <a:gd name="connsiteX6" fmla="*/ 2873829 w 3135086"/>
              <a:gd name="connsiteY6" fmla="*/ 0 h 1520042"/>
              <a:gd name="connsiteX7" fmla="*/ 2945081 w 3135086"/>
              <a:gd name="connsiteY7" fmla="*/ 190006 h 1520042"/>
              <a:gd name="connsiteX8" fmla="*/ 2850078 w 3135086"/>
              <a:gd name="connsiteY8" fmla="*/ 261257 h 1520042"/>
              <a:gd name="connsiteX9" fmla="*/ 3135086 w 3135086"/>
              <a:gd name="connsiteY9" fmla="*/ 273133 h 1520042"/>
              <a:gd name="connsiteX10" fmla="*/ 3040083 w 3135086"/>
              <a:gd name="connsiteY10" fmla="*/ 332509 h 1520042"/>
              <a:gd name="connsiteX11" fmla="*/ 3063834 w 3135086"/>
              <a:gd name="connsiteY11" fmla="*/ 463138 h 1520042"/>
              <a:gd name="connsiteX12" fmla="*/ 1662546 w 3135086"/>
              <a:gd name="connsiteY12" fmla="*/ 997528 h 1520042"/>
              <a:gd name="connsiteX13" fmla="*/ 1270660 w 3135086"/>
              <a:gd name="connsiteY13" fmla="*/ 997528 h 1520042"/>
              <a:gd name="connsiteX14" fmla="*/ 1282535 w 3135086"/>
              <a:gd name="connsiteY14" fmla="*/ 1140031 h 1520042"/>
              <a:gd name="connsiteX15" fmla="*/ 261257 w 3135086"/>
              <a:gd name="connsiteY15" fmla="*/ 1520042 h 152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35086" h="1520042">
                <a:moveTo>
                  <a:pt x="261257" y="1520042"/>
                </a:moveTo>
                <a:lnTo>
                  <a:pt x="201881" y="1365663"/>
                </a:lnTo>
                <a:lnTo>
                  <a:pt x="308759" y="1318161"/>
                </a:lnTo>
                <a:lnTo>
                  <a:pt x="0" y="1294411"/>
                </a:lnTo>
                <a:lnTo>
                  <a:pt x="130629" y="1211283"/>
                </a:lnTo>
                <a:lnTo>
                  <a:pt x="47502" y="1068780"/>
                </a:lnTo>
                <a:lnTo>
                  <a:pt x="2873829" y="0"/>
                </a:lnTo>
                <a:lnTo>
                  <a:pt x="2945081" y="190006"/>
                </a:lnTo>
                <a:lnTo>
                  <a:pt x="2850078" y="261257"/>
                </a:lnTo>
                <a:lnTo>
                  <a:pt x="3135086" y="273133"/>
                </a:lnTo>
                <a:lnTo>
                  <a:pt x="3040083" y="332509"/>
                </a:lnTo>
                <a:lnTo>
                  <a:pt x="3063834" y="463138"/>
                </a:lnTo>
                <a:lnTo>
                  <a:pt x="1662546" y="997528"/>
                </a:lnTo>
                <a:lnTo>
                  <a:pt x="1270660" y="997528"/>
                </a:lnTo>
                <a:lnTo>
                  <a:pt x="1282535" y="1140031"/>
                </a:lnTo>
                <a:lnTo>
                  <a:pt x="261257" y="1520042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Freeform 23"/>
          <p:cNvSpPr/>
          <p:nvPr/>
        </p:nvSpPr>
        <p:spPr bwMode="auto">
          <a:xfrm>
            <a:off x="7434528" y="1414462"/>
            <a:ext cx="238125" cy="923925"/>
          </a:xfrm>
          <a:custGeom>
            <a:avLst/>
            <a:gdLst>
              <a:gd name="connsiteX0" fmla="*/ 0 w 238125"/>
              <a:gd name="connsiteY0" fmla="*/ 0 h 923925"/>
              <a:gd name="connsiteX1" fmla="*/ 114300 w 238125"/>
              <a:gd name="connsiteY1" fmla="*/ 923925 h 923925"/>
              <a:gd name="connsiteX2" fmla="*/ 228600 w 238125"/>
              <a:gd name="connsiteY2" fmla="*/ 923925 h 923925"/>
              <a:gd name="connsiteX3" fmla="*/ 238125 w 238125"/>
              <a:gd name="connsiteY3" fmla="*/ 0 h 923925"/>
              <a:gd name="connsiteX4" fmla="*/ 0 w 238125"/>
              <a:gd name="connsiteY4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25" h="923925">
                <a:moveTo>
                  <a:pt x="0" y="0"/>
                </a:moveTo>
                <a:lnTo>
                  <a:pt x="114300" y="923925"/>
                </a:lnTo>
                <a:lnTo>
                  <a:pt x="228600" y="923925"/>
                </a:lnTo>
                <a:lnTo>
                  <a:pt x="238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Freeform 25"/>
          <p:cNvSpPr/>
          <p:nvPr/>
        </p:nvSpPr>
        <p:spPr bwMode="auto">
          <a:xfrm>
            <a:off x="9354344" y="1871662"/>
            <a:ext cx="257175" cy="933450"/>
          </a:xfrm>
          <a:custGeom>
            <a:avLst/>
            <a:gdLst>
              <a:gd name="connsiteX0" fmla="*/ 0 w 257175"/>
              <a:gd name="connsiteY0" fmla="*/ 0 h 933450"/>
              <a:gd name="connsiteX1" fmla="*/ 28575 w 257175"/>
              <a:gd name="connsiteY1" fmla="*/ 933450 h 933450"/>
              <a:gd name="connsiteX2" fmla="*/ 142875 w 257175"/>
              <a:gd name="connsiteY2" fmla="*/ 923925 h 933450"/>
              <a:gd name="connsiteX3" fmla="*/ 257175 w 257175"/>
              <a:gd name="connsiteY3" fmla="*/ 0 h 933450"/>
              <a:gd name="connsiteX4" fmla="*/ 0 w 257175"/>
              <a:gd name="connsiteY4" fmla="*/ 0 h 93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75" h="933450">
                <a:moveTo>
                  <a:pt x="0" y="0"/>
                </a:moveTo>
                <a:lnTo>
                  <a:pt x="28575" y="933450"/>
                </a:lnTo>
                <a:lnTo>
                  <a:pt x="142875" y="92392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46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8 -0.03427 L -0.00148 0.1574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4" grpId="1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2411"/>
            <a:ext cx="10158939" cy="120481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Random Rubble Masonry with</a:t>
            </a:r>
            <a:b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GI wire Mesh</a:t>
            </a: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22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" t="14267" r="2810" b="2936"/>
          <a:stretch/>
        </p:blipFill>
        <p:spPr>
          <a:xfrm>
            <a:off x="4459936" y="2768853"/>
            <a:ext cx="6002909" cy="384048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8" t="432" r="9151" b="2395"/>
          <a:stretch/>
        </p:blipFill>
        <p:spPr>
          <a:xfrm>
            <a:off x="303906" y="2263449"/>
            <a:ext cx="3291839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6178" y="1155453"/>
            <a:ext cx="92128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No. of </a:t>
            </a:r>
            <a:r>
              <a:rPr lang="en-US" sz="22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Storey</a:t>
            </a: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Flexible Floor &amp; Roof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Plinth Area</a:t>
            </a: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22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588 </a:t>
            </a:r>
            <a:r>
              <a:rPr lang="en-US" sz="22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sq.ft</a:t>
            </a:r>
            <a:endParaRPr lang="en-US" sz="22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2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719" y="176053"/>
            <a:ext cx="8818126" cy="1417737"/>
          </a:xfrm>
        </p:spPr>
        <p:txBody>
          <a:bodyPr>
            <a:noAutofit/>
          </a:bodyPr>
          <a:lstStyle/>
          <a:p>
            <a:pPr algn="ctr"/>
            <a:r>
              <a:rPr lang="en-US" sz="33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Random Rubble Masonry with</a:t>
            </a:r>
            <a:br>
              <a:rPr lang="en-US" sz="33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3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GI wire </a:t>
            </a:r>
            <a:r>
              <a:rPr lang="en-US" sz="3300" dirty="0">
                <a:solidFill>
                  <a:schemeClr val="tx1"/>
                </a:solidFill>
                <a:latin typeface="Arial Black" panose="020B0A04020102020204" pitchFamily="34" charset="0"/>
              </a:rPr>
              <a:t>Mesh</a:t>
            </a:r>
            <a:br>
              <a:rPr lang="en-US" sz="33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3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1" t="3915" r="9286" b="4477"/>
          <a:stretch/>
        </p:blipFill>
        <p:spPr>
          <a:xfrm>
            <a:off x="5726003" y="1593789"/>
            <a:ext cx="4361156" cy="530352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61609" y="1795484"/>
            <a:ext cx="45590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Foundation</a:t>
            </a:r>
          </a:p>
          <a:p>
            <a:endParaRPr lang="en-US" sz="2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Width: 900 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Depth : 900 mm</a:t>
            </a:r>
          </a:p>
        </p:txBody>
      </p:sp>
    </p:spTree>
    <p:extLst>
      <p:ext uri="{BB962C8B-B14F-4D97-AF65-F5344CB8AC3E}">
        <p14:creationId xmlns:p14="http://schemas.microsoft.com/office/powerpoint/2010/main" val="324181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998" y="-84931"/>
            <a:ext cx="9009491" cy="1460355"/>
          </a:xfrm>
        </p:spPr>
        <p:txBody>
          <a:bodyPr>
            <a:noAutofit/>
          </a:bodyPr>
          <a:lstStyle/>
          <a:p>
            <a:pPr algn="ctr"/>
            <a:r>
              <a:rPr lang="en-US" sz="3300" dirty="0">
                <a:solidFill>
                  <a:schemeClr val="tx1"/>
                </a:solidFill>
                <a:latin typeface="Arial Black" panose="020B0A04020102020204" pitchFamily="34" charset="0"/>
              </a:rPr>
              <a:t>Random Rubble Masonry with</a:t>
            </a:r>
            <a:br>
              <a:rPr lang="en-US" sz="33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300" dirty="0">
                <a:solidFill>
                  <a:schemeClr val="tx1"/>
                </a:solidFill>
                <a:latin typeface="Arial Black" panose="020B0A04020102020204" pitchFamily="34" charset="0"/>
              </a:rPr>
              <a:t> GI wire Mesh</a:t>
            </a: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" t="7441" r="2456" b="7570"/>
          <a:stretch/>
        </p:blipFill>
        <p:spPr>
          <a:xfrm>
            <a:off x="501998" y="2753272"/>
            <a:ext cx="10186640" cy="384048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28607" y="1510350"/>
            <a:ext cx="942979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SzPct val="11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Wall Thickness : 600mm</a:t>
            </a:r>
          </a:p>
          <a:p>
            <a:pPr marL="285750" indent="-285750">
              <a:buSzPct val="11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Spacing of through stone should not be more than more than 1200 mm horizontally &amp; 600 mm Vertically</a:t>
            </a:r>
          </a:p>
        </p:txBody>
      </p:sp>
    </p:spTree>
    <p:extLst>
      <p:ext uri="{BB962C8B-B14F-4D97-AF65-F5344CB8AC3E}">
        <p14:creationId xmlns:p14="http://schemas.microsoft.com/office/powerpoint/2010/main" val="382847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440" y="0"/>
            <a:ext cx="8865032" cy="1456840"/>
          </a:xfrm>
        </p:spPr>
        <p:txBody>
          <a:bodyPr>
            <a:no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Random Rubble Masonry with</a:t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 GI wire Mesh</a:t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2" t="3295" r="2298" b="6979"/>
          <a:stretch/>
        </p:blipFill>
        <p:spPr>
          <a:xfrm>
            <a:off x="0" y="2765816"/>
            <a:ext cx="6750565" cy="475106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10007" y="1286360"/>
            <a:ext cx="67262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hot dipped galvanized welded wire Shall be used to ensure the Corrosion Protection</a:t>
            </a:r>
          </a:p>
          <a:p>
            <a:pPr>
              <a:buSzPct val="145000"/>
            </a:pPr>
            <a:endParaRPr lang="en-US" sz="25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wire mesh shall not be less than 50  Micron</a:t>
            </a:r>
            <a:endParaRPr lang="en-US" sz="25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8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51" y="-248972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Roof Detailing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636" b="1" smtClean="0">
                <a:solidFill>
                  <a:srgbClr val="FFFFFF"/>
                </a:solidFill>
              </a:rPr>
              <a:pPr algn="ctr"/>
              <a:t>26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6" t="17988" r="1948" b="3432"/>
          <a:stretch/>
        </p:blipFill>
        <p:spPr>
          <a:xfrm>
            <a:off x="6577609" y="3840480"/>
            <a:ext cx="3981157" cy="2335236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5" t="11529" r="3711" b="11791"/>
          <a:stretch/>
        </p:blipFill>
        <p:spPr>
          <a:xfrm>
            <a:off x="612907" y="1149278"/>
            <a:ext cx="5964702" cy="28557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8" t="9568" r="6105" b="8633"/>
          <a:stretch/>
        </p:blipFill>
        <p:spPr>
          <a:xfrm>
            <a:off x="7090116" y="1503108"/>
            <a:ext cx="3179300" cy="2532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6178" y="6126442"/>
            <a:ext cx="98107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timber  connection it need give Special attention in Joint !</a:t>
            </a:r>
            <a:endParaRPr lang="en-US" sz="2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70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88594" y="119061"/>
            <a:ext cx="8818126" cy="553194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Wooden Key </a:t>
            </a:r>
            <a:endParaRPr lang="en-US" sz="3500" dirty="0"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306720" y="6824663"/>
            <a:ext cx="846930" cy="380999"/>
          </a:xfrm>
        </p:spPr>
        <p:txBody>
          <a:bodyPr/>
          <a:lstStyle/>
          <a:p>
            <a:fld id="{86949250-7475-452A-AEED-20887F79B93F}" type="slidenum">
              <a:rPr lang="en-US"/>
              <a:pPr/>
              <a:t>27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1047750" y="1838325"/>
            <a:ext cx="3067050" cy="1533525"/>
          </a:xfrm>
          <a:custGeom>
            <a:avLst/>
            <a:gdLst>
              <a:gd name="connsiteX0" fmla="*/ 66675 w 3067050"/>
              <a:gd name="connsiteY0" fmla="*/ 1066800 h 1533525"/>
              <a:gd name="connsiteX1" fmla="*/ 2867025 w 3067050"/>
              <a:gd name="connsiteY1" fmla="*/ 0 h 1533525"/>
              <a:gd name="connsiteX2" fmla="*/ 3067050 w 3067050"/>
              <a:gd name="connsiteY2" fmla="*/ 466725 h 1533525"/>
              <a:gd name="connsiteX3" fmla="*/ 2266950 w 3067050"/>
              <a:gd name="connsiteY3" fmla="*/ 771525 h 1533525"/>
              <a:gd name="connsiteX4" fmla="*/ 1838325 w 3067050"/>
              <a:gd name="connsiteY4" fmla="*/ 771525 h 1533525"/>
              <a:gd name="connsiteX5" fmla="*/ 1838325 w 3067050"/>
              <a:gd name="connsiteY5" fmla="*/ 942975 h 1533525"/>
              <a:gd name="connsiteX6" fmla="*/ 1114425 w 3067050"/>
              <a:gd name="connsiteY6" fmla="*/ 1200150 h 1533525"/>
              <a:gd name="connsiteX7" fmla="*/ 666750 w 3067050"/>
              <a:gd name="connsiteY7" fmla="*/ 1209675 h 1533525"/>
              <a:gd name="connsiteX8" fmla="*/ 657225 w 3067050"/>
              <a:gd name="connsiteY8" fmla="*/ 1381125 h 1533525"/>
              <a:gd name="connsiteX9" fmla="*/ 276225 w 3067050"/>
              <a:gd name="connsiteY9" fmla="*/ 1533525 h 1533525"/>
              <a:gd name="connsiteX10" fmla="*/ 190500 w 3067050"/>
              <a:gd name="connsiteY10" fmla="*/ 1400175 h 1533525"/>
              <a:gd name="connsiteX11" fmla="*/ 314325 w 3067050"/>
              <a:gd name="connsiteY11" fmla="*/ 1343025 h 1533525"/>
              <a:gd name="connsiteX12" fmla="*/ 0 w 3067050"/>
              <a:gd name="connsiteY12" fmla="*/ 1304925 h 1533525"/>
              <a:gd name="connsiteX13" fmla="*/ 133350 w 3067050"/>
              <a:gd name="connsiteY13" fmla="*/ 1247775 h 1533525"/>
              <a:gd name="connsiteX14" fmla="*/ 66675 w 3067050"/>
              <a:gd name="connsiteY14" fmla="*/ 1066800 h 153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67050" h="1533525">
                <a:moveTo>
                  <a:pt x="66675" y="1066800"/>
                </a:moveTo>
                <a:lnTo>
                  <a:pt x="2867025" y="0"/>
                </a:lnTo>
                <a:lnTo>
                  <a:pt x="3067050" y="466725"/>
                </a:lnTo>
                <a:lnTo>
                  <a:pt x="2266950" y="771525"/>
                </a:lnTo>
                <a:lnTo>
                  <a:pt x="1838325" y="771525"/>
                </a:lnTo>
                <a:lnTo>
                  <a:pt x="1838325" y="942975"/>
                </a:lnTo>
                <a:lnTo>
                  <a:pt x="1114425" y="1200150"/>
                </a:lnTo>
                <a:lnTo>
                  <a:pt x="666750" y="1209675"/>
                </a:lnTo>
                <a:lnTo>
                  <a:pt x="657225" y="1381125"/>
                </a:lnTo>
                <a:lnTo>
                  <a:pt x="276225" y="1533525"/>
                </a:lnTo>
                <a:lnTo>
                  <a:pt x="190500" y="1400175"/>
                </a:lnTo>
                <a:lnTo>
                  <a:pt x="314325" y="1343025"/>
                </a:lnTo>
                <a:lnTo>
                  <a:pt x="0" y="1304925"/>
                </a:lnTo>
                <a:lnTo>
                  <a:pt x="133350" y="1247775"/>
                </a:lnTo>
                <a:lnTo>
                  <a:pt x="66675" y="106680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734344" y="3052762"/>
            <a:ext cx="533400" cy="304800"/>
          </a:xfrm>
          <a:prstGeom prst="rect">
            <a:avLst/>
          </a:prstGeom>
          <a:solidFill>
            <a:srgbClr val="FF99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896394" y="2624137"/>
            <a:ext cx="533400" cy="304800"/>
          </a:xfrm>
          <a:prstGeom prst="rect">
            <a:avLst/>
          </a:prstGeom>
          <a:solidFill>
            <a:srgbClr val="FF99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Freeform 9"/>
          <p:cNvSpPr/>
          <p:nvPr/>
        </p:nvSpPr>
        <p:spPr bwMode="auto">
          <a:xfrm>
            <a:off x="1485900" y="1490662"/>
            <a:ext cx="238125" cy="923925"/>
          </a:xfrm>
          <a:custGeom>
            <a:avLst/>
            <a:gdLst>
              <a:gd name="connsiteX0" fmla="*/ 0 w 238125"/>
              <a:gd name="connsiteY0" fmla="*/ 0 h 923925"/>
              <a:gd name="connsiteX1" fmla="*/ 114300 w 238125"/>
              <a:gd name="connsiteY1" fmla="*/ 923925 h 923925"/>
              <a:gd name="connsiteX2" fmla="*/ 228600 w 238125"/>
              <a:gd name="connsiteY2" fmla="*/ 923925 h 923925"/>
              <a:gd name="connsiteX3" fmla="*/ 238125 w 238125"/>
              <a:gd name="connsiteY3" fmla="*/ 0 h 923925"/>
              <a:gd name="connsiteX4" fmla="*/ 0 w 238125"/>
              <a:gd name="connsiteY4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25" h="923925">
                <a:moveTo>
                  <a:pt x="0" y="0"/>
                </a:moveTo>
                <a:lnTo>
                  <a:pt x="114300" y="923925"/>
                </a:lnTo>
                <a:lnTo>
                  <a:pt x="228600" y="923925"/>
                </a:lnTo>
                <a:lnTo>
                  <a:pt x="238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Freeform 10"/>
          <p:cNvSpPr/>
          <p:nvPr/>
        </p:nvSpPr>
        <p:spPr bwMode="auto">
          <a:xfrm>
            <a:off x="4963319" y="1414462"/>
            <a:ext cx="238125" cy="923925"/>
          </a:xfrm>
          <a:custGeom>
            <a:avLst/>
            <a:gdLst>
              <a:gd name="connsiteX0" fmla="*/ 0 w 238125"/>
              <a:gd name="connsiteY0" fmla="*/ 0 h 923925"/>
              <a:gd name="connsiteX1" fmla="*/ 114300 w 238125"/>
              <a:gd name="connsiteY1" fmla="*/ 923925 h 923925"/>
              <a:gd name="connsiteX2" fmla="*/ 228600 w 238125"/>
              <a:gd name="connsiteY2" fmla="*/ 923925 h 923925"/>
              <a:gd name="connsiteX3" fmla="*/ 238125 w 238125"/>
              <a:gd name="connsiteY3" fmla="*/ 0 h 923925"/>
              <a:gd name="connsiteX4" fmla="*/ 0 w 238125"/>
              <a:gd name="connsiteY4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25" h="923925">
                <a:moveTo>
                  <a:pt x="0" y="0"/>
                </a:moveTo>
                <a:lnTo>
                  <a:pt x="114300" y="923925"/>
                </a:lnTo>
                <a:lnTo>
                  <a:pt x="228600" y="923925"/>
                </a:lnTo>
                <a:lnTo>
                  <a:pt x="238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Freeform 11"/>
          <p:cNvSpPr/>
          <p:nvPr/>
        </p:nvSpPr>
        <p:spPr bwMode="auto">
          <a:xfrm>
            <a:off x="3429000" y="1828800"/>
            <a:ext cx="257175" cy="933450"/>
          </a:xfrm>
          <a:custGeom>
            <a:avLst/>
            <a:gdLst>
              <a:gd name="connsiteX0" fmla="*/ 0 w 257175"/>
              <a:gd name="connsiteY0" fmla="*/ 0 h 933450"/>
              <a:gd name="connsiteX1" fmla="*/ 28575 w 257175"/>
              <a:gd name="connsiteY1" fmla="*/ 933450 h 933450"/>
              <a:gd name="connsiteX2" fmla="*/ 142875 w 257175"/>
              <a:gd name="connsiteY2" fmla="*/ 923925 h 933450"/>
              <a:gd name="connsiteX3" fmla="*/ 257175 w 257175"/>
              <a:gd name="connsiteY3" fmla="*/ 0 h 933450"/>
              <a:gd name="connsiteX4" fmla="*/ 0 w 257175"/>
              <a:gd name="connsiteY4" fmla="*/ 0 h 93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75" h="933450">
                <a:moveTo>
                  <a:pt x="0" y="0"/>
                </a:moveTo>
                <a:lnTo>
                  <a:pt x="28575" y="933450"/>
                </a:lnTo>
                <a:lnTo>
                  <a:pt x="142875" y="92392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1733550" y="2786062"/>
            <a:ext cx="1723043" cy="2924174"/>
            <a:chOff x="1733550" y="4205287"/>
            <a:chExt cx="1723043" cy="2924174"/>
          </a:xfrm>
        </p:grpSpPr>
        <p:sp>
          <p:nvSpPr>
            <p:cNvPr id="13" name="Freeform 12"/>
            <p:cNvSpPr/>
            <p:nvPr/>
          </p:nvSpPr>
          <p:spPr bwMode="auto">
            <a:xfrm>
              <a:off x="1733550" y="4205287"/>
              <a:ext cx="1714500" cy="1171575"/>
            </a:xfrm>
            <a:custGeom>
              <a:avLst/>
              <a:gdLst>
                <a:gd name="connsiteX0" fmla="*/ 0 w 1714500"/>
                <a:gd name="connsiteY0" fmla="*/ 571500 h 1171575"/>
                <a:gd name="connsiteX1" fmla="*/ 9525 w 1714500"/>
                <a:gd name="connsiteY1" fmla="*/ 1171575 h 1171575"/>
                <a:gd name="connsiteX2" fmla="*/ 1714500 w 1714500"/>
                <a:gd name="connsiteY2" fmla="*/ 1171575 h 1171575"/>
                <a:gd name="connsiteX3" fmla="*/ 1695450 w 1714500"/>
                <a:gd name="connsiteY3" fmla="*/ 152400 h 1171575"/>
                <a:gd name="connsiteX4" fmla="*/ 1162050 w 1714500"/>
                <a:gd name="connsiteY4" fmla="*/ 142875 h 1171575"/>
                <a:gd name="connsiteX5" fmla="*/ 1162050 w 1714500"/>
                <a:gd name="connsiteY5" fmla="*/ 0 h 1171575"/>
                <a:gd name="connsiteX6" fmla="*/ 533400 w 1714500"/>
                <a:gd name="connsiteY6" fmla="*/ 228600 h 1171575"/>
                <a:gd name="connsiteX7" fmla="*/ 542925 w 1714500"/>
                <a:gd name="connsiteY7" fmla="*/ 590550 h 1171575"/>
                <a:gd name="connsiteX8" fmla="*/ 0 w 1714500"/>
                <a:gd name="connsiteY8" fmla="*/ 571500 h 117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4500" h="1171575">
                  <a:moveTo>
                    <a:pt x="0" y="571500"/>
                  </a:moveTo>
                  <a:lnTo>
                    <a:pt x="9525" y="1171575"/>
                  </a:lnTo>
                  <a:lnTo>
                    <a:pt x="1714500" y="1171575"/>
                  </a:lnTo>
                  <a:lnTo>
                    <a:pt x="1695450" y="152400"/>
                  </a:lnTo>
                  <a:lnTo>
                    <a:pt x="1162050" y="142875"/>
                  </a:lnTo>
                  <a:lnTo>
                    <a:pt x="1162050" y="0"/>
                  </a:lnTo>
                  <a:lnTo>
                    <a:pt x="533400" y="228600"/>
                  </a:lnTo>
                  <a:lnTo>
                    <a:pt x="542925" y="59055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1737521" y="5326062"/>
              <a:ext cx="1719072" cy="18033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7630319" y="2565070"/>
            <a:ext cx="1715562" cy="2887992"/>
            <a:chOff x="7630319" y="2565070"/>
            <a:chExt cx="1715562" cy="2887992"/>
          </a:xfrm>
        </p:grpSpPr>
        <p:sp>
          <p:nvSpPr>
            <p:cNvPr id="19" name="Freeform 18"/>
            <p:cNvSpPr/>
            <p:nvPr/>
          </p:nvSpPr>
          <p:spPr bwMode="auto">
            <a:xfrm>
              <a:off x="7635834" y="2565070"/>
              <a:ext cx="1710047" cy="1377538"/>
            </a:xfrm>
            <a:custGeom>
              <a:avLst/>
              <a:gdLst>
                <a:gd name="connsiteX0" fmla="*/ 0 w 1710047"/>
                <a:gd name="connsiteY0" fmla="*/ 1377538 h 1377538"/>
                <a:gd name="connsiteX1" fmla="*/ 0 w 1710047"/>
                <a:gd name="connsiteY1" fmla="*/ 641268 h 1377538"/>
                <a:gd name="connsiteX2" fmla="*/ 558140 w 1710047"/>
                <a:gd name="connsiteY2" fmla="*/ 415636 h 1377538"/>
                <a:gd name="connsiteX3" fmla="*/ 593766 w 1710047"/>
                <a:gd name="connsiteY3" fmla="*/ 522514 h 1377538"/>
                <a:gd name="connsiteX4" fmla="*/ 1128156 w 1710047"/>
                <a:gd name="connsiteY4" fmla="*/ 534390 h 1377538"/>
                <a:gd name="connsiteX5" fmla="*/ 1116280 w 1710047"/>
                <a:gd name="connsiteY5" fmla="*/ 213756 h 1377538"/>
                <a:gd name="connsiteX6" fmla="*/ 1698171 w 1710047"/>
                <a:gd name="connsiteY6" fmla="*/ 0 h 1377538"/>
                <a:gd name="connsiteX7" fmla="*/ 1710047 w 1710047"/>
                <a:gd name="connsiteY7" fmla="*/ 1365662 h 1377538"/>
                <a:gd name="connsiteX8" fmla="*/ 0 w 1710047"/>
                <a:gd name="connsiteY8" fmla="*/ 1377538 h 1377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0047" h="1377538">
                  <a:moveTo>
                    <a:pt x="0" y="1377538"/>
                  </a:moveTo>
                  <a:lnTo>
                    <a:pt x="0" y="641268"/>
                  </a:lnTo>
                  <a:lnTo>
                    <a:pt x="558140" y="415636"/>
                  </a:lnTo>
                  <a:lnTo>
                    <a:pt x="593766" y="522514"/>
                  </a:lnTo>
                  <a:lnTo>
                    <a:pt x="1128156" y="534390"/>
                  </a:lnTo>
                  <a:lnTo>
                    <a:pt x="1116280" y="213756"/>
                  </a:lnTo>
                  <a:lnTo>
                    <a:pt x="1698171" y="0"/>
                  </a:lnTo>
                  <a:lnTo>
                    <a:pt x="1710047" y="1365662"/>
                  </a:lnTo>
                  <a:lnTo>
                    <a:pt x="0" y="1377538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7630319" y="3852862"/>
              <a:ext cx="1709928" cy="160020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2" name="Rectangle 21"/>
          <p:cNvSpPr/>
          <p:nvPr/>
        </p:nvSpPr>
        <p:spPr bwMode="auto">
          <a:xfrm>
            <a:off x="8228044" y="2850387"/>
            <a:ext cx="533400" cy="304800"/>
          </a:xfrm>
          <a:prstGeom prst="rect">
            <a:avLst/>
          </a:prstGeom>
          <a:solidFill>
            <a:srgbClr val="FF99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Freeform 22"/>
          <p:cNvSpPr/>
          <p:nvPr/>
        </p:nvSpPr>
        <p:spPr bwMode="auto">
          <a:xfrm>
            <a:off x="6958940" y="1840675"/>
            <a:ext cx="3135086" cy="1520042"/>
          </a:xfrm>
          <a:custGeom>
            <a:avLst/>
            <a:gdLst>
              <a:gd name="connsiteX0" fmla="*/ 261257 w 3135086"/>
              <a:gd name="connsiteY0" fmla="*/ 1520042 h 1520042"/>
              <a:gd name="connsiteX1" fmla="*/ 201881 w 3135086"/>
              <a:gd name="connsiteY1" fmla="*/ 1365663 h 1520042"/>
              <a:gd name="connsiteX2" fmla="*/ 308759 w 3135086"/>
              <a:gd name="connsiteY2" fmla="*/ 1318161 h 1520042"/>
              <a:gd name="connsiteX3" fmla="*/ 0 w 3135086"/>
              <a:gd name="connsiteY3" fmla="*/ 1294411 h 1520042"/>
              <a:gd name="connsiteX4" fmla="*/ 130629 w 3135086"/>
              <a:gd name="connsiteY4" fmla="*/ 1211283 h 1520042"/>
              <a:gd name="connsiteX5" fmla="*/ 47502 w 3135086"/>
              <a:gd name="connsiteY5" fmla="*/ 1068780 h 1520042"/>
              <a:gd name="connsiteX6" fmla="*/ 2873829 w 3135086"/>
              <a:gd name="connsiteY6" fmla="*/ 0 h 1520042"/>
              <a:gd name="connsiteX7" fmla="*/ 2945081 w 3135086"/>
              <a:gd name="connsiteY7" fmla="*/ 190006 h 1520042"/>
              <a:gd name="connsiteX8" fmla="*/ 2850078 w 3135086"/>
              <a:gd name="connsiteY8" fmla="*/ 261257 h 1520042"/>
              <a:gd name="connsiteX9" fmla="*/ 3135086 w 3135086"/>
              <a:gd name="connsiteY9" fmla="*/ 273133 h 1520042"/>
              <a:gd name="connsiteX10" fmla="*/ 3040083 w 3135086"/>
              <a:gd name="connsiteY10" fmla="*/ 332509 h 1520042"/>
              <a:gd name="connsiteX11" fmla="*/ 3063834 w 3135086"/>
              <a:gd name="connsiteY11" fmla="*/ 463138 h 1520042"/>
              <a:gd name="connsiteX12" fmla="*/ 1662546 w 3135086"/>
              <a:gd name="connsiteY12" fmla="*/ 997528 h 1520042"/>
              <a:gd name="connsiteX13" fmla="*/ 1270660 w 3135086"/>
              <a:gd name="connsiteY13" fmla="*/ 997528 h 1520042"/>
              <a:gd name="connsiteX14" fmla="*/ 1282535 w 3135086"/>
              <a:gd name="connsiteY14" fmla="*/ 1140031 h 1520042"/>
              <a:gd name="connsiteX15" fmla="*/ 261257 w 3135086"/>
              <a:gd name="connsiteY15" fmla="*/ 1520042 h 152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35086" h="1520042">
                <a:moveTo>
                  <a:pt x="261257" y="1520042"/>
                </a:moveTo>
                <a:lnTo>
                  <a:pt x="201881" y="1365663"/>
                </a:lnTo>
                <a:lnTo>
                  <a:pt x="308759" y="1318161"/>
                </a:lnTo>
                <a:lnTo>
                  <a:pt x="0" y="1294411"/>
                </a:lnTo>
                <a:lnTo>
                  <a:pt x="130629" y="1211283"/>
                </a:lnTo>
                <a:lnTo>
                  <a:pt x="47502" y="1068780"/>
                </a:lnTo>
                <a:lnTo>
                  <a:pt x="2873829" y="0"/>
                </a:lnTo>
                <a:lnTo>
                  <a:pt x="2945081" y="190006"/>
                </a:lnTo>
                <a:lnTo>
                  <a:pt x="2850078" y="261257"/>
                </a:lnTo>
                <a:lnTo>
                  <a:pt x="3135086" y="273133"/>
                </a:lnTo>
                <a:lnTo>
                  <a:pt x="3040083" y="332509"/>
                </a:lnTo>
                <a:lnTo>
                  <a:pt x="3063834" y="463138"/>
                </a:lnTo>
                <a:lnTo>
                  <a:pt x="1662546" y="997528"/>
                </a:lnTo>
                <a:lnTo>
                  <a:pt x="1270660" y="997528"/>
                </a:lnTo>
                <a:lnTo>
                  <a:pt x="1282535" y="1140031"/>
                </a:lnTo>
                <a:lnTo>
                  <a:pt x="261257" y="1520042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Freeform 23"/>
          <p:cNvSpPr/>
          <p:nvPr/>
        </p:nvSpPr>
        <p:spPr bwMode="auto">
          <a:xfrm>
            <a:off x="7434528" y="1414462"/>
            <a:ext cx="238125" cy="923925"/>
          </a:xfrm>
          <a:custGeom>
            <a:avLst/>
            <a:gdLst>
              <a:gd name="connsiteX0" fmla="*/ 0 w 238125"/>
              <a:gd name="connsiteY0" fmla="*/ 0 h 923925"/>
              <a:gd name="connsiteX1" fmla="*/ 114300 w 238125"/>
              <a:gd name="connsiteY1" fmla="*/ 923925 h 923925"/>
              <a:gd name="connsiteX2" fmla="*/ 228600 w 238125"/>
              <a:gd name="connsiteY2" fmla="*/ 923925 h 923925"/>
              <a:gd name="connsiteX3" fmla="*/ 238125 w 238125"/>
              <a:gd name="connsiteY3" fmla="*/ 0 h 923925"/>
              <a:gd name="connsiteX4" fmla="*/ 0 w 238125"/>
              <a:gd name="connsiteY4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25" h="923925">
                <a:moveTo>
                  <a:pt x="0" y="0"/>
                </a:moveTo>
                <a:lnTo>
                  <a:pt x="114300" y="923925"/>
                </a:lnTo>
                <a:lnTo>
                  <a:pt x="228600" y="923925"/>
                </a:lnTo>
                <a:lnTo>
                  <a:pt x="238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Freeform 25"/>
          <p:cNvSpPr/>
          <p:nvPr/>
        </p:nvSpPr>
        <p:spPr bwMode="auto">
          <a:xfrm>
            <a:off x="9354344" y="1871662"/>
            <a:ext cx="257175" cy="933450"/>
          </a:xfrm>
          <a:custGeom>
            <a:avLst/>
            <a:gdLst>
              <a:gd name="connsiteX0" fmla="*/ 0 w 257175"/>
              <a:gd name="connsiteY0" fmla="*/ 0 h 933450"/>
              <a:gd name="connsiteX1" fmla="*/ 28575 w 257175"/>
              <a:gd name="connsiteY1" fmla="*/ 933450 h 933450"/>
              <a:gd name="connsiteX2" fmla="*/ 142875 w 257175"/>
              <a:gd name="connsiteY2" fmla="*/ 923925 h 933450"/>
              <a:gd name="connsiteX3" fmla="*/ 257175 w 257175"/>
              <a:gd name="connsiteY3" fmla="*/ 0 h 933450"/>
              <a:gd name="connsiteX4" fmla="*/ 0 w 257175"/>
              <a:gd name="connsiteY4" fmla="*/ 0 h 93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175" h="933450">
                <a:moveTo>
                  <a:pt x="0" y="0"/>
                </a:moveTo>
                <a:lnTo>
                  <a:pt x="28575" y="933450"/>
                </a:lnTo>
                <a:lnTo>
                  <a:pt x="142875" y="923925"/>
                </a:lnTo>
                <a:lnTo>
                  <a:pt x="257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54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8 -0.03427 L -0.00148 0.1574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4" grpId="1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440" y="0"/>
            <a:ext cx="8865032" cy="1456840"/>
          </a:xfrm>
        </p:spPr>
        <p:txBody>
          <a:bodyPr>
            <a:no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Random Rubble Masonry with</a:t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 GI wire Mesh</a:t>
            </a:r>
            <a:b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2" t="3295" r="2298" b="6979"/>
          <a:stretch/>
        </p:blipFill>
        <p:spPr>
          <a:xfrm>
            <a:off x="0" y="2765816"/>
            <a:ext cx="6750565" cy="475106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10007" y="1286360"/>
            <a:ext cx="67262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hot dipped galvanized welded wire Shall be used to ensure the Corrosion Protection</a:t>
            </a:r>
          </a:p>
          <a:p>
            <a:pPr>
              <a:buSzPct val="145000"/>
            </a:pPr>
            <a:endParaRPr lang="en-US" sz="25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SzPct val="145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wire mesh shall not be less than 50  Micron</a:t>
            </a:r>
            <a:endParaRPr lang="en-US" sz="25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63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23279"/>
            <a:ext cx="10688638" cy="55919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with the low compliance rate</a:t>
            </a:r>
          </a:p>
          <a:p>
            <a:pPr marL="0" indent="0" algn="ctr">
              <a:buNone/>
            </a:pPr>
            <a:r>
              <a:rPr lang="en-US" sz="5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</a:t>
            </a:r>
          </a:p>
          <a:p>
            <a:pPr marL="0" indent="0" algn="ctr">
              <a:buNone/>
            </a:pPr>
            <a:r>
              <a:rPr lang="en-US" sz="5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still Considered it as a good Initiation !</a:t>
            </a:r>
            <a:endParaRPr lang="en-US" sz="5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2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75" y="20117"/>
            <a:ext cx="8818126" cy="638945"/>
          </a:xfrm>
        </p:spPr>
        <p:txBody>
          <a:bodyPr>
            <a:normAutofit/>
          </a:bodyPr>
          <a:lstStyle/>
          <a:p>
            <a:pPr algn="ctr"/>
            <a:r>
              <a:rPr lang="en-US" sz="35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Tipling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, </a:t>
            </a:r>
            <a:r>
              <a:rPr lang="en-US" sz="35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Dhading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21" y="915889"/>
            <a:ext cx="7802880" cy="585216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3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23987"/>
            <a:ext cx="8805855" cy="824924"/>
          </a:xfrm>
        </p:spPr>
        <p:txBody>
          <a:bodyPr>
            <a:normAutofit/>
          </a:bodyPr>
          <a:lstStyle/>
          <a:p>
            <a:pPr algn="ctr"/>
            <a:r>
              <a:rPr lang="en-US" sz="35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Ramche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, Rasuwa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31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596" y="1932606"/>
            <a:ext cx="7274898" cy="5032375"/>
          </a:xfrm>
        </p:spPr>
      </p:pic>
    </p:spTree>
    <p:extLst>
      <p:ext uri="{BB962C8B-B14F-4D97-AF65-F5344CB8AC3E}">
        <p14:creationId xmlns:p14="http://schemas.microsoft.com/office/powerpoint/2010/main" val="251420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431" y="170481"/>
            <a:ext cx="8843663" cy="638945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Sertung</a:t>
            </a:r>
            <a:r>
              <a:rPr lang="en-US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, </a:t>
            </a:r>
            <a:r>
              <a:rPr lang="en-US" sz="35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Dhading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616" y="1591643"/>
            <a:ext cx="6709833" cy="50323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912" y="0"/>
            <a:ext cx="8657084" cy="708873"/>
          </a:xfrm>
        </p:spPr>
        <p:txBody>
          <a:bodyPr>
            <a:normAutofit/>
          </a:bodyPr>
          <a:lstStyle/>
          <a:p>
            <a:pPr algn="ctr"/>
            <a:r>
              <a:rPr lang="en-US" sz="35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Dhading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36" y="1507885"/>
            <a:ext cx="6827520" cy="512064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8"/>
          <a:stretch/>
        </p:blipFill>
        <p:spPr>
          <a:xfrm>
            <a:off x="-11365" y="0"/>
            <a:ext cx="10700003" cy="77724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91299" y="180036"/>
            <a:ext cx="102226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10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41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RRP Presentation Template" id="{09AD6156-CD55-44D2-85C7-41D008B04BA5}" vid="{2704C425-EB35-4A02-ABC7-D6E6E46F0F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4447</TotalTime>
  <Words>619</Words>
  <Application>Microsoft Office PowerPoint</Application>
  <PresentationFormat>Custom</PresentationFormat>
  <Paragraphs>144</Paragraphs>
  <Slides>34</Slides>
  <Notes>3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Retrospect</vt:lpstr>
      <vt:lpstr>PowerPoint Presentation</vt:lpstr>
      <vt:lpstr>Why Dry Stone Masonry ?</vt:lpstr>
      <vt:lpstr>Dry Stone Building Practices</vt:lpstr>
      <vt:lpstr>Dry Stone Building Practices</vt:lpstr>
      <vt:lpstr>Dry Stone Building Practices</vt:lpstr>
      <vt:lpstr>Dry Stone Building Practices</vt:lpstr>
      <vt:lpstr>Dry Stone Building Practices</vt:lpstr>
      <vt:lpstr>Dry Stone Building Practices</vt:lpstr>
      <vt:lpstr>Dry Stone Building Practices</vt:lpstr>
      <vt:lpstr>Dry Stone Building Practices</vt:lpstr>
      <vt:lpstr>Dry Stone Construction-Deficiencies</vt:lpstr>
      <vt:lpstr>Dry Stone Construction-Deficiencies</vt:lpstr>
      <vt:lpstr>Dry Stone Construction-Deficiencies</vt:lpstr>
      <vt:lpstr>Type Design On Dry Stone Masonry</vt:lpstr>
      <vt:lpstr>Dressed Stone Masonry </vt:lpstr>
      <vt:lpstr>Dressed Stone Masonry </vt:lpstr>
      <vt:lpstr>Dressed Stone Masonry </vt:lpstr>
      <vt:lpstr>Dressed Stone Masonry </vt:lpstr>
      <vt:lpstr>Vertical Member Detailing</vt:lpstr>
      <vt:lpstr>Roof Detailing</vt:lpstr>
      <vt:lpstr>Wooden Key </vt:lpstr>
      <vt:lpstr>Random Rubble Masonry with  GI wire Mesh </vt:lpstr>
      <vt:lpstr>Random Rubble Masonry with  GI wire Mesh </vt:lpstr>
      <vt:lpstr>Random Rubble Masonry with  GI wire Mesh </vt:lpstr>
      <vt:lpstr>Random Rubble Masonry with  GI wire Mesh </vt:lpstr>
      <vt:lpstr>Roof Detailing</vt:lpstr>
      <vt:lpstr>Wooden Key </vt:lpstr>
      <vt:lpstr>Random Rubble Masonry with  GI wire Mesh </vt:lpstr>
      <vt:lpstr>PowerPoint Presentation</vt:lpstr>
      <vt:lpstr>Tipling, Dhading</vt:lpstr>
      <vt:lpstr>Ramche, Rasuwa</vt:lpstr>
      <vt:lpstr>Sertung, Dhading</vt:lpstr>
      <vt:lpstr>Dhading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Team Meeting</dc:title>
  <dc:creator>Vikas Gupta</dc:creator>
  <cp:lastModifiedBy>Rijan Gajurel</cp:lastModifiedBy>
  <cp:revision>317</cp:revision>
  <dcterms:created xsi:type="dcterms:W3CDTF">2017-06-12T04:26:59Z</dcterms:created>
  <dcterms:modified xsi:type="dcterms:W3CDTF">2017-09-04T11:23:27Z</dcterms:modified>
</cp:coreProperties>
</file>