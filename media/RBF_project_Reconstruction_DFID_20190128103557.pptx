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4v" ContentType="video/unknown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10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1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12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13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5" r:id="rId1"/>
    <p:sldMasterId id="2147483663" r:id="rId2"/>
    <p:sldMasterId id="2147483666" r:id="rId3"/>
    <p:sldMasterId id="2147483660" r:id="rId4"/>
    <p:sldMasterId id="2147483656" r:id="rId5"/>
    <p:sldMasterId id="2147483661" r:id="rId6"/>
    <p:sldMasterId id="2147483669" r:id="rId7"/>
    <p:sldMasterId id="2147483662" r:id="rId8"/>
    <p:sldMasterId id="2147483658" r:id="rId9"/>
    <p:sldMasterId id="2147483657" r:id="rId10"/>
    <p:sldMasterId id="2147483659" r:id="rId11"/>
    <p:sldMasterId id="2147483664" r:id="rId12"/>
    <p:sldMasterId id="2147483667" r:id="rId13"/>
    <p:sldMasterId id="2147483668" r:id="rId14"/>
  </p:sldMasterIdLst>
  <p:notesMasterIdLst>
    <p:notesMasterId r:id="rId40"/>
  </p:notesMasterIdLst>
  <p:handoutMasterIdLst>
    <p:handoutMasterId r:id="rId41"/>
  </p:handoutMasterIdLst>
  <p:sldIdLst>
    <p:sldId id="328" r:id="rId15"/>
    <p:sldId id="680" r:id="rId16"/>
    <p:sldId id="619" r:id="rId17"/>
    <p:sldId id="594" r:id="rId18"/>
    <p:sldId id="663" r:id="rId19"/>
    <p:sldId id="674" r:id="rId20"/>
    <p:sldId id="605" r:id="rId21"/>
    <p:sldId id="675" r:id="rId22"/>
    <p:sldId id="670" r:id="rId23"/>
    <p:sldId id="679" r:id="rId24"/>
    <p:sldId id="673" r:id="rId25"/>
    <p:sldId id="666" r:id="rId26"/>
    <p:sldId id="628" r:id="rId27"/>
    <p:sldId id="676" r:id="rId28"/>
    <p:sldId id="661" r:id="rId29"/>
    <p:sldId id="677" r:id="rId30"/>
    <p:sldId id="678" r:id="rId31"/>
    <p:sldId id="639" r:id="rId32"/>
    <p:sldId id="669" r:id="rId33"/>
    <p:sldId id="662" r:id="rId34"/>
    <p:sldId id="658" r:id="rId35"/>
    <p:sldId id="659" r:id="rId36"/>
    <p:sldId id="682" r:id="rId37"/>
    <p:sldId id="681" r:id="rId38"/>
    <p:sldId id="683" r:id="rId39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ooja Sharma" initials="P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CCFF"/>
    <a:srgbClr val="FF9933"/>
    <a:srgbClr val="F8A6DB"/>
    <a:srgbClr val="96D045"/>
    <a:srgbClr val="FF9900"/>
    <a:srgbClr val="D674B7"/>
    <a:srgbClr val="FC1921"/>
    <a:srgbClr val="E2014D"/>
    <a:srgbClr val="FFD600"/>
    <a:srgbClr val="6AC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27" autoAdjust="0"/>
    <p:restoredTop sz="90053" autoAdjust="0"/>
  </p:normalViewPr>
  <p:slideViewPr>
    <p:cSldViewPr>
      <p:cViewPr>
        <p:scale>
          <a:sx n="60" d="100"/>
          <a:sy n="60" d="100"/>
        </p:scale>
        <p:origin x="-1560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888B7D-56C2-426C-B07D-F94BF6019F60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DC9562B5-975F-4FBE-B375-00B195AC6422}">
      <dgm:prSet phldrT="[Text]" custT="1"/>
      <dgm:spPr>
        <a:noFill/>
      </dgm:spPr>
      <dgm:t>
        <a:bodyPr/>
        <a:lstStyle/>
        <a:p>
          <a:r>
            <a:rPr lang="en-US" sz="2800" b="1" dirty="0" smtClean="0">
              <a:solidFill>
                <a:schemeClr val="tx2"/>
              </a:solidFill>
            </a:rPr>
            <a:t>RBF Incentives</a:t>
          </a:r>
          <a:endParaRPr lang="en-GB" sz="2800" b="1" dirty="0">
            <a:solidFill>
              <a:schemeClr val="tx2"/>
            </a:solidFill>
          </a:endParaRPr>
        </a:p>
      </dgm:t>
    </dgm:pt>
    <dgm:pt modelId="{967B2781-295C-44D6-8BE9-96C535630EFE}" type="parTrans" cxnId="{28B7ADC6-8FDD-403A-86D8-AC78588C1603}">
      <dgm:prSet/>
      <dgm:spPr/>
      <dgm:t>
        <a:bodyPr/>
        <a:lstStyle/>
        <a:p>
          <a:endParaRPr lang="en-GB"/>
        </a:p>
      </dgm:t>
    </dgm:pt>
    <dgm:pt modelId="{CE6DDE7E-DA9F-48F1-8556-362CFB3D128A}" type="sibTrans" cxnId="{28B7ADC6-8FDD-403A-86D8-AC78588C1603}">
      <dgm:prSet/>
      <dgm:spPr/>
      <dgm:t>
        <a:bodyPr/>
        <a:lstStyle/>
        <a:p>
          <a:endParaRPr lang="en-GB"/>
        </a:p>
      </dgm:t>
    </dgm:pt>
    <dgm:pt modelId="{DB633ECA-9C29-47B7-B4DB-EB5D64A4066B}">
      <dgm:prSet phldrT="[Text]"/>
      <dgm:spPr/>
      <dgm:t>
        <a:bodyPr/>
        <a:lstStyle/>
        <a:p>
          <a:r>
            <a:rPr lang="en-US" b="1" dirty="0" err="1" smtClean="0"/>
            <a:t>Cookstoves</a:t>
          </a:r>
          <a:r>
            <a:rPr lang="en-US" b="1" dirty="0" smtClean="0"/>
            <a:t> Distributors</a:t>
          </a:r>
          <a:endParaRPr lang="en-GB" b="1" dirty="0"/>
        </a:p>
      </dgm:t>
    </dgm:pt>
    <dgm:pt modelId="{263E1D51-4AAB-4B0C-8BCD-C7A3842DC2A9}" type="parTrans" cxnId="{00D0F7F1-A10B-4EF1-AD9F-7AE6DF6A2059}">
      <dgm:prSet/>
      <dgm:spPr>
        <a:ln>
          <a:tailEnd type="triangle"/>
        </a:ln>
      </dgm:spPr>
      <dgm:t>
        <a:bodyPr/>
        <a:lstStyle/>
        <a:p>
          <a:endParaRPr lang="en-GB"/>
        </a:p>
      </dgm:t>
    </dgm:pt>
    <dgm:pt modelId="{2B2D4622-AF19-4935-A342-E985701B9D76}" type="sibTrans" cxnId="{00D0F7F1-A10B-4EF1-AD9F-7AE6DF6A2059}">
      <dgm:prSet/>
      <dgm:spPr/>
      <dgm:t>
        <a:bodyPr/>
        <a:lstStyle/>
        <a:p>
          <a:endParaRPr lang="en-GB"/>
        </a:p>
      </dgm:t>
    </dgm:pt>
    <dgm:pt modelId="{0711A884-6A4C-42D3-B064-A347EE9CC9F8}">
      <dgm:prSet phldrT="[Text]"/>
      <dgm:spPr/>
      <dgm:t>
        <a:bodyPr/>
        <a:lstStyle/>
        <a:p>
          <a:r>
            <a:rPr lang="en-US" b="1" dirty="0" smtClean="0"/>
            <a:t>Cooperatives/MFIs</a:t>
          </a:r>
          <a:endParaRPr lang="en-GB" b="1" dirty="0"/>
        </a:p>
      </dgm:t>
    </dgm:pt>
    <dgm:pt modelId="{D28D828D-3C95-4AA7-83C5-5D2251ECE023}" type="parTrans" cxnId="{254A2282-3893-4A94-B22E-9A1AAB97C149}">
      <dgm:prSet/>
      <dgm:spPr>
        <a:ln>
          <a:tailEnd type="triangle"/>
        </a:ln>
      </dgm:spPr>
      <dgm:t>
        <a:bodyPr/>
        <a:lstStyle/>
        <a:p>
          <a:endParaRPr lang="en-GB"/>
        </a:p>
      </dgm:t>
    </dgm:pt>
    <dgm:pt modelId="{E7534D14-8A11-4813-A0DF-BF1160250175}" type="sibTrans" cxnId="{254A2282-3893-4A94-B22E-9A1AAB97C149}">
      <dgm:prSet/>
      <dgm:spPr/>
      <dgm:t>
        <a:bodyPr/>
        <a:lstStyle/>
        <a:p>
          <a:endParaRPr lang="en-GB"/>
        </a:p>
      </dgm:t>
    </dgm:pt>
    <dgm:pt modelId="{07C8BF37-F50A-4DA5-89AC-38F61BBD75C6}">
      <dgm:prSet/>
      <dgm:spPr>
        <a:solidFill>
          <a:schemeClr val="accent1"/>
        </a:solidFill>
      </dgm:spPr>
      <dgm:t>
        <a:bodyPr/>
        <a:lstStyle/>
        <a:p>
          <a:r>
            <a:rPr lang="en-US" dirty="0" smtClean="0">
              <a:solidFill>
                <a:schemeClr val="tx2"/>
              </a:solidFill>
            </a:rPr>
            <a:t>Incentives for up-front investment and taking risk </a:t>
          </a:r>
          <a:endParaRPr lang="en-GB" dirty="0">
            <a:solidFill>
              <a:schemeClr val="tx2"/>
            </a:solidFill>
          </a:endParaRPr>
        </a:p>
      </dgm:t>
    </dgm:pt>
    <dgm:pt modelId="{8CA5D1F4-428A-4517-A79A-E80A38834354}" type="parTrans" cxnId="{1EE278C4-FB45-4932-91EC-57ED6F550B14}">
      <dgm:prSet/>
      <dgm:spPr/>
      <dgm:t>
        <a:bodyPr/>
        <a:lstStyle/>
        <a:p>
          <a:endParaRPr lang="en-GB"/>
        </a:p>
      </dgm:t>
    </dgm:pt>
    <dgm:pt modelId="{ECD5CAE2-BC3B-4520-A462-A792141AF1BC}" type="sibTrans" cxnId="{1EE278C4-FB45-4932-91EC-57ED6F550B14}">
      <dgm:prSet/>
      <dgm:spPr/>
      <dgm:t>
        <a:bodyPr/>
        <a:lstStyle/>
        <a:p>
          <a:endParaRPr lang="en-GB"/>
        </a:p>
      </dgm:t>
    </dgm:pt>
    <dgm:pt modelId="{FB2F2203-C57D-469D-8ACC-EE4E76B9EAB6}">
      <dgm:prSet custT="1"/>
      <dgm:spPr>
        <a:solidFill>
          <a:schemeClr val="accent1"/>
        </a:solidFill>
      </dgm:spPr>
      <dgm:t>
        <a:bodyPr/>
        <a:lstStyle/>
        <a:p>
          <a:r>
            <a:rPr lang="en-US" sz="2400" b="1" dirty="0" smtClean="0">
              <a:solidFill>
                <a:schemeClr val="tx2"/>
              </a:solidFill>
            </a:rPr>
            <a:t>Discount to users </a:t>
          </a:r>
        </a:p>
        <a:p>
          <a:r>
            <a:rPr lang="en-US" sz="2400" b="1" dirty="0" smtClean="0">
              <a:solidFill>
                <a:schemeClr val="tx2"/>
              </a:solidFill>
            </a:rPr>
            <a:t>(40% of </a:t>
          </a:r>
          <a:r>
            <a:rPr lang="en-US" sz="2400" b="1" dirty="0" err="1" smtClean="0">
              <a:solidFill>
                <a:schemeClr val="tx2"/>
              </a:solidFill>
            </a:rPr>
            <a:t>MRP</a:t>
          </a:r>
          <a:r>
            <a:rPr lang="en-US" sz="2400" b="1" dirty="0" smtClean="0">
              <a:solidFill>
                <a:schemeClr val="tx2"/>
              </a:solidFill>
            </a:rPr>
            <a:t>)</a:t>
          </a:r>
          <a:endParaRPr lang="en-GB" sz="2400" b="1" dirty="0">
            <a:solidFill>
              <a:schemeClr val="tx2"/>
            </a:solidFill>
          </a:endParaRPr>
        </a:p>
      </dgm:t>
    </dgm:pt>
    <dgm:pt modelId="{3B1B5734-D6D7-4516-8150-9C6B4146A77C}" type="parTrans" cxnId="{8B757466-3FF0-4984-A14F-7F3849E53B9D}">
      <dgm:prSet/>
      <dgm:spPr/>
      <dgm:t>
        <a:bodyPr/>
        <a:lstStyle/>
        <a:p>
          <a:endParaRPr lang="en-GB"/>
        </a:p>
      </dgm:t>
    </dgm:pt>
    <dgm:pt modelId="{650E26C6-B2F4-4E05-AADF-56199561C1E7}" type="sibTrans" cxnId="{8B757466-3FF0-4984-A14F-7F3849E53B9D}">
      <dgm:prSet/>
      <dgm:spPr/>
      <dgm:t>
        <a:bodyPr/>
        <a:lstStyle/>
        <a:p>
          <a:endParaRPr lang="en-GB"/>
        </a:p>
      </dgm:t>
    </dgm:pt>
    <dgm:pt modelId="{61ADD773-3163-4347-BFC8-9A6FBC5C4B42}">
      <dgm:prSet/>
      <dgm:spPr>
        <a:solidFill>
          <a:schemeClr val="accent1"/>
        </a:solidFill>
      </dgm:spPr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Management, documentation reporting and marketing cost </a:t>
          </a:r>
        </a:p>
        <a:p>
          <a:r>
            <a:rPr lang="en-US" b="1" dirty="0" smtClean="0">
              <a:solidFill>
                <a:schemeClr val="tx2"/>
              </a:solidFill>
            </a:rPr>
            <a:t>(</a:t>
          </a:r>
          <a:r>
            <a:rPr lang="en-US" b="1" dirty="0" err="1" smtClean="0">
              <a:solidFill>
                <a:schemeClr val="tx2"/>
              </a:solidFill>
            </a:rPr>
            <a:t>Rs</a:t>
          </a:r>
          <a:r>
            <a:rPr lang="en-US" b="1" dirty="0" smtClean="0">
              <a:solidFill>
                <a:schemeClr val="tx2"/>
              </a:solidFill>
            </a:rPr>
            <a:t>. 500/stove)  </a:t>
          </a:r>
          <a:endParaRPr lang="en-GB" b="1" dirty="0">
            <a:solidFill>
              <a:schemeClr val="tx2"/>
            </a:solidFill>
          </a:endParaRPr>
        </a:p>
      </dgm:t>
    </dgm:pt>
    <dgm:pt modelId="{434705C5-9B6D-4797-B60E-5C8C1023F234}" type="parTrans" cxnId="{7A471C4B-0A84-4A85-9B91-81628C1744A9}">
      <dgm:prSet/>
      <dgm:spPr/>
      <dgm:t>
        <a:bodyPr/>
        <a:lstStyle/>
        <a:p>
          <a:endParaRPr lang="en-GB"/>
        </a:p>
      </dgm:t>
    </dgm:pt>
    <dgm:pt modelId="{114296EA-C079-4ECB-BF7B-32661CD20FBD}" type="sibTrans" cxnId="{7A471C4B-0A84-4A85-9B91-81628C1744A9}">
      <dgm:prSet/>
      <dgm:spPr/>
      <dgm:t>
        <a:bodyPr/>
        <a:lstStyle/>
        <a:p>
          <a:endParaRPr lang="en-GB"/>
        </a:p>
      </dgm:t>
    </dgm:pt>
    <dgm:pt modelId="{CDDCAF4A-A319-471A-B5E4-95E0213F484F}">
      <dgm:prSet custT="1"/>
      <dgm:spPr>
        <a:solidFill>
          <a:schemeClr val="accent1"/>
        </a:solidFill>
      </dgm:spPr>
      <dgm:t>
        <a:bodyPr/>
        <a:lstStyle/>
        <a:p>
          <a:r>
            <a:rPr lang="en-US" sz="2000" b="1" dirty="0" smtClean="0">
              <a:solidFill>
                <a:schemeClr val="tx2"/>
              </a:solidFill>
            </a:rPr>
            <a:t>Marketing &amp; documentation cost (</a:t>
          </a:r>
          <a:r>
            <a:rPr lang="en-US" sz="2000" b="1" dirty="0" err="1" smtClean="0">
              <a:solidFill>
                <a:schemeClr val="tx2"/>
              </a:solidFill>
            </a:rPr>
            <a:t>Rs.400</a:t>
          </a:r>
          <a:r>
            <a:rPr lang="en-US" sz="2000" b="1" dirty="0" smtClean="0">
              <a:solidFill>
                <a:schemeClr val="tx2"/>
              </a:solidFill>
            </a:rPr>
            <a:t>/stove)</a:t>
          </a:r>
          <a:endParaRPr lang="en-GB" sz="2000" b="1" dirty="0">
            <a:solidFill>
              <a:schemeClr val="tx2"/>
            </a:solidFill>
          </a:endParaRPr>
        </a:p>
      </dgm:t>
    </dgm:pt>
    <dgm:pt modelId="{AEF46E10-42D6-41B1-9A68-CB356ECE37E4}" type="parTrans" cxnId="{AA80E09C-03E5-4E89-A0CC-8E5EB8CCCE00}">
      <dgm:prSet/>
      <dgm:spPr/>
      <dgm:t>
        <a:bodyPr/>
        <a:lstStyle/>
        <a:p>
          <a:endParaRPr lang="en-GB"/>
        </a:p>
      </dgm:t>
    </dgm:pt>
    <dgm:pt modelId="{E19DD3CB-281F-41D9-8D9A-8DE2A2D66D44}" type="sibTrans" cxnId="{AA80E09C-03E5-4E89-A0CC-8E5EB8CCCE00}">
      <dgm:prSet/>
      <dgm:spPr/>
      <dgm:t>
        <a:bodyPr/>
        <a:lstStyle/>
        <a:p>
          <a:endParaRPr lang="en-GB"/>
        </a:p>
      </dgm:t>
    </dgm:pt>
    <dgm:pt modelId="{5212708B-B3CE-42A9-9A0F-91A46237AD86}">
      <dgm:prSet/>
      <dgm:spPr>
        <a:solidFill>
          <a:schemeClr val="accent1"/>
        </a:solidFill>
      </dgm:spPr>
      <dgm:t>
        <a:bodyPr/>
        <a:lstStyle/>
        <a:p>
          <a:r>
            <a:rPr lang="en-US" dirty="0" smtClean="0">
              <a:solidFill>
                <a:schemeClr val="tx2"/>
              </a:solidFill>
            </a:rPr>
            <a:t>Incentives for creating credit- lines for </a:t>
          </a:r>
          <a:r>
            <a:rPr lang="en-US" dirty="0" err="1" smtClean="0">
              <a:solidFill>
                <a:schemeClr val="tx2"/>
              </a:solidFill>
            </a:rPr>
            <a:t>cookstoves</a:t>
          </a:r>
          <a:endParaRPr lang="en-GB" dirty="0">
            <a:solidFill>
              <a:schemeClr val="tx2"/>
            </a:solidFill>
          </a:endParaRPr>
        </a:p>
      </dgm:t>
    </dgm:pt>
    <dgm:pt modelId="{B70DB382-F243-42F5-8EE0-95309908F013}" type="parTrans" cxnId="{DB10E59E-434F-417B-B967-AEE9C1894B35}">
      <dgm:prSet/>
      <dgm:spPr/>
      <dgm:t>
        <a:bodyPr/>
        <a:lstStyle/>
        <a:p>
          <a:endParaRPr lang="en-GB"/>
        </a:p>
      </dgm:t>
    </dgm:pt>
    <dgm:pt modelId="{020A0604-5BBF-40DD-B720-C5D1D5595F39}" type="sibTrans" cxnId="{DB10E59E-434F-417B-B967-AEE9C1894B35}">
      <dgm:prSet/>
      <dgm:spPr/>
      <dgm:t>
        <a:bodyPr/>
        <a:lstStyle/>
        <a:p>
          <a:endParaRPr lang="en-GB"/>
        </a:p>
      </dgm:t>
    </dgm:pt>
    <dgm:pt modelId="{DFF5F138-8F35-443A-9ECB-4EFBA9BD9E09}">
      <dgm:prSet/>
      <dgm:spPr>
        <a:solidFill>
          <a:schemeClr val="accent1"/>
        </a:solidFill>
      </dgm:spPr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Provide soft loan to borrowers </a:t>
          </a:r>
        </a:p>
        <a:p>
          <a:r>
            <a:rPr lang="en-US" b="1" dirty="0" smtClean="0">
              <a:solidFill>
                <a:schemeClr val="tx2"/>
              </a:solidFill>
            </a:rPr>
            <a:t>(50% of interest rate)</a:t>
          </a:r>
          <a:endParaRPr lang="en-GB" b="1" dirty="0">
            <a:solidFill>
              <a:schemeClr val="tx2"/>
            </a:solidFill>
          </a:endParaRPr>
        </a:p>
      </dgm:t>
    </dgm:pt>
    <dgm:pt modelId="{F23725F0-EAC3-4EDD-8B9D-169E6E23DFE5}" type="parTrans" cxnId="{ABC8CB92-80D7-4F81-85C1-83D63B0A8528}">
      <dgm:prSet/>
      <dgm:spPr/>
      <dgm:t>
        <a:bodyPr/>
        <a:lstStyle/>
        <a:p>
          <a:endParaRPr lang="en-GB"/>
        </a:p>
      </dgm:t>
    </dgm:pt>
    <dgm:pt modelId="{3DE484CE-000A-49F6-AD3A-916382F0390B}" type="sibTrans" cxnId="{ABC8CB92-80D7-4F81-85C1-83D63B0A8528}">
      <dgm:prSet/>
      <dgm:spPr/>
      <dgm:t>
        <a:bodyPr/>
        <a:lstStyle/>
        <a:p>
          <a:endParaRPr lang="en-GB"/>
        </a:p>
      </dgm:t>
    </dgm:pt>
    <dgm:pt modelId="{C396C8E6-DD98-4AE0-B388-15AE5240E4CE}" type="pres">
      <dgm:prSet presAssocID="{4A888B7D-56C2-426C-B07D-F94BF6019F6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2D82F947-906F-4E23-A14E-549D51E8F0F8}" type="pres">
      <dgm:prSet presAssocID="{DC9562B5-975F-4FBE-B375-00B195AC6422}" presName="hierRoot1" presStyleCnt="0">
        <dgm:presLayoutVars>
          <dgm:hierBranch val="init"/>
        </dgm:presLayoutVars>
      </dgm:prSet>
      <dgm:spPr/>
    </dgm:pt>
    <dgm:pt modelId="{1C4BA0D5-7C61-4A73-B1F1-F18737B66C1C}" type="pres">
      <dgm:prSet presAssocID="{DC9562B5-975F-4FBE-B375-00B195AC6422}" presName="rootComposite1" presStyleCnt="0"/>
      <dgm:spPr/>
    </dgm:pt>
    <dgm:pt modelId="{96D227ED-A6CA-43F4-BD13-7CBCAD54305A}" type="pres">
      <dgm:prSet presAssocID="{DC9562B5-975F-4FBE-B375-00B195AC6422}" presName="rootText1" presStyleLbl="node0" presStyleIdx="0" presStyleCnt="1" custScaleX="14241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81B5F3F-B7CE-4111-98A6-BBECB2FC80DD}" type="pres">
      <dgm:prSet presAssocID="{DC9562B5-975F-4FBE-B375-00B195AC6422}" presName="rootConnector1" presStyleLbl="node1" presStyleIdx="0" presStyleCnt="0"/>
      <dgm:spPr/>
      <dgm:t>
        <a:bodyPr/>
        <a:lstStyle/>
        <a:p>
          <a:endParaRPr lang="en-GB"/>
        </a:p>
      </dgm:t>
    </dgm:pt>
    <dgm:pt modelId="{C4E035B9-5977-4716-9199-65F930018FA4}" type="pres">
      <dgm:prSet presAssocID="{DC9562B5-975F-4FBE-B375-00B195AC6422}" presName="hierChild2" presStyleCnt="0"/>
      <dgm:spPr/>
    </dgm:pt>
    <dgm:pt modelId="{B1D26D52-76AE-40B7-B56C-D5661A984D1E}" type="pres">
      <dgm:prSet presAssocID="{263E1D51-4AAB-4B0C-8BCD-C7A3842DC2A9}" presName="Name37" presStyleLbl="parChTrans1D2" presStyleIdx="0" presStyleCnt="2" custSzX="2173409"/>
      <dgm:spPr/>
      <dgm:t>
        <a:bodyPr/>
        <a:lstStyle/>
        <a:p>
          <a:endParaRPr lang="en-GB"/>
        </a:p>
      </dgm:t>
    </dgm:pt>
    <dgm:pt modelId="{F5004774-913A-41A2-9064-6A8F97947778}" type="pres">
      <dgm:prSet presAssocID="{DB633ECA-9C29-47B7-B4DB-EB5D64A4066B}" presName="hierRoot2" presStyleCnt="0">
        <dgm:presLayoutVars>
          <dgm:hierBranch val="init"/>
        </dgm:presLayoutVars>
      </dgm:prSet>
      <dgm:spPr/>
    </dgm:pt>
    <dgm:pt modelId="{EFC16533-D8FA-4517-B914-2B6DE4C83F8D}" type="pres">
      <dgm:prSet presAssocID="{DB633ECA-9C29-47B7-B4DB-EB5D64A4066B}" presName="rootComposite" presStyleCnt="0"/>
      <dgm:spPr/>
    </dgm:pt>
    <dgm:pt modelId="{A50CC778-2E32-4FDA-B076-A1D1169021FC}" type="pres">
      <dgm:prSet presAssocID="{DB633ECA-9C29-47B7-B4DB-EB5D64A4066B}" presName="rootText" presStyleLbl="node2" presStyleIdx="0" presStyleCnt="2" custScaleX="139033" custLinFactNeighborX="-17921" custLinFactNeighborY="237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1D1562C-E55F-4DDF-8534-3A5DE698FA0E}" type="pres">
      <dgm:prSet presAssocID="{DB633ECA-9C29-47B7-B4DB-EB5D64A4066B}" presName="rootConnector" presStyleLbl="node2" presStyleIdx="0" presStyleCnt="2"/>
      <dgm:spPr/>
      <dgm:t>
        <a:bodyPr/>
        <a:lstStyle/>
        <a:p>
          <a:endParaRPr lang="en-GB"/>
        </a:p>
      </dgm:t>
    </dgm:pt>
    <dgm:pt modelId="{CAE80FC1-848F-4965-9912-420ABF3F4410}" type="pres">
      <dgm:prSet presAssocID="{DB633ECA-9C29-47B7-B4DB-EB5D64A4066B}" presName="hierChild4" presStyleCnt="0"/>
      <dgm:spPr/>
    </dgm:pt>
    <dgm:pt modelId="{F5DC8158-41FD-4A7B-97D3-FD801E9B591B}" type="pres">
      <dgm:prSet presAssocID="{8CA5D1F4-428A-4517-A79A-E80A38834354}" presName="Name37" presStyleLbl="parChTrans1D3" presStyleIdx="0" presStyleCnt="6" custSzX="566723"/>
      <dgm:spPr/>
      <dgm:t>
        <a:bodyPr/>
        <a:lstStyle/>
        <a:p>
          <a:endParaRPr lang="en-GB"/>
        </a:p>
      </dgm:t>
    </dgm:pt>
    <dgm:pt modelId="{37FF66CF-D7F4-449D-9C24-F554F6167F96}" type="pres">
      <dgm:prSet presAssocID="{07C8BF37-F50A-4DA5-89AC-38F61BBD75C6}" presName="hierRoot2" presStyleCnt="0">
        <dgm:presLayoutVars>
          <dgm:hierBranch val="init"/>
        </dgm:presLayoutVars>
      </dgm:prSet>
      <dgm:spPr/>
    </dgm:pt>
    <dgm:pt modelId="{7CCB8929-517D-4488-92E2-618C759E2EFC}" type="pres">
      <dgm:prSet presAssocID="{07C8BF37-F50A-4DA5-89AC-38F61BBD75C6}" presName="rootComposite" presStyleCnt="0"/>
      <dgm:spPr/>
    </dgm:pt>
    <dgm:pt modelId="{6F482FB1-E278-4B4A-9505-DCCFC40924DA}" type="pres">
      <dgm:prSet presAssocID="{07C8BF37-F50A-4DA5-89AC-38F61BBD75C6}" presName="rootText" presStyleLbl="node3" presStyleIdx="0" presStyleCnt="6" custScaleX="192821" custLinFactNeighborX="-9678" custLinFactNeighborY="1388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CF72FEE0-366A-424A-9D35-246141219D3D}" type="pres">
      <dgm:prSet presAssocID="{07C8BF37-F50A-4DA5-89AC-38F61BBD75C6}" presName="rootConnector" presStyleLbl="node3" presStyleIdx="0" presStyleCnt="6"/>
      <dgm:spPr/>
      <dgm:t>
        <a:bodyPr/>
        <a:lstStyle/>
        <a:p>
          <a:endParaRPr lang="en-GB"/>
        </a:p>
      </dgm:t>
    </dgm:pt>
    <dgm:pt modelId="{BE7CB605-4F91-4DC0-9153-7E7A7ACB3C9F}" type="pres">
      <dgm:prSet presAssocID="{07C8BF37-F50A-4DA5-89AC-38F61BBD75C6}" presName="hierChild4" presStyleCnt="0"/>
      <dgm:spPr/>
    </dgm:pt>
    <dgm:pt modelId="{BDD93DD9-13DD-4DF4-B8FA-54C73ECCB5F3}" type="pres">
      <dgm:prSet presAssocID="{07C8BF37-F50A-4DA5-89AC-38F61BBD75C6}" presName="hierChild5" presStyleCnt="0"/>
      <dgm:spPr/>
    </dgm:pt>
    <dgm:pt modelId="{2967F510-2492-415B-A70C-AFC8F34B8916}" type="pres">
      <dgm:prSet presAssocID="{3B1B5734-D6D7-4516-8150-9C6B4146A77C}" presName="Name37" presStyleLbl="parChTrans1D3" presStyleIdx="1" presStyleCnt="6" custSzX="588498"/>
      <dgm:spPr/>
      <dgm:t>
        <a:bodyPr/>
        <a:lstStyle/>
        <a:p>
          <a:endParaRPr lang="en-GB"/>
        </a:p>
      </dgm:t>
    </dgm:pt>
    <dgm:pt modelId="{0A21D8D3-CE7D-4C74-B297-0EDFD47DAFFC}" type="pres">
      <dgm:prSet presAssocID="{FB2F2203-C57D-469D-8ACC-EE4E76B9EAB6}" presName="hierRoot2" presStyleCnt="0">
        <dgm:presLayoutVars>
          <dgm:hierBranch val="init"/>
        </dgm:presLayoutVars>
      </dgm:prSet>
      <dgm:spPr/>
    </dgm:pt>
    <dgm:pt modelId="{9EF82B4F-35A7-48D9-8275-2A569F2AA30B}" type="pres">
      <dgm:prSet presAssocID="{FB2F2203-C57D-469D-8ACC-EE4E76B9EAB6}" presName="rootComposite" presStyleCnt="0"/>
      <dgm:spPr/>
    </dgm:pt>
    <dgm:pt modelId="{CB2B1BCA-F0A1-4419-BC57-90096ACDFADE}" type="pres">
      <dgm:prSet presAssocID="{FB2F2203-C57D-469D-8ACC-EE4E76B9EAB6}" presName="rootText" presStyleLbl="node3" presStyleIdx="1" presStyleCnt="6" custScaleX="192821" custLinFactNeighborX="-856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092891D-3BCF-49FE-ADAE-B7C97DF6C585}" type="pres">
      <dgm:prSet presAssocID="{FB2F2203-C57D-469D-8ACC-EE4E76B9EAB6}" presName="rootConnector" presStyleLbl="node3" presStyleIdx="1" presStyleCnt="6"/>
      <dgm:spPr/>
      <dgm:t>
        <a:bodyPr/>
        <a:lstStyle/>
        <a:p>
          <a:endParaRPr lang="en-GB"/>
        </a:p>
      </dgm:t>
    </dgm:pt>
    <dgm:pt modelId="{DF06745D-4668-4E26-A760-1AFACDED77F2}" type="pres">
      <dgm:prSet presAssocID="{FB2F2203-C57D-469D-8ACC-EE4E76B9EAB6}" presName="hierChild4" presStyleCnt="0"/>
      <dgm:spPr/>
    </dgm:pt>
    <dgm:pt modelId="{A0BC7010-0D3B-4E0D-925E-45C0DB61260F}" type="pres">
      <dgm:prSet presAssocID="{FB2F2203-C57D-469D-8ACC-EE4E76B9EAB6}" presName="hierChild5" presStyleCnt="0"/>
      <dgm:spPr/>
    </dgm:pt>
    <dgm:pt modelId="{5DDB3DB6-54BC-469C-ADD4-49E3C07D03A2}" type="pres">
      <dgm:prSet presAssocID="{AEF46E10-42D6-41B1-9A68-CB356ECE37E4}" presName="Name37" presStyleLbl="parChTrans1D3" presStyleIdx="2" presStyleCnt="6" custSzX="588498"/>
      <dgm:spPr/>
      <dgm:t>
        <a:bodyPr/>
        <a:lstStyle/>
        <a:p>
          <a:endParaRPr lang="en-GB"/>
        </a:p>
      </dgm:t>
    </dgm:pt>
    <dgm:pt modelId="{06F99ABC-62B4-4D29-94F8-337859BC32A5}" type="pres">
      <dgm:prSet presAssocID="{CDDCAF4A-A319-471A-B5E4-95E0213F484F}" presName="hierRoot2" presStyleCnt="0">
        <dgm:presLayoutVars>
          <dgm:hierBranch val="init"/>
        </dgm:presLayoutVars>
      </dgm:prSet>
      <dgm:spPr/>
    </dgm:pt>
    <dgm:pt modelId="{16F34E07-6A53-48B9-A0AE-132E56698D2C}" type="pres">
      <dgm:prSet presAssocID="{CDDCAF4A-A319-471A-B5E4-95E0213F484F}" presName="rootComposite" presStyleCnt="0"/>
      <dgm:spPr/>
    </dgm:pt>
    <dgm:pt modelId="{F4BE0C0A-6915-4AC1-86F0-DB18690C8301}" type="pres">
      <dgm:prSet presAssocID="{CDDCAF4A-A319-471A-B5E4-95E0213F484F}" presName="rootText" presStyleLbl="node3" presStyleIdx="2" presStyleCnt="6" custScaleX="180051" custLinFactNeighborX="-856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EF3303B-2B05-461A-9BBD-A4211E43CAB6}" type="pres">
      <dgm:prSet presAssocID="{CDDCAF4A-A319-471A-B5E4-95E0213F484F}" presName="rootConnector" presStyleLbl="node3" presStyleIdx="2" presStyleCnt="6"/>
      <dgm:spPr/>
      <dgm:t>
        <a:bodyPr/>
        <a:lstStyle/>
        <a:p>
          <a:endParaRPr lang="en-GB"/>
        </a:p>
      </dgm:t>
    </dgm:pt>
    <dgm:pt modelId="{0BFEC9FE-1FD4-4CD3-90F4-DACE32D0F3A0}" type="pres">
      <dgm:prSet presAssocID="{CDDCAF4A-A319-471A-B5E4-95E0213F484F}" presName="hierChild4" presStyleCnt="0"/>
      <dgm:spPr/>
    </dgm:pt>
    <dgm:pt modelId="{A2F6DFD3-1CDE-405B-8A48-53ED154AE686}" type="pres">
      <dgm:prSet presAssocID="{CDDCAF4A-A319-471A-B5E4-95E0213F484F}" presName="hierChild5" presStyleCnt="0"/>
      <dgm:spPr/>
    </dgm:pt>
    <dgm:pt modelId="{F7610613-6233-470E-AEC9-19EAA86A500C}" type="pres">
      <dgm:prSet presAssocID="{DB633ECA-9C29-47B7-B4DB-EB5D64A4066B}" presName="hierChild5" presStyleCnt="0"/>
      <dgm:spPr/>
    </dgm:pt>
    <dgm:pt modelId="{ADCC96BD-A2CF-4AF4-87D0-2FC5CA600A7D}" type="pres">
      <dgm:prSet presAssocID="{D28D828D-3C95-4AA7-83C5-5D2251ECE023}" presName="Name37" presStyleLbl="parChTrans1D2" presStyleIdx="1" presStyleCnt="2" custSzX="1982452"/>
      <dgm:spPr/>
      <dgm:t>
        <a:bodyPr/>
        <a:lstStyle/>
        <a:p>
          <a:endParaRPr lang="en-GB"/>
        </a:p>
      </dgm:t>
    </dgm:pt>
    <dgm:pt modelId="{387E3207-7819-4616-B75D-E85145A9F668}" type="pres">
      <dgm:prSet presAssocID="{0711A884-6A4C-42D3-B064-A347EE9CC9F8}" presName="hierRoot2" presStyleCnt="0">
        <dgm:presLayoutVars>
          <dgm:hierBranch val="init"/>
        </dgm:presLayoutVars>
      </dgm:prSet>
      <dgm:spPr/>
    </dgm:pt>
    <dgm:pt modelId="{B04FFB01-6EAF-4A5E-9479-6416248A998E}" type="pres">
      <dgm:prSet presAssocID="{0711A884-6A4C-42D3-B064-A347EE9CC9F8}" presName="rootComposite" presStyleCnt="0"/>
      <dgm:spPr/>
    </dgm:pt>
    <dgm:pt modelId="{21555FA3-6609-4791-8AF0-A0B3AAE92653}" type="pres">
      <dgm:prSet presAssocID="{0711A884-6A4C-42D3-B064-A347EE9CC9F8}" presName="rootText" presStyleLbl="node2" presStyleIdx="1" presStyleCnt="2" custScaleX="183789" custLinFactNeighborX="13807" custLinFactNeighborY="189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7050AA6-8DB4-49EF-8FAB-E63F268AB888}" type="pres">
      <dgm:prSet presAssocID="{0711A884-6A4C-42D3-B064-A347EE9CC9F8}" presName="rootConnector" presStyleLbl="node2" presStyleIdx="1" presStyleCnt="2"/>
      <dgm:spPr/>
      <dgm:t>
        <a:bodyPr/>
        <a:lstStyle/>
        <a:p>
          <a:endParaRPr lang="en-GB"/>
        </a:p>
      </dgm:t>
    </dgm:pt>
    <dgm:pt modelId="{B41B9D2D-DA49-4B59-B180-EB9FA25F6C5A}" type="pres">
      <dgm:prSet presAssocID="{0711A884-6A4C-42D3-B064-A347EE9CC9F8}" presName="hierChild4" presStyleCnt="0"/>
      <dgm:spPr/>
    </dgm:pt>
    <dgm:pt modelId="{FE698947-F5E6-4A4D-91C8-6769173CDA2F}" type="pres">
      <dgm:prSet presAssocID="{434705C5-9B6D-4797-B60E-5C8C1023F234}" presName="Name37" presStyleLbl="parChTrans1D3" presStyleIdx="3" presStyleCnt="6" custSzX="170517"/>
      <dgm:spPr/>
      <dgm:t>
        <a:bodyPr/>
        <a:lstStyle/>
        <a:p>
          <a:endParaRPr lang="en-GB"/>
        </a:p>
      </dgm:t>
    </dgm:pt>
    <dgm:pt modelId="{FE1EBB24-2D5E-4E5C-9D93-78E65E9C6B3C}" type="pres">
      <dgm:prSet presAssocID="{61ADD773-3163-4347-BFC8-9A6FBC5C4B42}" presName="hierRoot2" presStyleCnt="0">
        <dgm:presLayoutVars>
          <dgm:hierBranch val="init"/>
        </dgm:presLayoutVars>
      </dgm:prSet>
      <dgm:spPr/>
    </dgm:pt>
    <dgm:pt modelId="{A75A6776-5C27-4C3B-98D8-03295C7C71C9}" type="pres">
      <dgm:prSet presAssocID="{61ADD773-3163-4347-BFC8-9A6FBC5C4B42}" presName="rootComposite" presStyleCnt="0"/>
      <dgm:spPr/>
    </dgm:pt>
    <dgm:pt modelId="{DEDEBE14-2085-4202-80CC-0622277EFC2F}" type="pres">
      <dgm:prSet presAssocID="{61ADD773-3163-4347-BFC8-9A6FBC5C4B42}" presName="rootText" presStyleLbl="node3" presStyleIdx="3" presStyleCnt="6" custScaleX="255147" custLinFactNeighborX="494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9264C88-F8ED-4B40-BBA4-027D01D055F1}" type="pres">
      <dgm:prSet presAssocID="{61ADD773-3163-4347-BFC8-9A6FBC5C4B42}" presName="rootConnector" presStyleLbl="node3" presStyleIdx="3" presStyleCnt="6"/>
      <dgm:spPr/>
      <dgm:t>
        <a:bodyPr/>
        <a:lstStyle/>
        <a:p>
          <a:endParaRPr lang="en-GB"/>
        </a:p>
      </dgm:t>
    </dgm:pt>
    <dgm:pt modelId="{3037A0C6-D7B3-42AE-94FF-71C6DBA478AA}" type="pres">
      <dgm:prSet presAssocID="{61ADD773-3163-4347-BFC8-9A6FBC5C4B42}" presName="hierChild4" presStyleCnt="0"/>
      <dgm:spPr/>
    </dgm:pt>
    <dgm:pt modelId="{1C9C4554-64C2-4639-B4AD-460822F7D741}" type="pres">
      <dgm:prSet presAssocID="{61ADD773-3163-4347-BFC8-9A6FBC5C4B42}" presName="hierChild5" presStyleCnt="0"/>
      <dgm:spPr/>
    </dgm:pt>
    <dgm:pt modelId="{B9DE3511-88A1-46D6-A82C-7D0319EB16B3}" type="pres">
      <dgm:prSet presAssocID="{B70DB382-F243-42F5-8EE0-95309908F013}" presName="Name37" presStyleLbl="parChTrans1D3" presStyleIdx="4" presStyleCnt="6" custSzX="170517"/>
      <dgm:spPr/>
      <dgm:t>
        <a:bodyPr/>
        <a:lstStyle/>
        <a:p>
          <a:endParaRPr lang="en-GB"/>
        </a:p>
      </dgm:t>
    </dgm:pt>
    <dgm:pt modelId="{72100643-3530-4638-8BAA-8A8BCA0515BC}" type="pres">
      <dgm:prSet presAssocID="{5212708B-B3CE-42A9-9A0F-91A46237AD86}" presName="hierRoot2" presStyleCnt="0">
        <dgm:presLayoutVars>
          <dgm:hierBranch val="init"/>
        </dgm:presLayoutVars>
      </dgm:prSet>
      <dgm:spPr/>
    </dgm:pt>
    <dgm:pt modelId="{E1758ECC-B049-4898-8682-921A88D80C10}" type="pres">
      <dgm:prSet presAssocID="{5212708B-B3CE-42A9-9A0F-91A46237AD86}" presName="rootComposite" presStyleCnt="0"/>
      <dgm:spPr/>
    </dgm:pt>
    <dgm:pt modelId="{F73BEC96-CC19-480D-9DFA-2BC2C045F04C}" type="pres">
      <dgm:prSet presAssocID="{5212708B-B3CE-42A9-9A0F-91A46237AD86}" presName="rootText" presStyleLbl="node3" presStyleIdx="4" presStyleCnt="6" custScaleX="23381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598B4C-5D86-4680-8323-E69D636415C3}" type="pres">
      <dgm:prSet presAssocID="{5212708B-B3CE-42A9-9A0F-91A46237AD86}" presName="rootConnector" presStyleLbl="node3" presStyleIdx="4" presStyleCnt="6"/>
      <dgm:spPr/>
      <dgm:t>
        <a:bodyPr/>
        <a:lstStyle/>
        <a:p>
          <a:endParaRPr lang="en-GB"/>
        </a:p>
      </dgm:t>
    </dgm:pt>
    <dgm:pt modelId="{077BAC0E-55B8-4670-87B8-871B46BB4856}" type="pres">
      <dgm:prSet presAssocID="{5212708B-B3CE-42A9-9A0F-91A46237AD86}" presName="hierChild4" presStyleCnt="0"/>
      <dgm:spPr/>
    </dgm:pt>
    <dgm:pt modelId="{08DAA66C-5BD7-4FE0-9BD2-4116336A86B7}" type="pres">
      <dgm:prSet presAssocID="{5212708B-B3CE-42A9-9A0F-91A46237AD86}" presName="hierChild5" presStyleCnt="0"/>
      <dgm:spPr/>
    </dgm:pt>
    <dgm:pt modelId="{ACC50FD6-0938-4269-A368-D8015A0A58A4}" type="pres">
      <dgm:prSet presAssocID="{F23725F0-EAC3-4EDD-8B9D-169E6E23DFE5}" presName="Name37" presStyleLbl="parChTrans1D3" presStyleIdx="5" presStyleCnt="6" custSzX="170517"/>
      <dgm:spPr/>
      <dgm:t>
        <a:bodyPr/>
        <a:lstStyle/>
        <a:p>
          <a:endParaRPr lang="en-GB"/>
        </a:p>
      </dgm:t>
    </dgm:pt>
    <dgm:pt modelId="{8FDB5BCF-7A62-459B-AC42-BADFAAE29A01}" type="pres">
      <dgm:prSet presAssocID="{DFF5F138-8F35-443A-9ECB-4EFBA9BD9E09}" presName="hierRoot2" presStyleCnt="0">
        <dgm:presLayoutVars>
          <dgm:hierBranch val="init"/>
        </dgm:presLayoutVars>
      </dgm:prSet>
      <dgm:spPr/>
    </dgm:pt>
    <dgm:pt modelId="{52FF5C0B-3F58-4164-8842-DBBD808AD5D4}" type="pres">
      <dgm:prSet presAssocID="{DFF5F138-8F35-443A-9ECB-4EFBA9BD9E09}" presName="rootComposite" presStyleCnt="0"/>
      <dgm:spPr/>
    </dgm:pt>
    <dgm:pt modelId="{F1DF15F5-20C7-43EB-8595-964B781E0202}" type="pres">
      <dgm:prSet presAssocID="{DFF5F138-8F35-443A-9ECB-4EFBA9BD9E09}" presName="rootText" presStyleLbl="node3" presStyleIdx="5" presStyleCnt="6" custScaleX="23556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5DA80D17-830A-4559-8C5B-2B05CF342532}" type="pres">
      <dgm:prSet presAssocID="{DFF5F138-8F35-443A-9ECB-4EFBA9BD9E09}" presName="rootConnector" presStyleLbl="node3" presStyleIdx="5" presStyleCnt="6"/>
      <dgm:spPr/>
      <dgm:t>
        <a:bodyPr/>
        <a:lstStyle/>
        <a:p>
          <a:endParaRPr lang="en-GB"/>
        </a:p>
      </dgm:t>
    </dgm:pt>
    <dgm:pt modelId="{3BA84E82-7B1E-4DC3-A890-1902FE6D8DF6}" type="pres">
      <dgm:prSet presAssocID="{DFF5F138-8F35-443A-9ECB-4EFBA9BD9E09}" presName="hierChild4" presStyleCnt="0"/>
      <dgm:spPr/>
    </dgm:pt>
    <dgm:pt modelId="{159B4EFB-51DC-4BEB-84D9-786AAEAA5033}" type="pres">
      <dgm:prSet presAssocID="{DFF5F138-8F35-443A-9ECB-4EFBA9BD9E09}" presName="hierChild5" presStyleCnt="0"/>
      <dgm:spPr/>
    </dgm:pt>
    <dgm:pt modelId="{23685B7E-E46F-4F1A-AF0F-59BD3D543132}" type="pres">
      <dgm:prSet presAssocID="{0711A884-6A4C-42D3-B064-A347EE9CC9F8}" presName="hierChild5" presStyleCnt="0"/>
      <dgm:spPr/>
    </dgm:pt>
    <dgm:pt modelId="{D4A4C464-475A-4024-B7FD-BA2972EEB3E8}" type="pres">
      <dgm:prSet presAssocID="{DC9562B5-975F-4FBE-B375-00B195AC6422}" presName="hierChild3" presStyleCnt="0"/>
      <dgm:spPr/>
    </dgm:pt>
  </dgm:ptLst>
  <dgm:cxnLst>
    <dgm:cxn modelId="{62C95046-B43D-4F50-9589-A1D5BA62C848}" type="presOf" srcId="{DFF5F138-8F35-443A-9ECB-4EFBA9BD9E09}" destId="{F1DF15F5-20C7-43EB-8595-964B781E0202}" srcOrd="0" destOrd="0" presId="urn:microsoft.com/office/officeart/2005/8/layout/orgChart1"/>
    <dgm:cxn modelId="{DB10E59E-434F-417B-B967-AEE9C1894B35}" srcId="{0711A884-6A4C-42D3-B064-A347EE9CC9F8}" destId="{5212708B-B3CE-42A9-9A0F-91A46237AD86}" srcOrd="1" destOrd="0" parTransId="{B70DB382-F243-42F5-8EE0-95309908F013}" sibTransId="{020A0604-5BBF-40DD-B720-C5D1D5595F39}"/>
    <dgm:cxn modelId="{66CC4718-18A0-4C60-9F84-B5210A0E5FF7}" type="presOf" srcId="{DFF5F138-8F35-443A-9ECB-4EFBA9BD9E09}" destId="{5DA80D17-830A-4559-8C5B-2B05CF342532}" srcOrd="1" destOrd="0" presId="urn:microsoft.com/office/officeart/2005/8/layout/orgChart1"/>
    <dgm:cxn modelId="{00D0F7F1-A10B-4EF1-AD9F-7AE6DF6A2059}" srcId="{DC9562B5-975F-4FBE-B375-00B195AC6422}" destId="{DB633ECA-9C29-47B7-B4DB-EB5D64A4066B}" srcOrd="0" destOrd="0" parTransId="{263E1D51-4AAB-4B0C-8BCD-C7A3842DC2A9}" sibTransId="{2B2D4622-AF19-4935-A342-E985701B9D76}"/>
    <dgm:cxn modelId="{FB9AE1EB-5A17-46CF-9AF3-6F6586A706A8}" type="presOf" srcId="{FB2F2203-C57D-469D-8ACC-EE4E76B9EAB6}" destId="{E092891D-3BCF-49FE-ADAE-B7C97DF6C585}" srcOrd="1" destOrd="0" presId="urn:microsoft.com/office/officeart/2005/8/layout/orgChart1"/>
    <dgm:cxn modelId="{643E4CD9-C7F3-46EE-8A8F-117F9BA685F6}" type="presOf" srcId="{61ADD773-3163-4347-BFC8-9A6FBC5C4B42}" destId="{DEDEBE14-2085-4202-80CC-0622277EFC2F}" srcOrd="0" destOrd="0" presId="urn:microsoft.com/office/officeart/2005/8/layout/orgChart1"/>
    <dgm:cxn modelId="{1A7497E0-7798-4D5A-AC63-1A0DBC10FFE7}" type="presOf" srcId="{61ADD773-3163-4347-BFC8-9A6FBC5C4B42}" destId="{99264C88-F8ED-4B40-BBA4-027D01D055F1}" srcOrd="1" destOrd="0" presId="urn:microsoft.com/office/officeart/2005/8/layout/orgChart1"/>
    <dgm:cxn modelId="{8B757466-3FF0-4984-A14F-7F3849E53B9D}" srcId="{DB633ECA-9C29-47B7-B4DB-EB5D64A4066B}" destId="{FB2F2203-C57D-469D-8ACC-EE4E76B9EAB6}" srcOrd="1" destOrd="0" parTransId="{3B1B5734-D6D7-4516-8150-9C6B4146A77C}" sibTransId="{650E26C6-B2F4-4E05-AADF-56199561C1E7}"/>
    <dgm:cxn modelId="{74555270-FE78-4747-ACA7-07E3D0DF44C0}" type="presOf" srcId="{434705C5-9B6D-4797-B60E-5C8C1023F234}" destId="{FE698947-F5E6-4A4D-91C8-6769173CDA2F}" srcOrd="0" destOrd="0" presId="urn:microsoft.com/office/officeart/2005/8/layout/orgChart1"/>
    <dgm:cxn modelId="{DA2CEC3A-B5E1-4B4F-A5CA-1C81E335C89A}" type="presOf" srcId="{DC9562B5-975F-4FBE-B375-00B195AC6422}" destId="{96D227ED-A6CA-43F4-BD13-7CBCAD54305A}" srcOrd="0" destOrd="0" presId="urn:microsoft.com/office/officeart/2005/8/layout/orgChart1"/>
    <dgm:cxn modelId="{E3B2DF27-9457-4136-A3EC-66731044659F}" type="presOf" srcId="{3B1B5734-D6D7-4516-8150-9C6B4146A77C}" destId="{2967F510-2492-415B-A70C-AFC8F34B8916}" srcOrd="0" destOrd="0" presId="urn:microsoft.com/office/officeart/2005/8/layout/orgChart1"/>
    <dgm:cxn modelId="{798013BA-AE44-454E-B526-7FB24EDBCB55}" type="presOf" srcId="{0711A884-6A4C-42D3-B064-A347EE9CC9F8}" destId="{B7050AA6-8DB4-49EF-8FAB-E63F268AB888}" srcOrd="1" destOrd="0" presId="urn:microsoft.com/office/officeart/2005/8/layout/orgChart1"/>
    <dgm:cxn modelId="{1EE278C4-FB45-4932-91EC-57ED6F550B14}" srcId="{DB633ECA-9C29-47B7-B4DB-EB5D64A4066B}" destId="{07C8BF37-F50A-4DA5-89AC-38F61BBD75C6}" srcOrd="0" destOrd="0" parTransId="{8CA5D1F4-428A-4517-A79A-E80A38834354}" sibTransId="{ECD5CAE2-BC3B-4520-A462-A792141AF1BC}"/>
    <dgm:cxn modelId="{0532C032-87DE-4EC0-940F-9A557AEEC6B5}" type="presOf" srcId="{D28D828D-3C95-4AA7-83C5-5D2251ECE023}" destId="{ADCC96BD-A2CF-4AF4-87D0-2FC5CA600A7D}" srcOrd="0" destOrd="0" presId="urn:microsoft.com/office/officeart/2005/8/layout/orgChart1"/>
    <dgm:cxn modelId="{055FE473-1219-41DA-B73B-F64B915A1338}" type="presOf" srcId="{07C8BF37-F50A-4DA5-89AC-38F61BBD75C6}" destId="{CF72FEE0-366A-424A-9D35-246141219D3D}" srcOrd="1" destOrd="0" presId="urn:microsoft.com/office/officeart/2005/8/layout/orgChart1"/>
    <dgm:cxn modelId="{CB640A8E-B48B-4660-B1A5-04DAC5F27C4F}" type="presOf" srcId="{5212708B-B3CE-42A9-9A0F-91A46237AD86}" destId="{F73BEC96-CC19-480D-9DFA-2BC2C045F04C}" srcOrd="0" destOrd="0" presId="urn:microsoft.com/office/officeart/2005/8/layout/orgChart1"/>
    <dgm:cxn modelId="{7BBD6F78-6CFB-4910-A837-3D7712F43129}" type="presOf" srcId="{DB633ECA-9C29-47B7-B4DB-EB5D64A4066B}" destId="{A50CC778-2E32-4FDA-B076-A1D1169021FC}" srcOrd="0" destOrd="0" presId="urn:microsoft.com/office/officeart/2005/8/layout/orgChart1"/>
    <dgm:cxn modelId="{7A471C4B-0A84-4A85-9B91-81628C1744A9}" srcId="{0711A884-6A4C-42D3-B064-A347EE9CC9F8}" destId="{61ADD773-3163-4347-BFC8-9A6FBC5C4B42}" srcOrd="0" destOrd="0" parTransId="{434705C5-9B6D-4797-B60E-5C8C1023F234}" sibTransId="{114296EA-C079-4ECB-BF7B-32661CD20FBD}"/>
    <dgm:cxn modelId="{461CCEF4-1389-4AE5-AA23-6545C2F33821}" type="presOf" srcId="{F23725F0-EAC3-4EDD-8B9D-169E6E23DFE5}" destId="{ACC50FD6-0938-4269-A368-D8015A0A58A4}" srcOrd="0" destOrd="0" presId="urn:microsoft.com/office/officeart/2005/8/layout/orgChart1"/>
    <dgm:cxn modelId="{ABC8CB92-80D7-4F81-85C1-83D63B0A8528}" srcId="{0711A884-6A4C-42D3-B064-A347EE9CC9F8}" destId="{DFF5F138-8F35-443A-9ECB-4EFBA9BD9E09}" srcOrd="2" destOrd="0" parTransId="{F23725F0-EAC3-4EDD-8B9D-169E6E23DFE5}" sibTransId="{3DE484CE-000A-49F6-AD3A-916382F0390B}"/>
    <dgm:cxn modelId="{5D54279B-F89A-46CB-9EB5-12E0CEBDFE8F}" type="presOf" srcId="{8CA5D1F4-428A-4517-A79A-E80A38834354}" destId="{F5DC8158-41FD-4A7B-97D3-FD801E9B591B}" srcOrd="0" destOrd="0" presId="urn:microsoft.com/office/officeart/2005/8/layout/orgChart1"/>
    <dgm:cxn modelId="{0012B2F3-1DB5-40B2-847E-6BC80E9592E1}" type="presOf" srcId="{07C8BF37-F50A-4DA5-89AC-38F61BBD75C6}" destId="{6F482FB1-E278-4B4A-9505-DCCFC40924DA}" srcOrd="0" destOrd="0" presId="urn:microsoft.com/office/officeart/2005/8/layout/orgChart1"/>
    <dgm:cxn modelId="{57EF5667-445C-4C36-A9FF-5B7234F8541F}" type="presOf" srcId="{5212708B-B3CE-42A9-9A0F-91A46237AD86}" destId="{0B598B4C-5D86-4680-8323-E69D636415C3}" srcOrd="1" destOrd="0" presId="urn:microsoft.com/office/officeart/2005/8/layout/orgChart1"/>
    <dgm:cxn modelId="{28B7ADC6-8FDD-403A-86D8-AC78588C1603}" srcId="{4A888B7D-56C2-426C-B07D-F94BF6019F60}" destId="{DC9562B5-975F-4FBE-B375-00B195AC6422}" srcOrd="0" destOrd="0" parTransId="{967B2781-295C-44D6-8BE9-96C535630EFE}" sibTransId="{CE6DDE7E-DA9F-48F1-8556-362CFB3D128A}"/>
    <dgm:cxn modelId="{1523210D-BD15-4E2B-9734-2BDC06288710}" type="presOf" srcId="{CDDCAF4A-A319-471A-B5E4-95E0213F484F}" destId="{F4BE0C0A-6915-4AC1-86F0-DB18690C8301}" srcOrd="0" destOrd="0" presId="urn:microsoft.com/office/officeart/2005/8/layout/orgChart1"/>
    <dgm:cxn modelId="{AAA94054-FFCF-4432-9606-99832AE53AE2}" type="presOf" srcId="{CDDCAF4A-A319-471A-B5E4-95E0213F484F}" destId="{4EF3303B-2B05-461A-9BBD-A4211E43CAB6}" srcOrd="1" destOrd="0" presId="urn:microsoft.com/office/officeart/2005/8/layout/orgChart1"/>
    <dgm:cxn modelId="{29C8ABAE-B536-4FD8-8CDF-BD1A2B8818BB}" type="presOf" srcId="{0711A884-6A4C-42D3-B064-A347EE9CC9F8}" destId="{21555FA3-6609-4791-8AF0-A0B3AAE92653}" srcOrd="0" destOrd="0" presId="urn:microsoft.com/office/officeart/2005/8/layout/orgChart1"/>
    <dgm:cxn modelId="{7B6F8EE8-ED9C-4CDA-B579-83B98058B4F9}" type="presOf" srcId="{263E1D51-4AAB-4B0C-8BCD-C7A3842DC2A9}" destId="{B1D26D52-76AE-40B7-B56C-D5661A984D1E}" srcOrd="0" destOrd="0" presId="urn:microsoft.com/office/officeart/2005/8/layout/orgChart1"/>
    <dgm:cxn modelId="{A3963BB1-5D78-4E88-8CC6-D2AA177F9A9B}" type="presOf" srcId="{B70DB382-F243-42F5-8EE0-95309908F013}" destId="{B9DE3511-88A1-46D6-A82C-7D0319EB16B3}" srcOrd="0" destOrd="0" presId="urn:microsoft.com/office/officeart/2005/8/layout/orgChart1"/>
    <dgm:cxn modelId="{2E9C0374-7D8E-4F5D-843B-1C02D388D96D}" type="presOf" srcId="{DB633ECA-9C29-47B7-B4DB-EB5D64A4066B}" destId="{51D1562C-E55F-4DDF-8534-3A5DE698FA0E}" srcOrd="1" destOrd="0" presId="urn:microsoft.com/office/officeart/2005/8/layout/orgChart1"/>
    <dgm:cxn modelId="{AA80E09C-03E5-4E89-A0CC-8E5EB8CCCE00}" srcId="{DB633ECA-9C29-47B7-B4DB-EB5D64A4066B}" destId="{CDDCAF4A-A319-471A-B5E4-95E0213F484F}" srcOrd="2" destOrd="0" parTransId="{AEF46E10-42D6-41B1-9A68-CB356ECE37E4}" sibTransId="{E19DD3CB-281F-41D9-8D9A-8DE2A2D66D44}"/>
    <dgm:cxn modelId="{254A2282-3893-4A94-B22E-9A1AAB97C149}" srcId="{DC9562B5-975F-4FBE-B375-00B195AC6422}" destId="{0711A884-6A4C-42D3-B064-A347EE9CC9F8}" srcOrd="1" destOrd="0" parTransId="{D28D828D-3C95-4AA7-83C5-5D2251ECE023}" sibTransId="{E7534D14-8A11-4813-A0DF-BF1160250175}"/>
    <dgm:cxn modelId="{93F27756-4B95-4635-A8DD-2C70324B9A4B}" type="presOf" srcId="{DC9562B5-975F-4FBE-B375-00B195AC6422}" destId="{E81B5F3F-B7CE-4111-98A6-BBECB2FC80DD}" srcOrd="1" destOrd="0" presId="urn:microsoft.com/office/officeart/2005/8/layout/orgChart1"/>
    <dgm:cxn modelId="{9C065EED-6E0E-48F2-8B8C-89294E4255A4}" type="presOf" srcId="{AEF46E10-42D6-41B1-9A68-CB356ECE37E4}" destId="{5DDB3DB6-54BC-469C-ADD4-49E3C07D03A2}" srcOrd="0" destOrd="0" presId="urn:microsoft.com/office/officeart/2005/8/layout/orgChart1"/>
    <dgm:cxn modelId="{39AD1AC8-4718-4F55-B779-F0CA992F0AC2}" type="presOf" srcId="{4A888B7D-56C2-426C-B07D-F94BF6019F60}" destId="{C396C8E6-DD98-4AE0-B388-15AE5240E4CE}" srcOrd="0" destOrd="0" presId="urn:microsoft.com/office/officeart/2005/8/layout/orgChart1"/>
    <dgm:cxn modelId="{169C1C82-950F-4516-B4A0-6C13ED10ED02}" type="presOf" srcId="{FB2F2203-C57D-469D-8ACC-EE4E76B9EAB6}" destId="{CB2B1BCA-F0A1-4419-BC57-90096ACDFADE}" srcOrd="0" destOrd="0" presId="urn:microsoft.com/office/officeart/2005/8/layout/orgChart1"/>
    <dgm:cxn modelId="{844DDD19-DE83-4841-8D36-D56A2FF9CA48}" type="presParOf" srcId="{C396C8E6-DD98-4AE0-B388-15AE5240E4CE}" destId="{2D82F947-906F-4E23-A14E-549D51E8F0F8}" srcOrd="0" destOrd="0" presId="urn:microsoft.com/office/officeart/2005/8/layout/orgChart1"/>
    <dgm:cxn modelId="{AAF484BE-9873-4EB6-B49C-31514260685C}" type="presParOf" srcId="{2D82F947-906F-4E23-A14E-549D51E8F0F8}" destId="{1C4BA0D5-7C61-4A73-B1F1-F18737B66C1C}" srcOrd="0" destOrd="0" presId="urn:microsoft.com/office/officeart/2005/8/layout/orgChart1"/>
    <dgm:cxn modelId="{960729F7-DB69-4F99-A08A-9D765AD092BB}" type="presParOf" srcId="{1C4BA0D5-7C61-4A73-B1F1-F18737B66C1C}" destId="{96D227ED-A6CA-43F4-BD13-7CBCAD54305A}" srcOrd="0" destOrd="0" presId="urn:microsoft.com/office/officeart/2005/8/layout/orgChart1"/>
    <dgm:cxn modelId="{8F698BF3-BA37-4DE1-976D-6A1714F51C34}" type="presParOf" srcId="{1C4BA0D5-7C61-4A73-B1F1-F18737B66C1C}" destId="{E81B5F3F-B7CE-4111-98A6-BBECB2FC80DD}" srcOrd="1" destOrd="0" presId="urn:microsoft.com/office/officeart/2005/8/layout/orgChart1"/>
    <dgm:cxn modelId="{87077DE8-3CD0-46A1-B315-44E6EDF7335D}" type="presParOf" srcId="{2D82F947-906F-4E23-A14E-549D51E8F0F8}" destId="{C4E035B9-5977-4716-9199-65F930018FA4}" srcOrd="1" destOrd="0" presId="urn:microsoft.com/office/officeart/2005/8/layout/orgChart1"/>
    <dgm:cxn modelId="{89170912-55A3-442D-9CCC-A9638685B65A}" type="presParOf" srcId="{C4E035B9-5977-4716-9199-65F930018FA4}" destId="{B1D26D52-76AE-40B7-B56C-D5661A984D1E}" srcOrd="0" destOrd="0" presId="urn:microsoft.com/office/officeart/2005/8/layout/orgChart1"/>
    <dgm:cxn modelId="{116B1F16-A53A-4AB8-931B-3B248C39E899}" type="presParOf" srcId="{C4E035B9-5977-4716-9199-65F930018FA4}" destId="{F5004774-913A-41A2-9064-6A8F97947778}" srcOrd="1" destOrd="0" presId="urn:microsoft.com/office/officeart/2005/8/layout/orgChart1"/>
    <dgm:cxn modelId="{5ADA1792-2D57-4AE1-B3FA-4E1E5FFDAC74}" type="presParOf" srcId="{F5004774-913A-41A2-9064-6A8F97947778}" destId="{EFC16533-D8FA-4517-B914-2B6DE4C83F8D}" srcOrd="0" destOrd="0" presId="urn:microsoft.com/office/officeart/2005/8/layout/orgChart1"/>
    <dgm:cxn modelId="{9C293CE3-7083-4E5D-8B1A-530C7BEA0A91}" type="presParOf" srcId="{EFC16533-D8FA-4517-B914-2B6DE4C83F8D}" destId="{A50CC778-2E32-4FDA-B076-A1D1169021FC}" srcOrd="0" destOrd="0" presId="urn:microsoft.com/office/officeart/2005/8/layout/orgChart1"/>
    <dgm:cxn modelId="{641DE172-0E36-45AD-A88E-142F91278B8E}" type="presParOf" srcId="{EFC16533-D8FA-4517-B914-2B6DE4C83F8D}" destId="{51D1562C-E55F-4DDF-8534-3A5DE698FA0E}" srcOrd="1" destOrd="0" presId="urn:microsoft.com/office/officeart/2005/8/layout/orgChart1"/>
    <dgm:cxn modelId="{1AB677CB-62AD-49C2-A9E2-5240BE8C381A}" type="presParOf" srcId="{F5004774-913A-41A2-9064-6A8F97947778}" destId="{CAE80FC1-848F-4965-9912-420ABF3F4410}" srcOrd="1" destOrd="0" presId="urn:microsoft.com/office/officeart/2005/8/layout/orgChart1"/>
    <dgm:cxn modelId="{FDB753B1-3308-4828-BFEB-1844121776AC}" type="presParOf" srcId="{CAE80FC1-848F-4965-9912-420ABF3F4410}" destId="{F5DC8158-41FD-4A7B-97D3-FD801E9B591B}" srcOrd="0" destOrd="0" presId="urn:microsoft.com/office/officeart/2005/8/layout/orgChart1"/>
    <dgm:cxn modelId="{15D6F829-1FDB-4727-AB14-DFEFC9FDD9C6}" type="presParOf" srcId="{CAE80FC1-848F-4965-9912-420ABF3F4410}" destId="{37FF66CF-D7F4-449D-9C24-F554F6167F96}" srcOrd="1" destOrd="0" presId="urn:microsoft.com/office/officeart/2005/8/layout/orgChart1"/>
    <dgm:cxn modelId="{DB9AB4F3-794A-46D4-B82F-FBE0AD3EBDCD}" type="presParOf" srcId="{37FF66CF-D7F4-449D-9C24-F554F6167F96}" destId="{7CCB8929-517D-4488-92E2-618C759E2EFC}" srcOrd="0" destOrd="0" presId="urn:microsoft.com/office/officeart/2005/8/layout/orgChart1"/>
    <dgm:cxn modelId="{F4F1ECFA-B07F-4E84-87EA-4963B7354FB8}" type="presParOf" srcId="{7CCB8929-517D-4488-92E2-618C759E2EFC}" destId="{6F482FB1-E278-4B4A-9505-DCCFC40924DA}" srcOrd="0" destOrd="0" presId="urn:microsoft.com/office/officeart/2005/8/layout/orgChart1"/>
    <dgm:cxn modelId="{55CF56E0-07D8-4D60-8440-1AB51B8630CE}" type="presParOf" srcId="{7CCB8929-517D-4488-92E2-618C759E2EFC}" destId="{CF72FEE0-366A-424A-9D35-246141219D3D}" srcOrd="1" destOrd="0" presId="urn:microsoft.com/office/officeart/2005/8/layout/orgChart1"/>
    <dgm:cxn modelId="{EE65725F-E872-424A-A0BD-70B479684586}" type="presParOf" srcId="{37FF66CF-D7F4-449D-9C24-F554F6167F96}" destId="{BE7CB605-4F91-4DC0-9153-7E7A7ACB3C9F}" srcOrd="1" destOrd="0" presId="urn:microsoft.com/office/officeart/2005/8/layout/orgChart1"/>
    <dgm:cxn modelId="{097F1190-D415-4D78-B357-9C75EEABE077}" type="presParOf" srcId="{37FF66CF-D7F4-449D-9C24-F554F6167F96}" destId="{BDD93DD9-13DD-4DF4-B8FA-54C73ECCB5F3}" srcOrd="2" destOrd="0" presId="urn:microsoft.com/office/officeart/2005/8/layout/orgChart1"/>
    <dgm:cxn modelId="{1F86464F-89E8-458C-A65B-A695FA08F1D4}" type="presParOf" srcId="{CAE80FC1-848F-4965-9912-420ABF3F4410}" destId="{2967F510-2492-415B-A70C-AFC8F34B8916}" srcOrd="2" destOrd="0" presId="urn:microsoft.com/office/officeart/2005/8/layout/orgChart1"/>
    <dgm:cxn modelId="{3DAF93C6-ED2F-4EEA-A263-B68DC0E9AF06}" type="presParOf" srcId="{CAE80FC1-848F-4965-9912-420ABF3F4410}" destId="{0A21D8D3-CE7D-4C74-B297-0EDFD47DAFFC}" srcOrd="3" destOrd="0" presId="urn:microsoft.com/office/officeart/2005/8/layout/orgChart1"/>
    <dgm:cxn modelId="{CAEB3BC9-B3EC-4131-B2A2-20F32A96D596}" type="presParOf" srcId="{0A21D8D3-CE7D-4C74-B297-0EDFD47DAFFC}" destId="{9EF82B4F-35A7-48D9-8275-2A569F2AA30B}" srcOrd="0" destOrd="0" presId="urn:microsoft.com/office/officeart/2005/8/layout/orgChart1"/>
    <dgm:cxn modelId="{6269014A-53A6-4CEB-9922-260C0E3F621C}" type="presParOf" srcId="{9EF82B4F-35A7-48D9-8275-2A569F2AA30B}" destId="{CB2B1BCA-F0A1-4419-BC57-90096ACDFADE}" srcOrd="0" destOrd="0" presId="urn:microsoft.com/office/officeart/2005/8/layout/orgChart1"/>
    <dgm:cxn modelId="{CFBFE3A6-4164-413E-BA26-005A59EFB026}" type="presParOf" srcId="{9EF82B4F-35A7-48D9-8275-2A569F2AA30B}" destId="{E092891D-3BCF-49FE-ADAE-B7C97DF6C585}" srcOrd="1" destOrd="0" presId="urn:microsoft.com/office/officeart/2005/8/layout/orgChart1"/>
    <dgm:cxn modelId="{16763B91-94C5-4B60-9FBD-DE629DB7E820}" type="presParOf" srcId="{0A21D8D3-CE7D-4C74-B297-0EDFD47DAFFC}" destId="{DF06745D-4668-4E26-A760-1AFACDED77F2}" srcOrd="1" destOrd="0" presId="urn:microsoft.com/office/officeart/2005/8/layout/orgChart1"/>
    <dgm:cxn modelId="{24994E34-3537-4547-A0F8-EAFB3E3668F7}" type="presParOf" srcId="{0A21D8D3-CE7D-4C74-B297-0EDFD47DAFFC}" destId="{A0BC7010-0D3B-4E0D-925E-45C0DB61260F}" srcOrd="2" destOrd="0" presId="urn:microsoft.com/office/officeart/2005/8/layout/orgChart1"/>
    <dgm:cxn modelId="{305CF92E-04DF-4C31-8E7A-37B3C4BE3476}" type="presParOf" srcId="{CAE80FC1-848F-4965-9912-420ABF3F4410}" destId="{5DDB3DB6-54BC-469C-ADD4-49E3C07D03A2}" srcOrd="4" destOrd="0" presId="urn:microsoft.com/office/officeart/2005/8/layout/orgChart1"/>
    <dgm:cxn modelId="{575BDD6B-35B6-48C1-BD75-6FE5A8EE3C63}" type="presParOf" srcId="{CAE80FC1-848F-4965-9912-420ABF3F4410}" destId="{06F99ABC-62B4-4D29-94F8-337859BC32A5}" srcOrd="5" destOrd="0" presId="urn:microsoft.com/office/officeart/2005/8/layout/orgChart1"/>
    <dgm:cxn modelId="{269254D6-025E-4C76-BF19-4F45D904253E}" type="presParOf" srcId="{06F99ABC-62B4-4D29-94F8-337859BC32A5}" destId="{16F34E07-6A53-48B9-A0AE-132E56698D2C}" srcOrd="0" destOrd="0" presId="urn:microsoft.com/office/officeart/2005/8/layout/orgChart1"/>
    <dgm:cxn modelId="{C2571190-B8C8-4459-A638-94AE3AFC7466}" type="presParOf" srcId="{16F34E07-6A53-48B9-A0AE-132E56698D2C}" destId="{F4BE0C0A-6915-4AC1-86F0-DB18690C8301}" srcOrd="0" destOrd="0" presId="urn:microsoft.com/office/officeart/2005/8/layout/orgChart1"/>
    <dgm:cxn modelId="{4616CC27-D877-4DAB-897F-D4DFB68174BD}" type="presParOf" srcId="{16F34E07-6A53-48B9-A0AE-132E56698D2C}" destId="{4EF3303B-2B05-461A-9BBD-A4211E43CAB6}" srcOrd="1" destOrd="0" presId="urn:microsoft.com/office/officeart/2005/8/layout/orgChart1"/>
    <dgm:cxn modelId="{6611A894-F1BB-455A-B15D-C72F6CE64D2A}" type="presParOf" srcId="{06F99ABC-62B4-4D29-94F8-337859BC32A5}" destId="{0BFEC9FE-1FD4-4CD3-90F4-DACE32D0F3A0}" srcOrd="1" destOrd="0" presId="urn:microsoft.com/office/officeart/2005/8/layout/orgChart1"/>
    <dgm:cxn modelId="{D14866D1-A788-4404-BF2F-D22707B3AFDF}" type="presParOf" srcId="{06F99ABC-62B4-4D29-94F8-337859BC32A5}" destId="{A2F6DFD3-1CDE-405B-8A48-53ED154AE686}" srcOrd="2" destOrd="0" presId="urn:microsoft.com/office/officeart/2005/8/layout/orgChart1"/>
    <dgm:cxn modelId="{32204507-B667-4F36-8A3C-D6DA5758ECEE}" type="presParOf" srcId="{F5004774-913A-41A2-9064-6A8F97947778}" destId="{F7610613-6233-470E-AEC9-19EAA86A500C}" srcOrd="2" destOrd="0" presId="urn:microsoft.com/office/officeart/2005/8/layout/orgChart1"/>
    <dgm:cxn modelId="{FB1666FF-7E46-4A8E-A0DC-831890C89C49}" type="presParOf" srcId="{C4E035B9-5977-4716-9199-65F930018FA4}" destId="{ADCC96BD-A2CF-4AF4-87D0-2FC5CA600A7D}" srcOrd="2" destOrd="0" presId="urn:microsoft.com/office/officeart/2005/8/layout/orgChart1"/>
    <dgm:cxn modelId="{47EB21AA-4BD3-4C62-B16C-AC2035658E59}" type="presParOf" srcId="{C4E035B9-5977-4716-9199-65F930018FA4}" destId="{387E3207-7819-4616-B75D-E85145A9F668}" srcOrd="3" destOrd="0" presId="urn:microsoft.com/office/officeart/2005/8/layout/orgChart1"/>
    <dgm:cxn modelId="{38BC3DDE-DC0B-4D4B-9541-7FA736524223}" type="presParOf" srcId="{387E3207-7819-4616-B75D-E85145A9F668}" destId="{B04FFB01-6EAF-4A5E-9479-6416248A998E}" srcOrd="0" destOrd="0" presId="urn:microsoft.com/office/officeart/2005/8/layout/orgChart1"/>
    <dgm:cxn modelId="{FF1477A2-3643-47BA-8EF6-6236289CB1A5}" type="presParOf" srcId="{B04FFB01-6EAF-4A5E-9479-6416248A998E}" destId="{21555FA3-6609-4791-8AF0-A0B3AAE92653}" srcOrd="0" destOrd="0" presId="urn:microsoft.com/office/officeart/2005/8/layout/orgChart1"/>
    <dgm:cxn modelId="{5DD11336-654B-40EE-92A5-E0558EC8BB99}" type="presParOf" srcId="{B04FFB01-6EAF-4A5E-9479-6416248A998E}" destId="{B7050AA6-8DB4-49EF-8FAB-E63F268AB888}" srcOrd="1" destOrd="0" presId="urn:microsoft.com/office/officeart/2005/8/layout/orgChart1"/>
    <dgm:cxn modelId="{87BDB210-D5F2-4A36-B94A-1CD733866802}" type="presParOf" srcId="{387E3207-7819-4616-B75D-E85145A9F668}" destId="{B41B9D2D-DA49-4B59-B180-EB9FA25F6C5A}" srcOrd="1" destOrd="0" presId="urn:microsoft.com/office/officeart/2005/8/layout/orgChart1"/>
    <dgm:cxn modelId="{A36A4543-634E-4DFD-96E5-ACF8531E983A}" type="presParOf" srcId="{B41B9D2D-DA49-4B59-B180-EB9FA25F6C5A}" destId="{FE698947-F5E6-4A4D-91C8-6769173CDA2F}" srcOrd="0" destOrd="0" presId="urn:microsoft.com/office/officeart/2005/8/layout/orgChart1"/>
    <dgm:cxn modelId="{A79FB945-3B3E-4F97-83D6-32A7596752C5}" type="presParOf" srcId="{B41B9D2D-DA49-4B59-B180-EB9FA25F6C5A}" destId="{FE1EBB24-2D5E-4E5C-9D93-78E65E9C6B3C}" srcOrd="1" destOrd="0" presId="urn:microsoft.com/office/officeart/2005/8/layout/orgChart1"/>
    <dgm:cxn modelId="{D0BE5D30-0032-4FCF-9FD4-B53B4D105F20}" type="presParOf" srcId="{FE1EBB24-2D5E-4E5C-9D93-78E65E9C6B3C}" destId="{A75A6776-5C27-4C3B-98D8-03295C7C71C9}" srcOrd="0" destOrd="0" presId="urn:microsoft.com/office/officeart/2005/8/layout/orgChart1"/>
    <dgm:cxn modelId="{A45EC494-2EB5-4C34-B828-33C2ACD69288}" type="presParOf" srcId="{A75A6776-5C27-4C3B-98D8-03295C7C71C9}" destId="{DEDEBE14-2085-4202-80CC-0622277EFC2F}" srcOrd="0" destOrd="0" presId="urn:microsoft.com/office/officeart/2005/8/layout/orgChart1"/>
    <dgm:cxn modelId="{805042A0-48CD-4091-9237-93179C6E347C}" type="presParOf" srcId="{A75A6776-5C27-4C3B-98D8-03295C7C71C9}" destId="{99264C88-F8ED-4B40-BBA4-027D01D055F1}" srcOrd="1" destOrd="0" presId="urn:microsoft.com/office/officeart/2005/8/layout/orgChart1"/>
    <dgm:cxn modelId="{712318C5-E2C1-495B-9371-595F58B411D9}" type="presParOf" srcId="{FE1EBB24-2D5E-4E5C-9D93-78E65E9C6B3C}" destId="{3037A0C6-D7B3-42AE-94FF-71C6DBA478AA}" srcOrd="1" destOrd="0" presId="urn:microsoft.com/office/officeart/2005/8/layout/orgChart1"/>
    <dgm:cxn modelId="{0E63B26D-294C-49C8-9A9F-5E34B2FA7C2B}" type="presParOf" srcId="{FE1EBB24-2D5E-4E5C-9D93-78E65E9C6B3C}" destId="{1C9C4554-64C2-4639-B4AD-460822F7D741}" srcOrd="2" destOrd="0" presId="urn:microsoft.com/office/officeart/2005/8/layout/orgChart1"/>
    <dgm:cxn modelId="{4BF6167E-C029-4FDD-B5FA-3D9681253521}" type="presParOf" srcId="{B41B9D2D-DA49-4B59-B180-EB9FA25F6C5A}" destId="{B9DE3511-88A1-46D6-A82C-7D0319EB16B3}" srcOrd="2" destOrd="0" presId="urn:microsoft.com/office/officeart/2005/8/layout/orgChart1"/>
    <dgm:cxn modelId="{5E4298B1-3DB9-426D-AB50-D162988AEB79}" type="presParOf" srcId="{B41B9D2D-DA49-4B59-B180-EB9FA25F6C5A}" destId="{72100643-3530-4638-8BAA-8A8BCA0515BC}" srcOrd="3" destOrd="0" presId="urn:microsoft.com/office/officeart/2005/8/layout/orgChart1"/>
    <dgm:cxn modelId="{4E29856F-51C1-46BB-A553-FC6904C4AC10}" type="presParOf" srcId="{72100643-3530-4638-8BAA-8A8BCA0515BC}" destId="{E1758ECC-B049-4898-8682-921A88D80C10}" srcOrd="0" destOrd="0" presId="urn:microsoft.com/office/officeart/2005/8/layout/orgChart1"/>
    <dgm:cxn modelId="{213E7CAB-2233-4BA3-BBE2-B29C87B99F35}" type="presParOf" srcId="{E1758ECC-B049-4898-8682-921A88D80C10}" destId="{F73BEC96-CC19-480D-9DFA-2BC2C045F04C}" srcOrd="0" destOrd="0" presId="urn:microsoft.com/office/officeart/2005/8/layout/orgChart1"/>
    <dgm:cxn modelId="{20340747-5551-4C10-AB2B-4CC591BA28B5}" type="presParOf" srcId="{E1758ECC-B049-4898-8682-921A88D80C10}" destId="{0B598B4C-5D86-4680-8323-E69D636415C3}" srcOrd="1" destOrd="0" presId="urn:microsoft.com/office/officeart/2005/8/layout/orgChart1"/>
    <dgm:cxn modelId="{39705F45-B8E0-45E2-805E-290C4EB0D4FA}" type="presParOf" srcId="{72100643-3530-4638-8BAA-8A8BCA0515BC}" destId="{077BAC0E-55B8-4670-87B8-871B46BB4856}" srcOrd="1" destOrd="0" presId="urn:microsoft.com/office/officeart/2005/8/layout/orgChart1"/>
    <dgm:cxn modelId="{8F05051D-280A-414C-82B9-52AE13EFBD2B}" type="presParOf" srcId="{72100643-3530-4638-8BAA-8A8BCA0515BC}" destId="{08DAA66C-5BD7-4FE0-9BD2-4116336A86B7}" srcOrd="2" destOrd="0" presId="urn:microsoft.com/office/officeart/2005/8/layout/orgChart1"/>
    <dgm:cxn modelId="{41B67C6C-AB5F-47ED-8019-A2037638AADA}" type="presParOf" srcId="{B41B9D2D-DA49-4B59-B180-EB9FA25F6C5A}" destId="{ACC50FD6-0938-4269-A368-D8015A0A58A4}" srcOrd="4" destOrd="0" presId="urn:microsoft.com/office/officeart/2005/8/layout/orgChart1"/>
    <dgm:cxn modelId="{F3DC87D6-1BD3-45BC-93C7-3B5A71ADADB0}" type="presParOf" srcId="{B41B9D2D-DA49-4B59-B180-EB9FA25F6C5A}" destId="{8FDB5BCF-7A62-459B-AC42-BADFAAE29A01}" srcOrd="5" destOrd="0" presId="urn:microsoft.com/office/officeart/2005/8/layout/orgChart1"/>
    <dgm:cxn modelId="{305BA380-F834-4EB3-AECE-6DE3CAF73E81}" type="presParOf" srcId="{8FDB5BCF-7A62-459B-AC42-BADFAAE29A01}" destId="{52FF5C0B-3F58-4164-8842-DBBD808AD5D4}" srcOrd="0" destOrd="0" presId="urn:microsoft.com/office/officeart/2005/8/layout/orgChart1"/>
    <dgm:cxn modelId="{CDB80FFC-86D5-4275-90D3-C6F5D0CA60FC}" type="presParOf" srcId="{52FF5C0B-3F58-4164-8842-DBBD808AD5D4}" destId="{F1DF15F5-20C7-43EB-8595-964B781E0202}" srcOrd="0" destOrd="0" presId="urn:microsoft.com/office/officeart/2005/8/layout/orgChart1"/>
    <dgm:cxn modelId="{308352E8-1EAB-4672-95C9-3572375DA638}" type="presParOf" srcId="{52FF5C0B-3F58-4164-8842-DBBD808AD5D4}" destId="{5DA80D17-830A-4559-8C5B-2B05CF342532}" srcOrd="1" destOrd="0" presId="urn:microsoft.com/office/officeart/2005/8/layout/orgChart1"/>
    <dgm:cxn modelId="{30605E87-A72C-4AE6-A80C-C83C6864A09B}" type="presParOf" srcId="{8FDB5BCF-7A62-459B-AC42-BADFAAE29A01}" destId="{3BA84E82-7B1E-4DC3-A890-1902FE6D8DF6}" srcOrd="1" destOrd="0" presId="urn:microsoft.com/office/officeart/2005/8/layout/orgChart1"/>
    <dgm:cxn modelId="{9F85FC02-8BE4-4914-A470-8EEB38E3D56E}" type="presParOf" srcId="{8FDB5BCF-7A62-459B-AC42-BADFAAE29A01}" destId="{159B4EFB-51DC-4BEB-84D9-786AAEAA5033}" srcOrd="2" destOrd="0" presId="urn:microsoft.com/office/officeart/2005/8/layout/orgChart1"/>
    <dgm:cxn modelId="{048CD96F-F874-496D-B035-077A2C034213}" type="presParOf" srcId="{387E3207-7819-4616-B75D-E85145A9F668}" destId="{23685B7E-E46F-4F1A-AF0F-59BD3D543132}" srcOrd="2" destOrd="0" presId="urn:microsoft.com/office/officeart/2005/8/layout/orgChart1"/>
    <dgm:cxn modelId="{5769B36B-E9ED-4A3B-9F1A-B5103C900106}" type="presParOf" srcId="{2D82F947-906F-4E23-A14E-549D51E8F0F8}" destId="{D4A4C464-475A-4024-B7FD-BA2972EEB3E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50FD6-0938-4269-A368-D8015A0A58A4}">
      <dsp:nvSpPr>
        <dsp:cNvPr id="0" name=""/>
        <dsp:cNvSpPr/>
      </dsp:nvSpPr>
      <dsp:spPr>
        <a:xfrm>
          <a:off x="4044862" y="2127233"/>
          <a:ext cx="236846" cy="321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19358"/>
              </a:lnTo>
              <a:lnTo>
                <a:pt x="236846" y="3219358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DE3511-88A1-46D6-A82C-7D0319EB16B3}">
      <dsp:nvSpPr>
        <dsp:cNvPr id="0" name=""/>
        <dsp:cNvSpPr/>
      </dsp:nvSpPr>
      <dsp:spPr>
        <a:xfrm>
          <a:off x="4044862" y="2127233"/>
          <a:ext cx="236846" cy="19973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7378"/>
              </a:lnTo>
              <a:lnTo>
                <a:pt x="236846" y="1997378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698947-F5E6-4A4D-91C8-6769173CDA2F}">
      <dsp:nvSpPr>
        <dsp:cNvPr id="0" name=""/>
        <dsp:cNvSpPr/>
      </dsp:nvSpPr>
      <dsp:spPr>
        <a:xfrm>
          <a:off x="4044862" y="2127233"/>
          <a:ext cx="240261" cy="7753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5398"/>
              </a:lnTo>
              <a:lnTo>
                <a:pt x="240261" y="775398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C96BD-A2CF-4AF4-87D0-2FC5CA600A7D}">
      <dsp:nvSpPr>
        <dsp:cNvPr id="0" name=""/>
        <dsp:cNvSpPr/>
      </dsp:nvSpPr>
      <dsp:spPr>
        <a:xfrm>
          <a:off x="3328758" y="888946"/>
          <a:ext cx="1981380" cy="377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022"/>
              </a:lnTo>
              <a:lnTo>
                <a:pt x="1981380" y="197022"/>
              </a:lnTo>
              <a:lnTo>
                <a:pt x="1981380" y="377738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B3DB6-54BC-469C-ADD4-49E3C07D03A2}">
      <dsp:nvSpPr>
        <dsp:cNvPr id="0" name=""/>
        <dsp:cNvSpPr/>
      </dsp:nvSpPr>
      <dsp:spPr>
        <a:xfrm>
          <a:off x="239289" y="2131321"/>
          <a:ext cx="215023" cy="3215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15270"/>
              </a:lnTo>
              <a:lnTo>
                <a:pt x="215023" y="321527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67F510-2492-415B-A70C-AFC8F34B8916}">
      <dsp:nvSpPr>
        <dsp:cNvPr id="0" name=""/>
        <dsp:cNvSpPr/>
      </dsp:nvSpPr>
      <dsp:spPr>
        <a:xfrm>
          <a:off x="239289" y="2131321"/>
          <a:ext cx="215023" cy="19932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93290"/>
              </a:lnTo>
              <a:lnTo>
                <a:pt x="215023" y="1993290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DC8158-41FD-4A7B-97D3-FD801E9B591B}">
      <dsp:nvSpPr>
        <dsp:cNvPr id="0" name=""/>
        <dsp:cNvSpPr/>
      </dsp:nvSpPr>
      <dsp:spPr>
        <a:xfrm>
          <a:off x="239289" y="2131321"/>
          <a:ext cx="195781" cy="8907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754"/>
              </a:lnTo>
              <a:lnTo>
                <a:pt x="195781" y="890754"/>
              </a:lnTo>
            </a:path>
          </a:pathLst>
        </a:custGeom>
        <a:noFill/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26D52-76AE-40B7-B56C-D5661A984D1E}">
      <dsp:nvSpPr>
        <dsp:cNvPr id="0" name=""/>
        <dsp:cNvSpPr/>
      </dsp:nvSpPr>
      <dsp:spPr>
        <a:xfrm>
          <a:off x="1196447" y="888946"/>
          <a:ext cx="2132310" cy="381825"/>
        </a:xfrm>
        <a:custGeom>
          <a:avLst/>
          <a:gdLst/>
          <a:ahLst/>
          <a:cxnLst/>
          <a:rect l="0" t="0" r="0" b="0"/>
          <a:pathLst>
            <a:path>
              <a:moveTo>
                <a:pt x="2132310" y="0"/>
              </a:moveTo>
              <a:lnTo>
                <a:pt x="2132310" y="201110"/>
              </a:lnTo>
              <a:lnTo>
                <a:pt x="0" y="201110"/>
              </a:lnTo>
              <a:lnTo>
                <a:pt x="0" y="381825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tailEnd type="triangle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D227ED-A6CA-43F4-BD13-7CBCAD54305A}">
      <dsp:nvSpPr>
        <dsp:cNvPr id="0" name=""/>
        <dsp:cNvSpPr/>
      </dsp:nvSpPr>
      <dsp:spPr>
        <a:xfrm>
          <a:off x="2103189" y="28397"/>
          <a:ext cx="2451137" cy="860549"/>
        </a:xfrm>
        <a:prstGeom prst="rect">
          <a:avLst/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chemeClr val="tx2"/>
              </a:solidFill>
            </a:rPr>
            <a:t>RBF Incentives</a:t>
          </a:r>
          <a:endParaRPr lang="en-GB" sz="2800" b="1" kern="1200" dirty="0">
            <a:solidFill>
              <a:schemeClr val="tx2"/>
            </a:solidFill>
          </a:endParaRPr>
        </a:p>
      </dsp:txBody>
      <dsp:txXfrm>
        <a:off x="2103189" y="28397"/>
        <a:ext cx="2451137" cy="860549"/>
      </dsp:txXfrm>
    </dsp:sp>
    <dsp:sp modelId="{A50CC778-2E32-4FDA-B076-A1D1169021FC}">
      <dsp:nvSpPr>
        <dsp:cNvPr id="0" name=""/>
        <dsp:cNvSpPr/>
      </dsp:nvSpPr>
      <dsp:spPr>
        <a:xfrm>
          <a:off x="0" y="1270772"/>
          <a:ext cx="2392895" cy="8605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/>
            <a:t>Cookstoves</a:t>
          </a:r>
          <a:r>
            <a:rPr lang="en-US" sz="1800" b="1" kern="1200" dirty="0" smtClean="0"/>
            <a:t> Distributors</a:t>
          </a:r>
          <a:endParaRPr lang="en-GB" sz="1800" b="1" kern="1200" dirty="0"/>
        </a:p>
      </dsp:txBody>
      <dsp:txXfrm>
        <a:off x="0" y="1270772"/>
        <a:ext cx="2392895" cy="860549"/>
      </dsp:txXfrm>
    </dsp:sp>
    <dsp:sp modelId="{6F482FB1-E278-4B4A-9505-DCCFC40924DA}">
      <dsp:nvSpPr>
        <dsp:cNvPr id="0" name=""/>
        <dsp:cNvSpPr/>
      </dsp:nvSpPr>
      <dsp:spPr>
        <a:xfrm>
          <a:off x="435070" y="2591801"/>
          <a:ext cx="3318639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2"/>
              </a:solidFill>
            </a:rPr>
            <a:t>Incentives for up-front investment and taking risk </a:t>
          </a:r>
          <a:endParaRPr lang="en-GB" sz="1800" kern="1200" dirty="0">
            <a:solidFill>
              <a:schemeClr val="tx2"/>
            </a:solidFill>
          </a:endParaRPr>
        </a:p>
      </dsp:txBody>
      <dsp:txXfrm>
        <a:off x="435070" y="2591801"/>
        <a:ext cx="3318639" cy="860549"/>
      </dsp:txXfrm>
    </dsp:sp>
    <dsp:sp modelId="{CB2B1BCA-F0A1-4419-BC57-90096ACDFADE}">
      <dsp:nvSpPr>
        <dsp:cNvPr id="0" name=""/>
        <dsp:cNvSpPr/>
      </dsp:nvSpPr>
      <dsp:spPr>
        <a:xfrm>
          <a:off x="454312" y="3694337"/>
          <a:ext cx="3318639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2"/>
              </a:solidFill>
            </a:rPr>
            <a:t>Discount to users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2"/>
              </a:solidFill>
            </a:rPr>
            <a:t>(40% of </a:t>
          </a:r>
          <a:r>
            <a:rPr lang="en-US" sz="2400" b="1" kern="1200" dirty="0" err="1" smtClean="0">
              <a:solidFill>
                <a:schemeClr val="tx2"/>
              </a:solidFill>
            </a:rPr>
            <a:t>MRP</a:t>
          </a:r>
          <a:r>
            <a:rPr lang="en-US" sz="2400" b="1" kern="1200" dirty="0" smtClean="0">
              <a:solidFill>
                <a:schemeClr val="tx2"/>
              </a:solidFill>
            </a:rPr>
            <a:t>)</a:t>
          </a:r>
          <a:endParaRPr lang="en-GB" sz="2400" b="1" kern="1200" dirty="0">
            <a:solidFill>
              <a:schemeClr val="tx2"/>
            </a:solidFill>
          </a:endParaRPr>
        </a:p>
      </dsp:txBody>
      <dsp:txXfrm>
        <a:off x="454312" y="3694337"/>
        <a:ext cx="3318639" cy="860549"/>
      </dsp:txXfrm>
    </dsp:sp>
    <dsp:sp modelId="{F4BE0C0A-6915-4AC1-86F0-DB18690C8301}">
      <dsp:nvSpPr>
        <dsp:cNvPr id="0" name=""/>
        <dsp:cNvSpPr/>
      </dsp:nvSpPr>
      <dsp:spPr>
        <a:xfrm>
          <a:off x="454312" y="4916317"/>
          <a:ext cx="3098855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2"/>
              </a:solidFill>
            </a:rPr>
            <a:t>Marketing &amp; documentation cost (</a:t>
          </a:r>
          <a:r>
            <a:rPr lang="en-US" sz="2000" b="1" kern="1200" dirty="0" err="1" smtClean="0">
              <a:solidFill>
                <a:schemeClr val="tx2"/>
              </a:solidFill>
            </a:rPr>
            <a:t>Rs.400</a:t>
          </a:r>
          <a:r>
            <a:rPr lang="en-US" sz="2000" b="1" kern="1200" dirty="0" smtClean="0">
              <a:solidFill>
                <a:schemeClr val="tx2"/>
              </a:solidFill>
            </a:rPr>
            <a:t>/stove)</a:t>
          </a:r>
          <a:endParaRPr lang="en-GB" sz="2000" b="1" kern="1200" dirty="0">
            <a:solidFill>
              <a:schemeClr val="tx2"/>
            </a:solidFill>
          </a:endParaRPr>
        </a:p>
      </dsp:txBody>
      <dsp:txXfrm>
        <a:off x="454312" y="4916317"/>
        <a:ext cx="3098855" cy="860549"/>
      </dsp:txXfrm>
    </dsp:sp>
    <dsp:sp modelId="{21555FA3-6609-4791-8AF0-A0B3AAE92653}">
      <dsp:nvSpPr>
        <dsp:cNvPr id="0" name=""/>
        <dsp:cNvSpPr/>
      </dsp:nvSpPr>
      <dsp:spPr>
        <a:xfrm>
          <a:off x="3728543" y="1266684"/>
          <a:ext cx="3163190" cy="8605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Cooperatives/MFIs</a:t>
          </a:r>
          <a:endParaRPr lang="en-GB" sz="1800" b="1" kern="1200" dirty="0"/>
        </a:p>
      </dsp:txBody>
      <dsp:txXfrm>
        <a:off x="3728543" y="1266684"/>
        <a:ext cx="3163190" cy="860549"/>
      </dsp:txXfrm>
    </dsp:sp>
    <dsp:sp modelId="{DEDEBE14-2085-4202-80CC-0622277EFC2F}">
      <dsp:nvSpPr>
        <dsp:cNvPr id="0" name=""/>
        <dsp:cNvSpPr/>
      </dsp:nvSpPr>
      <dsp:spPr>
        <a:xfrm>
          <a:off x="4285124" y="2472357"/>
          <a:ext cx="4391331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Management, documentation reporting and marketing cost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(</a:t>
          </a:r>
          <a:r>
            <a:rPr lang="en-US" sz="1800" b="1" kern="1200" dirty="0" err="1" smtClean="0">
              <a:solidFill>
                <a:schemeClr val="tx2"/>
              </a:solidFill>
            </a:rPr>
            <a:t>Rs</a:t>
          </a:r>
          <a:r>
            <a:rPr lang="en-US" sz="1800" b="1" kern="1200" dirty="0" smtClean="0">
              <a:solidFill>
                <a:schemeClr val="tx2"/>
              </a:solidFill>
            </a:rPr>
            <a:t>. 500/stove)  </a:t>
          </a:r>
          <a:endParaRPr lang="en-GB" sz="1800" b="1" kern="1200" dirty="0">
            <a:solidFill>
              <a:schemeClr val="tx2"/>
            </a:solidFill>
          </a:endParaRPr>
        </a:p>
      </dsp:txBody>
      <dsp:txXfrm>
        <a:off x="4285124" y="2472357"/>
        <a:ext cx="4391331" cy="860549"/>
      </dsp:txXfrm>
    </dsp:sp>
    <dsp:sp modelId="{F73BEC96-CC19-480D-9DFA-2BC2C045F04C}">
      <dsp:nvSpPr>
        <dsp:cNvPr id="0" name=""/>
        <dsp:cNvSpPr/>
      </dsp:nvSpPr>
      <dsp:spPr>
        <a:xfrm>
          <a:off x="4281709" y="3694337"/>
          <a:ext cx="4024169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2"/>
              </a:solidFill>
            </a:rPr>
            <a:t>Incentives for creating credit- lines for </a:t>
          </a:r>
          <a:r>
            <a:rPr lang="en-US" sz="1800" kern="1200" dirty="0" err="1" smtClean="0">
              <a:solidFill>
                <a:schemeClr val="tx2"/>
              </a:solidFill>
            </a:rPr>
            <a:t>cookstoves</a:t>
          </a:r>
          <a:endParaRPr lang="en-GB" sz="1800" kern="1200" dirty="0">
            <a:solidFill>
              <a:schemeClr val="tx2"/>
            </a:solidFill>
          </a:endParaRPr>
        </a:p>
      </dsp:txBody>
      <dsp:txXfrm>
        <a:off x="4281709" y="3694337"/>
        <a:ext cx="4024169" cy="860549"/>
      </dsp:txXfrm>
    </dsp:sp>
    <dsp:sp modelId="{F1DF15F5-20C7-43EB-8595-964B781E0202}">
      <dsp:nvSpPr>
        <dsp:cNvPr id="0" name=""/>
        <dsp:cNvSpPr/>
      </dsp:nvSpPr>
      <dsp:spPr>
        <a:xfrm>
          <a:off x="4281709" y="4916317"/>
          <a:ext cx="4054357" cy="860549"/>
        </a:xfrm>
        <a:prstGeom prst="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Provide soft loan to borrowers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(50% of interest rate)</a:t>
          </a:r>
          <a:endParaRPr lang="en-GB" sz="1800" b="1" kern="1200" dirty="0">
            <a:solidFill>
              <a:schemeClr val="tx2"/>
            </a:solidFill>
          </a:endParaRPr>
        </a:p>
      </dsp:txBody>
      <dsp:txXfrm>
        <a:off x="4281709" y="4916317"/>
        <a:ext cx="4054357" cy="860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869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37" y="0"/>
            <a:ext cx="2982869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C1D76-9EAF-48E9-AB38-76368D31D112}" type="datetimeFigureOut">
              <a:rPr lang="en-GB" smtClean="0"/>
              <a:t>17/01/2019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573"/>
            <a:ext cx="2982869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37" y="8829573"/>
            <a:ext cx="2982869" cy="4653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09A55-303C-4A0B-A60B-D460E1705A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80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869" cy="465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337" y="0"/>
            <a:ext cx="2982869" cy="465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861" y="4415530"/>
            <a:ext cx="5506093" cy="4183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573"/>
            <a:ext cx="2982869" cy="465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337" y="8829573"/>
            <a:ext cx="2982869" cy="465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822846B-66C0-4E55-BC8C-AA727CD26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90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424972" algn="l"/>
                <a:tab pos="852875" algn="l"/>
                <a:tab pos="1280778" algn="l"/>
                <a:tab pos="1708681" algn="l"/>
                <a:tab pos="2136584" algn="l"/>
                <a:tab pos="2564487" algn="l"/>
                <a:tab pos="2992390" algn="l"/>
                <a:tab pos="3420293" algn="l"/>
                <a:tab pos="3846731" algn="l"/>
                <a:tab pos="4274634" algn="l"/>
                <a:tab pos="4702537" algn="l"/>
                <a:tab pos="5130440" algn="l"/>
                <a:tab pos="5558343" algn="l"/>
                <a:tab pos="5986246" algn="l"/>
                <a:tab pos="6414149" algn="l"/>
                <a:tab pos="6842052" algn="l"/>
                <a:tab pos="7269955" algn="l"/>
                <a:tab pos="7696392" algn="l"/>
                <a:tab pos="8124295" algn="l"/>
                <a:tab pos="8552198" algn="l"/>
              </a:tabLst>
            </a:pPr>
            <a:fld id="{A71D3E66-A5F9-4A16-BD2B-6AD700462775}" type="slidenum">
              <a:rPr lang="de-DE" smtClean="0"/>
              <a:pPr>
                <a:tabLst>
                  <a:tab pos="0" algn="l"/>
                  <a:tab pos="424972" algn="l"/>
                  <a:tab pos="852875" algn="l"/>
                  <a:tab pos="1280778" algn="l"/>
                  <a:tab pos="1708681" algn="l"/>
                  <a:tab pos="2136584" algn="l"/>
                  <a:tab pos="2564487" algn="l"/>
                  <a:tab pos="2992390" algn="l"/>
                  <a:tab pos="3420293" algn="l"/>
                  <a:tab pos="3846731" algn="l"/>
                  <a:tab pos="4274634" algn="l"/>
                  <a:tab pos="4702537" algn="l"/>
                  <a:tab pos="5130440" algn="l"/>
                  <a:tab pos="5558343" algn="l"/>
                  <a:tab pos="5986246" algn="l"/>
                  <a:tab pos="6414149" algn="l"/>
                  <a:tab pos="6842052" algn="l"/>
                  <a:tab pos="7269955" algn="l"/>
                  <a:tab pos="7696392" algn="l"/>
                  <a:tab pos="8124295" algn="l"/>
                  <a:tab pos="8552198" algn="l"/>
                </a:tabLst>
              </a:pPr>
              <a:t>1</a:t>
            </a:fld>
            <a:endParaRPr lang="de-DE" dirty="0" smtClean="0"/>
          </a:p>
        </p:txBody>
      </p:sp>
      <p:sp>
        <p:nvSpPr>
          <p:cNvPr id="225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6613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25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7166" y="4415322"/>
            <a:ext cx="5047483" cy="4181722"/>
          </a:xfrm>
          <a:noFill/>
          <a:ln/>
        </p:spPr>
        <p:txBody>
          <a:bodyPr wrap="none" lIns="87058" tIns="43530" rIns="87058" bIns="43530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424964" algn="l"/>
                <a:tab pos="852858" algn="l"/>
                <a:tab pos="1280753" algn="l"/>
                <a:tab pos="1708647" algn="l"/>
                <a:tab pos="2136541" algn="l"/>
                <a:tab pos="2564436" algn="l"/>
                <a:tab pos="2992331" algn="l"/>
                <a:tab pos="3420225" algn="l"/>
                <a:tab pos="3846655" algn="l"/>
                <a:tab pos="4274548" algn="l"/>
                <a:tab pos="4702443" algn="l"/>
                <a:tab pos="5130338" algn="l"/>
                <a:tab pos="5558232" algn="l"/>
                <a:tab pos="5986127" algn="l"/>
                <a:tab pos="6414022" algn="l"/>
                <a:tab pos="6841916" algn="l"/>
                <a:tab pos="7269810" algn="l"/>
                <a:tab pos="7696239" algn="l"/>
                <a:tab pos="8124133" algn="l"/>
                <a:tab pos="8552028" algn="l"/>
              </a:tabLst>
            </a:pPr>
            <a:fld id="{4F4EF6E0-E8BC-47CE-908F-B33C6EF9C580}" type="slidenum">
              <a:rPr lang="de-DE" smtClean="0"/>
              <a:pPr>
                <a:tabLst>
                  <a:tab pos="0" algn="l"/>
                  <a:tab pos="424964" algn="l"/>
                  <a:tab pos="852858" algn="l"/>
                  <a:tab pos="1280753" algn="l"/>
                  <a:tab pos="1708647" algn="l"/>
                  <a:tab pos="2136541" algn="l"/>
                  <a:tab pos="2564436" algn="l"/>
                  <a:tab pos="2992331" algn="l"/>
                  <a:tab pos="3420225" algn="l"/>
                  <a:tab pos="3846655" algn="l"/>
                  <a:tab pos="4274548" algn="l"/>
                  <a:tab pos="4702443" algn="l"/>
                  <a:tab pos="5130338" algn="l"/>
                  <a:tab pos="5558232" algn="l"/>
                  <a:tab pos="5986127" algn="l"/>
                  <a:tab pos="6414022" algn="l"/>
                  <a:tab pos="6841916" algn="l"/>
                  <a:tab pos="7269810" algn="l"/>
                  <a:tab pos="7696239" algn="l"/>
                  <a:tab pos="8124133" algn="l"/>
                  <a:tab pos="8552028" algn="l"/>
                </a:tabLst>
              </a:pPr>
              <a:t>4</a:t>
            </a:fld>
            <a:endParaRPr lang="de-DE" dirty="0" smtClean="0"/>
          </a:p>
        </p:txBody>
      </p:sp>
      <p:sp>
        <p:nvSpPr>
          <p:cNvPr id="26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9188" y="696913"/>
            <a:ext cx="4643437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6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7167" y="4415323"/>
            <a:ext cx="5047483" cy="4181722"/>
          </a:xfrm>
          <a:noFill/>
          <a:ln/>
        </p:spPr>
        <p:txBody>
          <a:bodyPr wrap="none" lIns="87056" tIns="43530" rIns="87056" bIns="43530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712026-789A-48AE-9266-2270CECA647E}" type="slidenum">
              <a:rPr lang="en-GB" smtClean="0"/>
              <a:pPr eaLnBrk="1" hangingPunct="1"/>
              <a:t>10</a:t>
            </a:fld>
            <a:endParaRPr lang="en-GB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6013" y="696913"/>
            <a:ext cx="4649787" cy="34861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 smtClean="0"/>
              <a:t>To change the layout of the slide click on Format/Slide layout and the options will appear in the task pane on the right</a:t>
            </a:r>
          </a:p>
          <a:p>
            <a:pPr eaLnBrk="1" hangingPunct="1"/>
            <a:r>
              <a:rPr lang="en-GB" dirty="0" smtClean="0"/>
              <a:t>To change the picture select the picture and choose Insert/Picture from file.  Select your picture and insert.  Remember that if you wish to use a landscape format picture you will need to change the layout of the slide.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712026-789A-48AE-9266-2270CECA647E}" type="slidenum">
              <a:rPr lang="en-GB" smtClean="0"/>
              <a:pPr eaLnBrk="1" hangingPunct="1"/>
              <a:t>11</a:t>
            </a:fld>
            <a:endParaRPr lang="en-GB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 smtClean="0"/>
              <a:t>To change the layout of the slide click on Format/Slide layout and the options will appear in the task pane on the right</a:t>
            </a:r>
          </a:p>
          <a:p>
            <a:pPr eaLnBrk="1" hangingPunct="1"/>
            <a:r>
              <a:rPr lang="en-GB" dirty="0" smtClean="0"/>
              <a:t>To change the picture select the picture and choose Insert/Picture from file.  Select your picture and insert.  Remember that if you wish to use a landscape format picture you will need to change the layout of the slide.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424972" algn="l"/>
                <a:tab pos="852875" algn="l"/>
                <a:tab pos="1280778" algn="l"/>
                <a:tab pos="1708681" algn="l"/>
                <a:tab pos="2136584" algn="l"/>
                <a:tab pos="2564487" algn="l"/>
                <a:tab pos="2992390" algn="l"/>
                <a:tab pos="3420293" algn="l"/>
                <a:tab pos="3846731" algn="l"/>
                <a:tab pos="4274634" algn="l"/>
                <a:tab pos="4702537" algn="l"/>
                <a:tab pos="5130440" algn="l"/>
                <a:tab pos="5558343" algn="l"/>
                <a:tab pos="5986246" algn="l"/>
                <a:tab pos="6414149" algn="l"/>
                <a:tab pos="6842052" algn="l"/>
                <a:tab pos="7269955" algn="l"/>
                <a:tab pos="7696392" algn="l"/>
                <a:tab pos="8124295" algn="l"/>
                <a:tab pos="8552198" algn="l"/>
              </a:tabLst>
            </a:pPr>
            <a:fld id="{9875C1BF-0FC3-46D1-A7AA-A52004D99126}" type="slidenum">
              <a:rPr lang="de-DE" smtClean="0"/>
              <a:pPr>
                <a:tabLst>
                  <a:tab pos="0" algn="l"/>
                  <a:tab pos="424972" algn="l"/>
                  <a:tab pos="852875" algn="l"/>
                  <a:tab pos="1280778" algn="l"/>
                  <a:tab pos="1708681" algn="l"/>
                  <a:tab pos="2136584" algn="l"/>
                  <a:tab pos="2564487" algn="l"/>
                  <a:tab pos="2992390" algn="l"/>
                  <a:tab pos="3420293" algn="l"/>
                  <a:tab pos="3846731" algn="l"/>
                  <a:tab pos="4274634" algn="l"/>
                  <a:tab pos="4702537" algn="l"/>
                  <a:tab pos="5130440" algn="l"/>
                  <a:tab pos="5558343" algn="l"/>
                  <a:tab pos="5986246" algn="l"/>
                  <a:tab pos="6414149" algn="l"/>
                  <a:tab pos="6842052" algn="l"/>
                  <a:tab pos="7269955" algn="l"/>
                  <a:tab pos="7696392" algn="l"/>
                  <a:tab pos="8124295" algn="l"/>
                  <a:tab pos="8552198" algn="l"/>
                </a:tabLst>
              </a:pPr>
              <a:t>14</a:t>
            </a:fld>
            <a:endParaRPr lang="de-DE" dirty="0" smtClean="0"/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6613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7166" y="4415322"/>
            <a:ext cx="5047483" cy="4181722"/>
          </a:xfrm>
          <a:noFill/>
          <a:ln/>
        </p:spPr>
        <p:txBody>
          <a:bodyPr wrap="none" lIns="87058" tIns="43530" rIns="87058" bIns="43530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5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tabLst>
                <a:tab pos="0" algn="l"/>
                <a:tab pos="424972" algn="l"/>
                <a:tab pos="852875" algn="l"/>
                <a:tab pos="1280778" algn="l"/>
                <a:tab pos="1708681" algn="l"/>
                <a:tab pos="2136584" algn="l"/>
                <a:tab pos="2564487" algn="l"/>
                <a:tab pos="2992390" algn="l"/>
                <a:tab pos="3420293" algn="l"/>
                <a:tab pos="3846731" algn="l"/>
                <a:tab pos="4274634" algn="l"/>
                <a:tab pos="4702537" algn="l"/>
                <a:tab pos="5130440" algn="l"/>
                <a:tab pos="5558343" algn="l"/>
                <a:tab pos="5986246" algn="l"/>
                <a:tab pos="6414149" algn="l"/>
                <a:tab pos="6842052" algn="l"/>
                <a:tab pos="7269955" algn="l"/>
                <a:tab pos="7696392" algn="l"/>
                <a:tab pos="8124295" algn="l"/>
                <a:tab pos="8552198" algn="l"/>
              </a:tabLst>
            </a:pPr>
            <a:fld id="{9875C1BF-0FC3-46D1-A7AA-A52004D99126}" type="slidenum">
              <a:rPr lang="de-DE" smtClean="0"/>
              <a:pPr>
                <a:tabLst>
                  <a:tab pos="0" algn="l"/>
                  <a:tab pos="424972" algn="l"/>
                  <a:tab pos="852875" algn="l"/>
                  <a:tab pos="1280778" algn="l"/>
                  <a:tab pos="1708681" algn="l"/>
                  <a:tab pos="2136584" algn="l"/>
                  <a:tab pos="2564487" algn="l"/>
                  <a:tab pos="2992390" algn="l"/>
                  <a:tab pos="3420293" algn="l"/>
                  <a:tab pos="3846731" algn="l"/>
                  <a:tab pos="4274634" algn="l"/>
                  <a:tab pos="4702537" algn="l"/>
                  <a:tab pos="5130440" algn="l"/>
                  <a:tab pos="5558343" algn="l"/>
                  <a:tab pos="5986246" algn="l"/>
                  <a:tab pos="6414149" algn="l"/>
                  <a:tab pos="6842052" algn="l"/>
                  <a:tab pos="7269955" algn="l"/>
                  <a:tab pos="7696392" algn="l"/>
                  <a:tab pos="8124295" algn="l"/>
                  <a:tab pos="8552198" algn="l"/>
                </a:tabLst>
              </a:pPr>
              <a:t>17</a:t>
            </a:fld>
            <a:endParaRPr lang="de-DE" dirty="0" smtClean="0"/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6613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7166" y="4415322"/>
            <a:ext cx="5047483" cy="4181722"/>
          </a:xfrm>
          <a:noFill/>
          <a:ln/>
        </p:spPr>
        <p:txBody>
          <a:bodyPr wrap="none" lIns="87058" tIns="43530" rIns="87058" bIns="43530" anchor="ctr"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35" indent="-28574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977" indent="-2285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168" indent="-2285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359" indent="-2285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550" indent="-2285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740" indent="-2285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932" indent="-2285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122" indent="-2285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5ACFB3-9D52-4C84-AA57-FF95D7D6014E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ACEFF-D05E-46E3-9998-34FCF01465F3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7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FC51AF-5B5F-4084-B832-436C1BE64EC2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6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79E08-F5E1-4089-8B27-A4C945A1B08B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4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2CC21-96D0-44B8-9B55-B8E4040F573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4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AD865-DD63-4375-9CB7-A445BE65D571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9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0CB6F-2CE1-4DEA-A62A-85990AE4B25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7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4F30A-CE0E-4AFC-9DC5-23882BDCC8DD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2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461FA-D5C3-49E8-A059-6EC4DD785D0E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36E672-DDD6-4EA1-AFF9-94B7418FCC67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7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06998-8B2B-437E-B5E6-3F8928B2F899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2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2722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2722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E4912-C4B2-4181-82BA-33EB5110DD71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72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39813" y="1411288"/>
            <a:ext cx="7019925" cy="1189037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28.09.12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1614"/>
            <a:ext cx="1187624" cy="13063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5654645"/>
            <a:ext cx="3300972" cy="110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7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BEE12-C7E4-4A4C-AC29-BE5AA84601D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58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CCC93-7900-4AA8-AA08-9F54AB357957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06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32D4D-CE55-494B-B7E8-172194E2C0D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F8B3-F6EB-44CF-85DB-1CD4C1AD009B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11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053A5-1D84-4F07-B4F5-BB55BAE84DA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62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552B7-CAA2-48CC-81AC-7944106F08B1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04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B6F3E0-16D9-4900-A17F-0F8101DE7B6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714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126FA-B2B2-4D01-A113-E5DEC295B9A4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47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62719-6924-4462-B986-817BC6A86CDB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91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AA7ED2-FE27-4FB3-9E3D-D0837AF9760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13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2722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2722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C10CB-BAA9-4A3B-8CD7-E89E26505DF5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465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92752-4BEA-44DE-AF53-29227E8B1525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432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35D17-651E-4E04-8908-96F9647E4103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923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C166B-7075-43A2-B147-FBE432AAA1D3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671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7191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F540A-DBC6-49D1-9764-5ECBBD8D873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082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05A7F-2BDB-496B-9D1D-71BC66584185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274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EE612-E429-4D78-9560-52A1B0F2CDA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42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DD687-66A0-40E7-8A0F-3E4F38E8C47D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418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5E12F-12E5-4299-8829-76BA81B28A6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075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0713A-8905-426F-A04D-5F240E626484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452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7CEDF-03EF-46C2-907E-94BBB5E771F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13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2722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2722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443FE-D064-4E36-91AA-0C9E44B3B3F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140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371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821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12412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492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899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276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8371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6027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380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643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549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565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886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4485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958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527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89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2286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7255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24991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429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040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535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365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276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887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02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375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06386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8335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0526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6670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206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333375"/>
            <a:ext cx="6048375" cy="10842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/>
          <a:p>
            <a:pPr lvl="0"/>
            <a:endParaRPr lang="en-GB" noProof="0" smtClean="0"/>
          </a:p>
        </p:txBody>
      </p:sp>
    </p:spTree>
    <p:extLst>
      <p:ext uri="{BB962C8B-B14F-4D97-AF65-F5344CB8AC3E}">
        <p14:creationId xmlns:p14="http://schemas.microsoft.com/office/powerpoint/2010/main" val="1035617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836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795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53118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887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277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7748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43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8704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1110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679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644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4136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5306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12820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7873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381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239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8955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717602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02269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0042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646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32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196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37034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6716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191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687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11876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38653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554253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7555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1514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0212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2166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650314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3583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6894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599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930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640736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255977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2645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1353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4704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8671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19130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1600200"/>
            <a:ext cx="3816350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1600200"/>
            <a:ext cx="3817937" cy="463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178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905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4711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07676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11890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22544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8102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33375"/>
            <a:ext cx="1946275" cy="5903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333375"/>
            <a:ext cx="5688012" cy="5903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3586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5450E-28BA-4361-A537-FCE366A467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1C5274D8-F926-4DDF-97F3-96D1AD44602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5125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7A851-020A-484A-AC34-869C3F517A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A0DD8838-C1D1-4D3E-BF62-0B57EA9BC448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0985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FB76A-F56F-455E-89E9-D1DBCB7B8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300B1061-DEA7-4CCA-8C44-2FCAA852198C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2300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8A899-7D25-453F-916C-E1DD6650B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C49D6820-EB3E-438E-8133-4307A28A3302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342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2F0E2-B188-4C68-93CC-8A4A45FE7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06D4DDEF-F214-4A02-AF46-B9D198001D9E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926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8F70B-ED0C-4F48-805B-9646565C7F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55F065F6-68F7-4159-9D7D-F0EB2EC5CC4D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9849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BEC4E-9F9B-4943-9963-1E0167BE2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091AD425-89F4-4CC0-BFA7-76C2EB47CD0C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7114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DE57D-F058-4CF6-A4AA-0C3411E08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FD80C924-95BC-463C-988C-C477B62FA299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1224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5F9AB-0DC5-4030-93D1-0412DC3A3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BA66DF48-C1F6-4101-861A-6B30AA4040C8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7255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482DCE-35E1-47F6-A12A-431D17B6AB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AA1AFF88-20C9-493E-BD0D-35075BD327ED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2170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36591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36591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69F32-F442-4CCB-BC9A-72EF39134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314F3690-17D5-43CB-8813-FC6C975E9D18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5316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AABC5-2A76-462C-A350-6A7E97180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5DF4235E-D5FB-4A02-90B2-EA90F0899A31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9813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8BD02-DAA0-4703-9642-9DF4AF356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2C62B2A9-95A5-4EDB-938A-7DA26B74C76C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5586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F6FF4-2067-44B4-B932-27ACD3B6A5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17D97FC4-2BE7-439D-88A2-0CBF1A810D38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7119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C46F3-B5FF-41A1-9102-D59EF56812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6C286C04-4EA7-4F07-84A4-96EA97CD66E4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7339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D74BC-0B65-4C1E-A274-48A81DC0BA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09451BB3-04B6-4FB8-A4A2-8F3190102A32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6655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310E0-E6C6-4BF6-91FF-AB24F7DA6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263CACF8-F365-4287-B86E-246D538CCBEC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0792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9C560-5EA0-45B9-8907-8224428D1D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861B7F05-80F3-4605-AE94-1D5A3B7A368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54335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9DE7C-AADC-4642-A90D-349A981C5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EBB5D132-09F7-46A3-AD31-E6DA649F84A9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9105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936C8-65F9-489A-9920-3CDA1DCAC4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19E2ECC4-3878-4DCF-A1BE-EDB97236276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0575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E0EA5-7202-4C0B-A3D3-2557852A7E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DAA58BAD-C6D6-43FC-90FB-D705A22A276D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0484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36591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36591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C5E45-AF25-417C-B688-362935E2C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70F67F09-AB71-4A5F-BE3D-84980DDA07E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0714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C98ED-64B6-45B2-BF68-B111ACA43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81D4742B-20B6-4C04-9F3C-140ECFAA0E4B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9456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5F971-A7CD-4A60-84B9-CD6D2FC82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1CD9F3A8-33B3-4EAF-8DC6-71D504BD9B25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4948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5698C-8637-45A1-B82B-7F1081275F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F053911C-6CF8-4561-A37A-5E4A53AADF01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4042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3" y="2278063"/>
            <a:ext cx="3816350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3" y="2278063"/>
            <a:ext cx="3817937" cy="1655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40AC6-B098-4BC3-BBDF-2B42D932F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23AD7558-0CC8-40D3-8048-13CF928D112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8973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B23F5-8230-40D0-8712-3BDD91CF3B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E596C3F6-66A3-45BB-A44C-A643B7643C2E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9311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78EA7-8020-4B52-B406-C450AA536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D139D1B2-3A12-4F96-987E-8376937026A4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807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A86E3-67E4-4CD9-B66A-CBA9AAF61D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DDE960E9-1F95-463E-BB1B-496F45F313C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7332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2E50F-797D-4725-B754-F31EF41AD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D7D2AC6D-31C0-4E33-8E29-1C16835B08E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0191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EF30A8-37E6-4502-BC48-392693DADE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EA402E6E-CB96-4DC8-A23B-F757F891EEFB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730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15390-0EEC-499A-B2A4-249031CC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0F3B525D-3014-4AB0-BC33-5CA869039E8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5481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274638"/>
            <a:ext cx="1946275" cy="36591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274638"/>
            <a:ext cx="5688012" cy="36591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89DAE-AF86-4DB8-912D-1E41FA3CD4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NAME | </a:t>
            </a:r>
            <a:fld id="{DA52F886-D8BD-4D09-AB68-5BF1C27418C4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6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7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image" Target="../media/image8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9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0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image" Target="../media/image1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1.png"/><Relationship Id="rId18" Type="http://schemas.openxmlformats.org/officeDocument/2006/relationships/image" Target="../media/image16.jpe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17" Type="http://schemas.openxmlformats.org/officeDocument/2006/relationships/image" Target="../media/image15.jpeg"/><Relationship Id="rId2" Type="http://schemas.openxmlformats.org/officeDocument/2006/relationships/slideLayout" Target="../slideLayouts/slideLayout125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5" Type="http://schemas.openxmlformats.org/officeDocument/2006/relationships/image" Target="../media/image13.jpeg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image" Target="../media/image12.jpe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1.png"/><Relationship Id="rId18" Type="http://schemas.openxmlformats.org/officeDocument/2006/relationships/image" Target="../media/image16.jpe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17" Type="http://schemas.openxmlformats.org/officeDocument/2006/relationships/image" Target="../media/image15.jpeg"/><Relationship Id="rId2" Type="http://schemas.openxmlformats.org/officeDocument/2006/relationships/slideLayout" Target="../slideLayouts/slideLayout136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image" Target="../media/image13.jpeg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2.jpe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image" Target="../media/image1.png"/><Relationship Id="rId18" Type="http://schemas.openxmlformats.org/officeDocument/2006/relationships/image" Target="../media/image16.jpeg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17" Type="http://schemas.openxmlformats.org/officeDocument/2006/relationships/image" Target="../media/image15.jpeg"/><Relationship Id="rId2" Type="http://schemas.openxmlformats.org/officeDocument/2006/relationships/slideLayout" Target="../slideLayouts/slideLayout147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5" Type="http://schemas.openxmlformats.org/officeDocument/2006/relationships/image" Target="../media/image13.jpeg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2461A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029" name="Picture 5" descr="practical_action_logo_30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2461AA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A7F6A286-9596-4822-9366-F8B2EB671FD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825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E201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053" name="Picture 7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E2014D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66F1AD3B-1486-444F-AD75-8500690B73BF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008E8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3077" name="Picture 5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8E8F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4FE03D54-3FA3-4A43-82BE-86EC6C530E00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D674B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4101" name="Picture 12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1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D674B7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5124" name="Picture 4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6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E201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126" name="Picture 1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E2014D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2461A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6149" name="Picture 12" descr="practical_action_logo_300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13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826" r:id="rId12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2461AA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6AC6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7173" name="Picture 6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8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6AC6D2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008E8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8197" name="Picture 9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10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008E8F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96D04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20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9221" name="Picture 12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96D045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4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245" name="Picture 12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FD600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ChangeArrowheads="1"/>
          </p:cNvSpPr>
          <p:nvPr/>
        </p:nvSpPr>
        <p:spPr bwMode="auto">
          <a:xfrm>
            <a:off x="0" y="0"/>
            <a:ext cx="468313" cy="6858000"/>
          </a:xfrm>
          <a:prstGeom prst="rect">
            <a:avLst/>
          </a:prstGeom>
          <a:solidFill>
            <a:srgbClr val="FC19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333375"/>
            <a:ext cx="6408737" cy="108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1268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1600200"/>
            <a:ext cx="7786687" cy="463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1269" name="Picture 15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0"/>
            <a:ext cx="17780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6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3" y="2992438"/>
            <a:ext cx="4313237" cy="386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2pPr>
      <a:lvl3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3pPr>
      <a:lvl4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4pPr>
      <a:lvl5pPr algn="l" rtl="0" eaLnBrk="0" fontAlgn="base" hangingPunct="0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5pPr>
      <a:lvl6pPr marL="4572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6pPr>
      <a:lvl7pPr marL="9144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7pPr>
      <a:lvl8pPr marL="13716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8pPr>
      <a:lvl9pPr marL="1828800" algn="l" rtl="0" fontAlgn="base">
        <a:lnSpc>
          <a:spcPts val="4000"/>
        </a:lnSpc>
        <a:spcBef>
          <a:spcPct val="0"/>
        </a:spcBef>
        <a:spcAft>
          <a:spcPct val="0"/>
        </a:spcAft>
        <a:defRPr sz="3600" b="1">
          <a:solidFill>
            <a:srgbClr val="FC192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2461A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Thank you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0174C4E-5243-4F7E-AD80-67B7A977B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294" name="Picture 6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2461AA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NAME | </a:t>
            </a:r>
            <a:fld id="{FB361C84-3D4E-4199-BC13-D5EFFBFE183A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  <p:grpSp>
        <p:nvGrpSpPr>
          <p:cNvPr id="12296" name="Group 7"/>
          <p:cNvGrpSpPr>
            <a:grpSpLocks/>
          </p:cNvGrpSpPr>
          <p:nvPr/>
        </p:nvGrpSpPr>
        <p:grpSpPr bwMode="auto">
          <a:xfrm>
            <a:off x="900113" y="4292600"/>
            <a:ext cx="2244725" cy="549275"/>
            <a:chOff x="2555776" y="3137514"/>
            <a:chExt cx="2243985" cy="549240"/>
          </a:xfrm>
        </p:grpSpPr>
        <p:pic>
          <p:nvPicPr>
            <p:cNvPr id="12297" name="Picture 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8" name="Picture 2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0661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9" name="Picture 3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011" y="3143828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0" name="Picture 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576" y="3137514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1" name="Picture 5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3132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E201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Thank you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A9C12C6-EE16-414B-B69E-366E9C4E4E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3318" name="Picture 6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E2014D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NAME | </a:t>
            </a:r>
            <a:fld id="{B0DB841F-0569-4544-AB75-991064744915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  <p:grpSp>
        <p:nvGrpSpPr>
          <p:cNvPr id="13320" name="Group 7"/>
          <p:cNvGrpSpPr>
            <a:grpSpLocks/>
          </p:cNvGrpSpPr>
          <p:nvPr/>
        </p:nvGrpSpPr>
        <p:grpSpPr bwMode="auto">
          <a:xfrm>
            <a:off x="900113" y="4292600"/>
            <a:ext cx="2244725" cy="549275"/>
            <a:chOff x="2555776" y="3137514"/>
            <a:chExt cx="2243985" cy="549240"/>
          </a:xfrm>
        </p:grpSpPr>
        <p:pic>
          <p:nvPicPr>
            <p:cNvPr id="13321" name="Picture 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2" name="Picture 2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0661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3" name="Picture 3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011" y="3143828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4" name="Picture 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576" y="3137514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5" name="Picture 5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3132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-33338"/>
            <a:ext cx="9144000" cy="5549901"/>
          </a:xfrm>
          <a:prstGeom prst="rect">
            <a:avLst/>
          </a:prstGeom>
          <a:solidFill>
            <a:srgbClr val="008E8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274638"/>
            <a:ext cx="7786687" cy="185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Thank you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0113" y="2278063"/>
            <a:ext cx="7786687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08F1467-D301-41EB-BEBD-CED144BC9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2" name="Picture 6" descr="practical_action_logo_30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488" y="55880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89000" y="6448425"/>
            <a:ext cx="36830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8E8F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r>
              <a:rPr lang="en-US"/>
              <a:t>NAME | </a:t>
            </a:r>
            <a:fld id="{B4D9EDB9-BAFC-413F-BB0A-5E31B796E3F6}" type="datetime4">
              <a:rPr lang="en-US"/>
              <a:pPr>
                <a:defRPr/>
              </a:pPr>
              <a:t>January 17, 2019</a:t>
            </a:fld>
            <a:endParaRPr lang="en-US"/>
          </a:p>
        </p:txBody>
      </p:sp>
      <p:grpSp>
        <p:nvGrpSpPr>
          <p:cNvPr id="14344" name="Group 7"/>
          <p:cNvGrpSpPr>
            <a:grpSpLocks/>
          </p:cNvGrpSpPr>
          <p:nvPr/>
        </p:nvGrpSpPr>
        <p:grpSpPr bwMode="auto">
          <a:xfrm>
            <a:off x="900113" y="4292600"/>
            <a:ext cx="2244725" cy="549275"/>
            <a:chOff x="2555776" y="3137514"/>
            <a:chExt cx="2243985" cy="549240"/>
          </a:xfrm>
        </p:grpSpPr>
        <p:pic>
          <p:nvPicPr>
            <p:cNvPr id="14345" name="Picture 1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6" name="Picture 2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0661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7" name="Picture 3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011" y="3143828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8" name="Picture 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576" y="3137514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9" name="Picture 5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3132" y="3143829"/>
              <a:ext cx="4191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video" Target="../media/media1.m4v"/><Relationship Id="rId1" Type="http://schemas.microsoft.com/office/2007/relationships/media" Target="../media/media1.m4v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31.jpg"/><Relationship Id="rId4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/>
          <p:cNvSpPr txBox="1">
            <a:spLocks noChangeArrowheads="1"/>
          </p:cNvSpPr>
          <p:nvPr/>
        </p:nvSpPr>
        <p:spPr bwMode="auto">
          <a:xfrm>
            <a:off x="6756400" y="6602413"/>
            <a:ext cx="1295400" cy="279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200" b="0">
                <a:solidFill>
                  <a:srgbClr val="FFFFFF"/>
                </a:solidFill>
              </a:rPr>
              <a:t>12.03.14</a:t>
            </a: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15008" y="332656"/>
            <a:ext cx="8928992" cy="187220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600" b="1" dirty="0" smtClean="0">
                <a:solidFill>
                  <a:schemeClr val="bg1"/>
                </a:solidFill>
              </a:rPr>
              <a:t>Result Based Financing for 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600" b="1" dirty="0" smtClean="0">
                <a:solidFill>
                  <a:schemeClr val="bg1"/>
                </a:solidFill>
              </a:rPr>
              <a:t>Sustainable Improved </a:t>
            </a:r>
            <a:r>
              <a:rPr lang="en-GB" sz="3600" b="1" dirty="0" err="1" smtClean="0">
                <a:solidFill>
                  <a:schemeClr val="bg1"/>
                </a:solidFill>
              </a:rPr>
              <a:t>Cookstoves</a:t>
            </a:r>
            <a:r>
              <a:rPr lang="en-GB" sz="3600" b="1" dirty="0">
                <a:solidFill>
                  <a:schemeClr val="bg1"/>
                </a:solidFill>
              </a:rPr>
              <a:t> </a:t>
            </a:r>
            <a:r>
              <a:rPr lang="en-GB" sz="3600" b="1" dirty="0" smtClean="0">
                <a:solidFill>
                  <a:schemeClr val="bg1"/>
                </a:solidFill>
              </a:rPr>
              <a:t>Market in Nepal Project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3600" b="1" u="sng" dirty="0" smtClean="0">
              <a:solidFill>
                <a:schemeClr val="bg1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3600" b="1" u="sng" dirty="0" smtClean="0">
              <a:solidFill>
                <a:schemeClr val="bg1"/>
              </a:solidFill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600" b="1" u="sng" dirty="0" smtClean="0">
                <a:solidFill>
                  <a:schemeClr val="bg1"/>
                </a:solidFill>
              </a:rPr>
              <a:t> </a:t>
            </a:r>
            <a:endParaRPr lang="en-US" sz="3200" u="sng" dirty="0" smtClean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58" y="2204865"/>
            <a:ext cx="4795606" cy="32845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204865"/>
            <a:ext cx="3456384" cy="326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33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4482" y="908720"/>
            <a:ext cx="65527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>
                <a:solidFill>
                  <a:srgbClr val="0070C0"/>
                </a:solidFill>
              </a:rPr>
              <a:t>Main </a:t>
            </a:r>
            <a:r>
              <a:rPr lang="en-US" dirty="0" smtClean="0">
                <a:solidFill>
                  <a:srgbClr val="0070C0"/>
                </a:solidFill>
              </a:rPr>
              <a:t>objective of sharing session</a:t>
            </a:r>
            <a:endParaRPr lang="en-US" dirty="0" smtClean="0">
              <a:solidFill>
                <a:srgbClr val="0070C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Strengthening Synergies with </a:t>
            </a:r>
            <a:r>
              <a:rPr lang="en-US" dirty="0" err="1" smtClean="0"/>
              <a:t>HRRP</a:t>
            </a:r>
            <a:r>
              <a:rPr lang="en-US" dirty="0" smtClean="0"/>
              <a:t> Partners </a:t>
            </a:r>
            <a:r>
              <a:rPr lang="en-US" dirty="0" smtClean="0">
                <a:solidFill>
                  <a:srgbClr val="7030A0"/>
                </a:solidFill>
              </a:rPr>
              <a:t>for achieving indoor air pollution free healthy kitchen in reconstructed houses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5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88641"/>
            <a:ext cx="6264969" cy="648072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Background/Context</a:t>
            </a:r>
            <a:br>
              <a:rPr lang="en-US" sz="32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7944" y="574531"/>
            <a:ext cx="4769586" cy="5760640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  <a:defRPr/>
            </a:pPr>
            <a:r>
              <a:rPr lang="en-US" sz="2000" u="sng" dirty="0" smtClean="0">
                <a:latin typeface="Arial" pitchFamily="34" charset="0"/>
              </a:rPr>
              <a:t>In Nepal</a:t>
            </a:r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latin typeface="Arial" pitchFamily="34" charset="0"/>
              </a:rPr>
              <a:t>More than 22,000 persons (mainly women and children) die prematurely due to household air </a:t>
            </a:r>
            <a:r>
              <a:rPr lang="en-US" sz="2000" dirty="0">
                <a:latin typeface="Arial" pitchFamily="34" charset="0"/>
              </a:rPr>
              <a:t>pollution. </a:t>
            </a:r>
            <a:r>
              <a:rPr lang="en-US" sz="2000" dirty="0" smtClean="0">
                <a:latin typeface="Arial" pitchFamily="34" charset="0"/>
              </a:rPr>
              <a:t>Around 225,558 </a:t>
            </a:r>
            <a:r>
              <a:rPr lang="en-US" sz="2000" dirty="0" err="1" smtClean="0">
                <a:latin typeface="Arial" pitchFamily="34" charset="0"/>
              </a:rPr>
              <a:t>DALYs</a:t>
            </a:r>
            <a:r>
              <a:rPr lang="en-US" sz="2000" dirty="0" smtClean="0">
                <a:latin typeface="Arial" pitchFamily="34" charset="0"/>
              </a:rPr>
              <a:t>.</a:t>
            </a:r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pitchFamily="34" charset="0"/>
              </a:rPr>
              <a:t>4.5 hours of </a:t>
            </a:r>
            <a:r>
              <a:rPr lang="en-US" sz="2000" dirty="0" smtClean="0">
                <a:latin typeface="Arial" pitchFamily="34" charset="0"/>
              </a:rPr>
              <a:t>exposure to </a:t>
            </a:r>
            <a:r>
              <a:rPr lang="en-US" sz="2000" dirty="0" smtClean="0">
                <a:solidFill>
                  <a:srgbClr val="7030A0"/>
                </a:solidFill>
                <a:latin typeface="Arial" pitchFamily="34" charset="0"/>
              </a:rPr>
              <a:t>smoke</a:t>
            </a:r>
            <a:r>
              <a:rPr lang="en-US" sz="2000" dirty="0" smtClean="0">
                <a:latin typeface="Arial" pitchFamily="34" charset="0"/>
              </a:rPr>
              <a:t> from traditional stove is </a:t>
            </a:r>
            <a:r>
              <a:rPr lang="en-US" sz="2000" dirty="0">
                <a:latin typeface="Arial" pitchFamily="34" charset="0"/>
              </a:rPr>
              <a:t>equivalent to smoking approximately 20 packs of cigarettes per day</a:t>
            </a:r>
            <a:endParaRPr lang="en-US" sz="2000" dirty="0" smtClean="0">
              <a:latin typeface="Arial" pitchFamily="34" charset="0"/>
            </a:endParaRPr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latin typeface="Arial" pitchFamily="34" charset="0"/>
              </a:rPr>
              <a:t>Significant time (around 100days/HH) is spent for fuel collection &amp; processing </a:t>
            </a:r>
            <a:endParaRPr lang="en-US" sz="2000" dirty="0">
              <a:latin typeface="Arial" pitchFamily="34" charset="0"/>
            </a:endParaRPr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000" dirty="0" smtClean="0">
                <a:latin typeface="Arial" pitchFamily="34" charset="0"/>
              </a:rPr>
              <a:t>Women are </a:t>
            </a:r>
            <a:r>
              <a:rPr lang="en-US" sz="2000" dirty="0">
                <a:latin typeface="Arial" pitchFamily="34" charset="0"/>
              </a:rPr>
              <a:t>most vulnerable to household air pollution and drudgery related to </a:t>
            </a:r>
            <a:r>
              <a:rPr lang="en-US" sz="2000" dirty="0" smtClean="0">
                <a:latin typeface="Arial" pitchFamily="34" charset="0"/>
              </a:rPr>
              <a:t>fuel collection/processing.</a:t>
            </a:r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400" dirty="0" smtClean="0">
                <a:latin typeface="Arial" pitchFamily="34" charset="0"/>
              </a:rPr>
              <a:t>Nepal </a:t>
            </a:r>
            <a:r>
              <a:rPr lang="en-US" sz="2400" dirty="0">
                <a:latin typeface="Arial" pitchFamily="34" charset="0"/>
              </a:rPr>
              <a:t>Government is c</a:t>
            </a:r>
            <a:r>
              <a:rPr lang="en-US" sz="2000" dirty="0">
                <a:latin typeface="Arial" pitchFamily="34" charset="0"/>
              </a:rPr>
              <a:t>ommitted for providing Clean Cooking Solutions for All</a:t>
            </a:r>
            <a:endParaRPr lang="en-GB" sz="2000" dirty="0"/>
          </a:p>
          <a:p>
            <a:pPr marL="282575" indent="-282575">
              <a:spcBef>
                <a:spcPts val="600"/>
              </a:spcBef>
              <a:buFont typeface="Arial" pitchFamily="34" charset="0"/>
              <a:buChar char="•"/>
              <a:defRPr/>
            </a:pPr>
            <a:endParaRPr lang="en-US" sz="2000" dirty="0" smtClean="0">
              <a:latin typeface="Arial" pitchFamily="34" charset="0"/>
            </a:endParaRPr>
          </a:p>
          <a:p>
            <a:pPr marL="400050" lvl="1" indent="0">
              <a:buNone/>
              <a:defRPr/>
            </a:pPr>
            <a:endParaRPr lang="en-US" sz="2000" dirty="0" smtClean="0">
              <a:latin typeface="Arial" pitchFamily="34" charset="0"/>
            </a:endParaRPr>
          </a:p>
          <a:p>
            <a:pPr marL="0" indent="0">
              <a:buNone/>
              <a:defRPr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008112"/>
            <a:ext cx="3343749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6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683568" y="188640"/>
            <a:ext cx="7034212" cy="639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nl-NL" sz="2800" b="1" dirty="0" smtClean="0">
                <a:solidFill>
                  <a:srgbClr val="0070C0"/>
                </a:solidFill>
              </a:rPr>
              <a:t>Project Objectives</a:t>
            </a:r>
            <a:endParaRPr lang="nl-NL" sz="2800" b="1" dirty="0">
              <a:solidFill>
                <a:srgbClr val="0070C0"/>
              </a:solidFill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814555" y="1052736"/>
            <a:ext cx="7933910" cy="26642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 smtClean="0"/>
              <a:t>Develop sustainable </a:t>
            </a:r>
            <a:r>
              <a:rPr lang="en-GB" sz="2600" dirty="0"/>
              <a:t>market </a:t>
            </a:r>
            <a:r>
              <a:rPr lang="en-GB" sz="2600" dirty="0" smtClean="0"/>
              <a:t>of </a:t>
            </a:r>
            <a:r>
              <a:rPr lang="en-GB" sz="2600" dirty="0" smtClean="0">
                <a:solidFill>
                  <a:srgbClr val="FF0000"/>
                </a:solidFill>
              </a:rPr>
              <a:t>clean </a:t>
            </a:r>
            <a:r>
              <a:rPr lang="en-GB" sz="2600" dirty="0" err="1"/>
              <a:t>C</a:t>
            </a:r>
            <a:r>
              <a:rPr lang="en-GB" sz="2600" dirty="0" err="1" smtClean="0"/>
              <a:t>ookstoves</a:t>
            </a:r>
            <a:endParaRPr lang="en-US" sz="2600" dirty="0"/>
          </a:p>
          <a:p>
            <a:pPr marL="342900" lvl="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 smtClean="0"/>
              <a:t>Strengthen </a:t>
            </a:r>
            <a:r>
              <a:rPr lang="en-GB" sz="2600" dirty="0"/>
              <a:t>private-sector led clean </a:t>
            </a:r>
            <a:r>
              <a:rPr lang="en-GB" sz="2600" dirty="0" err="1" smtClean="0"/>
              <a:t>Cookstoves</a:t>
            </a:r>
            <a:r>
              <a:rPr lang="en-GB" sz="2600" dirty="0" smtClean="0"/>
              <a:t> </a:t>
            </a:r>
            <a:r>
              <a:rPr lang="en-GB" sz="2600" dirty="0"/>
              <a:t>marketing </a:t>
            </a:r>
            <a:r>
              <a:rPr lang="en-GB" sz="2600" dirty="0" smtClean="0"/>
              <a:t>approach </a:t>
            </a:r>
          </a:p>
          <a:p>
            <a:pPr marL="342900" lvl="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Contribute to minimize respiratory health problems in rural </a:t>
            </a:r>
            <a:r>
              <a:rPr lang="en-US" sz="2600" dirty="0" smtClean="0"/>
              <a:t>Nepal</a:t>
            </a:r>
          </a:p>
          <a:p>
            <a:pPr marL="342900" lvl="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sz="2600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3568" y="4005064"/>
            <a:ext cx="8226729" cy="2181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C80F0F"/>
              </a:buClr>
              <a:tabLst>
                <a:tab pos="271463" algn="l"/>
                <a:tab pos="719138" algn="l"/>
                <a:tab pos="1168400" algn="l"/>
                <a:tab pos="1617663" algn="l"/>
                <a:tab pos="2066925" algn="l"/>
                <a:tab pos="2516188" algn="l"/>
                <a:tab pos="2965450" algn="l"/>
                <a:tab pos="3414713" algn="l"/>
                <a:tab pos="3863975" algn="l"/>
                <a:tab pos="4313238" algn="l"/>
                <a:tab pos="4762500" algn="l"/>
                <a:tab pos="5211763" algn="l"/>
                <a:tab pos="5661025" algn="l"/>
                <a:tab pos="6110288" algn="l"/>
                <a:tab pos="6559550" algn="l"/>
                <a:tab pos="7008813" algn="l"/>
                <a:tab pos="7458075" algn="l"/>
                <a:tab pos="7907338" algn="l"/>
                <a:tab pos="8356600" algn="l"/>
                <a:tab pos="8805863" algn="l"/>
                <a:tab pos="9255125" algn="l"/>
              </a:tabLst>
            </a:pPr>
            <a:r>
              <a:rPr lang="nl-NL" sz="2800" b="1" dirty="0" smtClean="0">
                <a:solidFill>
                  <a:schemeClr val="bg2"/>
                </a:solidFill>
              </a:rPr>
              <a:t>Target: </a:t>
            </a:r>
            <a:r>
              <a:rPr lang="nl-NL" sz="2600" dirty="0"/>
              <a:t>Benefit 34,900 HHs.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C80F0F"/>
              </a:buClr>
              <a:tabLst>
                <a:tab pos="271463" algn="l"/>
                <a:tab pos="719138" algn="l"/>
                <a:tab pos="1168400" algn="l"/>
                <a:tab pos="1617663" algn="l"/>
                <a:tab pos="2066925" algn="l"/>
                <a:tab pos="2516188" algn="l"/>
                <a:tab pos="2965450" algn="l"/>
                <a:tab pos="3414713" algn="l"/>
                <a:tab pos="3863975" algn="l"/>
                <a:tab pos="4313238" algn="l"/>
                <a:tab pos="4762500" algn="l"/>
                <a:tab pos="5211763" algn="l"/>
                <a:tab pos="5661025" algn="l"/>
                <a:tab pos="6110288" algn="l"/>
                <a:tab pos="6559550" algn="l"/>
                <a:tab pos="7008813" algn="l"/>
                <a:tab pos="7458075" algn="l"/>
                <a:tab pos="7907338" algn="l"/>
                <a:tab pos="8356600" algn="l"/>
                <a:tab pos="8805863" algn="l"/>
                <a:tab pos="9255125" algn="l"/>
              </a:tabLst>
            </a:pPr>
            <a:r>
              <a:rPr lang="nl-NL" sz="2800" b="1" dirty="0" smtClean="0">
                <a:solidFill>
                  <a:schemeClr val="bg2"/>
                </a:solidFill>
              </a:rPr>
              <a:t>Duration</a:t>
            </a:r>
            <a:r>
              <a:rPr lang="nl-NL" sz="2800" b="1" dirty="0">
                <a:solidFill>
                  <a:schemeClr val="bg2"/>
                </a:solidFill>
              </a:rPr>
              <a:t>: </a:t>
            </a:r>
            <a:r>
              <a:rPr lang="nl-NL" sz="2600" dirty="0" smtClean="0"/>
              <a:t>5 years (</a:t>
            </a:r>
            <a:r>
              <a:rPr lang="da-DK" sz="2600" dirty="0" smtClean="0"/>
              <a:t>Aug. 2014- July </a:t>
            </a:r>
            <a:r>
              <a:rPr lang="da-DK" sz="2600" dirty="0"/>
              <a:t>2019</a:t>
            </a:r>
            <a:r>
              <a:rPr lang="nl-NL" sz="2600" dirty="0" smtClean="0"/>
              <a:t>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C80F0F"/>
              </a:buClr>
              <a:tabLst>
                <a:tab pos="271463" algn="l"/>
                <a:tab pos="719138" algn="l"/>
                <a:tab pos="1168400" algn="l"/>
                <a:tab pos="1617663" algn="l"/>
                <a:tab pos="2066925" algn="l"/>
                <a:tab pos="2516188" algn="l"/>
                <a:tab pos="2965450" algn="l"/>
                <a:tab pos="3414713" algn="l"/>
                <a:tab pos="3863975" algn="l"/>
                <a:tab pos="4313238" algn="l"/>
                <a:tab pos="4762500" algn="l"/>
                <a:tab pos="5211763" algn="l"/>
                <a:tab pos="5661025" algn="l"/>
                <a:tab pos="6110288" algn="l"/>
                <a:tab pos="6559550" algn="l"/>
                <a:tab pos="7008813" algn="l"/>
                <a:tab pos="7458075" algn="l"/>
                <a:tab pos="7907338" algn="l"/>
                <a:tab pos="8356600" algn="l"/>
                <a:tab pos="8805863" algn="l"/>
                <a:tab pos="9255125" algn="l"/>
              </a:tabLst>
            </a:pPr>
            <a:endParaRPr lang="nl-NL" sz="2600" dirty="0" smtClean="0"/>
          </a:p>
        </p:txBody>
      </p:sp>
    </p:spTree>
    <p:extLst>
      <p:ext uri="{BB962C8B-B14F-4D97-AF65-F5344CB8AC3E}">
        <p14:creationId xmlns:p14="http://schemas.microsoft.com/office/powerpoint/2010/main" val="222261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55648"/>
            <a:ext cx="8604448" cy="4965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539551" y="245275"/>
            <a:ext cx="6624737" cy="639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nl-NL" sz="2800" b="1" dirty="0" smtClean="0">
                <a:solidFill>
                  <a:srgbClr val="0070C0"/>
                </a:solidFill>
              </a:rPr>
              <a:t>Geographic locations</a:t>
            </a:r>
            <a:endParaRPr lang="nl-NL" sz="28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602128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Expanding to adjoining districts also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41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98628"/>
            <a:ext cx="5184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Institutional </a:t>
            </a:r>
            <a:r>
              <a:rPr lang="en-US" sz="2800" b="1" dirty="0" smtClean="0"/>
              <a:t>set-up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735614"/>
            <a:ext cx="8676456" cy="612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6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206084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b="1" dirty="0">
                <a:solidFill>
                  <a:schemeClr val="accent1">
                    <a:lumMod val="50000"/>
                  </a:schemeClr>
                </a:solidFill>
              </a:rPr>
              <a:t>Key features </a:t>
            </a:r>
            <a:r>
              <a:rPr lang="nl-NL" sz="3600" b="1" dirty="0" smtClean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nl-NL" sz="3600" b="1" dirty="0">
                <a:solidFill>
                  <a:schemeClr val="accent1">
                    <a:lumMod val="50000"/>
                  </a:schemeClr>
                </a:solidFill>
              </a:rPr>
              <a:t>the project</a:t>
            </a:r>
          </a:p>
          <a:p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57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28" b="22105"/>
          <a:stretch/>
        </p:blipFill>
        <p:spPr>
          <a:xfrm>
            <a:off x="855303" y="1384299"/>
            <a:ext cx="3751660" cy="43439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756395"/>
            <a:ext cx="2794750" cy="27998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90" y="3873377"/>
            <a:ext cx="2664296" cy="28807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0450" y="143063"/>
            <a:ext cx="67687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b="1" dirty="0" smtClean="0"/>
              <a:t>. Focus on Consumer’s choice (21 types, RETS certified stoves)</a:t>
            </a:r>
            <a:endParaRPr lang="en-GB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55303" y="5949280"/>
            <a:ext cx="357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Fixed type – Hood stove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51799" y="3688711"/>
            <a:ext cx="263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Natural draft </a:t>
            </a:r>
            <a:r>
              <a:rPr lang="en-US" dirty="0" err="1" smtClean="0"/>
              <a:t>cookstove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668344" y="4653136"/>
            <a:ext cx="1317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Forced draft </a:t>
            </a:r>
            <a:r>
              <a:rPr lang="en-US" dirty="0" err="1" smtClean="0"/>
              <a:t>cookstove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6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33111"/>
            <a:ext cx="5976937" cy="792088"/>
          </a:xfrm>
        </p:spPr>
        <p:txBody>
          <a:bodyPr>
            <a:normAutofit/>
          </a:bodyPr>
          <a:lstStyle/>
          <a:p>
            <a:r>
              <a:rPr lang="en-GB" dirty="0" smtClean="0"/>
              <a:t>Benefits of the </a:t>
            </a:r>
            <a:r>
              <a:rPr lang="en-GB" dirty="0" err="1" smtClean="0"/>
              <a:t>Cookstoves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363272" cy="463708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 dirty="0" smtClean="0"/>
              <a:t>Reduction in </a:t>
            </a:r>
            <a:r>
              <a:rPr lang="en-US" sz="2400" dirty="0"/>
              <a:t>household air pollution </a:t>
            </a:r>
            <a:r>
              <a:rPr lang="en-US" sz="2400" dirty="0" smtClean="0"/>
              <a:t>by 60-90%. 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 smtClean="0"/>
              <a:t>Significant health benefits of ICS resulting in reduction </a:t>
            </a:r>
            <a:r>
              <a:rPr lang="en-US" sz="2400" dirty="0"/>
              <a:t>in treatment cost and savings in days </a:t>
            </a:r>
            <a:r>
              <a:rPr lang="en-US" sz="2400" dirty="0" smtClean="0"/>
              <a:t>loss </a:t>
            </a:r>
            <a:r>
              <a:rPr lang="en-US" sz="2400" dirty="0"/>
              <a:t>due to ill </a:t>
            </a:r>
            <a:r>
              <a:rPr lang="en-US" sz="2400" dirty="0" smtClean="0"/>
              <a:t>health.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Fuel savings – on average 50% – leading to time saving in firewood collection and drudgery reduction (50 days/year).</a:t>
            </a:r>
            <a:endParaRPr lang="en-US" sz="2400" dirty="0"/>
          </a:p>
          <a:p>
            <a:pPr>
              <a:spcBef>
                <a:spcPts val="600"/>
              </a:spcBef>
            </a:pPr>
            <a:r>
              <a:rPr lang="en-US" sz="2400" dirty="0" smtClean="0"/>
              <a:t>About 2.0 - 2.5 tones </a:t>
            </a:r>
            <a:r>
              <a:rPr lang="en-US" sz="2400" dirty="0"/>
              <a:t>of greenhouse </a:t>
            </a:r>
            <a:r>
              <a:rPr lang="en-US" sz="2400" dirty="0" smtClean="0"/>
              <a:t>gases emission reduction per stove annually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Cooking </a:t>
            </a:r>
            <a:r>
              <a:rPr lang="en-US" sz="2400" dirty="0"/>
              <a:t>time </a:t>
            </a:r>
            <a:r>
              <a:rPr lang="en-US" sz="2400" dirty="0" smtClean="0"/>
              <a:t>saving – around 30 minutes per day.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Other benefits include:</a:t>
            </a:r>
          </a:p>
          <a:p>
            <a:pPr lvl="1">
              <a:spcBef>
                <a:spcPts val="600"/>
              </a:spcBef>
            </a:pPr>
            <a:r>
              <a:rPr lang="en-US" sz="2400" dirty="0" smtClean="0"/>
              <a:t>Cleaner kitchen &amp; other indirect benefits</a:t>
            </a:r>
            <a:endParaRPr lang="en-US" sz="2400" dirty="0"/>
          </a:p>
          <a:p>
            <a:pPr marL="0" indent="0">
              <a:spcBef>
                <a:spcPts val="600"/>
              </a:spcBef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1253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6048375" cy="1084263"/>
          </a:xfrm>
        </p:spPr>
        <p:txBody>
          <a:bodyPr/>
          <a:lstStyle/>
          <a:p>
            <a:pPr eaLnBrk="1" hangingPunct="1"/>
            <a:r>
              <a:rPr lang="en-US" sz="2800" spc="-150" dirty="0" smtClean="0">
                <a:solidFill>
                  <a:schemeClr val="accent2">
                    <a:lumMod val="75000"/>
                  </a:schemeClr>
                </a:solidFill>
              </a:rPr>
              <a:t>Benefits of Hood-stoves</a:t>
            </a:r>
            <a:br>
              <a:rPr lang="en-US" sz="2800" spc="-150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pc="-150" dirty="0" smtClean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en-US" spc="-150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pc="-15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GB" spc="-150" dirty="0" smtClean="0">
              <a:solidFill>
                <a:schemeClr val="accent2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50034" y="764704"/>
            <a:ext cx="6593966" cy="5904656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Helps to increase combustion efficiency</a:t>
            </a:r>
          </a:p>
          <a:p>
            <a:pPr lvl="1">
              <a:spcBef>
                <a:spcPts val="600"/>
              </a:spcBef>
            </a:pPr>
            <a:r>
              <a:rPr lang="en-US" spc="-150" dirty="0" smtClean="0">
                <a:latin typeface="Arial" pitchFamily="34" charset="0"/>
                <a:cs typeface="Arial" pitchFamily="34" charset="0"/>
              </a:rPr>
              <a:t>Due to good extraction of smoke and air, air flow to stove is better with hood-stove </a:t>
            </a:r>
            <a:endParaRPr lang="en-US" sz="2400" spc="-15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spc="-150" dirty="0">
                <a:latin typeface="Arial" pitchFamily="34" charset="0"/>
                <a:cs typeface="Arial" pitchFamily="34" charset="0"/>
              </a:rPr>
              <a:t>Flexibility in stove choices</a:t>
            </a:r>
          </a:p>
          <a:p>
            <a:pPr>
              <a:spcBef>
                <a:spcPts val="600"/>
              </a:spcBef>
            </a:pP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Simple </a:t>
            </a:r>
            <a:r>
              <a:rPr lang="en-US" sz="2800" spc="-150" dirty="0">
                <a:latin typeface="Arial" pitchFamily="34" charset="0"/>
                <a:cs typeface="Arial" pitchFamily="34" charset="0"/>
              </a:rPr>
              <a:t>technology, possible to fabricate and maintain locally</a:t>
            </a:r>
          </a:p>
          <a:p>
            <a:pPr>
              <a:spcBef>
                <a:spcPts val="600"/>
              </a:spcBef>
            </a:pP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Flexible </a:t>
            </a:r>
            <a:r>
              <a:rPr lang="en-US" sz="2800" spc="-150" dirty="0">
                <a:latin typeface="Arial" pitchFamily="34" charset="0"/>
                <a:cs typeface="Arial" pitchFamily="34" charset="0"/>
              </a:rPr>
              <a:t>design to meet local needs </a:t>
            </a: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800" spc="-150" dirty="0">
                <a:latin typeface="Arial" pitchFamily="34" charset="0"/>
                <a:cs typeface="Arial" pitchFamily="34" charset="0"/>
              </a:rPr>
              <a:t>meat drying, Small smoke duct directs smoke to </a:t>
            </a: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beams)</a:t>
            </a:r>
            <a:endParaRPr lang="en-US" sz="2800" spc="-15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Heat </a:t>
            </a:r>
            <a:r>
              <a:rPr lang="en-US" sz="2800" spc="-150" dirty="0">
                <a:latin typeface="Arial" pitchFamily="34" charset="0"/>
                <a:cs typeface="Arial" pitchFamily="34" charset="0"/>
              </a:rPr>
              <a:t>radiation keeps kitchen </a:t>
            </a:r>
            <a:r>
              <a:rPr lang="en-US" sz="2800" spc="-150" dirty="0" smtClean="0">
                <a:latin typeface="Arial" pitchFamily="34" charset="0"/>
                <a:cs typeface="Arial" pitchFamily="34" charset="0"/>
              </a:rPr>
              <a:t>warm</a:t>
            </a:r>
          </a:p>
          <a:p>
            <a:pPr>
              <a:spcBef>
                <a:spcPts val="600"/>
              </a:spcBef>
            </a:pPr>
            <a:endParaRPr lang="en-US" sz="2800" spc="-150" dirty="0">
              <a:latin typeface="Arial" pitchFamily="34" charset="0"/>
              <a:cs typeface="Arial" pitchFamily="34" charset="0"/>
            </a:endParaRPr>
          </a:p>
          <a:p>
            <a:pPr lvl="1"/>
            <a:endParaRPr lang="en-US" spc="-150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0" lvl="0" indent="0">
              <a:buNone/>
            </a:pPr>
            <a:endParaRPr lang="en-US" sz="2400" spc="-150" dirty="0"/>
          </a:p>
        </p:txBody>
      </p:sp>
      <p:pic>
        <p:nvPicPr>
          <p:cNvPr id="6" name="Picture 45" descr="Streamlin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71" r="39838" b="8563"/>
          <a:stretch>
            <a:fillRect/>
          </a:stretch>
        </p:blipFill>
        <p:spPr bwMode="auto">
          <a:xfrm>
            <a:off x="611560" y="980105"/>
            <a:ext cx="1944315" cy="588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88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mokehood Animation.m4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6868" y="926722"/>
            <a:ext cx="6984777" cy="52385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868" y="201838"/>
            <a:ext cx="6048375" cy="659585"/>
          </a:xfrm>
        </p:spPr>
        <p:txBody>
          <a:bodyPr/>
          <a:lstStyle/>
          <a:p>
            <a:r>
              <a:rPr lang="en-GB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Hoodstoves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29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67544" y="169932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2. Incentives </a:t>
            </a:r>
            <a:r>
              <a:rPr lang="en-US" sz="2400" b="1" dirty="0">
                <a:solidFill>
                  <a:srgbClr val="0070C0"/>
                </a:solidFill>
              </a:rPr>
              <a:t>to inspire Key Market Actors</a:t>
            </a:r>
            <a:endParaRPr lang="en-GB" sz="2400" b="1" dirty="0">
              <a:solidFill>
                <a:srgbClr val="0070C0"/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759347510"/>
              </p:ext>
            </p:extLst>
          </p:nvPr>
        </p:nvGraphicFramePr>
        <p:xfrm>
          <a:off x="467544" y="764704"/>
          <a:ext cx="8676456" cy="5805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077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9906" y="235242"/>
            <a:ext cx="6480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3. </a:t>
            </a:r>
            <a:r>
              <a:rPr lang="en-US" sz="2400" b="1" dirty="0">
                <a:solidFill>
                  <a:srgbClr val="0070C0"/>
                </a:solidFill>
              </a:rPr>
              <a:t>Systemic Market Development Approach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23136" y="2673584"/>
            <a:ext cx="171661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Manufacturers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39552" y="1934687"/>
            <a:ext cx="8496944" cy="72008"/>
          </a:xfrm>
          <a:prstGeom prst="line">
            <a:avLst/>
          </a:prstGeom>
          <a:ln w="3175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4591" y="3492968"/>
            <a:ext cx="171661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Importers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950648" y="2646288"/>
            <a:ext cx="1981392" cy="1333320"/>
          </a:xfrm>
          <a:prstGeom prst="ellipse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Distributors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172" y="604574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Enabling Environment</a:t>
            </a:r>
            <a:endParaRPr lang="en-US" b="1" dirty="0">
              <a:solidFill>
                <a:srgbClr val="FF9933"/>
              </a:solidFill>
            </a:endParaRPr>
          </a:p>
        </p:txBody>
      </p:sp>
      <p:cxnSp>
        <p:nvCxnSpPr>
          <p:cNvPr id="14" name="Straight Arrow Connector 13"/>
          <p:cNvCxnSpPr>
            <a:stCxn id="6" idx="3"/>
            <a:endCxn id="7" idx="3"/>
          </p:cNvCxnSpPr>
          <p:nvPr/>
        </p:nvCxnSpPr>
        <p:spPr>
          <a:xfrm>
            <a:off x="2361207" y="3781000"/>
            <a:ext cx="879609" cy="3348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394344" y="2860472"/>
            <a:ext cx="792088" cy="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3391" y="2131100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Supply Chain</a:t>
            </a:r>
            <a:endParaRPr lang="en-US" b="1" dirty="0">
              <a:solidFill>
                <a:srgbClr val="FF9933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441668" y="4372640"/>
            <a:ext cx="8604448" cy="72008"/>
          </a:xfrm>
          <a:prstGeom prst="line">
            <a:avLst/>
          </a:prstGeom>
          <a:ln w="3175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6"/>
          <p:cNvGrpSpPr>
            <a:grpSpLocks/>
          </p:cNvGrpSpPr>
          <p:nvPr/>
        </p:nvGrpSpPr>
        <p:grpSpPr bwMode="auto">
          <a:xfrm>
            <a:off x="5323144" y="2023544"/>
            <a:ext cx="1362075" cy="715144"/>
            <a:chOff x="4320" y="1178"/>
            <a:chExt cx="414" cy="385"/>
          </a:xfrm>
        </p:grpSpPr>
        <p:sp>
          <p:nvSpPr>
            <p:cNvPr id="30" name="AutoShape 7"/>
            <p:cNvSpPr>
              <a:spLocks noChangeArrowheads="1"/>
            </p:cNvSpPr>
            <p:nvPr/>
          </p:nvSpPr>
          <p:spPr bwMode="gray">
            <a:xfrm>
              <a:off x="4320" y="1194"/>
              <a:ext cx="414" cy="369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en-US" dirty="0" smtClean="0"/>
                <a:t>Retailers</a:t>
              </a:r>
              <a:endParaRPr lang="en-US" dirty="0"/>
            </a:p>
          </p:txBody>
        </p:sp>
        <p:sp>
          <p:nvSpPr>
            <p:cNvPr id="31" name="Freeform 8"/>
            <p:cNvSpPr>
              <a:spLocks/>
            </p:cNvSpPr>
            <p:nvPr/>
          </p:nvSpPr>
          <p:spPr bwMode="gray">
            <a:xfrm>
              <a:off x="4346" y="1178"/>
              <a:ext cx="206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>
                    <a:gamma/>
                    <a:tint val="48627"/>
                    <a:invGamma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10"/>
          <p:cNvGrpSpPr>
            <a:grpSpLocks/>
          </p:cNvGrpSpPr>
          <p:nvPr/>
        </p:nvGrpSpPr>
        <p:grpSpPr bwMode="auto">
          <a:xfrm>
            <a:off x="5419042" y="2937233"/>
            <a:ext cx="1362075" cy="653802"/>
            <a:chOff x="4320" y="1152"/>
            <a:chExt cx="414" cy="402"/>
          </a:xfrm>
        </p:grpSpPr>
        <p:sp>
          <p:nvSpPr>
            <p:cNvPr id="33" name="AutoShape 11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Marketing 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Agents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Freeform 12"/>
            <p:cNvSpPr>
              <a:spLocks/>
            </p:cNvSpPr>
            <p:nvPr/>
          </p:nvSpPr>
          <p:spPr bwMode="gray">
            <a:xfrm>
              <a:off x="4346" y="1178"/>
              <a:ext cx="206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gamma/>
                    <a:tint val="48627"/>
                    <a:invGamma/>
                  </a:schemeClr>
                </a:gs>
                <a:gs pos="50000">
                  <a:schemeClr val="accent2">
                    <a:alpha val="0"/>
                  </a:schemeClr>
                </a:gs>
                <a:gs pos="100000">
                  <a:schemeClr val="accent2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13"/>
          <p:cNvGrpSpPr>
            <a:grpSpLocks/>
          </p:cNvGrpSpPr>
          <p:nvPr/>
        </p:nvGrpSpPr>
        <p:grpSpPr bwMode="auto">
          <a:xfrm>
            <a:off x="5516925" y="3725184"/>
            <a:ext cx="1362075" cy="508845"/>
            <a:chOff x="4320" y="1152"/>
            <a:chExt cx="414" cy="402"/>
          </a:xfrm>
        </p:grpSpPr>
        <p:sp>
          <p:nvSpPr>
            <p:cNvPr id="36" name="AutoShape 14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15"/>
            <p:cNvSpPr>
              <a:spLocks/>
            </p:cNvSpPr>
            <p:nvPr/>
          </p:nvSpPr>
          <p:spPr bwMode="gray">
            <a:xfrm>
              <a:off x="4346" y="1178"/>
              <a:ext cx="388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48627"/>
                    <a:invGamma/>
                  </a:schemeClr>
                </a:gs>
                <a:gs pos="50000">
                  <a:schemeClr val="hlink">
                    <a:alpha val="0"/>
                  </a:schemeClr>
                </a:gs>
                <a:gs pos="100000">
                  <a:schemeClr val="hlink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Installers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13"/>
          <p:cNvGrpSpPr>
            <a:grpSpLocks/>
          </p:cNvGrpSpPr>
          <p:nvPr/>
        </p:nvGrpSpPr>
        <p:grpSpPr bwMode="auto">
          <a:xfrm>
            <a:off x="5461972" y="3761319"/>
            <a:ext cx="1362075" cy="508845"/>
            <a:chOff x="4320" y="1152"/>
            <a:chExt cx="414" cy="402"/>
          </a:xfrm>
        </p:grpSpPr>
        <p:sp>
          <p:nvSpPr>
            <p:cNvPr id="39" name="AutoShape 14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15"/>
            <p:cNvSpPr>
              <a:spLocks/>
            </p:cNvSpPr>
            <p:nvPr/>
          </p:nvSpPr>
          <p:spPr bwMode="gray">
            <a:xfrm>
              <a:off x="4346" y="1178"/>
              <a:ext cx="388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48627"/>
                    <a:invGamma/>
                  </a:schemeClr>
                </a:gs>
                <a:gs pos="50000">
                  <a:schemeClr val="hlink">
                    <a:alpha val="0"/>
                  </a:schemeClr>
                </a:gs>
                <a:gs pos="100000">
                  <a:schemeClr val="hlink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Installers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5" name="Elbow Connector 44"/>
          <p:cNvCxnSpPr/>
          <p:nvPr/>
        </p:nvCxnSpPr>
        <p:spPr>
          <a:xfrm rot="10800000" flipH="1" flipV="1">
            <a:off x="5323144" y="2477864"/>
            <a:ext cx="138828" cy="1619766"/>
          </a:xfrm>
          <a:prstGeom prst="bentConnector3">
            <a:avLst>
              <a:gd name="adj1" fmla="val -164664"/>
            </a:avLst>
          </a:prstGeom>
          <a:ln w="2540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33" idx="1"/>
          </p:cNvCxnSpPr>
          <p:nvPr/>
        </p:nvCxnSpPr>
        <p:spPr>
          <a:xfrm>
            <a:off x="5076056" y="3264134"/>
            <a:ext cx="342986" cy="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endCxn id="7" idx="6"/>
          </p:cNvCxnSpPr>
          <p:nvPr/>
        </p:nvCxnSpPr>
        <p:spPr>
          <a:xfrm flipH="1">
            <a:off x="4932040" y="3264134"/>
            <a:ext cx="144016" cy="48814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164288" y="2673584"/>
            <a:ext cx="1881828" cy="576064"/>
          </a:xfrm>
          <a:prstGeom prst="roundRect">
            <a:avLst/>
          </a:prstGeom>
          <a:solidFill>
            <a:srgbClr val="5FA0F2"/>
          </a:solidFill>
          <a:ln w="9525" cap="flat" cmpd="sng" algn="ctr">
            <a:solidFill>
              <a:srgbClr val="5FA0F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Residential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16752" y="2131100"/>
            <a:ext cx="200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Customer </a:t>
            </a:r>
            <a:r>
              <a:rPr lang="en-US" sz="1400" dirty="0" smtClean="0"/>
              <a:t>Segments</a:t>
            </a:r>
            <a:endParaRPr lang="en-US" sz="1400" dirty="0"/>
          </a:p>
        </p:txBody>
      </p:sp>
      <p:sp>
        <p:nvSpPr>
          <p:cNvPr id="72" name="Rounded Rectangle 71"/>
          <p:cNvSpPr/>
          <p:nvPr/>
        </p:nvSpPr>
        <p:spPr>
          <a:xfrm>
            <a:off x="7154668" y="3470062"/>
            <a:ext cx="1881828" cy="576064"/>
          </a:xfrm>
          <a:prstGeom prst="roundRect">
            <a:avLst/>
          </a:prstGeom>
          <a:solidFill>
            <a:srgbClr val="5FA0F2"/>
          </a:solidFill>
          <a:ln w="9525" cap="flat" cmpd="sng" algn="ctr">
            <a:solidFill>
              <a:srgbClr val="5FA0F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Commercial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10"/>
          <p:cNvSpPr>
            <a:spLocks noChangeArrowheads="1"/>
          </p:cNvSpPr>
          <p:nvPr/>
        </p:nvSpPr>
        <p:spPr bwMode="gray">
          <a:xfrm>
            <a:off x="7290520" y="4408644"/>
            <a:ext cx="1745975" cy="1050925"/>
          </a:xfrm>
          <a:prstGeom prst="ellipse">
            <a:avLst/>
          </a:prstGeom>
          <a:gradFill rotWithShape="1">
            <a:gsLst>
              <a:gs pos="0">
                <a:schemeClr val="folHlink">
                  <a:alpha val="55000"/>
                </a:schemeClr>
              </a:gs>
              <a:gs pos="50000">
                <a:schemeClr val="folHlink">
                  <a:gamma/>
                  <a:shade val="46275"/>
                  <a:invGamma/>
                  <a:alpha val="89999"/>
                </a:schemeClr>
              </a:gs>
              <a:gs pos="100000">
                <a:schemeClr val="folHlink">
                  <a:alpha val="5500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smtClean="0">
                <a:solidFill>
                  <a:schemeClr val="bg1"/>
                </a:solidFill>
              </a:rPr>
              <a:t>Cooperatives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 MFIs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486041" y="5970930"/>
            <a:ext cx="1597710" cy="504056"/>
          </a:xfrm>
          <a:prstGeom prst="roundRect">
            <a:avLst/>
          </a:prstGeom>
          <a:gradFill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NGO</a:t>
            </a:r>
            <a:endParaRPr lang="en-US" dirty="0"/>
          </a:p>
        </p:txBody>
      </p:sp>
      <p:cxnSp>
        <p:nvCxnSpPr>
          <p:cNvPr id="81" name="Elbow Connector 80"/>
          <p:cNvCxnSpPr>
            <a:stCxn id="70" idx="1"/>
            <a:endCxn id="72" idx="1"/>
          </p:cNvCxnSpPr>
          <p:nvPr/>
        </p:nvCxnSpPr>
        <p:spPr>
          <a:xfrm rot="10800000" flipV="1">
            <a:off x="7154668" y="2961616"/>
            <a:ext cx="9620" cy="796478"/>
          </a:xfrm>
          <a:prstGeom prst="bentConnector3">
            <a:avLst>
              <a:gd name="adj1" fmla="val 1625083"/>
            </a:avLst>
          </a:prstGeom>
          <a:ln w="2540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6879000" y="3359855"/>
            <a:ext cx="14127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22"/>
          <p:cNvSpPr>
            <a:spLocks noChangeArrowheads="1"/>
          </p:cNvSpPr>
          <p:nvPr/>
        </p:nvSpPr>
        <p:spPr bwMode="gray">
          <a:xfrm>
            <a:off x="3047235" y="4584896"/>
            <a:ext cx="2200313" cy="1050925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anchor="ctr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Cooperative 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Association/MFI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92" name="Straight Arrow Connector 91"/>
          <p:cNvCxnSpPr>
            <a:stCxn id="90" idx="6"/>
            <a:endCxn id="78" idx="2"/>
          </p:cNvCxnSpPr>
          <p:nvPr/>
        </p:nvCxnSpPr>
        <p:spPr>
          <a:xfrm flipV="1">
            <a:off x="5247548" y="4934107"/>
            <a:ext cx="2042972" cy="176252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90" idx="0"/>
          </p:cNvCxnSpPr>
          <p:nvPr/>
        </p:nvCxnSpPr>
        <p:spPr>
          <a:xfrm flipH="1" flipV="1">
            <a:off x="4147391" y="3989680"/>
            <a:ext cx="1" cy="595216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41668" y="4430250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Support Services</a:t>
            </a:r>
            <a:endParaRPr lang="en-US" b="1" dirty="0">
              <a:solidFill>
                <a:srgbClr val="FF9933"/>
              </a:solidFill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28636" y="1188396"/>
            <a:ext cx="187220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AEPC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3431421" y="3442068"/>
            <a:ext cx="1019846" cy="677863"/>
            <a:chOff x="11324957" y="816929"/>
            <a:chExt cx="1019846" cy="677863"/>
          </a:xfrm>
        </p:grpSpPr>
        <p:grpSp>
          <p:nvGrpSpPr>
            <p:cNvPr id="98" name="Group 4"/>
            <p:cNvGrpSpPr>
              <a:grpSpLocks noChangeAspect="1"/>
            </p:cNvGrpSpPr>
            <p:nvPr/>
          </p:nvGrpSpPr>
          <p:grpSpPr bwMode="auto">
            <a:xfrm>
              <a:off x="11324957" y="816929"/>
              <a:ext cx="674688" cy="677863"/>
              <a:chOff x="7622" y="646"/>
              <a:chExt cx="425" cy="427"/>
            </a:xfrm>
          </p:grpSpPr>
          <p:sp>
            <p:nvSpPr>
              <p:cNvPr id="100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7622" y="646"/>
                <a:ext cx="425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Freeform 6"/>
              <p:cNvSpPr>
                <a:spLocks/>
              </p:cNvSpPr>
              <p:nvPr/>
            </p:nvSpPr>
            <p:spPr bwMode="auto">
              <a:xfrm>
                <a:off x="7622" y="646"/>
                <a:ext cx="361" cy="427"/>
              </a:xfrm>
              <a:custGeom>
                <a:avLst/>
                <a:gdLst>
                  <a:gd name="T0" fmla="*/ 863 w 1804"/>
                  <a:gd name="T1" fmla="*/ 1599 h 2135"/>
                  <a:gd name="T2" fmla="*/ 798 w 1804"/>
                  <a:gd name="T3" fmla="*/ 1505 h 2135"/>
                  <a:gd name="T4" fmla="*/ 748 w 1804"/>
                  <a:gd name="T5" fmla="*/ 1405 h 2135"/>
                  <a:gd name="T6" fmla="*/ 713 w 1804"/>
                  <a:gd name="T7" fmla="*/ 1300 h 2135"/>
                  <a:gd name="T8" fmla="*/ 694 w 1804"/>
                  <a:gd name="T9" fmla="*/ 1188 h 2135"/>
                  <a:gd name="T10" fmla="*/ 692 w 1804"/>
                  <a:gd name="T11" fmla="*/ 1070 h 2135"/>
                  <a:gd name="T12" fmla="*/ 705 w 1804"/>
                  <a:gd name="T13" fmla="*/ 955 h 2135"/>
                  <a:gd name="T14" fmla="*/ 735 w 1804"/>
                  <a:gd name="T15" fmla="*/ 847 h 2135"/>
                  <a:gd name="T16" fmla="*/ 779 w 1804"/>
                  <a:gd name="T17" fmla="*/ 745 h 2135"/>
                  <a:gd name="T18" fmla="*/ 840 w 1804"/>
                  <a:gd name="T19" fmla="*/ 651 h 2135"/>
                  <a:gd name="T20" fmla="*/ 917 w 1804"/>
                  <a:gd name="T21" fmla="*/ 563 h 2135"/>
                  <a:gd name="T22" fmla="*/ 1005 w 1804"/>
                  <a:gd name="T23" fmla="*/ 486 h 2135"/>
                  <a:gd name="T24" fmla="*/ 1100 w 1804"/>
                  <a:gd name="T25" fmla="*/ 425 h 2135"/>
                  <a:gd name="T26" fmla="*/ 1201 w 1804"/>
                  <a:gd name="T27" fmla="*/ 379 h 2135"/>
                  <a:gd name="T28" fmla="*/ 1309 w 1804"/>
                  <a:gd name="T29" fmla="*/ 350 h 2135"/>
                  <a:gd name="T30" fmla="*/ 1423 w 1804"/>
                  <a:gd name="T31" fmla="*/ 337 h 2135"/>
                  <a:gd name="T32" fmla="*/ 1508 w 1804"/>
                  <a:gd name="T33" fmla="*/ 337 h 2135"/>
                  <a:gd name="T34" fmla="*/ 1576 w 1804"/>
                  <a:gd name="T35" fmla="*/ 343 h 2135"/>
                  <a:gd name="T36" fmla="*/ 1641 w 1804"/>
                  <a:gd name="T37" fmla="*/ 355 h 2135"/>
                  <a:gd name="T38" fmla="*/ 1704 w 1804"/>
                  <a:gd name="T39" fmla="*/ 373 h 2135"/>
                  <a:gd name="T40" fmla="*/ 1765 w 1804"/>
                  <a:gd name="T41" fmla="*/ 394 h 2135"/>
                  <a:gd name="T42" fmla="*/ 1728 w 1804"/>
                  <a:gd name="T43" fmla="*/ 0 h 2135"/>
                  <a:gd name="T44" fmla="*/ 1706 w 1804"/>
                  <a:gd name="T45" fmla="*/ 3 h 2135"/>
                  <a:gd name="T46" fmla="*/ 1684 w 1804"/>
                  <a:gd name="T47" fmla="*/ 7 h 2135"/>
                  <a:gd name="T48" fmla="*/ 1629 w 1804"/>
                  <a:gd name="T49" fmla="*/ 20 h 2135"/>
                  <a:gd name="T50" fmla="*/ 1513 w 1804"/>
                  <a:gd name="T51" fmla="*/ 51 h 2135"/>
                  <a:gd name="T52" fmla="*/ 1400 w 1804"/>
                  <a:gd name="T53" fmla="*/ 87 h 2135"/>
                  <a:gd name="T54" fmla="*/ 1293 w 1804"/>
                  <a:gd name="T55" fmla="*/ 127 h 2135"/>
                  <a:gd name="T56" fmla="*/ 1191 w 1804"/>
                  <a:gd name="T57" fmla="*/ 170 h 2135"/>
                  <a:gd name="T58" fmla="*/ 1093 w 1804"/>
                  <a:gd name="T59" fmla="*/ 217 h 2135"/>
                  <a:gd name="T60" fmla="*/ 999 w 1804"/>
                  <a:gd name="T61" fmla="*/ 269 h 2135"/>
                  <a:gd name="T62" fmla="*/ 908 w 1804"/>
                  <a:gd name="T63" fmla="*/ 322 h 2135"/>
                  <a:gd name="T64" fmla="*/ 823 w 1804"/>
                  <a:gd name="T65" fmla="*/ 380 h 2135"/>
                  <a:gd name="T66" fmla="*/ 741 w 1804"/>
                  <a:gd name="T67" fmla="*/ 440 h 2135"/>
                  <a:gd name="T68" fmla="*/ 662 w 1804"/>
                  <a:gd name="T69" fmla="*/ 504 h 2135"/>
                  <a:gd name="T70" fmla="*/ 540 w 1804"/>
                  <a:gd name="T71" fmla="*/ 615 h 2135"/>
                  <a:gd name="T72" fmla="*/ 404 w 1804"/>
                  <a:gd name="T73" fmla="*/ 758 h 2135"/>
                  <a:gd name="T74" fmla="*/ 280 w 1804"/>
                  <a:gd name="T75" fmla="*/ 911 h 2135"/>
                  <a:gd name="T76" fmla="*/ 168 w 1804"/>
                  <a:gd name="T77" fmla="*/ 1071 h 2135"/>
                  <a:gd name="T78" fmla="*/ 64 w 1804"/>
                  <a:gd name="T79" fmla="*/ 1238 h 2135"/>
                  <a:gd name="T80" fmla="*/ 1344 w 1804"/>
                  <a:gd name="T81" fmla="*/ 2135 h 2135"/>
                  <a:gd name="T82" fmla="*/ 1376 w 1804"/>
                  <a:gd name="T83" fmla="*/ 2081 h 2135"/>
                  <a:gd name="T84" fmla="*/ 1412 w 1804"/>
                  <a:gd name="T85" fmla="*/ 2031 h 2135"/>
                  <a:gd name="T86" fmla="*/ 1452 w 1804"/>
                  <a:gd name="T87" fmla="*/ 1982 h 2135"/>
                  <a:gd name="T88" fmla="*/ 1494 w 1804"/>
                  <a:gd name="T89" fmla="*/ 1935 h 2135"/>
                  <a:gd name="T90" fmla="*/ 1539 w 1804"/>
                  <a:gd name="T91" fmla="*/ 1891 h 2135"/>
                  <a:gd name="T92" fmla="*/ 1532 w 1804"/>
                  <a:gd name="T93" fmla="*/ 1879 h 2135"/>
                  <a:gd name="T94" fmla="*/ 1497 w 1804"/>
                  <a:gd name="T95" fmla="*/ 1882 h 2135"/>
                  <a:gd name="T96" fmla="*/ 1463 w 1804"/>
                  <a:gd name="T97" fmla="*/ 1883 h 2135"/>
                  <a:gd name="T98" fmla="*/ 1346 w 1804"/>
                  <a:gd name="T99" fmla="*/ 1875 h 2135"/>
                  <a:gd name="T100" fmla="*/ 1235 w 1804"/>
                  <a:gd name="T101" fmla="*/ 1851 h 2135"/>
                  <a:gd name="T102" fmla="*/ 1133 w 1804"/>
                  <a:gd name="T103" fmla="*/ 1812 h 2135"/>
                  <a:gd name="T104" fmla="*/ 1036 w 1804"/>
                  <a:gd name="T105" fmla="*/ 1756 h 2135"/>
                  <a:gd name="T106" fmla="*/ 945 w 1804"/>
                  <a:gd name="T107" fmla="*/ 1684 h 2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804" h="2135">
                    <a:moveTo>
                      <a:pt x="917" y="1656"/>
                    </a:moveTo>
                    <a:lnTo>
                      <a:pt x="890" y="1628"/>
                    </a:lnTo>
                    <a:lnTo>
                      <a:pt x="863" y="1599"/>
                    </a:lnTo>
                    <a:lnTo>
                      <a:pt x="840" y="1568"/>
                    </a:lnTo>
                    <a:lnTo>
                      <a:pt x="817" y="1536"/>
                    </a:lnTo>
                    <a:lnTo>
                      <a:pt x="798" y="1505"/>
                    </a:lnTo>
                    <a:lnTo>
                      <a:pt x="779" y="1473"/>
                    </a:lnTo>
                    <a:lnTo>
                      <a:pt x="762" y="1439"/>
                    </a:lnTo>
                    <a:lnTo>
                      <a:pt x="748" y="1405"/>
                    </a:lnTo>
                    <a:lnTo>
                      <a:pt x="735" y="1371"/>
                    </a:lnTo>
                    <a:lnTo>
                      <a:pt x="723" y="1336"/>
                    </a:lnTo>
                    <a:lnTo>
                      <a:pt x="713" y="1300"/>
                    </a:lnTo>
                    <a:lnTo>
                      <a:pt x="705" y="1263"/>
                    </a:lnTo>
                    <a:lnTo>
                      <a:pt x="699" y="1226"/>
                    </a:lnTo>
                    <a:lnTo>
                      <a:pt x="694" y="1188"/>
                    </a:lnTo>
                    <a:lnTo>
                      <a:pt x="692" y="1148"/>
                    </a:lnTo>
                    <a:lnTo>
                      <a:pt x="691" y="1109"/>
                    </a:lnTo>
                    <a:lnTo>
                      <a:pt x="692" y="1070"/>
                    </a:lnTo>
                    <a:lnTo>
                      <a:pt x="694" y="1030"/>
                    </a:lnTo>
                    <a:lnTo>
                      <a:pt x="699" y="992"/>
                    </a:lnTo>
                    <a:lnTo>
                      <a:pt x="705" y="955"/>
                    </a:lnTo>
                    <a:lnTo>
                      <a:pt x="713" y="918"/>
                    </a:lnTo>
                    <a:lnTo>
                      <a:pt x="723" y="882"/>
                    </a:lnTo>
                    <a:lnTo>
                      <a:pt x="735" y="847"/>
                    </a:lnTo>
                    <a:lnTo>
                      <a:pt x="748" y="812"/>
                    </a:lnTo>
                    <a:lnTo>
                      <a:pt x="762" y="778"/>
                    </a:lnTo>
                    <a:lnTo>
                      <a:pt x="779" y="745"/>
                    </a:lnTo>
                    <a:lnTo>
                      <a:pt x="798" y="713"/>
                    </a:lnTo>
                    <a:lnTo>
                      <a:pt x="817" y="682"/>
                    </a:lnTo>
                    <a:lnTo>
                      <a:pt x="840" y="651"/>
                    </a:lnTo>
                    <a:lnTo>
                      <a:pt x="863" y="621"/>
                    </a:lnTo>
                    <a:lnTo>
                      <a:pt x="890" y="591"/>
                    </a:lnTo>
                    <a:lnTo>
                      <a:pt x="917" y="563"/>
                    </a:lnTo>
                    <a:lnTo>
                      <a:pt x="945" y="535"/>
                    </a:lnTo>
                    <a:lnTo>
                      <a:pt x="975" y="509"/>
                    </a:lnTo>
                    <a:lnTo>
                      <a:pt x="1005" y="486"/>
                    </a:lnTo>
                    <a:lnTo>
                      <a:pt x="1036" y="463"/>
                    </a:lnTo>
                    <a:lnTo>
                      <a:pt x="1067" y="444"/>
                    </a:lnTo>
                    <a:lnTo>
                      <a:pt x="1100" y="425"/>
                    </a:lnTo>
                    <a:lnTo>
                      <a:pt x="1133" y="408"/>
                    </a:lnTo>
                    <a:lnTo>
                      <a:pt x="1167" y="392"/>
                    </a:lnTo>
                    <a:lnTo>
                      <a:pt x="1201" y="379"/>
                    </a:lnTo>
                    <a:lnTo>
                      <a:pt x="1235" y="367"/>
                    </a:lnTo>
                    <a:lnTo>
                      <a:pt x="1272" y="357"/>
                    </a:lnTo>
                    <a:lnTo>
                      <a:pt x="1309" y="350"/>
                    </a:lnTo>
                    <a:lnTo>
                      <a:pt x="1346" y="343"/>
                    </a:lnTo>
                    <a:lnTo>
                      <a:pt x="1384" y="339"/>
                    </a:lnTo>
                    <a:lnTo>
                      <a:pt x="1423" y="337"/>
                    </a:lnTo>
                    <a:lnTo>
                      <a:pt x="1463" y="335"/>
                    </a:lnTo>
                    <a:lnTo>
                      <a:pt x="1485" y="335"/>
                    </a:lnTo>
                    <a:lnTo>
                      <a:pt x="1508" y="337"/>
                    </a:lnTo>
                    <a:lnTo>
                      <a:pt x="1531" y="339"/>
                    </a:lnTo>
                    <a:lnTo>
                      <a:pt x="1554" y="340"/>
                    </a:lnTo>
                    <a:lnTo>
                      <a:pt x="1576" y="343"/>
                    </a:lnTo>
                    <a:lnTo>
                      <a:pt x="1598" y="346"/>
                    </a:lnTo>
                    <a:lnTo>
                      <a:pt x="1620" y="351"/>
                    </a:lnTo>
                    <a:lnTo>
                      <a:pt x="1641" y="355"/>
                    </a:lnTo>
                    <a:lnTo>
                      <a:pt x="1662" y="361"/>
                    </a:lnTo>
                    <a:lnTo>
                      <a:pt x="1683" y="366"/>
                    </a:lnTo>
                    <a:lnTo>
                      <a:pt x="1704" y="373"/>
                    </a:lnTo>
                    <a:lnTo>
                      <a:pt x="1724" y="379"/>
                    </a:lnTo>
                    <a:lnTo>
                      <a:pt x="1745" y="387"/>
                    </a:lnTo>
                    <a:lnTo>
                      <a:pt x="1765" y="394"/>
                    </a:lnTo>
                    <a:lnTo>
                      <a:pt x="1784" y="403"/>
                    </a:lnTo>
                    <a:lnTo>
                      <a:pt x="1804" y="413"/>
                    </a:lnTo>
                    <a:lnTo>
                      <a:pt x="1728" y="0"/>
                    </a:lnTo>
                    <a:lnTo>
                      <a:pt x="1720" y="1"/>
                    </a:lnTo>
                    <a:lnTo>
                      <a:pt x="1714" y="2"/>
                    </a:lnTo>
                    <a:lnTo>
                      <a:pt x="1706" y="3"/>
                    </a:lnTo>
                    <a:lnTo>
                      <a:pt x="1698" y="4"/>
                    </a:lnTo>
                    <a:lnTo>
                      <a:pt x="1691" y="5"/>
                    </a:lnTo>
                    <a:lnTo>
                      <a:pt x="1684" y="7"/>
                    </a:lnTo>
                    <a:lnTo>
                      <a:pt x="1676" y="9"/>
                    </a:lnTo>
                    <a:lnTo>
                      <a:pt x="1670" y="10"/>
                    </a:lnTo>
                    <a:lnTo>
                      <a:pt x="1629" y="20"/>
                    </a:lnTo>
                    <a:lnTo>
                      <a:pt x="1590" y="30"/>
                    </a:lnTo>
                    <a:lnTo>
                      <a:pt x="1551" y="40"/>
                    </a:lnTo>
                    <a:lnTo>
                      <a:pt x="1513" y="51"/>
                    </a:lnTo>
                    <a:lnTo>
                      <a:pt x="1475" y="62"/>
                    </a:lnTo>
                    <a:lnTo>
                      <a:pt x="1437" y="74"/>
                    </a:lnTo>
                    <a:lnTo>
                      <a:pt x="1400" y="87"/>
                    </a:lnTo>
                    <a:lnTo>
                      <a:pt x="1364" y="99"/>
                    </a:lnTo>
                    <a:lnTo>
                      <a:pt x="1328" y="114"/>
                    </a:lnTo>
                    <a:lnTo>
                      <a:pt x="1293" y="127"/>
                    </a:lnTo>
                    <a:lnTo>
                      <a:pt x="1258" y="141"/>
                    </a:lnTo>
                    <a:lnTo>
                      <a:pt x="1225" y="155"/>
                    </a:lnTo>
                    <a:lnTo>
                      <a:pt x="1191" y="170"/>
                    </a:lnTo>
                    <a:lnTo>
                      <a:pt x="1157" y="186"/>
                    </a:lnTo>
                    <a:lnTo>
                      <a:pt x="1124" y="201"/>
                    </a:lnTo>
                    <a:lnTo>
                      <a:pt x="1093" y="217"/>
                    </a:lnTo>
                    <a:lnTo>
                      <a:pt x="1061" y="234"/>
                    </a:lnTo>
                    <a:lnTo>
                      <a:pt x="1029" y="251"/>
                    </a:lnTo>
                    <a:lnTo>
                      <a:pt x="999" y="269"/>
                    </a:lnTo>
                    <a:lnTo>
                      <a:pt x="968" y="286"/>
                    </a:lnTo>
                    <a:lnTo>
                      <a:pt x="938" y="304"/>
                    </a:lnTo>
                    <a:lnTo>
                      <a:pt x="908" y="322"/>
                    </a:lnTo>
                    <a:lnTo>
                      <a:pt x="880" y="341"/>
                    </a:lnTo>
                    <a:lnTo>
                      <a:pt x="851" y="361"/>
                    </a:lnTo>
                    <a:lnTo>
                      <a:pt x="823" y="380"/>
                    </a:lnTo>
                    <a:lnTo>
                      <a:pt x="795" y="400"/>
                    </a:lnTo>
                    <a:lnTo>
                      <a:pt x="767" y="420"/>
                    </a:lnTo>
                    <a:lnTo>
                      <a:pt x="741" y="440"/>
                    </a:lnTo>
                    <a:lnTo>
                      <a:pt x="715" y="461"/>
                    </a:lnTo>
                    <a:lnTo>
                      <a:pt x="689" y="482"/>
                    </a:lnTo>
                    <a:lnTo>
                      <a:pt x="662" y="504"/>
                    </a:lnTo>
                    <a:lnTo>
                      <a:pt x="637" y="526"/>
                    </a:lnTo>
                    <a:lnTo>
                      <a:pt x="588" y="570"/>
                    </a:lnTo>
                    <a:lnTo>
                      <a:pt x="540" y="615"/>
                    </a:lnTo>
                    <a:lnTo>
                      <a:pt x="493" y="662"/>
                    </a:lnTo>
                    <a:lnTo>
                      <a:pt x="447" y="710"/>
                    </a:lnTo>
                    <a:lnTo>
                      <a:pt x="404" y="758"/>
                    </a:lnTo>
                    <a:lnTo>
                      <a:pt x="361" y="809"/>
                    </a:lnTo>
                    <a:lnTo>
                      <a:pt x="321" y="859"/>
                    </a:lnTo>
                    <a:lnTo>
                      <a:pt x="280" y="911"/>
                    </a:lnTo>
                    <a:lnTo>
                      <a:pt x="242" y="964"/>
                    </a:lnTo>
                    <a:lnTo>
                      <a:pt x="204" y="1017"/>
                    </a:lnTo>
                    <a:lnTo>
                      <a:pt x="168" y="1071"/>
                    </a:lnTo>
                    <a:lnTo>
                      <a:pt x="132" y="1125"/>
                    </a:lnTo>
                    <a:lnTo>
                      <a:pt x="98" y="1181"/>
                    </a:lnTo>
                    <a:lnTo>
                      <a:pt x="64" y="1238"/>
                    </a:lnTo>
                    <a:lnTo>
                      <a:pt x="32" y="1295"/>
                    </a:lnTo>
                    <a:lnTo>
                      <a:pt x="0" y="1353"/>
                    </a:lnTo>
                    <a:lnTo>
                      <a:pt x="1344" y="2135"/>
                    </a:lnTo>
                    <a:lnTo>
                      <a:pt x="1354" y="2118"/>
                    </a:lnTo>
                    <a:lnTo>
                      <a:pt x="1365" y="2099"/>
                    </a:lnTo>
                    <a:lnTo>
                      <a:pt x="1376" y="2081"/>
                    </a:lnTo>
                    <a:lnTo>
                      <a:pt x="1388" y="2065"/>
                    </a:lnTo>
                    <a:lnTo>
                      <a:pt x="1400" y="2048"/>
                    </a:lnTo>
                    <a:lnTo>
                      <a:pt x="1412" y="2031"/>
                    </a:lnTo>
                    <a:lnTo>
                      <a:pt x="1425" y="2014"/>
                    </a:lnTo>
                    <a:lnTo>
                      <a:pt x="1438" y="1997"/>
                    </a:lnTo>
                    <a:lnTo>
                      <a:pt x="1452" y="1982"/>
                    </a:lnTo>
                    <a:lnTo>
                      <a:pt x="1466" y="1966"/>
                    </a:lnTo>
                    <a:lnTo>
                      <a:pt x="1479" y="1950"/>
                    </a:lnTo>
                    <a:lnTo>
                      <a:pt x="1494" y="1935"/>
                    </a:lnTo>
                    <a:lnTo>
                      <a:pt x="1508" y="1920"/>
                    </a:lnTo>
                    <a:lnTo>
                      <a:pt x="1524" y="1906"/>
                    </a:lnTo>
                    <a:lnTo>
                      <a:pt x="1539" y="1891"/>
                    </a:lnTo>
                    <a:lnTo>
                      <a:pt x="1554" y="1877"/>
                    </a:lnTo>
                    <a:lnTo>
                      <a:pt x="1543" y="1878"/>
                    </a:lnTo>
                    <a:lnTo>
                      <a:pt x="1532" y="1879"/>
                    </a:lnTo>
                    <a:lnTo>
                      <a:pt x="1520" y="1880"/>
                    </a:lnTo>
                    <a:lnTo>
                      <a:pt x="1509" y="1882"/>
                    </a:lnTo>
                    <a:lnTo>
                      <a:pt x="1497" y="1882"/>
                    </a:lnTo>
                    <a:lnTo>
                      <a:pt x="1487" y="1883"/>
                    </a:lnTo>
                    <a:lnTo>
                      <a:pt x="1475" y="1883"/>
                    </a:lnTo>
                    <a:lnTo>
                      <a:pt x="1463" y="1883"/>
                    </a:lnTo>
                    <a:lnTo>
                      <a:pt x="1423" y="1882"/>
                    </a:lnTo>
                    <a:lnTo>
                      <a:pt x="1384" y="1879"/>
                    </a:lnTo>
                    <a:lnTo>
                      <a:pt x="1346" y="1875"/>
                    </a:lnTo>
                    <a:lnTo>
                      <a:pt x="1309" y="1868"/>
                    </a:lnTo>
                    <a:lnTo>
                      <a:pt x="1272" y="1861"/>
                    </a:lnTo>
                    <a:lnTo>
                      <a:pt x="1235" y="1851"/>
                    </a:lnTo>
                    <a:lnTo>
                      <a:pt x="1201" y="1839"/>
                    </a:lnTo>
                    <a:lnTo>
                      <a:pt x="1167" y="1826"/>
                    </a:lnTo>
                    <a:lnTo>
                      <a:pt x="1133" y="1812"/>
                    </a:lnTo>
                    <a:lnTo>
                      <a:pt x="1100" y="1794"/>
                    </a:lnTo>
                    <a:lnTo>
                      <a:pt x="1067" y="1776"/>
                    </a:lnTo>
                    <a:lnTo>
                      <a:pt x="1036" y="1756"/>
                    </a:lnTo>
                    <a:lnTo>
                      <a:pt x="1005" y="1733"/>
                    </a:lnTo>
                    <a:lnTo>
                      <a:pt x="975" y="1710"/>
                    </a:lnTo>
                    <a:lnTo>
                      <a:pt x="945" y="1684"/>
                    </a:lnTo>
                    <a:lnTo>
                      <a:pt x="917" y="1656"/>
                    </a:lnTo>
                    <a:close/>
                  </a:path>
                </a:pathLst>
              </a:custGeom>
              <a:solidFill>
                <a:srgbClr val="E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99" name="Oval 98"/>
            <p:cNvSpPr/>
            <p:nvPr/>
          </p:nvSpPr>
          <p:spPr>
            <a:xfrm>
              <a:off x="11592328" y="933089"/>
              <a:ext cx="752475" cy="479687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 smtClean="0">
                  <a:solidFill>
                    <a:schemeClr val="bg1"/>
                  </a:solidFill>
                </a:rPr>
                <a:t>Rs</a:t>
              </a:r>
              <a:endParaRPr lang="en-GB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512594" y="5164728"/>
            <a:ext cx="1019846" cy="677863"/>
            <a:chOff x="11324957" y="816929"/>
            <a:chExt cx="1019846" cy="677863"/>
          </a:xfrm>
        </p:grpSpPr>
        <p:grpSp>
          <p:nvGrpSpPr>
            <p:cNvPr id="103" name="Group 4"/>
            <p:cNvGrpSpPr>
              <a:grpSpLocks noChangeAspect="1"/>
            </p:cNvGrpSpPr>
            <p:nvPr/>
          </p:nvGrpSpPr>
          <p:grpSpPr bwMode="auto">
            <a:xfrm>
              <a:off x="11324957" y="816929"/>
              <a:ext cx="674688" cy="677863"/>
              <a:chOff x="7622" y="646"/>
              <a:chExt cx="425" cy="427"/>
            </a:xfrm>
          </p:grpSpPr>
          <p:sp>
            <p:nvSpPr>
              <p:cNvPr id="10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7622" y="646"/>
                <a:ext cx="425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Freeform 6"/>
              <p:cNvSpPr>
                <a:spLocks/>
              </p:cNvSpPr>
              <p:nvPr/>
            </p:nvSpPr>
            <p:spPr bwMode="auto">
              <a:xfrm>
                <a:off x="7622" y="646"/>
                <a:ext cx="361" cy="427"/>
              </a:xfrm>
              <a:custGeom>
                <a:avLst/>
                <a:gdLst>
                  <a:gd name="T0" fmla="*/ 863 w 1804"/>
                  <a:gd name="T1" fmla="*/ 1599 h 2135"/>
                  <a:gd name="T2" fmla="*/ 798 w 1804"/>
                  <a:gd name="T3" fmla="*/ 1505 h 2135"/>
                  <a:gd name="T4" fmla="*/ 748 w 1804"/>
                  <a:gd name="T5" fmla="*/ 1405 h 2135"/>
                  <a:gd name="T6" fmla="*/ 713 w 1804"/>
                  <a:gd name="T7" fmla="*/ 1300 h 2135"/>
                  <a:gd name="T8" fmla="*/ 694 w 1804"/>
                  <a:gd name="T9" fmla="*/ 1188 h 2135"/>
                  <a:gd name="T10" fmla="*/ 692 w 1804"/>
                  <a:gd name="T11" fmla="*/ 1070 h 2135"/>
                  <a:gd name="T12" fmla="*/ 705 w 1804"/>
                  <a:gd name="T13" fmla="*/ 955 h 2135"/>
                  <a:gd name="T14" fmla="*/ 735 w 1804"/>
                  <a:gd name="T15" fmla="*/ 847 h 2135"/>
                  <a:gd name="T16" fmla="*/ 779 w 1804"/>
                  <a:gd name="T17" fmla="*/ 745 h 2135"/>
                  <a:gd name="T18" fmla="*/ 840 w 1804"/>
                  <a:gd name="T19" fmla="*/ 651 h 2135"/>
                  <a:gd name="T20" fmla="*/ 917 w 1804"/>
                  <a:gd name="T21" fmla="*/ 563 h 2135"/>
                  <a:gd name="T22" fmla="*/ 1005 w 1804"/>
                  <a:gd name="T23" fmla="*/ 486 h 2135"/>
                  <a:gd name="T24" fmla="*/ 1100 w 1804"/>
                  <a:gd name="T25" fmla="*/ 425 h 2135"/>
                  <a:gd name="T26" fmla="*/ 1201 w 1804"/>
                  <a:gd name="T27" fmla="*/ 379 h 2135"/>
                  <a:gd name="T28" fmla="*/ 1309 w 1804"/>
                  <a:gd name="T29" fmla="*/ 350 h 2135"/>
                  <a:gd name="T30" fmla="*/ 1423 w 1804"/>
                  <a:gd name="T31" fmla="*/ 337 h 2135"/>
                  <a:gd name="T32" fmla="*/ 1508 w 1804"/>
                  <a:gd name="T33" fmla="*/ 337 h 2135"/>
                  <a:gd name="T34" fmla="*/ 1576 w 1804"/>
                  <a:gd name="T35" fmla="*/ 343 h 2135"/>
                  <a:gd name="T36" fmla="*/ 1641 w 1804"/>
                  <a:gd name="T37" fmla="*/ 355 h 2135"/>
                  <a:gd name="T38" fmla="*/ 1704 w 1804"/>
                  <a:gd name="T39" fmla="*/ 373 h 2135"/>
                  <a:gd name="T40" fmla="*/ 1765 w 1804"/>
                  <a:gd name="T41" fmla="*/ 394 h 2135"/>
                  <a:gd name="T42" fmla="*/ 1728 w 1804"/>
                  <a:gd name="T43" fmla="*/ 0 h 2135"/>
                  <a:gd name="T44" fmla="*/ 1706 w 1804"/>
                  <a:gd name="T45" fmla="*/ 3 h 2135"/>
                  <a:gd name="T46" fmla="*/ 1684 w 1804"/>
                  <a:gd name="T47" fmla="*/ 7 h 2135"/>
                  <a:gd name="T48" fmla="*/ 1629 w 1804"/>
                  <a:gd name="T49" fmla="*/ 20 h 2135"/>
                  <a:gd name="T50" fmla="*/ 1513 w 1804"/>
                  <a:gd name="T51" fmla="*/ 51 h 2135"/>
                  <a:gd name="T52" fmla="*/ 1400 w 1804"/>
                  <a:gd name="T53" fmla="*/ 87 h 2135"/>
                  <a:gd name="T54" fmla="*/ 1293 w 1804"/>
                  <a:gd name="T55" fmla="*/ 127 h 2135"/>
                  <a:gd name="T56" fmla="*/ 1191 w 1804"/>
                  <a:gd name="T57" fmla="*/ 170 h 2135"/>
                  <a:gd name="T58" fmla="*/ 1093 w 1804"/>
                  <a:gd name="T59" fmla="*/ 217 h 2135"/>
                  <a:gd name="T60" fmla="*/ 999 w 1804"/>
                  <a:gd name="T61" fmla="*/ 269 h 2135"/>
                  <a:gd name="T62" fmla="*/ 908 w 1804"/>
                  <a:gd name="T63" fmla="*/ 322 h 2135"/>
                  <a:gd name="T64" fmla="*/ 823 w 1804"/>
                  <a:gd name="T65" fmla="*/ 380 h 2135"/>
                  <a:gd name="T66" fmla="*/ 741 w 1804"/>
                  <a:gd name="T67" fmla="*/ 440 h 2135"/>
                  <a:gd name="T68" fmla="*/ 662 w 1804"/>
                  <a:gd name="T69" fmla="*/ 504 h 2135"/>
                  <a:gd name="T70" fmla="*/ 540 w 1804"/>
                  <a:gd name="T71" fmla="*/ 615 h 2135"/>
                  <a:gd name="T72" fmla="*/ 404 w 1804"/>
                  <a:gd name="T73" fmla="*/ 758 h 2135"/>
                  <a:gd name="T74" fmla="*/ 280 w 1804"/>
                  <a:gd name="T75" fmla="*/ 911 h 2135"/>
                  <a:gd name="T76" fmla="*/ 168 w 1804"/>
                  <a:gd name="T77" fmla="*/ 1071 h 2135"/>
                  <a:gd name="T78" fmla="*/ 64 w 1804"/>
                  <a:gd name="T79" fmla="*/ 1238 h 2135"/>
                  <a:gd name="T80" fmla="*/ 1344 w 1804"/>
                  <a:gd name="T81" fmla="*/ 2135 h 2135"/>
                  <a:gd name="T82" fmla="*/ 1376 w 1804"/>
                  <a:gd name="T83" fmla="*/ 2081 h 2135"/>
                  <a:gd name="T84" fmla="*/ 1412 w 1804"/>
                  <a:gd name="T85" fmla="*/ 2031 h 2135"/>
                  <a:gd name="T86" fmla="*/ 1452 w 1804"/>
                  <a:gd name="T87" fmla="*/ 1982 h 2135"/>
                  <a:gd name="T88" fmla="*/ 1494 w 1804"/>
                  <a:gd name="T89" fmla="*/ 1935 h 2135"/>
                  <a:gd name="T90" fmla="*/ 1539 w 1804"/>
                  <a:gd name="T91" fmla="*/ 1891 h 2135"/>
                  <a:gd name="T92" fmla="*/ 1532 w 1804"/>
                  <a:gd name="T93" fmla="*/ 1879 h 2135"/>
                  <a:gd name="T94" fmla="*/ 1497 w 1804"/>
                  <a:gd name="T95" fmla="*/ 1882 h 2135"/>
                  <a:gd name="T96" fmla="*/ 1463 w 1804"/>
                  <a:gd name="T97" fmla="*/ 1883 h 2135"/>
                  <a:gd name="T98" fmla="*/ 1346 w 1804"/>
                  <a:gd name="T99" fmla="*/ 1875 h 2135"/>
                  <a:gd name="T100" fmla="*/ 1235 w 1804"/>
                  <a:gd name="T101" fmla="*/ 1851 h 2135"/>
                  <a:gd name="T102" fmla="*/ 1133 w 1804"/>
                  <a:gd name="T103" fmla="*/ 1812 h 2135"/>
                  <a:gd name="T104" fmla="*/ 1036 w 1804"/>
                  <a:gd name="T105" fmla="*/ 1756 h 2135"/>
                  <a:gd name="T106" fmla="*/ 945 w 1804"/>
                  <a:gd name="T107" fmla="*/ 1684 h 2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804" h="2135">
                    <a:moveTo>
                      <a:pt x="917" y="1656"/>
                    </a:moveTo>
                    <a:lnTo>
                      <a:pt x="890" y="1628"/>
                    </a:lnTo>
                    <a:lnTo>
                      <a:pt x="863" y="1599"/>
                    </a:lnTo>
                    <a:lnTo>
                      <a:pt x="840" y="1568"/>
                    </a:lnTo>
                    <a:lnTo>
                      <a:pt x="817" y="1536"/>
                    </a:lnTo>
                    <a:lnTo>
                      <a:pt x="798" y="1505"/>
                    </a:lnTo>
                    <a:lnTo>
                      <a:pt x="779" y="1473"/>
                    </a:lnTo>
                    <a:lnTo>
                      <a:pt x="762" y="1439"/>
                    </a:lnTo>
                    <a:lnTo>
                      <a:pt x="748" y="1405"/>
                    </a:lnTo>
                    <a:lnTo>
                      <a:pt x="735" y="1371"/>
                    </a:lnTo>
                    <a:lnTo>
                      <a:pt x="723" y="1336"/>
                    </a:lnTo>
                    <a:lnTo>
                      <a:pt x="713" y="1300"/>
                    </a:lnTo>
                    <a:lnTo>
                      <a:pt x="705" y="1263"/>
                    </a:lnTo>
                    <a:lnTo>
                      <a:pt x="699" y="1226"/>
                    </a:lnTo>
                    <a:lnTo>
                      <a:pt x="694" y="1188"/>
                    </a:lnTo>
                    <a:lnTo>
                      <a:pt x="692" y="1148"/>
                    </a:lnTo>
                    <a:lnTo>
                      <a:pt x="691" y="1109"/>
                    </a:lnTo>
                    <a:lnTo>
                      <a:pt x="692" y="1070"/>
                    </a:lnTo>
                    <a:lnTo>
                      <a:pt x="694" y="1030"/>
                    </a:lnTo>
                    <a:lnTo>
                      <a:pt x="699" y="992"/>
                    </a:lnTo>
                    <a:lnTo>
                      <a:pt x="705" y="955"/>
                    </a:lnTo>
                    <a:lnTo>
                      <a:pt x="713" y="918"/>
                    </a:lnTo>
                    <a:lnTo>
                      <a:pt x="723" y="882"/>
                    </a:lnTo>
                    <a:lnTo>
                      <a:pt x="735" y="847"/>
                    </a:lnTo>
                    <a:lnTo>
                      <a:pt x="748" y="812"/>
                    </a:lnTo>
                    <a:lnTo>
                      <a:pt x="762" y="778"/>
                    </a:lnTo>
                    <a:lnTo>
                      <a:pt x="779" y="745"/>
                    </a:lnTo>
                    <a:lnTo>
                      <a:pt x="798" y="713"/>
                    </a:lnTo>
                    <a:lnTo>
                      <a:pt x="817" y="682"/>
                    </a:lnTo>
                    <a:lnTo>
                      <a:pt x="840" y="651"/>
                    </a:lnTo>
                    <a:lnTo>
                      <a:pt x="863" y="621"/>
                    </a:lnTo>
                    <a:lnTo>
                      <a:pt x="890" y="591"/>
                    </a:lnTo>
                    <a:lnTo>
                      <a:pt x="917" y="563"/>
                    </a:lnTo>
                    <a:lnTo>
                      <a:pt x="945" y="535"/>
                    </a:lnTo>
                    <a:lnTo>
                      <a:pt x="975" y="509"/>
                    </a:lnTo>
                    <a:lnTo>
                      <a:pt x="1005" y="486"/>
                    </a:lnTo>
                    <a:lnTo>
                      <a:pt x="1036" y="463"/>
                    </a:lnTo>
                    <a:lnTo>
                      <a:pt x="1067" y="444"/>
                    </a:lnTo>
                    <a:lnTo>
                      <a:pt x="1100" y="425"/>
                    </a:lnTo>
                    <a:lnTo>
                      <a:pt x="1133" y="408"/>
                    </a:lnTo>
                    <a:lnTo>
                      <a:pt x="1167" y="392"/>
                    </a:lnTo>
                    <a:lnTo>
                      <a:pt x="1201" y="379"/>
                    </a:lnTo>
                    <a:lnTo>
                      <a:pt x="1235" y="367"/>
                    </a:lnTo>
                    <a:lnTo>
                      <a:pt x="1272" y="357"/>
                    </a:lnTo>
                    <a:lnTo>
                      <a:pt x="1309" y="350"/>
                    </a:lnTo>
                    <a:lnTo>
                      <a:pt x="1346" y="343"/>
                    </a:lnTo>
                    <a:lnTo>
                      <a:pt x="1384" y="339"/>
                    </a:lnTo>
                    <a:lnTo>
                      <a:pt x="1423" y="337"/>
                    </a:lnTo>
                    <a:lnTo>
                      <a:pt x="1463" y="335"/>
                    </a:lnTo>
                    <a:lnTo>
                      <a:pt x="1485" y="335"/>
                    </a:lnTo>
                    <a:lnTo>
                      <a:pt x="1508" y="337"/>
                    </a:lnTo>
                    <a:lnTo>
                      <a:pt x="1531" y="339"/>
                    </a:lnTo>
                    <a:lnTo>
                      <a:pt x="1554" y="340"/>
                    </a:lnTo>
                    <a:lnTo>
                      <a:pt x="1576" y="343"/>
                    </a:lnTo>
                    <a:lnTo>
                      <a:pt x="1598" y="346"/>
                    </a:lnTo>
                    <a:lnTo>
                      <a:pt x="1620" y="351"/>
                    </a:lnTo>
                    <a:lnTo>
                      <a:pt x="1641" y="355"/>
                    </a:lnTo>
                    <a:lnTo>
                      <a:pt x="1662" y="361"/>
                    </a:lnTo>
                    <a:lnTo>
                      <a:pt x="1683" y="366"/>
                    </a:lnTo>
                    <a:lnTo>
                      <a:pt x="1704" y="373"/>
                    </a:lnTo>
                    <a:lnTo>
                      <a:pt x="1724" y="379"/>
                    </a:lnTo>
                    <a:lnTo>
                      <a:pt x="1745" y="387"/>
                    </a:lnTo>
                    <a:lnTo>
                      <a:pt x="1765" y="394"/>
                    </a:lnTo>
                    <a:lnTo>
                      <a:pt x="1784" y="403"/>
                    </a:lnTo>
                    <a:lnTo>
                      <a:pt x="1804" y="413"/>
                    </a:lnTo>
                    <a:lnTo>
                      <a:pt x="1728" y="0"/>
                    </a:lnTo>
                    <a:lnTo>
                      <a:pt x="1720" y="1"/>
                    </a:lnTo>
                    <a:lnTo>
                      <a:pt x="1714" y="2"/>
                    </a:lnTo>
                    <a:lnTo>
                      <a:pt x="1706" y="3"/>
                    </a:lnTo>
                    <a:lnTo>
                      <a:pt x="1698" y="4"/>
                    </a:lnTo>
                    <a:lnTo>
                      <a:pt x="1691" y="5"/>
                    </a:lnTo>
                    <a:lnTo>
                      <a:pt x="1684" y="7"/>
                    </a:lnTo>
                    <a:lnTo>
                      <a:pt x="1676" y="9"/>
                    </a:lnTo>
                    <a:lnTo>
                      <a:pt x="1670" y="10"/>
                    </a:lnTo>
                    <a:lnTo>
                      <a:pt x="1629" y="20"/>
                    </a:lnTo>
                    <a:lnTo>
                      <a:pt x="1590" y="30"/>
                    </a:lnTo>
                    <a:lnTo>
                      <a:pt x="1551" y="40"/>
                    </a:lnTo>
                    <a:lnTo>
                      <a:pt x="1513" y="51"/>
                    </a:lnTo>
                    <a:lnTo>
                      <a:pt x="1475" y="62"/>
                    </a:lnTo>
                    <a:lnTo>
                      <a:pt x="1437" y="74"/>
                    </a:lnTo>
                    <a:lnTo>
                      <a:pt x="1400" y="87"/>
                    </a:lnTo>
                    <a:lnTo>
                      <a:pt x="1364" y="99"/>
                    </a:lnTo>
                    <a:lnTo>
                      <a:pt x="1328" y="114"/>
                    </a:lnTo>
                    <a:lnTo>
                      <a:pt x="1293" y="127"/>
                    </a:lnTo>
                    <a:lnTo>
                      <a:pt x="1258" y="141"/>
                    </a:lnTo>
                    <a:lnTo>
                      <a:pt x="1225" y="155"/>
                    </a:lnTo>
                    <a:lnTo>
                      <a:pt x="1191" y="170"/>
                    </a:lnTo>
                    <a:lnTo>
                      <a:pt x="1157" y="186"/>
                    </a:lnTo>
                    <a:lnTo>
                      <a:pt x="1124" y="201"/>
                    </a:lnTo>
                    <a:lnTo>
                      <a:pt x="1093" y="217"/>
                    </a:lnTo>
                    <a:lnTo>
                      <a:pt x="1061" y="234"/>
                    </a:lnTo>
                    <a:lnTo>
                      <a:pt x="1029" y="251"/>
                    </a:lnTo>
                    <a:lnTo>
                      <a:pt x="999" y="269"/>
                    </a:lnTo>
                    <a:lnTo>
                      <a:pt x="968" y="286"/>
                    </a:lnTo>
                    <a:lnTo>
                      <a:pt x="938" y="304"/>
                    </a:lnTo>
                    <a:lnTo>
                      <a:pt x="908" y="322"/>
                    </a:lnTo>
                    <a:lnTo>
                      <a:pt x="880" y="341"/>
                    </a:lnTo>
                    <a:lnTo>
                      <a:pt x="851" y="361"/>
                    </a:lnTo>
                    <a:lnTo>
                      <a:pt x="823" y="380"/>
                    </a:lnTo>
                    <a:lnTo>
                      <a:pt x="795" y="400"/>
                    </a:lnTo>
                    <a:lnTo>
                      <a:pt x="767" y="420"/>
                    </a:lnTo>
                    <a:lnTo>
                      <a:pt x="741" y="440"/>
                    </a:lnTo>
                    <a:lnTo>
                      <a:pt x="715" y="461"/>
                    </a:lnTo>
                    <a:lnTo>
                      <a:pt x="689" y="482"/>
                    </a:lnTo>
                    <a:lnTo>
                      <a:pt x="662" y="504"/>
                    </a:lnTo>
                    <a:lnTo>
                      <a:pt x="637" y="526"/>
                    </a:lnTo>
                    <a:lnTo>
                      <a:pt x="588" y="570"/>
                    </a:lnTo>
                    <a:lnTo>
                      <a:pt x="540" y="615"/>
                    </a:lnTo>
                    <a:lnTo>
                      <a:pt x="493" y="662"/>
                    </a:lnTo>
                    <a:lnTo>
                      <a:pt x="447" y="710"/>
                    </a:lnTo>
                    <a:lnTo>
                      <a:pt x="404" y="758"/>
                    </a:lnTo>
                    <a:lnTo>
                      <a:pt x="361" y="809"/>
                    </a:lnTo>
                    <a:lnTo>
                      <a:pt x="321" y="859"/>
                    </a:lnTo>
                    <a:lnTo>
                      <a:pt x="280" y="911"/>
                    </a:lnTo>
                    <a:lnTo>
                      <a:pt x="242" y="964"/>
                    </a:lnTo>
                    <a:lnTo>
                      <a:pt x="204" y="1017"/>
                    </a:lnTo>
                    <a:lnTo>
                      <a:pt x="168" y="1071"/>
                    </a:lnTo>
                    <a:lnTo>
                      <a:pt x="132" y="1125"/>
                    </a:lnTo>
                    <a:lnTo>
                      <a:pt x="98" y="1181"/>
                    </a:lnTo>
                    <a:lnTo>
                      <a:pt x="64" y="1238"/>
                    </a:lnTo>
                    <a:lnTo>
                      <a:pt x="32" y="1295"/>
                    </a:lnTo>
                    <a:lnTo>
                      <a:pt x="0" y="1353"/>
                    </a:lnTo>
                    <a:lnTo>
                      <a:pt x="1344" y="2135"/>
                    </a:lnTo>
                    <a:lnTo>
                      <a:pt x="1354" y="2118"/>
                    </a:lnTo>
                    <a:lnTo>
                      <a:pt x="1365" y="2099"/>
                    </a:lnTo>
                    <a:lnTo>
                      <a:pt x="1376" y="2081"/>
                    </a:lnTo>
                    <a:lnTo>
                      <a:pt x="1388" y="2065"/>
                    </a:lnTo>
                    <a:lnTo>
                      <a:pt x="1400" y="2048"/>
                    </a:lnTo>
                    <a:lnTo>
                      <a:pt x="1412" y="2031"/>
                    </a:lnTo>
                    <a:lnTo>
                      <a:pt x="1425" y="2014"/>
                    </a:lnTo>
                    <a:lnTo>
                      <a:pt x="1438" y="1997"/>
                    </a:lnTo>
                    <a:lnTo>
                      <a:pt x="1452" y="1982"/>
                    </a:lnTo>
                    <a:lnTo>
                      <a:pt x="1466" y="1966"/>
                    </a:lnTo>
                    <a:lnTo>
                      <a:pt x="1479" y="1950"/>
                    </a:lnTo>
                    <a:lnTo>
                      <a:pt x="1494" y="1935"/>
                    </a:lnTo>
                    <a:lnTo>
                      <a:pt x="1508" y="1920"/>
                    </a:lnTo>
                    <a:lnTo>
                      <a:pt x="1524" y="1906"/>
                    </a:lnTo>
                    <a:lnTo>
                      <a:pt x="1539" y="1891"/>
                    </a:lnTo>
                    <a:lnTo>
                      <a:pt x="1554" y="1877"/>
                    </a:lnTo>
                    <a:lnTo>
                      <a:pt x="1543" y="1878"/>
                    </a:lnTo>
                    <a:lnTo>
                      <a:pt x="1532" y="1879"/>
                    </a:lnTo>
                    <a:lnTo>
                      <a:pt x="1520" y="1880"/>
                    </a:lnTo>
                    <a:lnTo>
                      <a:pt x="1509" y="1882"/>
                    </a:lnTo>
                    <a:lnTo>
                      <a:pt x="1497" y="1882"/>
                    </a:lnTo>
                    <a:lnTo>
                      <a:pt x="1487" y="1883"/>
                    </a:lnTo>
                    <a:lnTo>
                      <a:pt x="1475" y="1883"/>
                    </a:lnTo>
                    <a:lnTo>
                      <a:pt x="1463" y="1883"/>
                    </a:lnTo>
                    <a:lnTo>
                      <a:pt x="1423" y="1882"/>
                    </a:lnTo>
                    <a:lnTo>
                      <a:pt x="1384" y="1879"/>
                    </a:lnTo>
                    <a:lnTo>
                      <a:pt x="1346" y="1875"/>
                    </a:lnTo>
                    <a:lnTo>
                      <a:pt x="1309" y="1868"/>
                    </a:lnTo>
                    <a:lnTo>
                      <a:pt x="1272" y="1861"/>
                    </a:lnTo>
                    <a:lnTo>
                      <a:pt x="1235" y="1851"/>
                    </a:lnTo>
                    <a:lnTo>
                      <a:pt x="1201" y="1839"/>
                    </a:lnTo>
                    <a:lnTo>
                      <a:pt x="1167" y="1826"/>
                    </a:lnTo>
                    <a:lnTo>
                      <a:pt x="1133" y="1812"/>
                    </a:lnTo>
                    <a:lnTo>
                      <a:pt x="1100" y="1794"/>
                    </a:lnTo>
                    <a:lnTo>
                      <a:pt x="1067" y="1776"/>
                    </a:lnTo>
                    <a:lnTo>
                      <a:pt x="1036" y="1756"/>
                    </a:lnTo>
                    <a:lnTo>
                      <a:pt x="1005" y="1733"/>
                    </a:lnTo>
                    <a:lnTo>
                      <a:pt x="975" y="1710"/>
                    </a:lnTo>
                    <a:lnTo>
                      <a:pt x="945" y="1684"/>
                    </a:lnTo>
                    <a:lnTo>
                      <a:pt x="917" y="1656"/>
                    </a:lnTo>
                    <a:close/>
                  </a:path>
                </a:pathLst>
              </a:custGeom>
              <a:solidFill>
                <a:srgbClr val="EF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04" name="Oval 103"/>
            <p:cNvSpPr/>
            <p:nvPr/>
          </p:nvSpPr>
          <p:spPr>
            <a:xfrm>
              <a:off x="11592328" y="933089"/>
              <a:ext cx="752475" cy="479687"/>
            </a:xfrm>
            <a:prstGeom prst="ellipse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 smtClean="0">
                  <a:solidFill>
                    <a:schemeClr val="bg1"/>
                  </a:solidFill>
                </a:rPr>
                <a:t>Rs</a:t>
              </a:r>
              <a:endParaRPr lang="en-GB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9" name="Straight Arrow Connector 108"/>
          <p:cNvCxnSpPr>
            <a:stCxn id="78" idx="0"/>
            <a:endCxn id="72" idx="2"/>
          </p:cNvCxnSpPr>
          <p:nvPr/>
        </p:nvCxnSpPr>
        <p:spPr>
          <a:xfrm flipH="1" flipV="1">
            <a:off x="8095582" y="4046126"/>
            <a:ext cx="67926" cy="362518"/>
          </a:xfrm>
          <a:prstGeom prst="straightConnector1">
            <a:avLst/>
          </a:prstGeom>
          <a:ln w="317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7085709" y="1086176"/>
            <a:ext cx="1863615" cy="6947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Local Governments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644840" y="5827695"/>
            <a:ext cx="2053397" cy="61828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verifier &amp; Audit company</a:t>
            </a:r>
            <a:endParaRPr lang="en-US" dirty="0"/>
          </a:p>
        </p:txBody>
      </p:sp>
      <p:sp>
        <p:nvSpPr>
          <p:cNvPr id="115" name="Oval 22"/>
          <p:cNvSpPr>
            <a:spLocks noChangeArrowheads="1"/>
          </p:cNvSpPr>
          <p:nvPr/>
        </p:nvSpPr>
        <p:spPr bwMode="gray">
          <a:xfrm>
            <a:off x="504720" y="4755425"/>
            <a:ext cx="2200313" cy="1050925"/>
          </a:xfrm>
          <a:prstGeom prst="ellipse">
            <a:avLst/>
          </a:prstGeom>
          <a:gradFill rotWithShape="1">
            <a:gsLst>
              <a:gs pos="0">
                <a:schemeClr val="accent2">
                  <a:alpha val="55000"/>
                </a:schemeClr>
              </a:gs>
              <a:gs pos="50000">
                <a:schemeClr val="accent2">
                  <a:gamma/>
                  <a:shade val="46275"/>
                  <a:invGamma/>
                  <a:alpha val="89999"/>
                </a:schemeClr>
              </a:gs>
              <a:gs pos="100000">
                <a:schemeClr val="accent2">
                  <a:alpha val="5500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RBF Fund 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Manager Bank </a:t>
            </a:r>
          </a:p>
        </p:txBody>
      </p:sp>
      <p:cxnSp>
        <p:nvCxnSpPr>
          <p:cNvPr id="118" name="Straight Arrow Connector 117"/>
          <p:cNvCxnSpPr>
            <a:stCxn id="115" idx="6"/>
            <a:endCxn id="90" idx="2"/>
          </p:cNvCxnSpPr>
          <p:nvPr/>
        </p:nvCxnSpPr>
        <p:spPr>
          <a:xfrm flipV="1">
            <a:off x="2705033" y="5110359"/>
            <a:ext cx="342202" cy="170529"/>
          </a:xfrm>
          <a:prstGeom prst="straightConnector1">
            <a:avLst/>
          </a:prstGeom>
          <a:ln w="317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467544" y="1000352"/>
            <a:ext cx="2371414" cy="5768312"/>
          </a:xfrm>
          <a:prstGeom prst="rect">
            <a:avLst/>
          </a:prstGeom>
          <a:solidFill>
            <a:schemeClr val="accent2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/>
          <p:cNvSpPr/>
          <p:nvPr/>
        </p:nvSpPr>
        <p:spPr>
          <a:xfrm>
            <a:off x="2851524" y="1025675"/>
            <a:ext cx="2447010" cy="5768312"/>
          </a:xfrm>
          <a:prstGeom prst="rect">
            <a:avLst/>
          </a:prstGeom>
          <a:solidFill>
            <a:srgbClr val="F8A6DB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5301181" y="1052736"/>
            <a:ext cx="3735315" cy="5768312"/>
          </a:xfrm>
          <a:prstGeom prst="rect">
            <a:avLst/>
          </a:prstGeom>
          <a:solidFill>
            <a:srgbClr val="00B050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/>
          <p:cNvSpPr txBox="1"/>
          <p:nvPr/>
        </p:nvSpPr>
        <p:spPr>
          <a:xfrm>
            <a:off x="965918" y="6474986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National</a:t>
            </a:r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3488983" y="653685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District</a:t>
            </a:r>
            <a:endParaRPr 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6994381" y="638132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Local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648" y="1870007"/>
            <a:ext cx="1153892" cy="1109512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972" y="2732991"/>
            <a:ext cx="1153892" cy="1109512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293" y="4102478"/>
            <a:ext cx="1153892" cy="110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77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478830" y="52162"/>
            <a:ext cx="7034212" cy="639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nl-NL" sz="2800" b="1" dirty="0" smtClean="0">
                <a:solidFill>
                  <a:srgbClr val="000000"/>
                </a:solidFill>
              </a:rPr>
              <a:t>4. Strong Monitoring &amp; Verification</a:t>
            </a:r>
            <a:endParaRPr lang="nl-NL" sz="2800" b="1" dirty="0">
              <a:solidFill>
                <a:srgbClr val="00000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67544" y="836713"/>
            <a:ext cx="4292263" cy="16561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eaLnBrk="0">
              <a:spcBef>
                <a:spcPts val="600"/>
              </a:spcBef>
              <a:buClr>
                <a:srgbClr val="C80F0F"/>
              </a:buClr>
              <a:tabLst>
                <a:tab pos="271463" algn="l"/>
                <a:tab pos="719138" algn="l"/>
                <a:tab pos="1168400" algn="l"/>
                <a:tab pos="1617663" algn="l"/>
                <a:tab pos="2066925" algn="l"/>
                <a:tab pos="2516188" algn="l"/>
                <a:tab pos="2965450" algn="l"/>
                <a:tab pos="3414713" algn="l"/>
                <a:tab pos="3863975" algn="l"/>
                <a:tab pos="4313238" algn="l"/>
                <a:tab pos="4762500" algn="l"/>
                <a:tab pos="5211763" algn="l"/>
                <a:tab pos="5661025" algn="l"/>
                <a:tab pos="6110288" algn="l"/>
                <a:tab pos="6559550" algn="l"/>
                <a:tab pos="7008813" algn="l"/>
                <a:tab pos="7458075" algn="l"/>
                <a:tab pos="7907338" algn="l"/>
                <a:tab pos="8356600" algn="l"/>
                <a:tab pos="8805863" algn="l"/>
                <a:tab pos="9255125" algn="l"/>
              </a:tabLst>
            </a:pPr>
            <a:r>
              <a:rPr lang="nl-NL" sz="2000" dirty="0" smtClean="0">
                <a:solidFill>
                  <a:schemeClr val="accent6">
                    <a:lumMod val="75000"/>
                  </a:schemeClr>
                </a:solidFill>
              </a:rPr>
              <a:t>Local </a:t>
            </a:r>
            <a:r>
              <a:rPr lang="nl-NL" sz="2000" dirty="0" err="1" smtClean="0">
                <a:solidFill>
                  <a:schemeClr val="accent6">
                    <a:lumMod val="75000"/>
                  </a:schemeClr>
                </a:solidFill>
              </a:rPr>
              <a:t>cook-stove</a:t>
            </a:r>
            <a:r>
              <a:rPr lang="nl-NL" sz="2000" dirty="0" smtClean="0">
                <a:solidFill>
                  <a:schemeClr val="accent6">
                    <a:lumMod val="75000"/>
                  </a:schemeClr>
                </a:solidFill>
              </a:rPr>
              <a:t> retailers</a:t>
            </a:r>
            <a:r>
              <a:rPr lang="nl-NL" sz="2000" dirty="0" smtClean="0">
                <a:solidFill>
                  <a:srgbClr val="000000"/>
                </a:solidFill>
              </a:rPr>
              <a:t> do </a:t>
            </a:r>
            <a:r>
              <a:rPr lang="nl-NL" sz="2000" dirty="0">
                <a:solidFill>
                  <a:srgbClr val="000000"/>
                </a:solidFill>
              </a:rPr>
              <a:t>upfront investment and take risk for developing </a:t>
            </a:r>
            <a:r>
              <a:rPr lang="nl-NL" sz="2000" dirty="0" smtClean="0">
                <a:solidFill>
                  <a:srgbClr val="000000"/>
                </a:solidFill>
              </a:rPr>
              <a:t>clean cook-stove </a:t>
            </a:r>
            <a:r>
              <a:rPr lang="nl-NL" sz="2000" dirty="0">
                <a:solidFill>
                  <a:srgbClr val="000000"/>
                </a:solidFill>
              </a:rPr>
              <a:t>market </a:t>
            </a:r>
            <a:r>
              <a:rPr lang="nl-NL" sz="2000" dirty="0" smtClean="0">
                <a:solidFill>
                  <a:srgbClr val="000000"/>
                </a:solidFill>
              </a:rPr>
              <a:t>(marketing, sales and provide </a:t>
            </a:r>
            <a:r>
              <a:rPr lang="nl-NL" sz="2000" dirty="0" err="1" smtClean="0">
                <a:solidFill>
                  <a:srgbClr val="000000"/>
                </a:solidFill>
              </a:rPr>
              <a:t>warantee</a:t>
            </a:r>
            <a:r>
              <a:rPr lang="nl-NL" sz="2000" dirty="0" smtClean="0">
                <a:solidFill>
                  <a:srgbClr val="000000"/>
                </a:solidFill>
              </a:rPr>
              <a:t>)</a:t>
            </a:r>
            <a:endParaRPr lang="nl-NL" sz="2000" dirty="0">
              <a:solidFill>
                <a:srgbClr val="000000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39552" y="3284984"/>
            <a:ext cx="2880320" cy="1224136"/>
          </a:xfrm>
          <a:prstGeom prst="ellipse">
            <a:avLst/>
          </a:prstGeom>
          <a:solidFill>
            <a:srgbClr val="6AC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</a:rPr>
              <a:t>Result verification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 by NGO partners (on monthly basis)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55776" y="5589240"/>
            <a:ext cx="4248472" cy="9229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95% Payment of </a:t>
            </a: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</a:rPr>
              <a:t>RBF Incentives 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to Local distributors based on results</a:t>
            </a:r>
            <a:endParaRPr lang="en-GB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948264" y="2873359"/>
            <a:ext cx="2088232" cy="15209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r>
              <a:rPr lang="en-US" baseline="30000" dirty="0" smtClean="0">
                <a:solidFill>
                  <a:schemeClr val="tx1"/>
                </a:solidFill>
              </a:rPr>
              <a:t>rd</a:t>
            </a:r>
            <a:r>
              <a:rPr lang="en-US" dirty="0" smtClean="0">
                <a:solidFill>
                  <a:schemeClr val="tx1"/>
                </a:solidFill>
              </a:rPr>
              <a:t> party Independent Verification (Annually)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7548315" y="4394297"/>
            <a:ext cx="624085" cy="906911"/>
          </a:xfrm>
          <a:prstGeom prst="downArrow">
            <a:avLst>
              <a:gd name="adj1" fmla="val 50000"/>
              <a:gd name="adj2" fmla="val 524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ounded Rectangle 8"/>
          <p:cNvSpPr/>
          <p:nvPr/>
        </p:nvSpPr>
        <p:spPr>
          <a:xfrm>
            <a:off x="7308304" y="5589240"/>
            <a:ext cx="1488181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Balanced 5% payment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08104" y="836712"/>
            <a:ext cx="3528392" cy="1736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1463" indent="-271463" algn="just" eaLnBrk="0">
              <a:spcBef>
                <a:spcPts val="600"/>
              </a:spcBef>
              <a:buClr>
                <a:srgbClr val="C80F0F"/>
              </a:buClr>
              <a:buFont typeface="Wingdings" charset="2"/>
              <a:buChar char=""/>
              <a:tabLst>
                <a:tab pos="271463" algn="l"/>
                <a:tab pos="719138" algn="l"/>
                <a:tab pos="1168400" algn="l"/>
                <a:tab pos="1617663" algn="l"/>
                <a:tab pos="2066925" algn="l"/>
                <a:tab pos="2516188" algn="l"/>
                <a:tab pos="2965450" algn="l"/>
                <a:tab pos="3414713" algn="l"/>
                <a:tab pos="3863975" algn="l"/>
                <a:tab pos="4313238" algn="l"/>
                <a:tab pos="4762500" algn="l"/>
                <a:tab pos="5211763" algn="l"/>
                <a:tab pos="5661025" algn="l"/>
                <a:tab pos="6110288" algn="l"/>
                <a:tab pos="6559550" algn="l"/>
                <a:tab pos="7008813" algn="l"/>
                <a:tab pos="7458075" algn="l"/>
                <a:tab pos="7907338" algn="l"/>
                <a:tab pos="8356600" algn="l"/>
                <a:tab pos="8805863" algn="l"/>
                <a:tab pos="9255125" algn="l"/>
              </a:tabLst>
            </a:pPr>
            <a:r>
              <a:rPr lang="nl-NL" sz="2000" dirty="0" smtClean="0">
                <a:solidFill>
                  <a:srgbClr val="222268"/>
                </a:solidFill>
              </a:rPr>
              <a:t>Local cooperatives or MFIs </a:t>
            </a:r>
            <a:r>
              <a:rPr lang="nl-NL" sz="2000" dirty="0" smtClean="0">
                <a:solidFill>
                  <a:srgbClr val="000000"/>
                </a:solidFill>
              </a:rPr>
              <a:t>provide loan to customers</a:t>
            </a:r>
            <a:endParaRPr lang="nl-NL" sz="2000" dirty="0">
              <a:solidFill>
                <a:srgbClr val="0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3995936" y="2996952"/>
            <a:ext cx="2088232" cy="1520938"/>
          </a:xfrm>
          <a:prstGeom prst="ellipse">
            <a:avLst/>
          </a:prstGeom>
          <a:solidFill>
            <a:srgbClr val="96D0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Result Creation</a:t>
            </a:r>
            <a:endParaRPr lang="en-GB" sz="2400" dirty="0"/>
          </a:p>
        </p:txBody>
      </p:sp>
      <p:sp>
        <p:nvSpPr>
          <p:cNvPr id="14" name="Down Arrow 13"/>
          <p:cNvSpPr/>
          <p:nvPr/>
        </p:nvSpPr>
        <p:spPr>
          <a:xfrm>
            <a:off x="4572001" y="4581128"/>
            <a:ext cx="648072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Down Arrow 14"/>
          <p:cNvSpPr/>
          <p:nvPr/>
        </p:nvSpPr>
        <p:spPr>
          <a:xfrm>
            <a:off x="4499992" y="2348880"/>
            <a:ext cx="1182941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Plus 9"/>
          <p:cNvSpPr/>
          <p:nvPr/>
        </p:nvSpPr>
        <p:spPr>
          <a:xfrm>
            <a:off x="4860032" y="1196752"/>
            <a:ext cx="648072" cy="576064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3419872" y="3789040"/>
            <a:ext cx="576064" cy="1440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/>
          <p:cNvSpPr/>
          <p:nvPr/>
        </p:nvSpPr>
        <p:spPr>
          <a:xfrm>
            <a:off x="6012160" y="3645024"/>
            <a:ext cx="936104" cy="11772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39552" y="5517232"/>
            <a:ext cx="1656184" cy="9361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RBF Fund Manager: NMB Bank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4596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9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206084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b="1" dirty="0" smtClean="0">
                <a:solidFill>
                  <a:schemeClr val="accent1">
                    <a:lumMod val="50000"/>
                  </a:schemeClr>
                </a:solidFill>
              </a:rPr>
              <a:t>Achievements and Impacts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25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211685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Cookstoves</a:t>
            </a:r>
            <a:r>
              <a:rPr lang="en-US" sz="2400" b="1" dirty="0" smtClean="0"/>
              <a:t> sales, Job Creation and Women </a:t>
            </a:r>
            <a:r>
              <a:rPr lang="en-US" sz="2400" b="1" dirty="0"/>
              <a:t>P</a:t>
            </a:r>
            <a:r>
              <a:rPr lang="en-US" sz="2400" b="1" dirty="0" smtClean="0"/>
              <a:t>articipation</a:t>
            </a:r>
            <a:endParaRPr lang="en-GB" sz="2400" b="1" dirty="0"/>
          </a:p>
        </p:txBody>
      </p:sp>
      <p:sp>
        <p:nvSpPr>
          <p:cNvPr id="3" name="Rounded Rectangle 2"/>
          <p:cNvSpPr/>
          <p:nvPr/>
        </p:nvSpPr>
        <p:spPr>
          <a:xfrm>
            <a:off x="623136" y="2305088"/>
            <a:ext cx="171661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Manufacturers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39552" y="1566191"/>
            <a:ext cx="8496944" cy="72008"/>
          </a:xfrm>
          <a:prstGeom prst="line">
            <a:avLst/>
          </a:prstGeom>
          <a:ln w="3175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4591" y="3124472"/>
            <a:ext cx="171661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Importers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950648" y="2277792"/>
            <a:ext cx="1981392" cy="1333320"/>
          </a:xfrm>
          <a:prstGeom prst="ellipse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Distributors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9493" y="1042682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Enabling Environment</a:t>
            </a:r>
            <a:endParaRPr lang="en-US" b="1" dirty="0">
              <a:solidFill>
                <a:srgbClr val="FF9933"/>
              </a:solidFill>
            </a:endParaRPr>
          </a:p>
        </p:txBody>
      </p:sp>
      <p:cxnSp>
        <p:nvCxnSpPr>
          <p:cNvPr id="14" name="Straight Arrow Connector 13"/>
          <p:cNvCxnSpPr>
            <a:stCxn id="6" idx="3"/>
            <a:endCxn id="7" idx="3"/>
          </p:cNvCxnSpPr>
          <p:nvPr/>
        </p:nvCxnSpPr>
        <p:spPr>
          <a:xfrm>
            <a:off x="2361207" y="3412504"/>
            <a:ext cx="879609" cy="3348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394344" y="2491976"/>
            <a:ext cx="792088" cy="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3391" y="1762604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Supply Chain</a:t>
            </a:r>
            <a:endParaRPr lang="en-US" b="1" dirty="0">
              <a:solidFill>
                <a:srgbClr val="FF9933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441668" y="4004144"/>
            <a:ext cx="8604448" cy="72008"/>
          </a:xfrm>
          <a:prstGeom prst="line">
            <a:avLst/>
          </a:prstGeom>
          <a:ln w="31750" cmpd="sng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6"/>
          <p:cNvGrpSpPr>
            <a:grpSpLocks/>
          </p:cNvGrpSpPr>
          <p:nvPr/>
        </p:nvGrpSpPr>
        <p:grpSpPr bwMode="auto">
          <a:xfrm>
            <a:off x="5323144" y="1655048"/>
            <a:ext cx="1362075" cy="715144"/>
            <a:chOff x="4320" y="1178"/>
            <a:chExt cx="414" cy="385"/>
          </a:xfrm>
        </p:grpSpPr>
        <p:sp>
          <p:nvSpPr>
            <p:cNvPr id="30" name="AutoShape 7"/>
            <p:cNvSpPr>
              <a:spLocks noChangeArrowheads="1"/>
            </p:cNvSpPr>
            <p:nvPr/>
          </p:nvSpPr>
          <p:spPr bwMode="gray">
            <a:xfrm>
              <a:off x="4320" y="1194"/>
              <a:ext cx="414" cy="369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en-US" dirty="0" smtClean="0"/>
                <a:t>Retailers</a:t>
              </a:r>
              <a:endParaRPr lang="en-US" dirty="0"/>
            </a:p>
          </p:txBody>
        </p:sp>
        <p:sp>
          <p:nvSpPr>
            <p:cNvPr id="31" name="Freeform 8"/>
            <p:cNvSpPr>
              <a:spLocks/>
            </p:cNvSpPr>
            <p:nvPr/>
          </p:nvSpPr>
          <p:spPr bwMode="gray">
            <a:xfrm>
              <a:off x="4346" y="1178"/>
              <a:ext cx="206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1">
                    <a:gamma/>
                    <a:tint val="48627"/>
                    <a:invGamma/>
                  </a:schemeClr>
                </a:gs>
                <a:gs pos="5000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10"/>
          <p:cNvGrpSpPr>
            <a:grpSpLocks/>
          </p:cNvGrpSpPr>
          <p:nvPr/>
        </p:nvGrpSpPr>
        <p:grpSpPr bwMode="auto">
          <a:xfrm>
            <a:off x="5419042" y="2568737"/>
            <a:ext cx="1362075" cy="653802"/>
            <a:chOff x="4320" y="1152"/>
            <a:chExt cx="414" cy="402"/>
          </a:xfrm>
        </p:grpSpPr>
        <p:sp>
          <p:nvSpPr>
            <p:cNvPr id="33" name="AutoShape 11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chemeClr val="accent2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Marketing </a:t>
              </a:r>
            </a:p>
            <a:p>
              <a:r>
                <a:rPr lang="en-US" dirty="0" smtClean="0">
                  <a:solidFill>
                    <a:schemeClr val="bg1"/>
                  </a:solidFill>
                </a:rPr>
                <a:t>Agents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Freeform 12"/>
            <p:cNvSpPr>
              <a:spLocks/>
            </p:cNvSpPr>
            <p:nvPr/>
          </p:nvSpPr>
          <p:spPr bwMode="gray">
            <a:xfrm>
              <a:off x="4346" y="1178"/>
              <a:ext cx="206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gamma/>
                    <a:tint val="48627"/>
                    <a:invGamma/>
                  </a:schemeClr>
                </a:gs>
                <a:gs pos="50000">
                  <a:schemeClr val="accent2">
                    <a:alpha val="0"/>
                  </a:schemeClr>
                </a:gs>
                <a:gs pos="100000">
                  <a:schemeClr val="accent2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13"/>
          <p:cNvGrpSpPr>
            <a:grpSpLocks/>
          </p:cNvGrpSpPr>
          <p:nvPr/>
        </p:nvGrpSpPr>
        <p:grpSpPr bwMode="auto">
          <a:xfrm>
            <a:off x="5516925" y="3356688"/>
            <a:ext cx="1362075" cy="508845"/>
            <a:chOff x="4320" y="1152"/>
            <a:chExt cx="414" cy="402"/>
          </a:xfrm>
        </p:grpSpPr>
        <p:sp>
          <p:nvSpPr>
            <p:cNvPr id="36" name="AutoShape 14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15"/>
            <p:cNvSpPr>
              <a:spLocks/>
            </p:cNvSpPr>
            <p:nvPr/>
          </p:nvSpPr>
          <p:spPr bwMode="gray">
            <a:xfrm>
              <a:off x="4346" y="1178"/>
              <a:ext cx="388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48627"/>
                    <a:invGamma/>
                  </a:schemeClr>
                </a:gs>
                <a:gs pos="50000">
                  <a:schemeClr val="hlink">
                    <a:alpha val="0"/>
                  </a:schemeClr>
                </a:gs>
                <a:gs pos="100000">
                  <a:schemeClr val="hlink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Installers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13"/>
          <p:cNvGrpSpPr>
            <a:grpSpLocks/>
          </p:cNvGrpSpPr>
          <p:nvPr/>
        </p:nvGrpSpPr>
        <p:grpSpPr bwMode="auto">
          <a:xfrm>
            <a:off x="5461972" y="3392823"/>
            <a:ext cx="1362075" cy="508845"/>
            <a:chOff x="4320" y="1152"/>
            <a:chExt cx="414" cy="402"/>
          </a:xfrm>
        </p:grpSpPr>
        <p:sp>
          <p:nvSpPr>
            <p:cNvPr id="39" name="AutoShape 14"/>
            <p:cNvSpPr>
              <a:spLocks noChangeArrowheads="1"/>
            </p:cNvSpPr>
            <p:nvPr/>
          </p:nvSpPr>
          <p:spPr bwMode="gray">
            <a:xfrm>
              <a:off x="4320" y="1152"/>
              <a:ext cx="414" cy="402"/>
            </a:xfrm>
            <a:prstGeom prst="roundRect">
              <a:avLst>
                <a:gd name="adj" fmla="val 11921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 w="25400">
              <a:solidFill>
                <a:srgbClr val="FFFFFF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15"/>
            <p:cNvSpPr>
              <a:spLocks/>
            </p:cNvSpPr>
            <p:nvPr/>
          </p:nvSpPr>
          <p:spPr bwMode="gray">
            <a:xfrm>
              <a:off x="4346" y="1178"/>
              <a:ext cx="388" cy="201"/>
            </a:xfrm>
            <a:custGeom>
              <a:avLst/>
              <a:gdLst>
                <a:gd name="T0" fmla="*/ 118 w 596"/>
                <a:gd name="T1" fmla="*/ 0 h 598"/>
                <a:gd name="T2" fmla="*/ 0 w 596"/>
                <a:gd name="T3" fmla="*/ 118 h 598"/>
                <a:gd name="T4" fmla="*/ 0 w 596"/>
                <a:gd name="T5" fmla="*/ 589 h 598"/>
                <a:gd name="T6" fmla="*/ 161 w 596"/>
                <a:gd name="T7" fmla="*/ 174 h 598"/>
                <a:gd name="T8" fmla="*/ 589 w 596"/>
                <a:gd name="T9" fmla="*/ 0 h 598"/>
                <a:gd name="T10" fmla="*/ 118 w 596"/>
                <a:gd name="T11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hlink">
                    <a:gamma/>
                    <a:tint val="48627"/>
                    <a:invGamma/>
                  </a:schemeClr>
                </a:gs>
                <a:gs pos="50000">
                  <a:schemeClr val="hlink">
                    <a:alpha val="0"/>
                  </a:schemeClr>
                </a:gs>
                <a:gs pos="100000">
                  <a:schemeClr val="hlink">
                    <a:gamma/>
                    <a:tint val="48627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dirty="0" smtClean="0">
                  <a:solidFill>
                    <a:schemeClr val="bg1"/>
                  </a:solidFill>
                </a:rPr>
                <a:t>Installers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5" name="Elbow Connector 44"/>
          <p:cNvCxnSpPr/>
          <p:nvPr/>
        </p:nvCxnSpPr>
        <p:spPr>
          <a:xfrm rot="10800000" flipH="1" flipV="1">
            <a:off x="5323144" y="2109368"/>
            <a:ext cx="138828" cy="1619766"/>
          </a:xfrm>
          <a:prstGeom prst="bentConnector3">
            <a:avLst>
              <a:gd name="adj1" fmla="val -164664"/>
            </a:avLst>
          </a:prstGeom>
          <a:ln w="2540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endCxn id="33" idx="1"/>
          </p:cNvCxnSpPr>
          <p:nvPr/>
        </p:nvCxnSpPr>
        <p:spPr>
          <a:xfrm>
            <a:off x="5076056" y="2895638"/>
            <a:ext cx="342986" cy="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endCxn id="7" idx="6"/>
          </p:cNvCxnSpPr>
          <p:nvPr/>
        </p:nvCxnSpPr>
        <p:spPr>
          <a:xfrm flipH="1">
            <a:off x="4932040" y="2895638"/>
            <a:ext cx="144016" cy="48814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164288" y="2305088"/>
            <a:ext cx="1881828" cy="576064"/>
          </a:xfrm>
          <a:prstGeom prst="roundRect">
            <a:avLst/>
          </a:prstGeom>
          <a:solidFill>
            <a:srgbClr val="5FA0F2"/>
          </a:solidFill>
          <a:ln w="9525" cap="flat" cmpd="sng" algn="ctr">
            <a:solidFill>
              <a:srgbClr val="5FA0F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Residential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016752" y="1762604"/>
            <a:ext cx="2001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Customer </a:t>
            </a:r>
            <a:r>
              <a:rPr lang="en-US" sz="1400" dirty="0" smtClean="0"/>
              <a:t>Segments</a:t>
            </a:r>
            <a:endParaRPr lang="en-US" sz="1400" dirty="0"/>
          </a:p>
        </p:txBody>
      </p:sp>
      <p:sp>
        <p:nvSpPr>
          <p:cNvPr id="72" name="Rounded Rectangle 71"/>
          <p:cNvSpPr/>
          <p:nvPr/>
        </p:nvSpPr>
        <p:spPr>
          <a:xfrm>
            <a:off x="7154668" y="3101566"/>
            <a:ext cx="1881828" cy="576064"/>
          </a:xfrm>
          <a:prstGeom prst="roundRect">
            <a:avLst/>
          </a:prstGeom>
          <a:solidFill>
            <a:srgbClr val="5FA0F2"/>
          </a:solidFill>
          <a:ln w="9525" cap="flat" cmpd="sng" algn="ctr">
            <a:solidFill>
              <a:srgbClr val="5FA0F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Commercial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10"/>
          <p:cNvSpPr>
            <a:spLocks noChangeArrowheads="1"/>
          </p:cNvSpPr>
          <p:nvPr/>
        </p:nvSpPr>
        <p:spPr bwMode="gray">
          <a:xfrm>
            <a:off x="7290520" y="4040148"/>
            <a:ext cx="1745975" cy="1050925"/>
          </a:xfrm>
          <a:prstGeom prst="ellipse">
            <a:avLst/>
          </a:prstGeom>
          <a:gradFill rotWithShape="1">
            <a:gsLst>
              <a:gs pos="0">
                <a:schemeClr val="folHlink">
                  <a:alpha val="55000"/>
                </a:schemeClr>
              </a:gs>
              <a:gs pos="50000">
                <a:schemeClr val="folHlink">
                  <a:gamma/>
                  <a:shade val="46275"/>
                  <a:invGamma/>
                  <a:alpha val="89999"/>
                </a:schemeClr>
              </a:gs>
              <a:gs pos="100000">
                <a:schemeClr val="folHlink">
                  <a:alpha val="5500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smtClean="0">
                <a:solidFill>
                  <a:schemeClr val="bg1"/>
                </a:solidFill>
              </a:rPr>
              <a:t>Cooperatives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 MFIs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81" name="Elbow Connector 80"/>
          <p:cNvCxnSpPr>
            <a:stCxn id="70" idx="1"/>
            <a:endCxn id="72" idx="1"/>
          </p:cNvCxnSpPr>
          <p:nvPr/>
        </p:nvCxnSpPr>
        <p:spPr>
          <a:xfrm rot="10800000" flipV="1">
            <a:off x="7154668" y="2593120"/>
            <a:ext cx="9620" cy="796478"/>
          </a:xfrm>
          <a:prstGeom prst="bentConnector3">
            <a:avLst>
              <a:gd name="adj1" fmla="val 1625083"/>
            </a:avLst>
          </a:prstGeom>
          <a:ln w="25400">
            <a:solidFill>
              <a:srgbClr val="00206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6879000" y="2991359"/>
            <a:ext cx="14127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41668" y="4061754"/>
            <a:ext cx="279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9933"/>
                </a:solidFill>
              </a:rPr>
              <a:t>Support Services</a:t>
            </a:r>
            <a:endParaRPr lang="en-US" b="1" dirty="0">
              <a:solidFill>
                <a:srgbClr val="FF9933"/>
              </a:solidFill>
            </a:endParaRPr>
          </a:p>
        </p:txBody>
      </p:sp>
      <p:cxnSp>
        <p:nvCxnSpPr>
          <p:cNvPr id="109" name="Straight Arrow Connector 108"/>
          <p:cNvCxnSpPr>
            <a:stCxn id="78" idx="0"/>
            <a:endCxn id="72" idx="2"/>
          </p:cNvCxnSpPr>
          <p:nvPr/>
        </p:nvCxnSpPr>
        <p:spPr>
          <a:xfrm flipH="1" flipV="1">
            <a:off x="8095582" y="3677630"/>
            <a:ext cx="67926" cy="362518"/>
          </a:xfrm>
          <a:prstGeom prst="straightConnector1">
            <a:avLst/>
          </a:prstGeom>
          <a:ln w="317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6687022" y="5056524"/>
            <a:ext cx="2333119" cy="797938"/>
            <a:chOff x="6687022" y="4920044"/>
            <a:chExt cx="2333119" cy="797938"/>
          </a:xfrm>
        </p:grpSpPr>
        <p:sp>
          <p:nvSpPr>
            <p:cNvPr id="4" name="Rectangle 3"/>
            <p:cNvSpPr/>
            <p:nvPr/>
          </p:nvSpPr>
          <p:spPr>
            <a:xfrm>
              <a:off x="6687022" y="4920044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 smtClean="0"/>
                <a:t>124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02094" y="4927753"/>
              <a:ext cx="1418047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40 (48%) 52% Mixed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03177" y="3925520"/>
            <a:ext cx="2113575" cy="797938"/>
            <a:chOff x="4903177" y="3789040"/>
            <a:chExt cx="2113575" cy="797938"/>
          </a:xfrm>
        </p:grpSpPr>
        <p:sp>
          <p:nvSpPr>
            <p:cNvPr id="41" name="Rectangle 40"/>
            <p:cNvSpPr/>
            <p:nvPr/>
          </p:nvSpPr>
          <p:spPr>
            <a:xfrm>
              <a:off x="4903177" y="3789040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/>
                <a:t>72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818249" y="3796749"/>
              <a:ext cx="1198503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36 (50%)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82360" y="5358247"/>
            <a:ext cx="2113576" cy="1159561"/>
            <a:chOff x="1882360" y="5221767"/>
            <a:chExt cx="2113576" cy="1159561"/>
          </a:xfrm>
        </p:grpSpPr>
        <p:sp>
          <p:nvSpPr>
            <p:cNvPr id="43" name="Rectangle 42"/>
            <p:cNvSpPr/>
            <p:nvPr/>
          </p:nvSpPr>
          <p:spPr>
            <a:xfrm>
              <a:off x="1882361" y="5583390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 smtClean="0"/>
                <a:t>216</a:t>
              </a:r>
              <a:endParaRPr lang="en-US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797433" y="5591099"/>
              <a:ext cx="1198503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30%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2360" y="5221767"/>
              <a:ext cx="2113575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Total Job Creation</a:t>
              </a:r>
              <a:endParaRPr lang="en-US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742937" y="1399390"/>
            <a:ext cx="2333119" cy="797938"/>
            <a:chOff x="6687022" y="4920044"/>
            <a:chExt cx="2333119" cy="797938"/>
          </a:xfrm>
        </p:grpSpPr>
        <p:sp>
          <p:nvSpPr>
            <p:cNvPr id="47" name="Rectangle 46"/>
            <p:cNvSpPr/>
            <p:nvPr/>
          </p:nvSpPr>
          <p:spPr>
            <a:xfrm>
              <a:off x="6687022" y="4920044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 smtClean="0"/>
                <a:t>29 </a:t>
              </a:r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602094" y="4927753"/>
              <a:ext cx="1418047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8.7%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39552" y="3729180"/>
            <a:ext cx="2333119" cy="797938"/>
            <a:chOff x="6687022" y="4920044"/>
            <a:chExt cx="2333119" cy="797938"/>
          </a:xfrm>
        </p:grpSpPr>
        <p:sp>
          <p:nvSpPr>
            <p:cNvPr id="50" name="Rectangle 49"/>
            <p:cNvSpPr/>
            <p:nvPr/>
          </p:nvSpPr>
          <p:spPr>
            <a:xfrm>
              <a:off x="6687022" y="4920044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 smtClean="0"/>
                <a:t>12 </a:t>
              </a:r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602094" y="4927753"/>
              <a:ext cx="1418047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0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841807" y="1381043"/>
            <a:ext cx="2333119" cy="797938"/>
            <a:chOff x="6687022" y="4920044"/>
            <a:chExt cx="2333119" cy="797938"/>
          </a:xfrm>
        </p:grpSpPr>
        <p:sp>
          <p:nvSpPr>
            <p:cNvPr id="53" name="Rectangle 52"/>
            <p:cNvSpPr/>
            <p:nvPr/>
          </p:nvSpPr>
          <p:spPr>
            <a:xfrm>
              <a:off x="6687022" y="4920044"/>
              <a:ext cx="881978" cy="797938"/>
            </a:xfrm>
            <a:prstGeom prst="rect">
              <a:avLst/>
            </a:prstGeom>
            <a:solidFill>
              <a:srgbClr val="FF99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Total</a:t>
              </a:r>
            </a:p>
            <a:p>
              <a:pPr algn="ctr"/>
              <a:r>
                <a:rPr lang="en-US" dirty="0" smtClean="0"/>
                <a:t>26,000 </a:t>
              </a:r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02094" y="4927753"/>
              <a:ext cx="1418047" cy="790229"/>
            </a:xfrm>
            <a:prstGeom prst="rect">
              <a:avLst/>
            </a:prstGeom>
            <a:solidFill>
              <a:srgbClr val="D674B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u="sng" dirty="0" smtClean="0"/>
                <a:t>Women</a:t>
              </a:r>
            </a:p>
            <a:p>
              <a:pPr algn="ctr"/>
              <a:r>
                <a:rPr lang="en-US" dirty="0" smtClean="0"/>
                <a:t>26,000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1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655273" y="137092"/>
            <a:ext cx="7034212" cy="6397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 dirty="0" smtClean="0">
                <a:solidFill>
                  <a:srgbClr val="0070C0"/>
                </a:solidFill>
              </a:rPr>
              <a:t>Value for Money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5412" y="908720"/>
            <a:ext cx="860444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Very high positive externalities and health and time saving benefits to poor families mainly to women and children. </a:t>
            </a:r>
            <a:endParaRPr lang="en-GB" sz="20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€ per person gaining access </a:t>
            </a:r>
            <a:r>
              <a:rPr lang="en-US" sz="2000" dirty="0" smtClean="0"/>
              <a:t> - €7.33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EUR per t </a:t>
            </a:r>
            <a:r>
              <a:rPr lang="en-US" sz="2000" dirty="0" err="1"/>
              <a:t>CO2e</a:t>
            </a:r>
            <a:r>
              <a:rPr lang="en-US" sz="2000" dirty="0"/>
              <a:t> avoided </a:t>
            </a:r>
            <a:r>
              <a:rPr lang="en-US" sz="2000" dirty="0" smtClean="0"/>
              <a:t> </a:t>
            </a:r>
            <a:r>
              <a:rPr lang="en-US" sz="2000" dirty="0"/>
              <a:t>- €</a:t>
            </a:r>
            <a:r>
              <a:rPr lang="en-US" sz="2000" dirty="0" smtClean="0"/>
              <a:t>3.90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Target of 343,200 t </a:t>
            </a:r>
            <a:r>
              <a:rPr lang="en-US" sz="2000" dirty="0" err="1"/>
              <a:t>CO2e</a:t>
            </a:r>
            <a:r>
              <a:rPr lang="en-US" sz="2000" dirty="0"/>
              <a:t> avoided (over the lifetime of products sold during project) </a:t>
            </a:r>
            <a:endParaRPr lang="en-US" sz="2000" dirty="0" smtClean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private sector leverage </a:t>
            </a:r>
            <a:r>
              <a:rPr lang="en-GB" sz="2000" dirty="0" smtClean="0"/>
              <a:t>ratio – 1:1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 err="1" smtClean="0"/>
              <a:t>EIRR</a:t>
            </a:r>
            <a:r>
              <a:rPr lang="en-GB" sz="2000" dirty="0" smtClean="0"/>
              <a:t> </a:t>
            </a:r>
            <a:r>
              <a:rPr lang="en-GB" sz="2000" dirty="0"/>
              <a:t>of 148</a:t>
            </a:r>
            <a:r>
              <a:rPr lang="en-GB" sz="2000" dirty="0" smtClean="0"/>
              <a:t>% &amp; Benefit </a:t>
            </a:r>
            <a:r>
              <a:rPr lang="en-GB" sz="2000" dirty="0"/>
              <a:t>cost ratio of 9.4.</a:t>
            </a:r>
            <a:endParaRPr lang="en-GB" sz="2000" dirty="0" smtClean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Created sustainable market of improved </a:t>
            </a:r>
            <a:r>
              <a:rPr lang="en-US" sz="2000" dirty="0" err="1" smtClean="0"/>
              <a:t>cookstoves</a:t>
            </a:r>
            <a:endParaRPr lang="en-US" sz="2000" dirty="0" smtClean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35 enterprises created/upgraded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178 jobs created. Among them 38.8% are female</a:t>
            </a:r>
            <a:r>
              <a:rPr lang="en-US" sz="2000" dirty="0"/>
              <a:t>.</a:t>
            </a:r>
            <a:endParaRPr lang="en-US" sz="2000" dirty="0" smtClean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34847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1052736"/>
            <a:ext cx="8064895" cy="15841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“After living all my life in a smoke filled house, </a:t>
            </a:r>
            <a:r>
              <a:rPr lang="en-US" dirty="0" smtClean="0"/>
              <a:t>I finally </a:t>
            </a:r>
            <a:r>
              <a:rPr lang="en-US" dirty="0"/>
              <a:t>can feel my days of suffering are over,” </a:t>
            </a:r>
            <a:r>
              <a:rPr lang="en-US" dirty="0" err="1" smtClean="0"/>
              <a:t>Sona</a:t>
            </a:r>
            <a:r>
              <a:rPr lang="en-US" dirty="0" smtClean="0"/>
              <a:t> says</a:t>
            </a:r>
            <a:r>
              <a:rPr lang="en-US" dirty="0"/>
              <a:t>.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564904"/>
            <a:ext cx="4572000" cy="309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1560" y="2605749"/>
            <a:ext cx="36724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“I might not live longer to enjoy the </a:t>
            </a:r>
            <a:r>
              <a:rPr lang="en-US" sz="2800" dirty="0" smtClean="0">
                <a:latin typeface="+mn-lt"/>
              </a:rPr>
              <a:t>smoke free </a:t>
            </a:r>
            <a:r>
              <a:rPr lang="en-US" sz="2800" dirty="0">
                <a:latin typeface="+mn-lt"/>
              </a:rPr>
              <a:t>life but my coming generations will and I am glad my life is better now.”</a:t>
            </a:r>
          </a:p>
          <a:p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011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Acer\Desktop\Pic May\DSC02632.JPG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4644008" y="3429001"/>
            <a:ext cx="4499992" cy="3430867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7624"/>
            <a:ext cx="4499992" cy="33913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2"/>
          <a:stretch/>
        </p:blipFill>
        <p:spPr>
          <a:xfrm>
            <a:off x="612256" y="4431979"/>
            <a:ext cx="3845478" cy="24278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0" b="33745"/>
          <a:stretch/>
        </p:blipFill>
        <p:spPr>
          <a:xfrm>
            <a:off x="624916" y="13899"/>
            <a:ext cx="3857625" cy="441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3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2176" y="1852558"/>
            <a:ext cx="6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>
                <a:solidFill>
                  <a:srgbClr val="FF0000"/>
                </a:solidFill>
              </a:rPr>
              <a:t>Strengthening Synergies with </a:t>
            </a:r>
            <a:r>
              <a:rPr lang="en-US" dirty="0" smtClean="0"/>
              <a:t>HRRP Partners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6840760" cy="431329"/>
          </a:xfrm>
        </p:spPr>
        <p:txBody>
          <a:bodyPr/>
          <a:lstStyle/>
          <a:p>
            <a:r>
              <a:rPr lang="en-US" sz="3000" dirty="0" smtClean="0">
                <a:solidFill>
                  <a:srgbClr val="FF0000"/>
                </a:solidFill>
              </a:rPr>
              <a:t>Possible </a:t>
            </a:r>
            <a:r>
              <a:rPr lang="en-US" sz="3000" dirty="0" smtClean="0">
                <a:solidFill>
                  <a:srgbClr val="FF0000"/>
                </a:solidFill>
              </a:rPr>
              <a:t>areas of supports 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342" y="836712"/>
            <a:ext cx="8661572" cy="5688632"/>
          </a:xfrm>
        </p:spPr>
        <p:txBody>
          <a:bodyPr/>
          <a:lstStyle/>
          <a:p>
            <a:r>
              <a:rPr lang="en-US" sz="2400" dirty="0" smtClean="0"/>
              <a:t>Creating awareness on negative health and environmental impacts of household air pollution and make home free of it;</a:t>
            </a:r>
          </a:p>
          <a:p>
            <a:r>
              <a:rPr lang="en-US" sz="2400" dirty="0" smtClean="0"/>
              <a:t>Make people aware about the project and available RBF incentives from the project;</a:t>
            </a:r>
          </a:p>
          <a:p>
            <a:r>
              <a:rPr lang="en-US" sz="2400" dirty="0" smtClean="0"/>
              <a:t>Design kitchen suitable enough to install a </a:t>
            </a:r>
            <a:r>
              <a:rPr lang="en-US" sz="2400" dirty="0" err="1" smtClean="0"/>
              <a:t>hoodstove</a:t>
            </a:r>
            <a:r>
              <a:rPr lang="en-US" sz="2400" dirty="0"/>
              <a:t> </a:t>
            </a:r>
            <a:r>
              <a:rPr lang="en-US" sz="2400" dirty="0" smtClean="0"/>
              <a:t>and make kitchen free of household air pollution. Promote separate kitchen </a:t>
            </a:r>
            <a:r>
              <a:rPr lang="en-US" sz="2400" dirty="0" smtClean="0"/>
              <a:t>construction.</a:t>
            </a:r>
            <a:endParaRPr lang="en-US" sz="2400" dirty="0" smtClean="0"/>
          </a:p>
          <a:p>
            <a:r>
              <a:rPr lang="en-US" sz="2400" dirty="0" smtClean="0"/>
              <a:t>Support entrepreneurs promoted by our project to organize marketing campaigns in the reconstruction project villages</a:t>
            </a:r>
          </a:p>
          <a:p>
            <a:r>
              <a:rPr lang="en-US" sz="2400" dirty="0" smtClean="0"/>
              <a:t>Facilitate linkage between the masons, other skilled human resources and the RBF project, existing entrepreneurs to install hood-stove also.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214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980728"/>
            <a:ext cx="6048375" cy="1084263"/>
          </a:xfrm>
        </p:spPr>
        <p:txBody>
          <a:bodyPr/>
          <a:lstStyle/>
          <a:p>
            <a:pPr eaLnBrk="1" hangingPunct="1"/>
            <a:r>
              <a:rPr lang="en-US" dirty="0" smtClean="0"/>
              <a:t>Thank you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492896"/>
            <a:ext cx="7786687" cy="1655762"/>
          </a:xfrm>
        </p:spPr>
        <p:txBody>
          <a:bodyPr/>
          <a:lstStyle/>
          <a:p>
            <a:pPr eaLnBrk="1" hangingPunct="1"/>
            <a:r>
              <a:rPr lang="en-US" sz="2000" u="sng" dirty="0" smtClean="0"/>
              <a:t>For further information:</a:t>
            </a:r>
          </a:p>
          <a:p>
            <a:pPr eaLnBrk="1" hangingPunct="1"/>
            <a:r>
              <a:rPr lang="en-US" sz="2000" dirty="0" smtClean="0"/>
              <a:t>min.malla@practicalaction.org.np</a:t>
            </a:r>
            <a:endParaRPr lang="en-US" sz="2000" dirty="0"/>
          </a:p>
          <a:p>
            <a:pPr eaLnBrk="1" hangingPunct="1"/>
            <a:r>
              <a:rPr lang="en-US" sz="2000" dirty="0" smtClean="0"/>
              <a:t>www.practicalaction.org</a:t>
            </a:r>
          </a:p>
        </p:txBody>
      </p:sp>
    </p:spTree>
    <p:extLst>
      <p:ext uri="{BB962C8B-B14F-4D97-AF65-F5344CB8AC3E}">
        <p14:creationId xmlns:p14="http://schemas.microsoft.com/office/powerpoint/2010/main" val="138749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Text Box 3" descr="Diagonal weit nach unten"/>
          <p:cNvSpPr txBox="1">
            <a:spLocks noChangeArrowheads="1"/>
          </p:cNvSpPr>
          <p:nvPr/>
        </p:nvSpPr>
        <p:spPr bwMode="auto">
          <a:xfrm>
            <a:off x="719138" y="836712"/>
            <a:ext cx="1992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de-DE" altLang="en-US" sz="1800" dirty="0">
                <a:solidFill>
                  <a:srgbClr val="ED6E00"/>
                </a:solidFill>
                <a:sym typeface="Wingdings" pitchFamily="2" charset="2"/>
              </a:rPr>
              <a:t>Config </a:t>
            </a:r>
            <a:r>
              <a:rPr lang="de-DE" altLang="en-US" sz="1800" dirty="0" smtClean="0">
                <a:solidFill>
                  <a:srgbClr val="ED6E00"/>
                </a:solidFill>
                <a:sym typeface="Wingdings" pitchFamily="2" charset="2"/>
              </a:rPr>
              <a:t>1: </a:t>
            </a:r>
            <a:r>
              <a:rPr lang="de-DE" altLang="en-US" sz="1800" dirty="0">
                <a:solidFill>
                  <a:srgbClr val="ED6E00"/>
                </a:solidFill>
                <a:sym typeface="Wingdings" pitchFamily="2" charset="2"/>
              </a:rPr>
              <a:t>medium</a:t>
            </a:r>
            <a:endParaRPr lang="de-DE" altLang="en-US" sz="1800" dirty="0">
              <a:solidFill>
                <a:srgbClr val="ED6E00"/>
              </a:solidFill>
            </a:endParaRPr>
          </a:p>
        </p:txBody>
      </p:sp>
      <p:pic>
        <p:nvPicPr>
          <p:cNvPr id="146436" name="Picture 4" descr="3D_Geometry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8" t="1233" r="41071" b="8417"/>
          <a:stretch>
            <a:fillRect/>
          </a:stretch>
        </p:blipFill>
        <p:spPr bwMode="auto">
          <a:xfrm>
            <a:off x="719138" y="2276475"/>
            <a:ext cx="1358900" cy="356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437" name="Text Box 5" descr="Diagonal weit nach unten"/>
          <p:cNvSpPr txBox="1">
            <a:spLocks noChangeArrowheads="1"/>
          </p:cNvSpPr>
          <p:nvPr/>
        </p:nvSpPr>
        <p:spPr bwMode="auto">
          <a:xfrm>
            <a:off x="895350" y="6032500"/>
            <a:ext cx="904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3D view</a:t>
            </a:r>
          </a:p>
        </p:txBody>
      </p:sp>
      <p:sp>
        <p:nvSpPr>
          <p:cNvPr id="146439" name="Text Box 7" descr="Diagonal weit nach unten"/>
          <p:cNvSpPr txBox="1">
            <a:spLocks noChangeArrowheads="1"/>
          </p:cNvSpPr>
          <p:nvPr/>
        </p:nvSpPr>
        <p:spPr bwMode="auto">
          <a:xfrm>
            <a:off x="3348038" y="6029325"/>
            <a:ext cx="1054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front view</a:t>
            </a:r>
          </a:p>
        </p:txBody>
      </p:sp>
      <p:sp>
        <p:nvSpPr>
          <p:cNvPr id="146452" name="Text Box 20" descr="Diagonal weit nach unten"/>
          <p:cNvSpPr txBox="1">
            <a:spLocks noChangeArrowheads="1"/>
          </p:cNvSpPr>
          <p:nvPr/>
        </p:nvSpPr>
        <p:spPr bwMode="auto">
          <a:xfrm>
            <a:off x="6840538" y="6026150"/>
            <a:ext cx="10175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side view</a:t>
            </a:r>
          </a:p>
        </p:txBody>
      </p:sp>
      <p:grpSp>
        <p:nvGrpSpPr>
          <p:cNvPr id="146493" name="Group 61"/>
          <p:cNvGrpSpPr>
            <a:grpSpLocks/>
          </p:cNvGrpSpPr>
          <p:nvPr/>
        </p:nvGrpSpPr>
        <p:grpSpPr bwMode="auto">
          <a:xfrm>
            <a:off x="2849563" y="1395413"/>
            <a:ext cx="2406650" cy="4589462"/>
            <a:chOff x="1954" y="879"/>
            <a:chExt cx="1516" cy="2891"/>
          </a:xfrm>
        </p:grpSpPr>
        <p:grpSp>
          <p:nvGrpSpPr>
            <p:cNvPr id="146450" name="Group 18"/>
            <p:cNvGrpSpPr>
              <a:grpSpLocks/>
            </p:cNvGrpSpPr>
            <p:nvPr/>
          </p:nvGrpSpPr>
          <p:grpSpPr bwMode="auto">
            <a:xfrm>
              <a:off x="2268" y="1049"/>
              <a:ext cx="725" cy="2517"/>
              <a:chOff x="2268" y="1049"/>
              <a:chExt cx="725" cy="2517"/>
            </a:xfrm>
          </p:grpSpPr>
          <p:pic>
            <p:nvPicPr>
              <p:cNvPr id="146438" name="Picture 6" descr="TubeFrontView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68" y="1049"/>
                <a:ext cx="725" cy="25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6440" name="Line 8"/>
              <p:cNvSpPr>
                <a:spLocks noChangeShapeType="1"/>
              </p:cNvSpPr>
              <p:nvPr/>
            </p:nvSpPr>
            <p:spPr bwMode="auto">
              <a:xfrm>
                <a:off x="2282" y="2704"/>
                <a:ext cx="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2" name="Line 10"/>
              <p:cNvSpPr>
                <a:spLocks noChangeShapeType="1"/>
              </p:cNvSpPr>
              <p:nvPr/>
            </p:nvSpPr>
            <p:spPr bwMode="auto">
              <a:xfrm>
                <a:off x="2280" y="2871"/>
                <a:ext cx="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4" name="Line 12"/>
              <p:cNvSpPr>
                <a:spLocks noChangeShapeType="1"/>
              </p:cNvSpPr>
              <p:nvPr/>
            </p:nvSpPr>
            <p:spPr bwMode="auto">
              <a:xfrm>
                <a:off x="2282" y="2706"/>
                <a:ext cx="0" cy="8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5" name="Line 13"/>
              <p:cNvSpPr>
                <a:spLocks noChangeShapeType="1"/>
              </p:cNvSpPr>
              <p:nvPr/>
            </p:nvSpPr>
            <p:spPr bwMode="auto">
              <a:xfrm>
                <a:off x="2950" y="2704"/>
                <a:ext cx="0" cy="8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6" name="Line 14"/>
              <p:cNvSpPr>
                <a:spLocks noChangeShapeType="1"/>
              </p:cNvSpPr>
              <p:nvPr/>
            </p:nvSpPr>
            <p:spPr bwMode="auto">
              <a:xfrm>
                <a:off x="2281" y="3534"/>
                <a:ext cx="66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7" name="Line 15"/>
              <p:cNvSpPr>
                <a:spLocks noChangeShapeType="1"/>
              </p:cNvSpPr>
              <p:nvPr/>
            </p:nvSpPr>
            <p:spPr bwMode="auto">
              <a:xfrm flipV="1">
                <a:off x="2282" y="2366"/>
                <a:ext cx="195" cy="3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8" name="Line 16"/>
              <p:cNvSpPr>
                <a:spLocks noChangeShapeType="1"/>
              </p:cNvSpPr>
              <p:nvPr/>
            </p:nvSpPr>
            <p:spPr bwMode="auto">
              <a:xfrm flipH="1" flipV="1">
                <a:off x="2755" y="2364"/>
                <a:ext cx="195" cy="3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6449" name="Line 17"/>
              <p:cNvSpPr>
                <a:spLocks noChangeShapeType="1"/>
              </p:cNvSpPr>
              <p:nvPr/>
            </p:nvSpPr>
            <p:spPr bwMode="auto">
              <a:xfrm>
                <a:off x="2481" y="23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46454" name="Line 22"/>
            <p:cNvSpPr>
              <a:spLocks noChangeShapeType="1"/>
            </p:cNvSpPr>
            <p:nvPr/>
          </p:nvSpPr>
          <p:spPr bwMode="auto">
            <a:xfrm>
              <a:off x="2280" y="3521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55" name="Line 23"/>
            <p:cNvSpPr>
              <a:spLocks noChangeShapeType="1"/>
            </p:cNvSpPr>
            <p:nvPr/>
          </p:nvSpPr>
          <p:spPr bwMode="auto">
            <a:xfrm>
              <a:off x="2950" y="3521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56" name="Line 24"/>
            <p:cNvSpPr>
              <a:spLocks noChangeShapeType="1"/>
            </p:cNvSpPr>
            <p:nvPr/>
          </p:nvSpPr>
          <p:spPr bwMode="auto">
            <a:xfrm>
              <a:off x="2284" y="3725"/>
              <a:ext cx="65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58" name="Text Box 26" descr="Diagonal weit nach unten"/>
            <p:cNvSpPr txBox="1">
              <a:spLocks noChangeArrowheads="1"/>
            </p:cNvSpPr>
            <p:nvPr/>
          </p:nvSpPr>
          <p:spPr bwMode="auto">
            <a:xfrm>
              <a:off x="2442" y="3593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0.8m</a:t>
              </a:r>
            </a:p>
          </p:txBody>
        </p:sp>
        <p:sp>
          <p:nvSpPr>
            <p:cNvPr id="146459" name="Line 27"/>
            <p:cNvSpPr>
              <a:spLocks noChangeShapeType="1"/>
            </p:cNvSpPr>
            <p:nvPr/>
          </p:nvSpPr>
          <p:spPr bwMode="auto">
            <a:xfrm>
              <a:off x="2925" y="3535"/>
              <a:ext cx="5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0" name="Line 28"/>
            <p:cNvSpPr>
              <a:spLocks noChangeShapeType="1"/>
            </p:cNvSpPr>
            <p:nvPr/>
          </p:nvSpPr>
          <p:spPr bwMode="auto">
            <a:xfrm>
              <a:off x="2744" y="2871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1" name="Line 29"/>
            <p:cNvSpPr>
              <a:spLocks noChangeShapeType="1"/>
            </p:cNvSpPr>
            <p:nvPr/>
          </p:nvSpPr>
          <p:spPr bwMode="auto">
            <a:xfrm>
              <a:off x="2880" y="2704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2" name="Line 30"/>
            <p:cNvSpPr>
              <a:spLocks noChangeShapeType="1"/>
            </p:cNvSpPr>
            <p:nvPr/>
          </p:nvSpPr>
          <p:spPr bwMode="auto">
            <a:xfrm>
              <a:off x="2743" y="2366"/>
              <a:ext cx="68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3" name="Line 31"/>
            <p:cNvSpPr>
              <a:spLocks noChangeShapeType="1"/>
            </p:cNvSpPr>
            <p:nvPr/>
          </p:nvSpPr>
          <p:spPr bwMode="auto">
            <a:xfrm rot="-5400000">
              <a:off x="2744" y="3206"/>
              <a:ext cx="658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4" name="Line 32"/>
            <p:cNvSpPr>
              <a:spLocks noChangeShapeType="1"/>
            </p:cNvSpPr>
            <p:nvPr/>
          </p:nvSpPr>
          <p:spPr bwMode="auto">
            <a:xfrm rot="-5400000">
              <a:off x="2801" y="3120"/>
              <a:ext cx="83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5" name="Line 33"/>
            <p:cNvSpPr>
              <a:spLocks noChangeShapeType="1"/>
            </p:cNvSpPr>
            <p:nvPr/>
          </p:nvSpPr>
          <p:spPr bwMode="auto">
            <a:xfrm rot="-5400000">
              <a:off x="2800" y="2951"/>
              <a:ext cx="117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66" name="Text Box 34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2864" y="3120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0.8m</a:t>
              </a:r>
            </a:p>
          </p:txBody>
        </p:sp>
        <p:sp>
          <p:nvSpPr>
            <p:cNvPr id="146467" name="Text Box 35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042" y="3081"/>
              <a:ext cx="2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1m</a:t>
              </a:r>
            </a:p>
          </p:txBody>
        </p:sp>
        <p:sp>
          <p:nvSpPr>
            <p:cNvPr id="146468" name="Text Box 36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173" y="2828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1.4m</a:t>
              </a:r>
            </a:p>
          </p:txBody>
        </p:sp>
        <p:sp>
          <p:nvSpPr>
            <p:cNvPr id="146469" name="Line 37"/>
            <p:cNvSpPr>
              <a:spLocks noChangeShapeType="1"/>
            </p:cNvSpPr>
            <p:nvPr/>
          </p:nvSpPr>
          <p:spPr bwMode="auto">
            <a:xfrm>
              <a:off x="2664" y="1123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0" name="Line 38"/>
            <p:cNvSpPr>
              <a:spLocks noChangeShapeType="1"/>
            </p:cNvSpPr>
            <p:nvPr/>
          </p:nvSpPr>
          <p:spPr bwMode="auto">
            <a:xfrm rot="-5400000">
              <a:off x="2263" y="1746"/>
              <a:ext cx="124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1" name="Text Box 39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2518" y="1551"/>
              <a:ext cx="63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L </a:t>
              </a:r>
              <a:r>
                <a:rPr lang="de-DE" altLang="en-US" sz="1200">
                  <a:solidFill>
                    <a:schemeClr val="tx1"/>
                  </a:solidFill>
                  <a:cs typeface="Arial" charset="0"/>
                </a:rPr>
                <a:t>≥ </a:t>
              </a:r>
              <a:r>
                <a:rPr lang="de-DE" altLang="en-US" sz="1200">
                  <a:solidFill>
                    <a:schemeClr val="tx1"/>
                  </a:solidFill>
                </a:rPr>
                <a:t>1.5m</a:t>
              </a:r>
            </a:p>
          </p:txBody>
        </p:sp>
        <p:sp>
          <p:nvSpPr>
            <p:cNvPr id="146472" name="Line 40"/>
            <p:cNvSpPr>
              <a:spLocks noChangeShapeType="1"/>
            </p:cNvSpPr>
            <p:nvPr/>
          </p:nvSpPr>
          <p:spPr bwMode="auto">
            <a:xfrm>
              <a:off x="2492" y="996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3" name="Line 41"/>
            <p:cNvSpPr>
              <a:spLocks noChangeShapeType="1"/>
            </p:cNvSpPr>
            <p:nvPr/>
          </p:nvSpPr>
          <p:spPr bwMode="auto">
            <a:xfrm>
              <a:off x="2742" y="1000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6" name="Line 44"/>
            <p:cNvSpPr>
              <a:spLocks noChangeShapeType="1"/>
            </p:cNvSpPr>
            <p:nvPr/>
          </p:nvSpPr>
          <p:spPr bwMode="auto">
            <a:xfrm>
              <a:off x="2630" y="1026"/>
              <a:ext cx="47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7" name="Line 45"/>
            <p:cNvSpPr>
              <a:spLocks noChangeShapeType="1"/>
            </p:cNvSpPr>
            <p:nvPr/>
          </p:nvSpPr>
          <p:spPr bwMode="auto">
            <a:xfrm>
              <a:off x="2494" y="1026"/>
              <a:ext cx="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78" name="Text Box 46" descr="Diagonal weit nach unten"/>
            <p:cNvSpPr txBox="1">
              <a:spLocks noChangeArrowheads="1"/>
            </p:cNvSpPr>
            <p:nvPr/>
          </p:nvSpPr>
          <p:spPr bwMode="auto">
            <a:xfrm>
              <a:off x="2721" y="879"/>
              <a:ext cx="43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chemeClr val="tx1"/>
                  </a:solidFill>
                  <a:cs typeface="Arial" charset="0"/>
                </a:rPr>
                <a:t>Ø </a:t>
              </a:r>
              <a:r>
                <a:rPr lang="de-DE" altLang="en-US" sz="1200">
                  <a:solidFill>
                    <a:schemeClr val="tx1"/>
                  </a:solidFill>
                </a:rPr>
                <a:t>0.3m</a:t>
              </a:r>
            </a:p>
          </p:txBody>
        </p:sp>
        <p:sp>
          <p:nvSpPr>
            <p:cNvPr id="146479" name="Line 47"/>
            <p:cNvSpPr>
              <a:spLocks noChangeShapeType="1"/>
            </p:cNvSpPr>
            <p:nvPr/>
          </p:nvSpPr>
          <p:spPr bwMode="auto">
            <a:xfrm>
              <a:off x="2478" y="2364"/>
              <a:ext cx="0" cy="1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80" name="Line 48"/>
            <p:cNvSpPr>
              <a:spLocks noChangeShapeType="1"/>
            </p:cNvSpPr>
            <p:nvPr/>
          </p:nvSpPr>
          <p:spPr bwMode="auto">
            <a:xfrm>
              <a:off x="2756" y="2364"/>
              <a:ext cx="0" cy="1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81" name="Line 49"/>
            <p:cNvSpPr>
              <a:spLocks noChangeShapeType="1"/>
            </p:cNvSpPr>
            <p:nvPr/>
          </p:nvSpPr>
          <p:spPr bwMode="auto">
            <a:xfrm>
              <a:off x="2001" y="2478"/>
              <a:ext cx="47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82" name="Line 50"/>
            <p:cNvSpPr>
              <a:spLocks noChangeShapeType="1"/>
            </p:cNvSpPr>
            <p:nvPr/>
          </p:nvSpPr>
          <p:spPr bwMode="auto">
            <a:xfrm>
              <a:off x="2472" y="2478"/>
              <a:ext cx="29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483" name="Text Box 51" descr="Diagonal weit nach unten"/>
            <p:cNvSpPr txBox="1">
              <a:spLocks noChangeArrowheads="1"/>
            </p:cNvSpPr>
            <p:nvPr/>
          </p:nvSpPr>
          <p:spPr bwMode="auto">
            <a:xfrm>
              <a:off x="1954" y="2342"/>
              <a:ext cx="38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0.34m</a:t>
              </a:r>
            </a:p>
          </p:txBody>
        </p:sp>
      </p:grpSp>
      <p:pic>
        <p:nvPicPr>
          <p:cNvPr id="146451" name="Picture 19" descr="TubeSideView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9" t="6917" r="41341" b="6917"/>
          <a:stretch>
            <a:fillRect/>
          </a:stretch>
        </p:blipFill>
        <p:spPr bwMode="auto">
          <a:xfrm>
            <a:off x="6721475" y="1684338"/>
            <a:ext cx="1235075" cy="402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84" name="Line 52"/>
          <p:cNvSpPr>
            <a:spLocks noChangeShapeType="1"/>
          </p:cNvSpPr>
          <p:nvPr/>
        </p:nvSpPr>
        <p:spPr bwMode="auto">
          <a:xfrm>
            <a:off x="6827838" y="558958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85" name="Line 53"/>
          <p:cNvSpPr>
            <a:spLocks noChangeShapeType="1"/>
          </p:cNvSpPr>
          <p:nvPr/>
        </p:nvSpPr>
        <p:spPr bwMode="auto">
          <a:xfrm>
            <a:off x="7891463" y="558958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86" name="Line 54"/>
          <p:cNvSpPr>
            <a:spLocks noChangeShapeType="1"/>
          </p:cNvSpPr>
          <p:nvPr/>
        </p:nvSpPr>
        <p:spPr bwMode="auto">
          <a:xfrm>
            <a:off x="6834188" y="5913438"/>
            <a:ext cx="10445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87" name="Text Box 55" descr="Diagonal weit nach unten"/>
          <p:cNvSpPr txBox="1">
            <a:spLocks noChangeArrowheads="1"/>
          </p:cNvSpPr>
          <p:nvPr/>
        </p:nvSpPr>
        <p:spPr bwMode="auto">
          <a:xfrm>
            <a:off x="7085013" y="5703888"/>
            <a:ext cx="522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0.8m</a:t>
            </a:r>
          </a:p>
        </p:txBody>
      </p:sp>
      <p:sp>
        <p:nvSpPr>
          <p:cNvPr id="146488" name="Line 56"/>
          <p:cNvSpPr>
            <a:spLocks noChangeShapeType="1"/>
          </p:cNvSpPr>
          <p:nvPr/>
        </p:nvSpPr>
        <p:spPr bwMode="auto">
          <a:xfrm>
            <a:off x="7134225" y="3756025"/>
            <a:ext cx="0" cy="2159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89" name="Line 57"/>
          <p:cNvSpPr>
            <a:spLocks noChangeShapeType="1"/>
          </p:cNvSpPr>
          <p:nvPr/>
        </p:nvSpPr>
        <p:spPr bwMode="auto">
          <a:xfrm>
            <a:off x="7575550" y="3756025"/>
            <a:ext cx="0" cy="2159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90" name="Line 58"/>
          <p:cNvSpPr>
            <a:spLocks noChangeShapeType="1"/>
          </p:cNvSpPr>
          <p:nvPr/>
        </p:nvSpPr>
        <p:spPr bwMode="auto">
          <a:xfrm>
            <a:off x="6376988" y="3937000"/>
            <a:ext cx="757237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91" name="Line 59"/>
          <p:cNvSpPr>
            <a:spLocks noChangeShapeType="1"/>
          </p:cNvSpPr>
          <p:nvPr/>
        </p:nvSpPr>
        <p:spPr bwMode="auto">
          <a:xfrm>
            <a:off x="7124700" y="3937000"/>
            <a:ext cx="4619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6492" name="Text Box 60" descr="Diagonal weit nach unten"/>
          <p:cNvSpPr txBox="1">
            <a:spLocks noChangeArrowheads="1"/>
          </p:cNvSpPr>
          <p:nvPr/>
        </p:nvSpPr>
        <p:spPr bwMode="auto">
          <a:xfrm>
            <a:off x="6302375" y="3721100"/>
            <a:ext cx="606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0.34m</a:t>
            </a:r>
          </a:p>
        </p:txBody>
      </p:sp>
      <p:sp>
        <p:nvSpPr>
          <p:cNvPr id="146537" name="Line 105"/>
          <p:cNvSpPr>
            <a:spLocks noChangeShapeType="1"/>
          </p:cNvSpPr>
          <p:nvPr/>
        </p:nvSpPr>
        <p:spPr bwMode="auto">
          <a:xfrm>
            <a:off x="3895725" y="1489075"/>
            <a:ext cx="0" cy="424815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484981" y="70453"/>
            <a:ext cx="83169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200" dirty="0" smtClean="0">
                <a:solidFill>
                  <a:srgbClr val="ED6E00"/>
                </a:solidFill>
              </a:rPr>
              <a:t>Dimensions of Smoke Hood</a:t>
            </a:r>
            <a:endParaRPr lang="en-GB" altLang="en-US" sz="2200" dirty="0">
              <a:solidFill>
                <a:srgbClr val="ED6E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40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3" name="Text Box 5" descr="Diagonal weit nach unten"/>
          <p:cNvSpPr txBox="1">
            <a:spLocks noChangeArrowheads="1"/>
          </p:cNvSpPr>
          <p:nvPr/>
        </p:nvSpPr>
        <p:spPr bwMode="auto">
          <a:xfrm>
            <a:off x="521493" y="966787"/>
            <a:ext cx="1710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de-DE" altLang="en-US" sz="1800" dirty="0">
                <a:solidFill>
                  <a:schemeClr val="folHlink"/>
                </a:solidFill>
                <a:sym typeface="Wingdings" pitchFamily="2" charset="2"/>
              </a:rPr>
              <a:t>Config </a:t>
            </a:r>
            <a:r>
              <a:rPr lang="de-DE" altLang="en-US" sz="1800" dirty="0" smtClean="0">
                <a:solidFill>
                  <a:schemeClr val="folHlink"/>
                </a:solidFill>
                <a:sym typeface="Wingdings" pitchFamily="2" charset="2"/>
              </a:rPr>
              <a:t>2: </a:t>
            </a:r>
            <a:r>
              <a:rPr lang="de-DE" altLang="en-US" sz="1800" dirty="0">
                <a:solidFill>
                  <a:schemeClr val="folHlink"/>
                </a:solidFill>
                <a:sym typeface="Wingdings" pitchFamily="2" charset="2"/>
              </a:rPr>
              <a:t>small</a:t>
            </a:r>
            <a:endParaRPr lang="de-DE" altLang="en-US" sz="1800" dirty="0">
              <a:solidFill>
                <a:schemeClr val="folHlink"/>
              </a:solidFill>
            </a:endParaRPr>
          </a:p>
        </p:txBody>
      </p:sp>
      <p:sp>
        <p:nvSpPr>
          <p:cNvPr id="145414" name="Text Box 6" descr="Diagonal weit nach unten"/>
          <p:cNvSpPr txBox="1">
            <a:spLocks noChangeArrowheads="1"/>
          </p:cNvSpPr>
          <p:nvPr/>
        </p:nvSpPr>
        <p:spPr bwMode="auto">
          <a:xfrm>
            <a:off x="895350" y="6032500"/>
            <a:ext cx="904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3D view</a:t>
            </a:r>
          </a:p>
        </p:txBody>
      </p:sp>
      <p:sp>
        <p:nvSpPr>
          <p:cNvPr id="145415" name="Text Box 7" descr="Diagonal weit nach unten"/>
          <p:cNvSpPr txBox="1">
            <a:spLocks noChangeArrowheads="1"/>
          </p:cNvSpPr>
          <p:nvPr/>
        </p:nvSpPr>
        <p:spPr bwMode="auto">
          <a:xfrm>
            <a:off x="3348038" y="6029325"/>
            <a:ext cx="1054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front view</a:t>
            </a:r>
          </a:p>
        </p:txBody>
      </p:sp>
      <p:sp>
        <p:nvSpPr>
          <p:cNvPr id="145416" name="Text Box 8" descr="Diagonal weit nach unten"/>
          <p:cNvSpPr txBox="1">
            <a:spLocks noChangeArrowheads="1"/>
          </p:cNvSpPr>
          <p:nvPr/>
        </p:nvSpPr>
        <p:spPr bwMode="auto">
          <a:xfrm>
            <a:off x="6659563" y="6026150"/>
            <a:ext cx="10175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side view</a:t>
            </a:r>
          </a:p>
        </p:txBody>
      </p:sp>
      <p:sp>
        <p:nvSpPr>
          <p:cNvPr id="145417" name="Line 9"/>
          <p:cNvSpPr>
            <a:spLocks noChangeShapeType="1"/>
          </p:cNvSpPr>
          <p:nvPr/>
        </p:nvSpPr>
        <p:spPr bwMode="auto">
          <a:xfrm>
            <a:off x="6588125" y="6008688"/>
            <a:ext cx="11160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18" name="Text Box 10" descr="Diagonal weit nach unten"/>
          <p:cNvSpPr txBox="1">
            <a:spLocks noChangeArrowheads="1"/>
          </p:cNvSpPr>
          <p:nvPr/>
        </p:nvSpPr>
        <p:spPr bwMode="auto">
          <a:xfrm>
            <a:off x="6875463" y="5783263"/>
            <a:ext cx="522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0.8m</a:t>
            </a:r>
          </a:p>
        </p:txBody>
      </p:sp>
      <p:pic>
        <p:nvPicPr>
          <p:cNvPr id="145421" name="Picture 13" descr="Front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1447800"/>
            <a:ext cx="1439862" cy="432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422" name="Line 14"/>
          <p:cNvSpPr>
            <a:spLocks noChangeShapeType="1"/>
          </p:cNvSpPr>
          <p:nvPr/>
        </p:nvSpPr>
        <p:spPr bwMode="auto">
          <a:xfrm>
            <a:off x="3895725" y="1412875"/>
            <a:ext cx="0" cy="43926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34" name="Line 26"/>
          <p:cNvSpPr>
            <a:spLocks noChangeShapeType="1"/>
          </p:cNvSpPr>
          <p:nvPr/>
        </p:nvSpPr>
        <p:spPr bwMode="auto">
          <a:xfrm>
            <a:off x="3479800" y="558958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35" name="Line 27"/>
          <p:cNvSpPr>
            <a:spLocks noChangeShapeType="1"/>
          </p:cNvSpPr>
          <p:nvPr/>
        </p:nvSpPr>
        <p:spPr bwMode="auto">
          <a:xfrm>
            <a:off x="7700963" y="5661025"/>
            <a:ext cx="0" cy="39528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36" name="Line 28"/>
          <p:cNvSpPr>
            <a:spLocks noChangeShapeType="1"/>
          </p:cNvSpPr>
          <p:nvPr/>
        </p:nvSpPr>
        <p:spPr bwMode="auto">
          <a:xfrm>
            <a:off x="3497263" y="5956300"/>
            <a:ext cx="8001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37" name="Text Box 29" descr="Diagonal weit nach unten"/>
          <p:cNvSpPr txBox="1">
            <a:spLocks noChangeArrowheads="1"/>
          </p:cNvSpPr>
          <p:nvPr/>
        </p:nvSpPr>
        <p:spPr bwMode="auto">
          <a:xfrm>
            <a:off x="3635375" y="5734050"/>
            <a:ext cx="522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0.6m</a:t>
            </a:r>
          </a:p>
        </p:txBody>
      </p:sp>
      <p:sp>
        <p:nvSpPr>
          <p:cNvPr id="145438" name="Line 30"/>
          <p:cNvSpPr>
            <a:spLocks noChangeShapeType="1"/>
          </p:cNvSpPr>
          <p:nvPr/>
        </p:nvSpPr>
        <p:spPr bwMode="auto">
          <a:xfrm>
            <a:off x="4283075" y="5734050"/>
            <a:ext cx="8651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39" name="Line 31"/>
          <p:cNvSpPr>
            <a:spLocks noChangeShapeType="1"/>
          </p:cNvSpPr>
          <p:nvPr/>
        </p:nvSpPr>
        <p:spPr bwMode="auto">
          <a:xfrm>
            <a:off x="4068763" y="4624388"/>
            <a:ext cx="5762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0" name="Line 32"/>
          <p:cNvSpPr>
            <a:spLocks noChangeShapeType="1"/>
          </p:cNvSpPr>
          <p:nvPr/>
        </p:nvSpPr>
        <p:spPr bwMode="auto">
          <a:xfrm>
            <a:off x="4283075" y="4351338"/>
            <a:ext cx="5762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1" name="Line 33"/>
          <p:cNvSpPr>
            <a:spLocks noChangeShapeType="1"/>
          </p:cNvSpPr>
          <p:nvPr/>
        </p:nvSpPr>
        <p:spPr bwMode="auto">
          <a:xfrm>
            <a:off x="4057650" y="3798888"/>
            <a:ext cx="10810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2" name="Line 34"/>
          <p:cNvSpPr>
            <a:spLocks noChangeShapeType="1"/>
          </p:cNvSpPr>
          <p:nvPr/>
        </p:nvSpPr>
        <p:spPr bwMode="auto">
          <a:xfrm rot="-5400000">
            <a:off x="4013200" y="5175250"/>
            <a:ext cx="1117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3" name="Line 35"/>
          <p:cNvSpPr>
            <a:spLocks noChangeShapeType="1"/>
          </p:cNvSpPr>
          <p:nvPr/>
        </p:nvSpPr>
        <p:spPr bwMode="auto">
          <a:xfrm rot="-5400000">
            <a:off x="4140200" y="5045076"/>
            <a:ext cx="1368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4" name="Line 36"/>
          <p:cNvSpPr>
            <a:spLocks noChangeShapeType="1"/>
          </p:cNvSpPr>
          <p:nvPr/>
        </p:nvSpPr>
        <p:spPr bwMode="auto">
          <a:xfrm rot="-5400000">
            <a:off x="4132262" y="4776788"/>
            <a:ext cx="19145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5" name="Text Box 37" descr="Diagonal weit nach unten"/>
          <p:cNvSpPr txBox="1">
            <a:spLocks noChangeArrowheads="1"/>
          </p:cNvSpPr>
          <p:nvPr/>
        </p:nvSpPr>
        <p:spPr bwMode="auto">
          <a:xfrm rot="16200000">
            <a:off x="4232275" y="5046663"/>
            <a:ext cx="522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0.8m</a:t>
            </a:r>
          </a:p>
        </p:txBody>
      </p:sp>
      <p:sp>
        <p:nvSpPr>
          <p:cNvPr id="145446" name="Text Box 38" descr="Diagonal weit nach unten"/>
          <p:cNvSpPr txBox="1">
            <a:spLocks noChangeArrowheads="1"/>
          </p:cNvSpPr>
          <p:nvPr/>
        </p:nvSpPr>
        <p:spPr bwMode="auto">
          <a:xfrm rot="16200000">
            <a:off x="4541838" y="4957763"/>
            <a:ext cx="395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1m</a:t>
            </a:r>
          </a:p>
        </p:txBody>
      </p:sp>
      <p:sp>
        <p:nvSpPr>
          <p:cNvPr id="145447" name="Text Box 39" descr="Diagonal weit nach unten"/>
          <p:cNvSpPr txBox="1">
            <a:spLocks noChangeArrowheads="1"/>
          </p:cNvSpPr>
          <p:nvPr/>
        </p:nvSpPr>
        <p:spPr bwMode="auto">
          <a:xfrm rot="16200000">
            <a:off x="4749800" y="4686300"/>
            <a:ext cx="522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1.4m</a:t>
            </a:r>
          </a:p>
        </p:txBody>
      </p:sp>
      <p:sp>
        <p:nvSpPr>
          <p:cNvPr id="145448" name="Line 40"/>
          <p:cNvSpPr>
            <a:spLocks noChangeShapeType="1"/>
          </p:cNvSpPr>
          <p:nvPr/>
        </p:nvSpPr>
        <p:spPr bwMode="auto">
          <a:xfrm>
            <a:off x="3816350" y="1717675"/>
            <a:ext cx="5762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49" name="Line 41"/>
          <p:cNvSpPr>
            <a:spLocks noChangeShapeType="1"/>
          </p:cNvSpPr>
          <p:nvPr/>
        </p:nvSpPr>
        <p:spPr bwMode="auto">
          <a:xfrm rot="-5400000">
            <a:off x="3292475" y="2749551"/>
            <a:ext cx="20542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50" name="Text Box 42" descr="Diagonal weit nach unten"/>
          <p:cNvSpPr txBox="1">
            <a:spLocks noChangeArrowheads="1"/>
          </p:cNvSpPr>
          <p:nvPr/>
        </p:nvSpPr>
        <p:spPr bwMode="auto">
          <a:xfrm rot="16200000">
            <a:off x="3736182" y="2609056"/>
            <a:ext cx="1009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</a:rPr>
              <a:t>L </a:t>
            </a:r>
            <a:r>
              <a:rPr lang="de-DE" altLang="en-US" sz="1200">
                <a:solidFill>
                  <a:schemeClr val="tx1"/>
                </a:solidFill>
                <a:cs typeface="Arial" charset="0"/>
              </a:rPr>
              <a:t>≥ </a:t>
            </a:r>
            <a:r>
              <a:rPr lang="de-DE" altLang="en-US" sz="1200">
                <a:solidFill>
                  <a:schemeClr val="tx1"/>
                </a:solidFill>
              </a:rPr>
              <a:t>1.5m</a:t>
            </a:r>
          </a:p>
        </p:txBody>
      </p:sp>
      <p:sp>
        <p:nvSpPr>
          <p:cNvPr id="145451" name="Line 43"/>
          <p:cNvSpPr>
            <a:spLocks noChangeShapeType="1"/>
          </p:cNvSpPr>
          <p:nvPr/>
        </p:nvSpPr>
        <p:spPr bwMode="auto">
          <a:xfrm>
            <a:off x="3730625" y="144303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52" name="Line 44"/>
          <p:cNvSpPr>
            <a:spLocks noChangeShapeType="1"/>
          </p:cNvSpPr>
          <p:nvPr/>
        </p:nvSpPr>
        <p:spPr bwMode="auto">
          <a:xfrm>
            <a:off x="4076700" y="144938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53" name="Line 45"/>
          <p:cNvSpPr>
            <a:spLocks noChangeShapeType="1"/>
          </p:cNvSpPr>
          <p:nvPr/>
        </p:nvSpPr>
        <p:spPr bwMode="auto">
          <a:xfrm>
            <a:off x="3949700" y="1490663"/>
            <a:ext cx="75723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54" name="Line 46"/>
          <p:cNvSpPr>
            <a:spLocks noChangeShapeType="1"/>
          </p:cNvSpPr>
          <p:nvPr/>
        </p:nvSpPr>
        <p:spPr bwMode="auto">
          <a:xfrm>
            <a:off x="3733800" y="1490663"/>
            <a:ext cx="3333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55" name="Text Box 47" descr="Diagonal weit nach unten"/>
          <p:cNvSpPr txBox="1">
            <a:spLocks noChangeArrowheads="1"/>
          </p:cNvSpPr>
          <p:nvPr/>
        </p:nvSpPr>
        <p:spPr bwMode="auto">
          <a:xfrm>
            <a:off x="4067175" y="1273175"/>
            <a:ext cx="7413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200">
                <a:solidFill>
                  <a:schemeClr val="tx1"/>
                </a:solidFill>
                <a:cs typeface="Arial" charset="0"/>
              </a:rPr>
              <a:t>□ </a:t>
            </a:r>
            <a:r>
              <a:rPr lang="de-DE" altLang="en-US" sz="1200">
                <a:solidFill>
                  <a:schemeClr val="tx1"/>
                </a:solidFill>
              </a:rPr>
              <a:t>0.25m</a:t>
            </a:r>
          </a:p>
        </p:txBody>
      </p:sp>
      <p:sp>
        <p:nvSpPr>
          <p:cNvPr id="145462" name="Line 54"/>
          <p:cNvSpPr>
            <a:spLocks noChangeShapeType="1"/>
          </p:cNvSpPr>
          <p:nvPr/>
        </p:nvSpPr>
        <p:spPr bwMode="auto">
          <a:xfrm>
            <a:off x="4319588" y="5595938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464" name="Line 56"/>
          <p:cNvSpPr>
            <a:spLocks noChangeShapeType="1"/>
          </p:cNvSpPr>
          <p:nvPr/>
        </p:nvSpPr>
        <p:spPr bwMode="auto">
          <a:xfrm>
            <a:off x="6581775" y="5662613"/>
            <a:ext cx="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145465" name="Picture 57" descr="Geomet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989138"/>
            <a:ext cx="1285875" cy="362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67" name="Picture 59" descr="SideView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31" t="9100" r="40845" b="9267"/>
          <a:stretch>
            <a:fillRect/>
          </a:stretch>
        </p:blipFill>
        <p:spPr bwMode="auto">
          <a:xfrm>
            <a:off x="6532563" y="1628775"/>
            <a:ext cx="1290637" cy="422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521493" y="317309"/>
            <a:ext cx="83169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200" dirty="0" smtClean="0">
                <a:solidFill>
                  <a:srgbClr val="ED6E00"/>
                </a:solidFill>
              </a:rPr>
              <a:t>Dimensions of Smoke Hood</a:t>
            </a:r>
            <a:endParaRPr lang="en-GB" altLang="en-US" sz="2200" dirty="0">
              <a:solidFill>
                <a:srgbClr val="ED6E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8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4"/>
          <p:cNvSpPr>
            <a:spLocks noChangeArrowheads="1"/>
          </p:cNvSpPr>
          <p:nvPr/>
        </p:nvSpPr>
        <p:spPr bwMode="auto">
          <a:xfrm>
            <a:off x="484981" y="70453"/>
            <a:ext cx="83169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marL="742950" indent="-28575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GB" altLang="en-US" sz="2200" dirty="0" smtClean="0">
                <a:solidFill>
                  <a:srgbClr val="ED6E00"/>
                </a:solidFill>
              </a:rPr>
              <a:t>Dimensions of Smoke Hood</a:t>
            </a:r>
            <a:endParaRPr lang="en-GB" altLang="en-US" sz="2200" dirty="0">
              <a:solidFill>
                <a:srgbClr val="ED6E00"/>
              </a:solidFill>
            </a:endParaRPr>
          </a:p>
        </p:txBody>
      </p:sp>
      <p:sp>
        <p:nvSpPr>
          <p:cNvPr id="147459" name="Text Box 3" descr="Diagonal weit nach unten"/>
          <p:cNvSpPr txBox="1">
            <a:spLocks noChangeArrowheads="1"/>
          </p:cNvSpPr>
          <p:nvPr/>
        </p:nvSpPr>
        <p:spPr bwMode="auto">
          <a:xfrm>
            <a:off x="901700" y="764381"/>
            <a:ext cx="1466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tabLst>
                <a:tab pos="361950" algn="l"/>
              </a:tabLs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de-DE" altLang="en-US" sz="1800" dirty="0">
                <a:solidFill>
                  <a:srgbClr val="0066FF"/>
                </a:solidFill>
                <a:sym typeface="Wingdings" pitchFamily="2" charset="2"/>
              </a:rPr>
              <a:t>Config 3: big</a:t>
            </a:r>
            <a:endParaRPr lang="de-DE" altLang="en-US" sz="1800" dirty="0">
              <a:solidFill>
                <a:srgbClr val="0066FF"/>
              </a:solidFill>
            </a:endParaRPr>
          </a:p>
        </p:txBody>
      </p:sp>
      <p:pic>
        <p:nvPicPr>
          <p:cNvPr id="147469" name="Picture 13" descr="3D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5" t="5400" r="39542" b="9183"/>
          <a:stretch>
            <a:fillRect/>
          </a:stretch>
        </p:blipFill>
        <p:spPr bwMode="auto">
          <a:xfrm>
            <a:off x="901700" y="2459038"/>
            <a:ext cx="1257300" cy="338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470" name="Text Box 14" descr="Diagonal weit nach unten"/>
          <p:cNvSpPr txBox="1">
            <a:spLocks noChangeArrowheads="1"/>
          </p:cNvSpPr>
          <p:nvPr/>
        </p:nvSpPr>
        <p:spPr bwMode="auto">
          <a:xfrm>
            <a:off x="966788" y="6032500"/>
            <a:ext cx="9048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3D view</a:t>
            </a:r>
          </a:p>
        </p:txBody>
      </p:sp>
      <p:sp>
        <p:nvSpPr>
          <p:cNvPr id="147471" name="Text Box 15" descr="Diagonal weit nach unten"/>
          <p:cNvSpPr txBox="1">
            <a:spLocks noChangeArrowheads="1"/>
          </p:cNvSpPr>
          <p:nvPr/>
        </p:nvSpPr>
        <p:spPr bwMode="auto">
          <a:xfrm>
            <a:off x="3878263" y="6029325"/>
            <a:ext cx="1054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front view</a:t>
            </a:r>
          </a:p>
        </p:txBody>
      </p:sp>
      <p:sp>
        <p:nvSpPr>
          <p:cNvPr id="147472" name="Text Box 16" descr="Diagonal weit nach unten"/>
          <p:cNvSpPr txBox="1">
            <a:spLocks noChangeArrowheads="1"/>
          </p:cNvSpPr>
          <p:nvPr/>
        </p:nvSpPr>
        <p:spPr bwMode="auto">
          <a:xfrm>
            <a:off x="6902450" y="6026150"/>
            <a:ext cx="10175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FF99CC">
                      <a:alpha val="20000"/>
                    </a:srgbClr>
                  </a:fgClr>
                  <a:bgClr>
                    <a:schemeClr val="bg1">
                      <a:alpha val="20000"/>
                    </a:schemeClr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7938" indent="-7938" eaLnBrk="0" hangingPunct="0">
              <a:defRPr sz="2000">
                <a:solidFill>
                  <a:srgbClr val="6A686F"/>
                </a:solidFill>
                <a:latin typeface="Arial" charset="0"/>
              </a:defRPr>
            </a:lvl1pPr>
            <a:lvl2pPr eaLnBrk="0" hangingPunct="0">
              <a:defRPr sz="2000">
                <a:solidFill>
                  <a:srgbClr val="6A686F"/>
                </a:solidFill>
                <a:latin typeface="Arial" charset="0"/>
              </a:defRPr>
            </a:lvl2pPr>
            <a:lvl3pPr eaLnBrk="0" hangingPunct="0">
              <a:defRPr sz="2000">
                <a:solidFill>
                  <a:srgbClr val="6A686F"/>
                </a:solidFill>
                <a:latin typeface="Arial" charset="0"/>
              </a:defRPr>
            </a:lvl3pPr>
            <a:lvl4pPr eaLnBrk="0" hangingPunct="0">
              <a:defRPr sz="2000">
                <a:solidFill>
                  <a:srgbClr val="6A686F"/>
                </a:solidFill>
                <a:latin typeface="Arial" charset="0"/>
              </a:defRPr>
            </a:lvl4pPr>
            <a:lvl5pPr eaLnBrk="0" hangingPunct="0">
              <a:defRPr sz="2000">
                <a:solidFill>
                  <a:srgbClr val="6A686F"/>
                </a:solidFill>
                <a:latin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6A686F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en-US" sz="1600"/>
              <a:t>side view</a:t>
            </a:r>
          </a:p>
        </p:txBody>
      </p:sp>
      <p:grpSp>
        <p:nvGrpSpPr>
          <p:cNvPr id="147513" name="Group 57"/>
          <p:cNvGrpSpPr>
            <a:grpSpLocks/>
          </p:cNvGrpSpPr>
          <p:nvPr/>
        </p:nvGrpSpPr>
        <p:grpSpPr bwMode="auto">
          <a:xfrm>
            <a:off x="3743325" y="993775"/>
            <a:ext cx="2090738" cy="5062538"/>
            <a:chOff x="2653" y="626"/>
            <a:chExt cx="1317" cy="3189"/>
          </a:xfrm>
        </p:grpSpPr>
        <p:pic>
          <p:nvPicPr>
            <p:cNvPr id="147473" name="Picture 17" descr="FrontView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94" r="44655" b="6538"/>
            <a:stretch>
              <a:fillRect/>
            </a:stretch>
          </p:blipFill>
          <p:spPr bwMode="auto">
            <a:xfrm>
              <a:off x="2653" y="799"/>
              <a:ext cx="839" cy="2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477" name="Line 21"/>
            <p:cNvSpPr>
              <a:spLocks noChangeShapeType="1"/>
            </p:cNvSpPr>
            <p:nvPr/>
          </p:nvSpPr>
          <p:spPr bwMode="auto">
            <a:xfrm>
              <a:off x="2736" y="2893"/>
              <a:ext cx="709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78" name="Line 22"/>
            <p:cNvSpPr>
              <a:spLocks noChangeShapeType="1"/>
            </p:cNvSpPr>
            <p:nvPr/>
          </p:nvSpPr>
          <p:spPr bwMode="auto">
            <a:xfrm>
              <a:off x="2733" y="3024"/>
              <a:ext cx="7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79" name="Line 23"/>
            <p:cNvSpPr>
              <a:spLocks noChangeShapeType="1"/>
            </p:cNvSpPr>
            <p:nvPr/>
          </p:nvSpPr>
          <p:spPr bwMode="auto">
            <a:xfrm>
              <a:off x="2738" y="2886"/>
              <a:ext cx="0" cy="7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0" name="Line 24"/>
            <p:cNvSpPr>
              <a:spLocks noChangeShapeType="1"/>
            </p:cNvSpPr>
            <p:nvPr/>
          </p:nvSpPr>
          <p:spPr bwMode="auto">
            <a:xfrm>
              <a:off x="3443" y="2886"/>
              <a:ext cx="0" cy="7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1" name="Line 25"/>
            <p:cNvSpPr>
              <a:spLocks noChangeShapeType="1"/>
            </p:cNvSpPr>
            <p:nvPr/>
          </p:nvSpPr>
          <p:spPr bwMode="auto">
            <a:xfrm>
              <a:off x="2737" y="3585"/>
              <a:ext cx="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5" name="Line 29"/>
            <p:cNvSpPr>
              <a:spLocks noChangeShapeType="1"/>
            </p:cNvSpPr>
            <p:nvPr/>
          </p:nvSpPr>
          <p:spPr bwMode="auto">
            <a:xfrm>
              <a:off x="2736" y="3566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6" name="Line 30"/>
            <p:cNvSpPr>
              <a:spLocks noChangeShapeType="1"/>
            </p:cNvSpPr>
            <p:nvPr/>
          </p:nvSpPr>
          <p:spPr bwMode="auto">
            <a:xfrm>
              <a:off x="3443" y="3566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7" name="Line 31"/>
            <p:cNvSpPr>
              <a:spLocks noChangeShapeType="1"/>
            </p:cNvSpPr>
            <p:nvPr/>
          </p:nvSpPr>
          <p:spPr bwMode="auto">
            <a:xfrm>
              <a:off x="2740" y="3770"/>
              <a:ext cx="70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88" name="Text Box 32" descr="Diagonal weit nach unten"/>
            <p:cNvSpPr txBox="1">
              <a:spLocks noChangeArrowheads="1"/>
            </p:cNvSpPr>
            <p:nvPr/>
          </p:nvSpPr>
          <p:spPr bwMode="auto">
            <a:xfrm>
              <a:off x="2971" y="3638"/>
              <a:ext cx="24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1m</a:t>
              </a:r>
            </a:p>
          </p:txBody>
        </p:sp>
        <p:sp>
          <p:nvSpPr>
            <p:cNvPr id="147489" name="Line 33"/>
            <p:cNvSpPr>
              <a:spLocks noChangeShapeType="1"/>
            </p:cNvSpPr>
            <p:nvPr/>
          </p:nvSpPr>
          <p:spPr bwMode="auto">
            <a:xfrm>
              <a:off x="3425" y="3586"/>
              <a:ext cx="54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0" name="Line 34"/>
            <p:cNvSpPr>
              <a:spLocks noChangeShapeType="1"/>
            </p:cNvSpPr>
            <p:nvPr/>
          </p:nvSpPr>
          <p:spPr bwMode="auto">
            <a:xfrm>
              <a:off x="3244" y="3024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1" name="Line 35"/>
            <p:cNvSpPr>
              <a:spLocks noChangeShapeType="1"/>
            </p:cNvSpPr>
            <p:nvPr/>
          </p:nvSpPr>
          <p:spPr bwMode="auto">
            <a:xfrm>
              <a:off x="3379" y="2894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2" name="Line 36"/>
            <p:cNvSpPr>
              <a:spLocks noChangeShapeType="1"/>
            </p:cNvSpPr>
            <p:nvPr/>
          </p:nvSpPr>
          <p:spPr bwMode="auto">
            <a:xfrm>
              <a:off x="3194" y="2602"/>
              <a:ext cx="752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3" name="Line 37"/>
            <p:cNvSpPr>
              <a:spLocks noChangeShapeType="1"/>
            </p:cNvSpPr>
            <p:nvPr/>
          </p:nvSpPr>
          <p:spPr bwMode="auto">
            <a:xfrm rot="-5400000">
              <a:off x="3291" y="3304"/>
              <a:ext cx="56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4" name="Line 38"/>
            <p:cNvSpPr>
              <a:spLocks noChangeShapeType="1"/>
            </p:cNvSpPr>
            <p:nvPr/>
          </p:nvSpPr>
          <p:spPr bwMode="auto">
            <a:xfrm rot="-5400000">
              <a:off x="3369" y="3238"/>
              <a:ext cx="70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5" name="Line 39"/>
            <p:cNvSpPr>
              <a:spLocks noChangeShapeType="1"/>
            </p:cNvSpPr>
            <p:nvPr/>
          </p:nvSpPr>
          <p:spPr bwMode="auto">
            <a:xfrm rot="-5400000">
              <a:off x="3400" y="3095"/>
              <a:ext cx="97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496" name="Text Box 40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364" y="3224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0.8m</a:t>
              </a:r>
            </a:p>
          </p:txBody>
        </p:sp>
        <p:sp>
          <p:nvSpPr>
            <p:cNvPr id="147497" name="Text Box 41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503" y="3158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1.0m</a:t>
              </a:r>
            </a:p>
          </p:txBody>
        </p:sp>
        <p:sp>
          <p:nvSpPr>
            <p:cNvPr id="147498" name="Text Box 42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673" y="3020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1.4m</a:t>
              </a:r>
            </a:p>
          </p:txBody>
        </p:sp>
        <p:sp>
          <p:nvSpPr>
            <p:cNvPr id="147499" name="Line 43"/>
            <p:cNvSpPr>
              <a:spLocks noChangeShapeType="1"/>
            </p:cNvSpPr>
            <p:nvPr/>
          </p:nvSpPr>
          <p:spPr bwMode="auto">
            <a:xfrm>
              <a:off x="3163" y="854"/>
              <a:ext cx="36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0" name="Line 44"/>
            <p:cNvSpPr>
              <a:spLocks noChangeShapeType="1"/>
            </p:cNvSpPr>
            <p:nvPr/>
          </p:nvSpPr>
          <p:spPr bwMode="auto">
            <a:xfrm rot="-5400000">
              <a:off x="2516" y="1724"/>
              <a:ext cx="172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1" name="Text Box 45" descr="Diagonal weit nach unten"/>
            <p:cNvSpPr txBox="1">
              <a:spLocks noChangeArrowheads="1"/>
            </p:cNvSpPr>
            <p:nvPr/>
          </p:nvSpPr>
          <p:spPr bwMode="auto">
            <a:xfrm rot="16200000">
              <a:off x="3001" y="1539"/>
              <a:ext cx="63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L </a:t>
              </a:r>
              <a:r>
                <a:rPr lang="de-DE" altLang="en-US" sz="1200">
                  <a:solidFill>
                    <a:schemeClr val="tx1"/>
                  </a:solidFill>
                  <a:cs typeface="Arial" charset="0"/>
                </a:rPr>
                <a:t>≥ </a:t>
              </a:r>
              <a:r>
                <a:rPr lang="de-DE" altLang="en-US" sz="1200">
                  <a:solidFill>
                    <a:schemeClr val="tx1"/>
                  </a:solidFill>
                </a:rPr>
                <a:t>2.5m</a:t>
              </a:r>
            </a:p>
          </p:txBody>
        </p:sp>
        <p:sp>
          <p:nvSpPr>
            <p:cNvPr id="147502" name="Line 46"/>
            <p:cNvSpPr>
              <a:spLocks noChangeShapeType="1"/>
            </p:cNvSpPr>
            <p:nvPr/>
          </p:nvSpPr>
          <p:spPr bwMode="auto">
            <a:xfrm>
              <a:off x="2985" y="743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3" name="Line 47"/>
            <p:cNvSpPr>
              <a:spLocks noChangeShapeType="1"/>
            </p:cNvSpPr>
            <p:nvPr/>
          </p:nvSpPr>
          <p:spPr bwMode="auto">
            <a:xfrm>
              <a:off x="3194" y="747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4" name="Line 48"/>
            <p:cNvSpPr>
              <a:spLocks noChangeShapeType="1"/>
            </p:cNvSpPr>
            <p:nvPr/>
          </p:nvSpPr>
          <p:spPr bwMode="auto">
            <a:xfrm>
              <a:off x="3129" y="779"/>
              <a:ext cx="47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5" name="Line 49"/>
            <p:cNvSpPr>
              <a:spLocks noChangeShapeType="1"/>
            </p:cNvSpPr>
            <p:nvPr/>
          </p:nvSpPr>
          <p:spPr bwMode="auto">
            <a:xfrm>
              <a:off x="2985" y="777"/>
              <a:ext cx="213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06" name="Text Box 50" descr="Diagonal weit nach unten"/>
            <p:cNvSpPr txBox="1">
              <a:spLocks noChangeArrowheads="1"/>
            </p:cNvSpPr>
            <p:nvPr/>
          </p:nvSpPr>
          <p:spPr bwMode="auto">
            <a:xfrm>
              <a:off x="3220" y="626"/>
              <a:ext cx="41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chemeClr val="tx1"/>
                  </a:solidFill>
                  <a:cs typeface="Arial" charset="0"/>
                </a:rPr>
                <a:t>□ </a:t>
              </a:r>
              <a:r>
                <a:rPr lang="de-DE" altLang="en-US" sz="1200">
                  <a:solidFill>
                    <a:schemeClr val="tx1"/>
                  </a:solidFill>
                </a:rPr>
                <a:t>0.3m</a:t>
              </a:r>
            </a:p>
          </p:txBody>
        </p:sp>
      </p:grpSp>
      <p:grpSp>
        <p:nvGrpSpPr>
          <p:cNvPr id="147519" name="Group 63"/>
          <p:cNvGrpSpPr>
            <a:grpSpLocks/>
          </p:cNvGrpSpPr>
          <p:nvPr/>
        </p:nvGrpSpPr>
        <p:grpSpPr bwMode="auto">
          <a:xfrm>
            <a:off x="6853238" y="1181100"/>
            <a:ext cx="1174750" cy="4875213"/>
            <a:chOff x="4317" y="744"/>
            <a:chExt cx="740" cy="3071"/>
          </a:xfrm>
        </p:grpSpPr>
        <p:pic>
          <p:nvPicPr>
            <p:cNvPr id="147514" name="Picture 58" descr="Side Viewl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58" r="42329" b="7767"/>
            <a:stretch>
              <a:fillRect/>
            </a:stretch>
          </p:blipFill>
          <p:spPr bwMode="auto">
            <a:xfrm>
              <a:off x="4317" y="744"/>
              <a:ext cx="740" cy="2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515" name="Line 59"/>
            <p:cNvSpPr>
              <a:spLocks noChangeShapeType="1"/>
            </p:cNvSpPr>
            <p:nvPr/>
          </p:nvSpPr>
          <p:spPr bwMode="auto">
            <a:xfrm>
              <a:off x="4420" y="3565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16" name="Line 60"/>
            <p:cNvSpPr>
              <a:spLocks noChangeShapeType="1"/>
            </p:cNvSpPr>
            <p:nvPr/>
          </p:nvSpPr>
          <p:spPr bwMode="auto">
            <a:xfrm>
              <a:off x="4981" y="3566"/>
              <a:ext cx="0" cy="249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17" name="Line 61"/>
            <p:cNvSpPr>
              <a:spLocks noChangeShapeType="1"/>
            </p:cNvSpPr>
            <p:nvPr/>
          </p:nvSpPr>
          <p:spPr bwMode="auto">
            <a:xfrm>
              <a:off x="4418" y="3770"/>
              <a:ext cx="567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7518" name="Text Box 62" descr="Diagonal weit nach unten"/>
            <p:cNvSpPr txBox="1">
              <a:spLocks noChangeArrowheads="1"/>
            </p:cNvSpPr>
            <p:nvPr/>
          </p:nvSpPr>
          <p:spPr bwMode="auto">
            <a:xfrm>
              <a:off x="4540" y="3637"/>
              <a:ext cx="329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wdDnDiag">
                    <a:fgClr>
                      <a:srgbClr val="FF99CC">
                        <a:alpha val="20000"/>
                      </a:srgbClr>
                    </a:fgClr>
                    <a:bgClr>
                      <a:schemeClr val="bg1">
                        <a:alpha val="20000"/>
                      </a:schemeClr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7938" indent="-7938"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1pPr>
              <a:lvl2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2pPr>
              <a:lvl3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3pPr>
              <a:lvl4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4pPr>
              <a:lvl5pPr eaLnBrk="0" hangingPunct="0">
                <a:defRPr sz="2000">
                  <a:solidFill>
                    <a:srgbClr val="6A686F"/>
                  </a:solidFill>
                  <a:latin typeface="Arial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rgbClr val="6A686F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de-DE" altLang="en-US" sz="1200">
                  <a:solidFill>
                    <a:schemeClr val="tx1"/>
                  </a:solidFill>
                </a:rPr>
                <a:t>0.8m</a:t>
              </a:r>
            </a:p>
          </p:txBody>
        </p:sp>
      </p:grpSp>
      <p:sp>
        <p:nvSpPr>
          <p:cNvPr id="147520" name="Line 64"/>
          <p:cNvSpPr>
            <a:spLocks noChangeShapeType="1"/>
          </p:cNvSpPr>
          <p:nvPr/>
        </p:nvSpPr>
        <p:spPr bwMode="auto">
          <a:xfrm>
            <a:off x="4435475" y="1089025"/>
            <a:ext cx="0" cy="46482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9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slide - blue">
  <a:themeElements>
    <a:clrScheme name="title slide - 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 - blu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itle slide - 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slide - magenta">
  <a:themeElements>
    <a:clrScheme name="title slide - magen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 - magenta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itle slide - magen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magen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magen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magen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magen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magen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magen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slide - cyan">
  <a:themeElements>
    <a:clrScheme name="title slide - cya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 - cya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itle slide - cy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cya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cya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cya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cya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slide - cya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le slide - cya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lilac">
  <a:themeElements>
    <a:clrScheme name="lila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ilac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ila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la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la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la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la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la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la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magenta">
  <a:themeElements>
    <a:clrScheme name="magen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agenta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gen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gen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gen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gen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gen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gen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gen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blue">
  <a:themeElements>
    <a:clrScheme name="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u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light blue">
  <a:themeElements>
    <a:clrScheme name="light 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ight blue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ight 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ght 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ght 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ght 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ght 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ght 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ght 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cyan">
  <a:themeElements>
    <a:clrScheme name="cya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ya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ya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ya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ya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ya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ya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ya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ya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green">
  <a:themeElements>
    <a:clrScheme name="gree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gree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re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yellow">
  <a:themeElements>
    <a:clrScheme name="yello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yellow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yello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low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low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low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low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yellow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yellow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red">
  <a:themeElements>
    <a:clrScheme name="re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ed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e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final slide - thank you (blue)">
  <a:themeElements>
    <a:clrScheme name="final slide - thank you (blue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inal slide - thank you (blue)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 slide - thank you (blue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blue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blue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blue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blue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blue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blue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inal slide - thank you (magenta)">
  <a:themeElements>
    <a:clrScheme name="final slide - thank you (magenta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inal slide - thank you (magenta)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 slide - thank you (magenta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magenta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magenta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magenta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magenta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magenta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magenta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inal slide - thank you (cyan)">
  <a:themeElements>
    <a:clrScheme name="final slide - thank you (cyan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final slide - thank you (cyan)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 slide - thank you (cyan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cyan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cyan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cyan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cyan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 slide - thank you (cyan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 slide - thank you (cyan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14965</TotalTime>
  <Words>1074</Words>
  <Application>Microsoft Office PowerPoint</Application>
  <PresentationFormat>On-screen Show (4:3)</PresentationFormat>
  <Paragraphs>220</Paragraphs>
  <Slides>25</Slides>
  <Notes>7</Notes>
  <HiddenSlides>0</HiddenSlides>
  <MMClips>1</MMClips>
  <ScaleCrop>false</ScaleCrop>
  <HeadingPairs>
    <vt:vector size="4" baseType="variant">
      <vt:variant>
        <vt:lpstr>Theme</vt:lpstr>
      </vt:variant>
      <vt:variant>
        <vt:i4>14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title slide - blue</vt:lpstr>
      <vt:lpstr>title slide - magenta</vt:lpstr>
      <vt:lpstr>title slide - cyan</vt:lpstr>
      <vt:lpstr>lilac</vt:lpstr>
      <vt:lpstr>magenta</vt:lpstr>
      <vt:lpstr>blue</vt:lpstr>
      <vt:lpstr>light blue</vt:lpstr>
      <vt:lpstr>cyan</vt:lpstr>
      <vt:lpstr>green</vt:lpstr>
      <vt:lpstr>yellow</vt:lpstr>
      <vt:lpstr>red</vt:lpstr>
      <vt:lpstr>final slide - thank you (blue)</vt:lpstr>
      <vt:lpstr>final slide - thank you (magenta)</vt:lpstr>
      <vt:lpstr>final slide - thank you (cyan)</vt:lpstr>
      <vt:lpstr>PowerPoint Presentation</vt:lpstr>
      <vt:lpstr>PowerPoint Presentation</vt:lpstr>
      <vt:lpstr>Background/Context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 of the Cookstoves</vt:lpstr>
      <vt:lpstr>Benefits of Hood-stoves   </vt:lpstr>
      <vt:lpstr>Hoodstoves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Study-1</vt:lpstr>
      <vt:lpstr>PowerPoint Presentation</vt:lpstr>
      <vt:lpstr>PowerPoint Presentation</vt:lpstr>
      <vt:lpstr>Possible areas of supports </vt:lpstr>
      <vt:lpstr>Thank you</vt:lpstr>
      <vt:lpstr>PowerPoint Presentation</vt:lpstr>
      <vt:lpstr>PowerPoint Presentation</vt:lpstr>
      <vt:lpstr>PowerPoint Presentation</vt:lpstr>
    </vt:vector>
  </TitlesOfParts>
  <Company>ITDG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on-brand Powerpoint template - colour slides with circle logo</dc:title>
  <dc:creator>David J. Grimshaw</dc:creator>
  <cp:lastModifiedBy>Min Bikram Malla</cp:lastModifiedBy>
  <cp:revision>694</cp:revision>
  <cp:lastPrinted>2018-08-14T09:35:03Z</cp:lastPrinted>
  <dcterms:created xsi:type="dcterms:W3CDTF">2005-06-13T13:46:21Z</dcterms:created>
  <dcterms:modified xsi:type="dcterms:W3CDTF">2019-01-17T04:30:24Z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ent">
    <vt:lpwstr/>
  </property>
  <property fmtid="{D5CDD505-2E9C-101B-9397-08002B2CF9AE}" pid="3" name="doctype">
    <vt:lpwstr>Powerpoint</vt:lpwstr>
  </property>
</Properties>
</file>