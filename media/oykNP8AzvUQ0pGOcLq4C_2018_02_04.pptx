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02" r:id="rId1"/>
    <p:sldMasterId id="2147483738" r:id="rId2"/>
    <p:sldMasterId id="2147483750" r:id="rId3"/>
  </p:sldMasterIdLst>
  <p:notesMasterIdLst>
    <p:notesMasterId r:id="rId56"/>
  </p:notesMasterIdLst>
  <p:handoutMasterIdLst>
    <p:handoutMasterId r:id="rId57"/>
  </p:handoutMasterIdLst>
  <p:sldIdLst>
    <p:sldId id="431" r:id="rId4"/>
    <p:sldId id="449" r:id="rId5"/>
    <p:sldId id="544" r:id="rId6"/>
    <p:sldId id="538" r:id="rId7"/>
    <p:sldId id="487" r:id="rId8"/>
    <p:sldId id="488" r:id="rId9"/>
    <p:sldId id="489" r:id="rId10"/>
    <p:sldId id="490" r:id="rId11"/>
    <p:sldId id="491" r:id="rId12"/>
    <p:sldId id="492" r:id="rId13"/>
    <p:sldId id="496" r:id="rId14"/>
    <p:sldId id="497" r:id="rId15"/>
    <p:sldId id="498" r:id="rId16"/>
    <p:sldId id="438" r:id="rId17"/>
    <p:sldId id="455" r:id="rId18"/>
    <p:sldId id="536" r:id="rId19"/>
    <p:sldId id="466" r:id="rId20"/>
    <p:sldId id="454" r:id="rId21"/>
    <p:sldId id="467" r:id="rId22"/>
    <p:sldId id="462" r:id="rId23"/>
    <p:sldId id="463" r:id="rId24"/>
    <p:sldId id="465" r:id="rId25"/>
    <p:sldId id="511" r:id="rId26"/>
    <p:sldId id="444" r:id="rId27"/>
    <p:sldId id="445" r:id="rId28"/>
    <p:sldId id="540" r:id="rId29"/>
    <p:sldId id="446" r:id="rId30"/>
    <p:sldId id="541" r:id="rId31"/>
    <p:sldId id="469" r:id="rId32"/>
    <p:sldId id="470" r:id="rId33"/>
    <p:sldId id="471" r:id="rId34"/>
    <p:sldId id="472" r:id="rId35"/>
    <p:sldId id="542" r:id="rId36"/>
    <p:sldId id="473" r:id="rId37"/>
    <p:sldId id="474" r:id="rId38"/>
    <p:sldId id="475" r:id="rId39"/>
    <p:sldId id="478" r:id="rId40"/>
    <p:sldId id="479" r:id="rId41"/>
    <p:sldId id="480" r:id="rId42"/>
    <p:sldId id="481" r:id="rId43"/>
    <p:sldId id="482" r:id="rId44"/>
    <p:sldId id="483" r:id="rId45"/>
    <p:sldId id="484" r:id="rId46"/>
    <p:sldId id="503" r:id="rId47"/>
    <p:sldId id="504" r:id="rId48"/>
    <p:sldId id="505" r:id="rId49"/>
    <p:sldId id="514" r:id="rId50"/>
    <p:sldId id="512" r:id="rId51"/>
    <p:sldId id="543" r:id="rId52"/>
    <p:sldId id="515" r:id="rId53"/>
    <p:sldId id="502" r:id="rId54"/>
    <p:sldId id="447" r:id="rId55"/>
  </p:sldIdLst>
  <p:sldSz cx="9144000" cy="6858000" type="screen4x3"/>
  <p:notesSz cx="9866313" cy="67357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7BB4"/>
    <a:srgbClr val="CC9900"/>
    <a:srgbClr val="CC00CC"/>
    <a:srgbClr val="66FF66"/>
    <a:srgbClr val="DE0000"/>
    <a:srgbClr val="FDC8BA"/>
    <a:srgbClr val="FF9933"/>
    <a:srgbClr val="FFCC66"/>
    <a:srgbClr val="E5303F"/>
    <a:srgbClr val="EE47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8" autoAdjust="0"/>
    <p:restoredTop sz="79537" autoAdjust="0"/>
  </p:normalViewPr>
  <p:slideViewPr>
    <p:cSldViewPr snapToGrid="0">
      <p:cViewPr>
        <p:scale>
          <a:sx n="50" d="100"/>
          <a:sy n="50" d="100"/>
        </p:scale>
        <p:origin x="-1680" y="-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1704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87733" y="1"/>
            <a:ext cx="4276254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2CD16-8822-4673-9BEF-0B97D5D7B9F4}" type="datetimeFigureOut">
              <a:rPr lang="en-US" smtClean="0"/>
              <a:t>9/4/2017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397621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87733" y="6397621"/>
            <a:ext cx="4276254" cy="3381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6D5860-6EC2-4FB0-8BD7-CA0FCF426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61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87733" y="1"/>
            <a:ext cx="4276254" cy="33814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673B7-43A5-4F44-8C4C-19666E9200EB}" type="datetimeFigureOut">
              <a:rPr lang="en-US" smtClean="0"/>
              <a:t>9/4/2017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17888" y="841375"/>
            <a:ext cx="303053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5934" y="3241621"/>
            <a:ext cx="7894446" cy="2652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397621"/>
            <a:ext cx="4276255" cy="3381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87733" y="6397621"/>
            <a:ext cx="4276254" cy="3381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483AC9-C79F-4509-887F-849D3DB3EB9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962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2DB1FD-0F11-41E5-89CB-45A2ACC7489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45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9pPr>
          </a:lstStyle>
          <a:p>
            <a:pPr eaLnBrk="1" hangingPunct="1"/>
            <a:fld id="{0C682213-45D0-41E4-A616-99BBA4B4C591}" type="slidenum">
              <a:rPr lang="en-US" smtClean="0">
                <a:latin typeface="Arial" charset="0"/>
              </a:rPr>
              <a:pPr eaLnBrk="1" hangingPunct="1"/>
              <a:t>5</a:t>
            </a:fld>
            <a:endParaRPr lang="en-US" smtClean="0">
              <a:latin typeface="Arial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9pPr>
          </a:lstStyle>
          <a:p>
            <a:pPr eaLnBrk="1" hangingPunct="1"/>
            <a:fld id="{7CBBC53A-F1BC-481C-8952-30697AC0D30A}" type="slidenum">
              <a:rPr lang="en-US" smtClean="0">
                <a:latin typeface="Arial" charset="0"/>
              </a:rPr>
              <a:pPr eaLnBrk="1" hangingPunct="1"/>
              <a:t>6</a:t>
            </a:fld>
            <a:endParaRPr lang="en-US" smtClean="0">
              <a:latin typeface="Arial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9pPr>
          </a:lstStyle>
          <a:p>
            <a:pPr eaLnBrk="1" hangingPunct="1"/>
            <a:fld id="{6E9A2B0D-BE6B-41B6-9796-0224FD36F3A0}" type="slidenum">
              <a:rPr lang="en-US" smtClean="0">
                <a:latin typeface="Arial" charset="0"/>
              </a:rPr>
              <a:pPr eaLnBrk="1" hangingPunct="1"/>
              <a:t>7</a:t>
            </a:fld>
            <a:endParaRPr lang="en-US" smtClean="0">
              <a:latin typeface="Arial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9pPr>
          </a:lstStyle>
          <a:p>
            <a:pPr eaLnBrk="1" hangingPunct="1"/>
            <a:fld id="{219F4D31-0A10-4786-92E5-662896385261}" type="slidenum">
              <a:rPr lang="en-US" smtClean="0">
                <a:latin typeface="Arial" charset="0"/>
              </a:rPr>
              <a:pPr eaLnBrk="1" hangingPunct="1"/>
              <a:t>8</a:t>
            </a:fld>
            <a:endParaRPr lang="en-US" smtClean="0">
              <a:latin typeface="Arial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490908-5C13-49D8-8BFA-C85CAEC4CBC4}" type="slidenum">
              <a:rPr lang="en-US"/>
              <a:pPr/>
              <a:t>9</a:t>
            </a:fld>
            <a:endParaRPr lang="en-US"/>
          </a:p>
        </p:txBody>
      </p:sp>
      <p:sp>
        <p:nvSpPr>
          <p:cNvPr id="290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EBB7A5-60BD-4C7B-8B8E-3AAE37DB3F6A}" type="slidenum">
              <a:rPr lang="en-US"/>
              <a:pPr/>
              <a:t>10</a:t>
            </a:fld>
            <a:endParaRPr lang="en-US"/>
          </a:p>
        </p:txBody>
      </p:sp>
      <p:sp>
        <p:nvSpPr>
          <p:cNvPr id="425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endParaRPr lang="en-US" b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04D894-0F7C-476F-8EFB-06E366082383}" type="slidenum">
              <a:rPr lang="en-US"/>
              <a:pPr/>
              <a:t>11</a:t>
            </a:fld>
            <a:endParaRPr lang="en-US"/>
          </a:p>
        </p:txBody>
      </p:sp>
      <p:sp>
        <p:nvSpPr>
          <p:cNvPr id="430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DEA69E-BF62-409B-B8CC-7FB527FFBF70}" type="slidenum">
              <a:rPr lang="en-US"/>
              <a:pPr/>
              <a:t>12</a:t>
            </a:fld>
            <a:endParaRPr lang="en-US"/>
          </a:p>
        </p:txBody>
      </p:sp>
      <p:sp>
        <p:nvSpPr>
          <p:cNvPr id="404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0D65A1-75F2-4917-B427-F513164EA7E4}" type="slidenum">
              <a:rPr lang="en-US"/>
              <a:pPr/>
              <a:t>13</a:t>
            </a:fld>
            <a:endParaRPr lang="en-US"/>
          </a:p>
        </p:txBody>
      </p:sp>
      <p:sp>
        <p:nvSpPr>
          <p:cNvPr id="459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83AC9-C79F-4509-887F-849D3DB3EB9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309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83AC9-C79F-4509-887F-849D3DB3EB9B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99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83AC9-C79F-4509-887F-849D3DB3EB9B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99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>
                <a:solidFill>
                  <a:srgbClr val="FF0000"/>
                </a:solidFill>
              </a:rPr>
              <a:t>Present MIS Data (Excel sheet, VDC  wise )</a:t>
            </a:r>
          </a:p>
          <a:p>
            <a:r>
              <a:rPr lang="en-US" b="0" dirty="0" smtClean="0"/>
              <a:t>Compare with other VDC status</a:t>
            </a:r>
          </a:p>
          <a:p>
            <a:r>
              <a:rPr lang="en-US" b="0" dirty="0" smtClean="0"/>
              <a:t>Ranking as reconstruction progress</a:t>
            </a:r>
          </a:p>
          <a:p>
            <a:endParaRPr lang="en-US" b="0" dirty="0" smtClean="0"/>
          </a:p>
          <a:p>
            <a:r>
              <a:rPr lang="en-US" b="1" dirty="0" smtClean="0"/>
              <a:t>Discussion:</a:t>
            </a:r>
          </a:p>
          <a:p>
            <a:r>
              <a:rPr lang="en-US" b="0" dirty="0" smtClean="0"/>
              <a:t>Why any one is at first rank</a:t>
            </a:r>
          </a:p>
          <a:p>
            <a:r>
              <a:rPr lang="en-US" b="0" dirty="0" smtClean="0"/>
              <a:t>Why any one is at last</a:t>
            </a:r>
          </a:p>
          <a:p>
            <a:r>
              <a:rPr lang="en-US" b="0" dirty="0" smtClean="0"/>
              <a:t>What should we do to accelerate</a:t>
            </a:r>
            <a:r>
              <a:rPr lang="en-US" b="0" baseline="0" dirty="0" smtClean="0"/>
              <a:t> reconstruction rate??</a:t>
            </a:r>
            <a:endParaRPr lang="en-US" b="0" dirty="0" smtClean="0"/>
          </a:p>
          <a:p>
            <a:r>
              <a:rPr lang="en-US" b="0" dirty="0" smtClean="0"/>
              <a:t>Case study for others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483AC9-C79F-4509-887F-849D3DB3EB9B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893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BA02F-F8F9-4CE7-A11E-2AFEA3C8EDF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57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8DA0-0BC9-4BC7-B2D9-49471DC283F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46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3B78-061D-47D6-A823-AD5084A5AC3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823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5D831-460F-4C3D-B767-4C2370B14F2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309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58A28-7EAF-49C2-A658-A084AA2C4DA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86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10ADE-A797-42C3-AA13-C205804EE2D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4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05175-32BF-439F-8806-3041E7E4978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44"/>
            <a:ext cx="9144000" cy="68343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288" y="165348"/>
            <a:ext cx="821635" cy="70358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14605" y="6416308"/>
            <a:ext cx="606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white"/>
                </a:solidFill>
              </a:rPr>
              <a:t>Introduction to Correction and Exception manual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028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FA7BF-32F5-4BA5-A3FD-BAED1698B9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324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6A94-18DB-4787-88EC-F920CE044F1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538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CD1-0C90-4FA5-BE0B-8D21381103B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5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10F30-A85A-4F3B-B713-F7B3D787056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15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770F-6764-4882-9AF2-E3469DC78F9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957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A351F-CF15-43BD-B8AF-360464614FA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532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CC451-852E-41FE-B83C-4C86EB249F5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393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663EC-12A0-4072-89A7-FD3ADD1B232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564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413F5-BB48-430C-B677-8FAFD0E0744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7074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BFF0-B253-43D9-B017-6EFEA215EF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283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192D7-4116-4E32-9966-D67C9E73CEE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44"/>
            <a:ext cx="9144000" cy="68343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288" y="165348"/>
            <a:ext cx="821635" cy="70358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14605" y="6416308"/>
            <a:ext cx="606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white"/>
                </a:solidFill>
              </a:rPr>
              <a:t>Introduction to Correction and Exception manual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540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0E008-FDB9-42AF-B2C4-8648C625C8C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7129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4EBBB-A784-454D-B9C8-CA8274305DD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420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B251-5E41-4B09-8903-3CF86B94FAD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3899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0D153-44F7-48F5-9668-C5A0FF09DEA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7300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C7E34-8B76-4D53-B9B0-DB7A0B915DE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4532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6A9-3DDB-44C5-A346-2660274F606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8002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89FA-755B-4B79-A346-19180FAEBEF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0885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78AD7-BA71-4F43-83E0-20A5EA34E60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4135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AC16E-0ED5-48A3-BB27-B853B2B8C6B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468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94456-1B10-4964-B562-C129061875B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360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D19C-D22D-4549-9AAF-54D1D6C7B80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44"/>
            <a:ext cx="9144000" cy="68343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288" y="165348"/>
            <a:ext cx="821635" cy="70358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14605" y="6416308"/>
            <a:ext cx="606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white"/>
                </a:solidFill>
              </a:rPr>
              <a:t>Introduction to Correction and Exception manual</a:t>
            </a:r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6486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2D5C3-3E82-4122-B09D-4F59D29F59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515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D600-9B38-4D14-A60D-E20DD996722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1763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33944-B4C1-468A-A2EC-4AA20BCDEAF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6810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D8E3D-261B-4207-8E48-CF039EC5B13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66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4DED4-7602-437D-BEF6-2EE290293E3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14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0991F-4CEF-4876-A5A9-FF6A45FEAFB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05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64E41-99ED-4B6E-A7E7-DE5BACE339E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9/4/2017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R.C.C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64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Document2.docx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Document1.docx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Document3.docx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Document5.docx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Document4.docx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Document6.docx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mofald-clpiu.gov.np/page/78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mofald-clpiu.gov.np/page/78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17280" y="2393816"/>
            <a:ext cx="1107996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700" b="1" dirty="0">
                <a:latin typeface="Preeti" pitchFamily="2" charset="0"/>
              </a:rPr>
              <a:t>	</a:t>
            </a:r>
            <a:endParaRPr lang="en-US" sz="3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94AA1-8BCA-41BB-A047-667465125CE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071278" y="2297560"/>
            <a:ext cx="557652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ea typeface="Calibri"/>
                <a:cs typeface="Mangal"/>
              </a:rPr>
              <a:t>Government of Nepal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  <a:ea typeface="Calibri"/>
                <a:cs typeface="Mangal"/>
              </a:rPr>
              <a:t>Ministry of Urban </a:t>
            </a:r>
            <a:r>
              <a:rPr lang="en-US" sz="2000" b="1" dirty="0" smtClean="0">
                <a:solidFill>
                  <a:srgbClr val="FF0000"/>
                </a:solidFill>
                <a:ea typeface="Calibri"/>
                <a:cs typeface="Mangal"/>
              </a:rPr>
              <a:t>Development (</a:t>
            </a:r>
            <a:r>
              <a:rPr lang="en-US" sz="2000" b="1" dirty="0" err="1" smtClean="0">
                <a:solidFill>
                  <a:srgbClr val="FF0000"/>
                </a:solidFill>
                <a:ea typeface="Calibri"/>
                <a:cs typeface="Mangal"/>
              </a:rPr>
              <a:t>MoUD</a:t>
            </a:r>
            <a:r>
              <a:rPr lang="en-US" sz="2000" b="1" dirty="0" smtClean="0">
                <a:solidFill>
                  <a:srgbClr val="FF0000"/>
                </a:solidFill>
                <a:ea typeface="Calibri"/>
                <a:cs typeface="Mangal"/>
              </a:rPr>
              <a:t>)</a:t>
            </a:r>
            <a:endParaRPr lang="en-US" sz="2000" b="1" dirty="0">
              <a:solidFill>
                <a:srgbClr val="FF0000"/>
              </a:solidFill>
              <a:ea typeface="Calibri"/>
              <a:cs typeface="Mangal"/>
            </a:endParaRPr>
          </a:p>
          <a:p>
            <a:pPr algn="ctr"/>
            <a:r>
              <a:rPr lang="en-US" sz="2000" b="1" dirty="0">
                <a:solidFill>
                  <a:srgbClr val="FF0000"/>
                </a:solidFill>
                <a:ea typeface="Calibri"/>
                <a:cs typeface="Mangal"/>
              </a:rPr>
              <a:t>Central Level Project Implementation </a:t>
            </a:r>
            <a:r>
              <a:rPr lang="en-US" sz="2000" b="1" dirty="0" smtClean="0">
                <a:solidFill>
                  <a:srgbClr val="FF0000"/>
                </a:solidFill>
                <a:ea typeface="Calibri"/>
                <a:cs typeface="Mangal"/>
              </a:rPr>
              <a:t>Unit (CLPIU)</a:t>
            </a:r>
            <a:endParaRPr lang="en-US" sz="2000" b="1" dirty="0">
              <a:solidFill>
                <a:srgbClr val="FF0000"/>
              </a:solidFill>
              <a:ea typeface="Calibri"/>
              <a:cs typeface="Mangal"/>
            </a:endParaRPr>
          </a:p>
          <a:p>
            <a:pPr algn="ctr"/>
            <a:r>
              <a:rPr lang="en-US" sz="2000" b="1" dirty="0">
                <a:solidFill>
                  <a:srgbClr val="FF0000"/>
                </a:solidFill>
                <a:ea typeface="Calibri"/>
                <a:cs typeface="Mangal"/>
              </a:rPr>
              <a:t>Earthquake Housing Reconstruction Project (</a:t>
            </a:r>
            <a:r>
              <a:rPr lang="en-US" sz="2000" b="1" dirty="0" err="1">
                <a:solidFill>
                  <a:srgbClr val="FF0000"/>
                </a:solidFill>
                <a:ea typeface="Calibri"/>
                <a:cs typeface="Mangal"/>
              </a:rPr>
              <a:t>EHRP</a:t>
            </a:r>
            <a:r>
              <a:rPr lang="en-US" sz="2000" b="1" dirty="0">
                <a:solidFill>
                  <a:srgbClr val="FF0000"/>
                </a:solidFill>
                <a:ea typeface="Calibri"/>
                <a:cs typeface="Mangal"/>
              </a:rPr>
              <a:t>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49378" y="3870907"/>
            <a:ext cx="6558206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i="1" dirty="0" smtClean="0">
                <a:solidFill>
                  <a:srgbClr val="7030A0"/>
                </a:solidFill>
                <a:latin typeface="Times New Roman"/>
              </a:rPr>
              <a:t>Monitoring </a:t>
            </a:r>
            <a:r>
              <a:rPr lang="en-US" sz="4000" b="1" i="1" dirty="0">
                <a:solidFill>
                  <a:srgbClr val="7030A0"/>
                </a:solidFill>
                <a:latin typeface="Times New Roman"/>
              </a:rPr>
              <a:t>and </a:t>
            </a:r>
            <a:r>
              <a:rPr lang="en-US" sz="4000" b="1" i="1" dirty="0" smtClean="0">
                <a:solidFill>
                  <a:srgbClr val="7030A0"/>
                </a:solidFill>
                <a:latin typeface="Times New Roman"/>
              </a:rPr>
              <a:t>Evaluation of</a:t>
            </a:r>
          </a:p>
          <a:p>
            <a:pPr algn="ctr"/>
            <a:r>
              <a:rPr lang="en-US" sz="4000" b="1" dirty="0" smtClean="0">
                <a:solidFill>
                  <a:srgbClr val="0070C0"/>
                </a:solidFill>
                <a:latin typeface="Times New Roman"/>
              </a:rPr>
              <a:t>Reconstruction Activities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7635" y="616892"/>
            <a:ext cx="1701692" cy="152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2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55405" y="1363891"/>
            <a:ext cx="799362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Monitoring</a:t>
            </a:r>
            <a:r>
              <a:rPr lang="en-US" sz="3200" dirty="0"/>
              <a:t> is the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collection and analysis of information</a:t>
            </a:r>
            <a:r>
              <a:rPr lang="en-US" sz="3200" dirty="0"/>
              <a:t> about a project or </a:t>
            </a:r>
            <a:r>
              <a:rPr lang="en-US" sz="3200" dirty="0" smtClean="0"/>
              <a:t>program, undertaken while </a:t>
            </a:r>
            <a:r>
              <a:rPr lang="en-US" sz="3200" dirty="0"/>
              <a:t>the </a:t>
            </a:r>
            <a:r>
              <a:rPr lang="en-US" sz="3200" dirty="0" smtClean="0"/>
              <a:t>project/program </a:t>
            </a:r>
            <a:r>
              <a:rPr lang="en-US" sz="3200" dirty="0"/>
              <a:t>is ongoing.</a:t>
            </a:r>
          </a:p>
          <a:p>
            <a:endParaRPr lang="en-US" sz="1400" dirty="0" smtClean="0">
              <a:solidFill>
                <a:srgbClr val="7030A0"/>
              </a:solidFill>
            </a:endParaRPr>
          </a:p>
          <a:p>
            <a:r>
              <a:rPr lang="en-US" sz="3200" b="1" dirty="0" smtClean="0">
                <a:solidFill>
                  <a:srgbClr val="7030A0"/>
                </a:solidFill>
              </a:rPr>
              <a:t>Evaluation</a:t>
            </a:r>
            <a:r>
              <a:rPr lang="en-US" sz="3200" dirty="0" smtClean="0"/>
              <a:t> </a:t>
            </a:r>
            <a:r>
              <a:rPr lang="en-US" sz="3200" dirty="0"/>
              <a:t>is the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periodic, </a:t>
            </a: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</a:rPr>
              <a:t>reviewing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assessment</a:t>
            </a:r>
            <a:r>
              <a:rPr lang="en-US" sz="3200" b="1" dirty="0"/>
              <a:t> </a:t>
            </a:r>
            <a:r>
              <a:rPr lang="en-US" sz="3200" dirty="0"/>
              <a:t>of an </a:t>
            </a:r>
            <a:r>
              <a:rPr lang="en-US" sz="3200" dirty="0" smtClean="0"/>
              <a:t>organization, </a:t>
            </a:r>
            <a:r>
              <a:rPr lang="en-US" sz="3200" dirty="0"/>
              <a:t>project or </a:t>
            </a:r>
            <a:r>
              <a:rPr lang="en-US" sz="3200" dirty="0" smtClean="0"/>
              <a:t>program that might </a:t>
            </a:r>
            <a:r>
              <a:rPr lang="en-US" sz="3200" dirty="0"/>
              <a:t>be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conducted internally </a:t>
            </a:r>
            <a:endParaRPr lang="en-US" sz="3200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</a:rPr>
              <a:t>or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by external independent evaluators</a:t>
            </a:r>
            <a:r>
              <a:rPr lang="en-US" sz="32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8682" y="155552"/>
            <a:ext cx="70202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i="1" dirty="0">
                <a:solidFill>
                  <a:srgbClr val="DE0000"/>
                </a:solidFill>
                <a:latin typeface="Times New Roman"/>
              </a:rPr>
              <a:t>Monitoring and Evaluation</a:t>
            </a:r>
            <a:endParaRPr lang="en-US" sz="3600" b="1" dirty="0">
              <a:solidFill>
                <a:srgbClr val="D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16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202315"/>
              </p:ext>
            </p:extLst>
          </p:nvPr>
        </p:nvGraphicFramePr>
        <p:xfrm>
          <a:off x="208546" y="804209"/>
          <a:ext cx="8758989" cy="5880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721"/>
                <a:gridCol w="3511859"/>
                <a:gridCol w="2823409"/>
              </a:tblGrid>
              <a:tr h="387700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Item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Monitoring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Evaluation</a:t>
                      </a:r>
                      <a:endParaRPr lang="en-US" sz="2000" b="1" dirty="0"/>
                    </a:p>
                  </a:txBody>
                  <a:tcPr/>
                </a:tc>
              </a:tr>
              <a:tr h="387700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Frequency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Regular, Ongoing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Episodic</a:t>
                      </a:r>
                      <a:endParaRPr lang="en-US" sz="2000" b="1" dirty="0"/>
                    </a:p>
                  </a:txBody>
                  <a:tcPr/>
                </a:tc>
              </a:tr>
              <a:tr h="387700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Main Action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Keeping Track/Oversight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Assessment</a:t>
                      </a:r>
                      <a:endParaRPr lang="en-US" sz="2000" b="1" dirty="0"/>
                    </a:p>
                  </a:txBody>
                  <a:tcPr/>
                </a:tc>
              </a:tr>
              <a:tr h="525785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Basic Purpose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Improving Efficiency</a:t>
                      </a:r>
                    </a:p>
                    <a:p>
                      <a:r>
                        <a:rPr lang="en-US" sz="2000" b="1" dirty="0" smtClean="0"/>
                        <a:t>Adjusting work plan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Improve Effectiveness, Impact, Future Plan</a:t>
                      </a:r>
                      <a:endParaRPr lang="en-US" sz="2000" b="1" dirty="0"/>
                    </a:p>
                  </a:txBody>
                  <a:tcPr/>
                </a:tc>
              </a:tr>
              <a:tr h="740879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Focus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Input-Output, Process, Outcomes, Work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Effectiveness, Efficiency, Relevance,</a:t>
                      </a:r>
                      <a:r>
                        <a:rPr lang="en-US" sz="2000" b="1" baseline="0" dirty="0" smtClean="0"/>
                        <a:t> Impact, Sustainability</a:t>
                      </a:r>
                      <a:endParaRPr lang="en-US" sz="2000" b="1" dirty="0"/>
                    </a:p>
                  </a:txBody>
                  <a:tcPr/>
                </a:tc>
              </a:tr>
              <a:tr h="1064697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Information Source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Routine System, Field Visits, Stakeholder meetings, Output</a:t>
                      </a:r>
                      <a:r>
                        <a:rPr lang="en-US" sz="2000" b="1" baseline="0" dirty="0" smtClean="0"/>
                        <a:t> Reports, Rapid Assessment</a:t>
                      </a:r>
                      <a:endParaRPr lang="en-US" sz="20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Survey (Pre-Post Project)</a:t>
                      </a:r>
                    </a:p>
                  </a:txBody>
                  <a:tcPr/>
                </a:tc>
              </a:tr>
              <a:tr h="1386161"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Undertaker by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Program Managers</a:t>
                      </a:r>
                    </a:p>
                    <a:p>
                      <a:r>
                        <a:rPr lang="en-US" sz="2000" b="1" dirty="0" smtClean="0"/>
                        <a:t>Community Workers</a:t>
                      </a:r>
                    </a:p>
                    <a:p>
                      <a:r>
                        <a:rPr lang="en-US" sz="2000" b="1" dirty="0" smtClean="0"/>
                        <a:t>Supervisors</a:t>
                      </a:r>
                    </a:p>
                    <a:p>
                      <a:r>
                        <a:rPr lang="en-US" sz="2000" b="1" dirty="0" smtClean="0"/>
                        <a:t>Beneficiaries</a:t>
                      </a:r>
                    </a:p>
                    <a:p>
                      <a:r>
                        <a:rPr lang="en-US" sz="2000" b="1" dirty="0" smtClean="0"/>
                        <a:t>Funders</a:t>
                      </a:r>
                    </a:p>
                    <a:p>
                      <a:r>
                        <a:rPr lang="en-US" sz="2000" b="1" dirty="0" smtClean="0"/>
                        <a:t>Other Stakeholders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/>
                        <a:t>External Evaluators</a:t>
                      </a:r>
                    </a:p>
                    <a:p>
                      <a:r>
                        <a:rPr lang="en-US" sz="2000" b="1" dirty="0" smtClean="0"/>
                        <a:t>Beneficiaries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smtClean="0"/>
                        <a:t>Program Managers</a:t>
                      </a:r>
                    </a:p>
                    <a:p>
                      <a:r>
                        <a:rPr lang="en-US" sz="2000" b="1" dirty="0" smtClean="0"/>
                        <a:t>Funders</a:t>
                      </a:r>
                    </a:p>
                    <a:p>
                      <a:r>
                        <a:rPr lang="en-US" sz="2000" b="1" dirty="0" smtClean="0"/>
                        <a:t>Supervisors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44379" y="155552"/>
            <a:ext cx="8534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600" b="1" i="1" dirty="0" smtClean="0">
                <a:solidFill>
                  <a:srgbClr val="DE0000"/>
                </a:solidFill>
                <a:latin typeface="Times New Roman"/>
              </a:rPr>
              <a:t>Comparison-Monitoring </a:t>
            </a:r>
            <a:r>
              <a:rPr lang="en-US" sz="3600" b="1" i="1" dirty="0">
                <a:solidFill>
                  <a:srgbClr val="DE0000"/>
                </a:solidFill>
                <a:latin typeface="Times New Roman"/>
              </a:rPr>
              <a:t>and Evaluation</a:t>
            </a:r>
            <a:endParaRPr lang="en-US" sz="3600" b="1" dirty="0">
              <a:solidFill>
                <a:srgbClr val="D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16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1187116" y="23019"/>
            <a:ext cx="7042484" cy="79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9pPr>
          </a:lstStyle>
          <a:p>
            <a:pPr eaLnBrk="1" hangingPunct="1"/>
            <a:r>
              <a:rPr lang="en-US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Commonalities - M&amp;E</a:t>
            </a:r>
          </a:p>
        </p:txBody>
      </p:sp>
      <p:sp>
        <p:nvSpPr>
          <p:cNvPr id="6" name="Rectangle 5"/>
          <p:cNvSpPr>
            <a:spLocks noGrp="1" noChangeArrowheads="1"/>
          </p:cNvSpPr>
          <p:nvPr/>
        </p:nvSpPr>
        <p:spPr bwMode="auto">
          <a:xfrm>
            <a:off x="457200" y="1671280"/>
            <a:ext cx="8229600" cy="2494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F75B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CC437"/>
              </a:buClr>
              <a:buFont typeface="Arial" charset="0"/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en-US" dirty="0" smtClean="0"/>
              <a:t>Both monitoring and evaluation must be </a:t>
            </a:r>
            <a:r>
              <a:rPr lang="en-US" b="1" dirty="0" smtClean="0">
                <a:solidFill>
                  <a:srgbClr val="0070C0"/>
                </a:solidFill>
              </a:rPr>
              <a:t>planned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5B7BB4"/>
                </a:solidFill>
              </a:rPr>
              <a:t>at the program/ project level</a:t>
            </a:r>
          </a:p>
          <a:p>
            <a:pPr eaLnBrk="1" hangingPunct="1"/>
            <a:endParaRPr lang="en-US" sz="1000" dirty="0" smtClean="0"/>
          </a:p>
          <a:p>
            <a:pPr eaLnBrk="1" hangingPunct="1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Baseline data and appropriate indicators of  performance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results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 must be established</a:t>
            </a:r>
          </a:p>
          <a:p>
            <a:pPr eaLnBrk="1" hangingPunct="1"/>
            <a:endParaRPr lang="en-US" dirty="0" smtClean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18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</a:rPr>
              <a:t>Monitoring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361168"/>
            <a:ext cx="7886700" cy="43513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In practice, covers a wide range of activities and requires </a:t>
            </a:r>
            <a:r>
              <a:rPr lang="en-US" sz="2800" dirty="0" smtClean="0">
                <a:solidFill>
                  <a:srgbClr val="0070C0"/>
                </a:solidFill>
              </a:rPr>
              <a:t>data collection</a:t>
            </a:r>
            <a:r>
              <a:rPr lang="en-US" sz="2800" dirty="0" smtClean="0"/>
              <a:t>, but data collection is </a:t>
            </a:r>
            <a:r>
              <a:rPr lang="en-US" sz="2800" dirty="0" smtClean="0">
                <a:solidFill>
                  <a:srgbClr val="FF0000"/>
                </a:solidFill>
              </a:rPr>
              <a:t>not synonymous</a:t>
            </a:r>
            <a:r>
              <a:rPr lang="en-US" sz="2800" dirty="0" smtClean="0"/>
              <a:t> with monitoring</a:t>
            </a:r>
          </a:p>
          <a:p>
            <a:pPr eaLnBrk="1" hangingPunct="1">
              <a:lnSpc>
                <a:spcPct val="80000"/>
              </a:lnSpc>
            </a:pPr>
            <a:endParaRPr lang="en-US" sz="9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Monitoring also implies </a:t>
            </a:r>
            <a:r>
              <a:rPr lang="en-US" sz="2800" dirty="0" smtClean="0">
                <a:solidFill>
                  <a:srgbClr val="0070C0"/>
                </a:solidFill>
              </a:rPr>
              <a:t>analysis and use </a:t>
            </a:r>
            <a:r>
              <a:rPr lang="en-US" sz="2800" dirty="0" smtClean="0"/>
              <a:t>of the data</a:t>
            </a:r>
          </a:p>
          <a:p>
            <a:pPr eaLnBrk="1" hangingPunct="1">
              <a:lnSpc>
                <a:spcPct val="80000"/>
              </a:lnSpc>
            </a:pPr>
            <a:endParaRPr lang="en-US" sz="900" dirty="0" smtClean="0"/>
          </a:p>
          <a:p>
            <a:pPr eaLnBrk="1" hangingPunct="1">
              <a:lnSpc>
                <a:spcPct val="80000"/>
              </a:lnSpc>
            </a:pPr>
            <a:r>
              <a:rPr lang="en-US" sz="2800" dirty="0" smtClean="0"/>
              <a:t>Generally, the level that records information should be </a:t>
            </a:r>
            <a:r>
              <a:rPr lang="en-US" sz="2800" dirty="0" smtClean="0">
                <a:solidFill>
                  <a:srgbClr val="0070C0"/>
                </a:solidFill>
              </a:rPr>
              <a:t>able to use </a:t>
            </a:r>
            <a:r>
              <a:rPr lang="en-US" sz="2800" dirty="0" smtClean="0"/>
              <a:t>it</a:t>
            </a:r>
          </a:p>
          <a:p>
            <a:pPr eaLnBrk="1" hangingPunct="1">
              <a:lnSpc>
                <a:spcPct val="80000"/>
              </a:lnSpc>
            </a:pPr>
            <a:endParaRPr lang="en-US" sz="2800" dirty="0" smtClean="0"/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9pPr>
          </a:lstStyle>
          <a:p>
            <a:pPr eaLnBrk="1" hangingPunct="1"/>
            <a:fld id="{789ECE42-D580-4B6E-8B11-006C8795B2E8}" type="slidenum">
              <a:rPr lang="en-US" smtClean="0">
                <a:latin typeface="Arial" charset="0"/>
              </a:rPr>
              <a:pPr eaLnBrk="1" hangingPunct="1"/>
              <a:t>5</a:t>
            </a:fld>
            <a:endParaRPr lang="en-US" smtClean="0">
              <a:latin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633284" y="3740623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endParaRPr lang="en-US" sz="800" dirty="0"/>
          </a:p>
          <a:p>
            <a:pPr>
              <a:lnSpc>
                <a:spcPct val="80000"/>
              </a:lnSpc>
            </a:pPr>
            <a:r>
              <a:rPr lang="en-US" dirty="0">
                <a:solidFill>
                  <a:srgbClr val="00B050"/>
                </a:solidFill>
              </a:rPr>
              <a:t>Designing data collection systems with this principle in mind helps improve chances that the data will be collected carefully and put to use.</a:t>
            </a:r>
          </a:p>
        </p:txBody>
      </p:sp>
    </p:spTree>
    <p:extLst>
      <p:ext uri="{BB962C8B-B14F-4D97-AF65-F5344CB8AC3E}">
        <p14:creationId xmlns:p14="http://schemas.microsoft.com/office/powerpoint/2010/main" val="362477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4189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</a:rPr>
              <a:t>Planning a Monitoring System</a:t>
            </a:r>
          </a:p>
        </p:txBody>
      </p:sp>
      <p:sp>
        <p:nvSpPr>
          <p:cNvPr id="179203" name="Rectangle 3"/>
          <p:cNvSpPr>
            <a:spLocks noGrp="1" noChangeArrowheads="1"/>
          </p:cNvSpPr>
          <p:nvPr>
            <p:ph idx="1"/>
          </p:nvPr>
        </p:nvSpPr>
        <p:spPr>
          <a:xfrm>
            <a:off x="192505" y="859973"/>
            <a:ext cx="8791074" cy="5947228"/>
          </a:xfrm>
        </p:spPr>
        <p:txBody>
          <a:bodyPr>
            <a:normAutofit/>
          </a:bodyPr>
          <a:lstStyle/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r>
              <a:rPr lang="en-US" sz="2800" dirty="0" smtClean="0"/>
              <a:t>What should be monitored?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endParaRPr lang="en-US" sz="500" dirty="0" smtClean="0"/>
          </a:p>
          <a:p>
            <a:pPr marL="800100" lvl="1" indent="-342900" eaLnBrk="1" hangingPunct="1">
              <a:lnSpc>
                <a:spcPct val="90000"/>
              </a:lnSpc>
            </a:pPr>
            <a:r>
              <a:rPr lang="en-US" sz="2400" b="1" dirty="0">
                <a:solidFill>
                  <a:srgbClr val="00B0F0"/>
                </a:solidFill>
              </a:rPr>
              <a:t>Keep information requirements to a bare minimum</a:t>
            </a:r>
          </a:p>
          <a:p>
            <a:pPr marL="800100" lvl="1" indent="-342900" eaLnBrk="1" hangingPunct="1">
              <a:lnSpc>
                <a:spcPct val="90000"/>
              </a:lnSpc>
            </a:pPr>
            <a:r>
              <a:rPr lang="en-US" sz="2400" dirty="0" smtClean="0"/>
              <a:t>Collect info that will be </a:t>
            </a:r>
            <a:r>
              <a:rPr lang="en-US" sz="2400" b="1" dirty="0">
                <a:solidFill>
                  <a:srgbClr val="00B0F0"/>
                </a:solidFill>
              </a:rPr>
              <a:t>most helpful </a:t>
            </a:r>
            <a:r>
              <a:rPr lang="en-US" sz="2400" dirty="0" smtClean="0"/>
              <a:t>to those who will use it</a:t>
            </a:r>
          </a:p>
          <a:p>
            <a:pPr marL="381000" indent="-381000" eaLnBrk="1" hangingPunct="1">
              <a:lnSpc>
                <a:spcPct val="90000"/>
              </a:lnSpc>
              <a:buFontTx/>
              <a:buAutoNum type="arabicPeriod"/>
            </a:pPr>
            <a:endParaRPr lang="en-US" sz="800" dirty="0" smtClean="0"/>
          </a:p>
          <a:p>
            <a:pPr marL="381000" indent="-381000" eaLnBrk="1" hangingPunct="1">
              <a:lnSpc>
                <a:spcPct val="90000"/>
              </a:lnSpc>
              <a:buFontTx/>
              <a:buAutoNum type="arabicPeriod" startAt="2"/>
            </a:pPr>
            <a:r>
              <a:rPr lang="en-US" sz="2800" dirty="0" smtClean="0"/>
              <a:t>How? </a:t>
            </a:r>
          </a:p>
          <a:p>
            <a:pPr marL="800100" lvl="1" indent="-342900" eaLnBrk="1" hangingPunct="1">
              <a:lnSpc>
                <a:spcPct val="90000"/>
              </a:lnSpc>
            </a:pPr>
            <a:r>
              <a:rPr lang="en-US" sz="2400" b="1" dirty="0" smtClean="0">
                <a:solidFill>
                  <a:srgbClr val="00B0F0"/>
                </a:solidFill>
              </a:rPr>
              <a:t>Select methods </a:t>
            </a:r>
            <a:r>
              <a:rPr lang="en-US" sz="2400" b="1" dirty="0">
                <a:solidFill>
                  <a:srgbClr val="00B0F0"/>
                </a:solidFill>
              </a:rPr>
              <a:t>to track </a:t>
            </a:r>
            <a:r>
              <a:rPr lang="en-US" sz="2400" b="1" dirty="0" smtClean="0">
                <a:solidFill>
                  <a:srgbClr val="00B0F0"/>
                </a:solidFill>
              </a:rPr>
              <a:t>indicators </a:t>
            </a:r>
            <a:r>
              <a:rPr lang="en-US" sz="2400" dirty="0"/>
              <a:t>/report on </a:t>
            </a:r>
            <a:r>
              <a:rPr lang="en-US" sz="2400" dirty="0" smtClean="0"/>
              <a:t>progress</a:t>
            </a:r>
          </a:p>
          <a:p>
            <a:pPr marL="381000" indent="-381000" eaLnBrk="1" hangingPunct="1">
              <a:lnSpc>
                <a:spcPct val="90000"/>
              </a:lnSpc>
            </a:pPr>
            <a:endParaRPr lang="en-US" sz="800" dirty="0" smtClean="0"/>
          </a:p>
          <a:p>
            <a:pPr marL="977900" lvl="2" indent="-176213" eaLnBrk="1" hangingPunct="1">
              <a:lnSpc>
                <a:spcPct val="90000"/>
              </a:lnSpc>
            </a:pPr>
            <a:r>
              <a:rPr lang="en-US" sz="2400" dirty="0" smtClean="0"/>
              <a:t>Observations, interviews, routine reporting, sentinel sites</a:t>
            </a:r>
          </a:p>
          <a:p>
            <a:pPr marL="977900" lvl="2" indent="-176213" eaLnBrk="1" hangingPunct="1">
              <a:lnSpc>
                <a:spcPct val="90000"/>
              </a:lnSpc>
            </a:pPr>
            <a:r>
              <a:rPr lang="en-US" sz="2400" dirty="0" smtClean="0"/>
              <a:t>Both formal/informal and quantitative/qualitative methods </a:t>
            </a:r>
          </a:p>
          <a:p>
            <a:pPr marL="977900" lvl="2" indent="-176213" eaLnBrk="1" hangingPunct="1">
              <a:lnSpc>
                <a:spcPct val="90000"/>
              </a:lnSpc>
            </a:pPr>
            <a:r>
              <a:rPr lang="en-US" sz="2400" dirty="0" smtClean="0"/>
              <a:t>Decide how information will be recorded systematically and reported clearly</a:t>
            </a:r>
          </a:p>
          <a:p>
            <a:pPr marL="977900" lvl="2" indent="-176213" eaLnBrk="1" hangingPunct="1">
              <a:lnSpc>
                <a:spcPct val="90000"/>
              </a:lnSpc>
            </a:pPr>
            <a:r>
              <a:rPr lang="en-US" sz="2400" dirty="0" smtClean="0"/>
              <a:t>Consider the time and skills of those who will collect the data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9pPr>
          </a:lstStyle>
          <a:p>
            <a:pPr eaLnBrk="1" hangingPunct="1"/>
            <a:fld id="{666C01B9-6A66-4B46-8702-4643B4F9C0FB}" type="slidenum">
              <a:rPr lang="en-US" smtClean="0">
                <a:latin typeface="Arial" charset="0"/>
              </a:rPr>
              <a:pPr eaLnBrk="1" hangingPunct="1"/>
              <a:t>6</a:t>
            </a:fld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62775"/>
            <a:ext cx="7886700" cy="4969556"/>
          </a:xfrm>
        </p:spPr>
        <p:txBody>
          <a:bodyPr>
            <a:normAutofit/>
          </a:bodyPr>
          <a:lstStyle/>
          <a:p>
            <a:pPr marL="457200" indent="-4572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US" sz="2400" dirty="0" smtClean="0"/>
              <a:t>Who should be involved when?</a:t>
            </a:r>
          </a:p>
          <a:p>
            <a:pPr marL="838200" lvl="1" indent="-381000" eaLnBrk="1" hangingPunct="1">
              <a:lnSpc>
                <a:spcPct val="80000"/>
              </a:lnSpc>
            </a:pPr>
            <a:r>
              <a:rPr lang="en-US" sz="2400" dirty="0" smtClean="0"/>
              <a:t>Clearly identifying </a:t>
            </a:r>
            <a:r>
              <a:rPr lang="en-US" sz="2400" dirty="0" smtClean="0">
                <a:solidFill>
                  <a:srgbClr val="00B0F0"/>
                </a:solidFill>
              </a:rPr>
              <a:t>who will collect information </a:t>
            </a:r>
            <a:r>
              <a:rPr lang="en-US" sz="2400" dirty="0" smtClean="0"/>
              <a:t>on indicators, when (frequency) and who will receive it</a:t>
            </a:r>
          </a:p>
          <a:p>
            <a:pPr marL="838200" lvl="1" indent="-381000" eaLnBrk="1" hangingPunct="1">
              <a:lnSpc>
                <a:spcPct val="80000"/>
              </a:lnSpc>
            </a:pPr>
            <a:endParaRPr lang="en-US" sz="2400" dirty="0" smtClean="0"/>
          </a:p>
          <a:p>
            <a:pPr marL="838200" lvl="1" indent="-381000" eaLnBrk="1" hangingPunct="1">
              <a:lnSpc>
                <a:spcPct val="80000"/>
              </a:lnSpc>
            </a:pPr>
            <a:r>
              <a:rPr lang="en-US" sz="2400" dirty="0" smtClean="0"/>
              <a:t>The monitoring plan should also identify </a:t>
            </a:r>
            <a:r>
              <a:rPr lang="en-US" sz="2400" dirty="0" smtClean="0">
                <a:solidFill>
                  <a:srgbClr val="00B0F0"/>
                </a:solidFill>
              </a:rPr>
              <a:t>who will be involved in reviewing progress and providing feedback</a:t>
            </a:r>
          </a:p>
          <a:p>
            <a:pPr marL="457200" indent="-457200" eaLnBrk="1" hangingPunct="1">
              <a:lnSpc>
                <a:spcPct val="80000"/>
              </a:lnSpc>
            </a:pPr>
            <a:endParaRPr lang="en-US" sz="2400" dirty="0" smtClean="0"/>
          </a:p>
          <a:p>
            <a:pPr marL="457200" indent="-457200" eaLnBrk="1" hangingPunct="1">
              <a:lnSpc>
                <a:spcPct val="80000"/>
              </a:lnSpc>
              <a:buFontTx/>
              <a:buAutoNum type="arabicPeriod" startAt="4"/>
            </a:pPr>
            <a:r>
              <a:rPr lang="en-US" sz="2400" dirty="0" smtClean="0"/>
              <a:t>What resources are needed and available?</a:t>
            </a:r>
          </a:p>
          <a:p>
            <a:pPr marL="838200" lvl="1" indent="-381000" eaLnBrk="1" hangingPunct="1">
              <a:lnSpc>
                <a:spcPct val="80000"/>
              </a:lnSpc>
            </a:pPr>
            <a:r>
              <a:rPr lang="en-US" sz="2400" dirty="0" smtClean="0"/>
              <a:t>The </a:t>
            </a:r>
            <a:r>
              <a:rPr lang="en-US" sz="2400" dirty="0" smtClean="0">
                <a:solidFill>
                  <a:srgbClr val="00B0F0"/>
                </a:solidFill>
              </a:rPr>
              <a:t>human and financial </a:t>
            </a:r>
            <a:r>
              <a:rPr lang="en-US" sz="2400" dirty="0" smtClean="0"/>
              <a:t>cost of gathering, reporting and reviewing data should be identified</a:t>
            </a:r>
          </a:p>
          <a:p>
            <a:pPr marL="838200" lvl="1" indent="-381000" eaLnBrk="1" hangingPunct="1">
              <a:lnSpc>
                <a:spcPct val="80000"/>
              </a:lnSpc>
            </a:pPr>
            <a:endParaRPr lang="en-US" sz="2400" dirty="0" smtClean="0"/>
          </a:p>
          <a:p>
            <a:pPr marL="838200" lvl="1" indent="-381000" eaLnBrk="1" hangingPunct="1">
              <a:lnSpc>
                <a:spcPct val="80000"/>
              </a:lnSpc>
            </a:pPr>
            <a:r>
              <a:rPr lang="en-US" sz="2400" dirty="0" smtClean="0"/>
              <a:t>Needed </a:t>
            </a:r>
            <a:r>
              <a:rPr lang="en-US" sz="2400" dirty="0" smtClean="0">
                <a:solidFill>
                  <a:srgbClr val="00B0F0"/>
                </a:solidFill>
              </a:rPr>
              <a:t>funding and time </a:t>
            </a:r>
            <a:r>
              <a:rPr lang="en-US" sz="2400" dirty="0" smtClean="0"/>
              <a:t>should be set aside for this work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US" sz="2400" dirty="0" smtClean="0"/>
          </a:p>
          <a:p>
            <a:pPr marL="457200" indent="-457200" eaLnBrk="1" hangingPunct="1">
              <a:lnSpc>
                <a:spcPct val="80000"/>
              </a:lnSpc>
            </a:pPr>
            <a:endParaRPr lang="en-US" sz="2400" dirty="0" smtClean="0"/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9pPr>
          </a:lstStyle>
          <a:p>
            <a:pPr eaLnBrk="1" hangingPunct="1"/>
            <a:fld id="{C8BAB389-0C87-431F-8C99-19C870F8564E}" type="slidenum">
              <a:rPr lang="en-US" smtClean="0">
                <a:latin typeface="Arial" charset="0"/>
              </a:rPr>
              <a:pPr eaLnBrk="1" hangingPunct="1"/>
              <a:t>7</a:t>
            </a:fld>
            <a:endParaRPr lang="en-US" smtClean="0">
              <a:latin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4189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</a:rPr>
              <a:t>Planning a Monitoring System</a:t>
            </a:r>
          </a:p>
        </p:txBody>
      </p:sp>
    </p:spTree>
    <p:extLst>
      <p:ext uri="{BB962C8B-B14F-4D97-AF65-F5344CB8AC3E}">
        <p14:creationId xmlns:p14="http://schemas.microsoft.com/office/powerpoint/2010/main" val="339715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375682"/>
            <a:ext cx="7886700" cy="4351338"/>
          </a:xfrm>
        </p:spPr>
        <p:txBody>
          <a:bodyPr/>
          <a:lstStyle/>
          <a:p>
            <a:pPr marL="533400" indent="-533400" eaLnBrk="1" hangingPunct="1">
              <a:buFontTx/>
              <a:buAutoNum type="arabicPeriod" startAt="5"/>
            </a:pPr>
            <a:r>
              <a:rPr lang="en-US" sz="2800" dirty="0" smtClean="0"/>
              <a:t>Consultation and Training</a:t>
            </a:r>
          </a:p>
          <a:p>
            <a:pPr marL="914400" lvl="1" indent="-457200" eaLnBrk="1" hangingPunct="1"/>
            <a:r>
              <a:rPr lang="en-US" sz="2400" dirty="0" smtClean="0">
                <a:solidFill>
                  <a:srgbClr val="00B0F0"/>
                </a:solidFill>
              </a:rPr>
              <a:t>Discuss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B0F0"/>
                </a:solidFill>
              </a:rPr>
              <a:t>the monitoring program </a:t>
            </a:r>
            <a:r>
              <a:rPr lang="en-US" sz="2400" dirty="0" smtClean="0"/>
              <a:t>with a representative group from each level </a:t>
            </a:r>
            <a:r>
              <a:rPr lang="en-US" sz="2400" dirty="0" smtClean="0">
                <a:solidFill>
                  <a:srgbClr val="00B0F0"/>
                </a:solidFill>
              </a:rPr>
              <a:t>before it is put into effect</a:t>
            </a:r>
          </a:p>
          <a:p>
            <a:pPr marL="914400" lvl="1" indent="-457200" eaLnBrk="1" hangingPunct="1"/>
            <a:r>
              <a:rPr lang="en-US" sz="2400" dirty="0" smtClean="0">
                <a:solidFill>
                  <a:srgbClr val="00B0F0"/>
                </a:solidFill>
              </a:rPr>
              <a:t>Provide training </a:t>
            </a:r>
            <a:r>
              <a:rPr lang="en-US" sz="2400" dirty="0" smtClean="0"/>
              <a:t>to those who will be using the monitoring systems</a:t>
            </a:r>
          </a:p>
          <a:p>
            <a:pPr marL="533400" indent="-533400" eaLnBrk="1" hangingPunct="1"/>
            <a:endParaRPr lang="en-US" sz="1200" dirty="0" smtClean="0"/>
          </a:p>
          <a:p>
            <a:pPr marL="533400" indent="-533400" eaLnBrk="1" hangingPunct="1">
              <a:buFontTx/>
              <a:buAutoNum type="arabicPeriod" startAt="6"/>
            </a:pPr>
            <a:r>
              <a:rPr lang="en-US" sz="2800" dirty="0" smtClean="0"/>
              <a:t>Prepare a work plan</a:t>
            </a:r>
          </a:p>
          <a:p>
            <a:pPr marL="914400" lvl="1" indent="-457200" eaLnBrk="1" hangingPunct="1"/>
            <a:r>
              <a:rPr lang="en-US" sz="2400" dirty="0" smtClean="0"/>
              <a:t>for each year </a:t>
            </a:r>
            <a:r>
              <a:rPr lang="en-US" sz="2400" dirty="0" smtClean="0">
                <a:solidFill>
                  <a:srgbClr val="00B050"/>
                </a:solidFill>
              </a:rPr>
              <a:t>(Daily, Weekly, Monthly)</a:t>
            </a:r>
          </a:p>
          <a:p>
            <a:pPr marL="914400" lvl="1" indent="-457200" eaLnBrk="1" hangingPunct="1"/>
            <a:r>
              <a:rPr lang="en-US" sz="2400" dirty="0">
                <a:solidFill>
                  <a:srgbClr val="00B0F0"/>
                </a:solidFill>
              </a:rPr>
              <a:t>listing the main activities to be carried out</a:t>
            </a:r>
            <a:r>
              <a:rPr lang="en-US" sz="2400" dirty="0" smtClean="0"/>
              <a:t>, their output, timing and parties involved</a:t>
            </a:r>
          </a:p>
          <a:p>
            <a:pPr marL="533400" indent="-533400" eaLnBrk="1" hangingPunct="1"/>
            <a:endParaRPr lang="en-US" sz="2800" dirty="0" smtClean="0"/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itchFamily="34" charset="0"/>
                <a:cs typeface="Arial" charset="0"/>
              </a:defRPr>
            </a:lvl9pPr>
          </a:lstStyle>
          <a:p>
            <a:pPr eaLnBrk="1" hangingPunct="1"/>
            <a:fld id="{5E0080E7-5891-4FDC-B49D-834E899C64CF}" type="slidenum">
              <a:rPr lang="en-US" smtClean="0">
                <a:latin typeface="Arial" charset="0"/>
              </a:rPr>
              <a:pPr eaLnBrk="1" hangingPunct="1"/>
              <a:t>8</a:t>
            </a:fld>
            <a:endParaRPr lang="en-US" smtClean="0">
              <a:latin typeface="Arial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4189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0000"/>
                </a:solidFill>
              </a:rPr>
              <a:t>Planning a Monitoring System</a:t>
            </a:r>
          </a:p>
        </p:txBody>
      </p:sp>
    </p:spTree>
    <p:extLst>
      <p:ext uri="{BB962C8B-B14F-4D97-AF65-F5344CB8AC3E}">
        <p14:creationId xmlns:p14="http://schemas.microsoft.com/office/powerpoint/2010/main" val="53947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3000" y="2394857"/>
            <a:ext cx="6858000" cy="1115106"/>
          </a:xfrm>
        </p:spPr>
        <p:txBody>
          <a:bodyPr/>
          <a:lstStyle/>
          <a:p>
            <a:r>
              <a:rPr lang="en-AU" sz="5400" b="1" dirty="0">
                <a:solidFill>
                  <a:srgbClr val="FF0000"/>
                </a:solidFill>
              </a:rPr>
              <a:t>How should I monitor?</a:t>
            </a:r>
            <a:endParaRPr lang="en-US" sz="5400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9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38150" y="266700"/>
            <a:ext cx="8305800" cy="1678214"/>
          </a:xfrm>
        </p:spPr>
        <p:txBody>
          <a:bodyPr>
            <a:normAutofit/>
          </a:bodyPr>
          <a:lstStyle/>
          <a:p>
            <a:r>
              <a:rPr lang="en-AU" sz="3600" b="1" dirty="0">
                <a:solidFill>
                  <a:srgbClr val="FF0000"/>
                </a:solidFill>
              </a:rPr>
              <a:t>The first step is </a:t>
            </a:r>
            <a:r>
              <a:rPr lang="en-AU" sz="3600" b="1" dirty="0" smtClean="0">
                <a:solidFill>
                  <a:srgbClr val="FF0000"/>
                </a:solidFill>
              </a:rPr>
              <a:t>observation,</a:t>
            </a:r>
            <a:br>
              <a:rPr lang="en-AU" sz="3600" b="1" dirty="0" smtClean="0">
                <a:solidFill>
                  <a:srgbClr val="FF0000"/>
                </a:solidFill>
              </a:rPr>
            </a:br>
            <a:r>
              <a:rPr lang="en-AU" sz="3600" b="1" dirty="0" smtClean="0">
                <a:solidFill>
                  <a:srgbClr val="FF0000"/>
                </a:solidFill>
              </a:rPr>
              <a:t>but </a:t>
            </a:r>
            <a:r>
              <a:rPr lang="en-AU" sz="3600" b="1" dirty="0">
                <a:solidFill>
                  <a:srgbClr val="FF0000"/>
                </a:solidFill>
              </a:rPr>
              <a:t>talking and analysis help you understand the cause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424963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7882283"/>
              </p:ext>
            </p:extLst>
          </p:nvPr>
        </p:nvGraphicFramePr>
        <p:xfrm>
          <a:off x="246738" y="2703276"/>
          <a:ext cx="8669868" cy="3352800"/>
        </p:xfrm>
        <a:graphic>
          <a:graphicData uri="http://schemas.openxmlformats.org/drawingml/2006/table">
            <a:tbl>
              <a:tblPr/>
              <a:tblGrid>
                <a:gridCol w="1444978"/>
                <a:gridCol w="1444978"/>
                <a:gridCol w="1444978"/>
                <a:gridCol w="1444978"/>
                <a:gridCol w="1444978"/>
                <a:gridCol w="1444978"/>
              </a:tblGrid>
              <a:tr h="609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09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Observe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Talk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Analyse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Actions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Attitudes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Consistency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09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Processes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Understanding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Accuracy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09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Conditions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Morale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AU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charset="0"/>
                        </a:rPr>
                        <a:t>Effectiveness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charset="0"/>
                      </a:endParaRPr>
                    </a:p>
                  </a:txBody>
                  <a:tcPr marL="81280" marR="812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25005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2633522"/>
              </p:ext>
            </p:extLst>
          </p:nvPr>
        </p:nvGraphicFramePr>
        <p:xfrm>
          <a:off x="7494205" y="2169876"/>
          <a:ext cx="93556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8" name="CorelDRAW" r:id="rId4" imgW="1392936" imgH="1410919" progId="CorelDRAW.Graphic.12">
                  <p:embed/>
                </p:oleObj>
              </mc:Choice>
              <mc:Fallback>
                <p:oleObj name="CorelDRAW" r:id="rId4" imgW="1392936" imgH="1410919" progId="CorelDRAW.Graphic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4205" y="2169876"/>
                        <a:ext cx="93556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5006" name="Picture 46" descr="j0215019[1]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738" y="2169877"/>
            <a:ext cx="1354667" cy="120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007" name="Picture 47" descr="pe02758_[1]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005" y="2169876"/>
            <a:ext cx="1083733" cy="106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9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65867" y="2667001"/>
            <a:ext cx="6392333" cy="738352"/>
          </a:xfrm>
        </p:spPr>
        <p:txBody>
          <a:bodyPr>
            <a:normAutofit fontScale="90000"/>
          </a:bodyPr>
          <a:lstStyle/>
          <a:p>
            <a:pPr algn="l"/>
            <a:r>
              <a:rPr lang="en-AU" sz="4800" b="1" dirty="0" smtClean="0">
                <a:solidFill>
                  <a:srgbClr val="DE0000"/>
                </a:solidFill>
              </a:rPr>
              <a:t>Communication</a:t>
            </a:r>
            <a:endParaRPr lang="en-US" sz="4800" b="1" dirty="0">
              <a:solidFill>
                <a:srgbClr val="DE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11</a:t>
            </a:fld>
            <a:endParaRPr lang="en-US"/>
          </a:p>
        </p:txBody>
      </p:sp>
      <p:pic>
        <p:nvPicPr>
          <p:cNvPr id="429061" name="Picture 5" descr="pe02758_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2667000"/>
            <a:ext cx="1083733" cy="106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06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dirty="0">
                <a:solidFill>
                  <a:srgbClr val="FF0000"/>
                </a:solidFill>
              </a:rPr>
              <a:t>Find Out More from People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58261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AU" sz="3200" dirty="0"/>
              <a:t>Through communicating we can:</a:t>
            </a:r>
            <a:endParaRPr lang="en-US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12</a:t>
            </a:fld>
            <a:endParaRPr lang="en-US"/>
          </a:p>
        </p:txBody>
      </p:sp>
      <p:pic>
        <p:nvPicPr>
          <p:cNvPr id="403460" name="Picture 4" descr="pe02758_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40" y="3244850"/>
            <a:ext cx="1219200" cy="120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3461" name="Line 5"/>
          <p:cNvSpPr>
            <a:spLocks noChangeShapeType="1"/>
          </p:cNvSpPr>
          <p:nvPr/>
        </p:nvSpPr>
        <p:spPr bwMode="auto">
          <a:xfrm flipV="1">
            <a:off x="2065867" y="2895600"/>
            <a:ext cx="1286011" cy="990600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462" name="Line 6"/>
          <p:cNvSpPr>
            <a:spLocks noChangeShapeType="1"/>
          </p:cNvSpPr>
          <p:nvPr/>
        </p:nvSpPr>
        <p:spPr bwMode="auto">
          <a:xfrm>
            <a:off x="2065867" y="3886200"/>
            <a:ext cx="1800059" cy="0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403463" name="Line 7"/>
          <p:cNvSpPr>
            <a:spLocks noChangeShapeType="1"/>
          </p:cNvSpPr>
          <p:nvPr/>
        </p:nvSpPr>
        <p:spPr bwMode="auto">
          <a:xfrm>
            <a:off x="2065868" y="3886200"/>
            <a:ext cx="314476" cy="1107171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3464" name="Text Box 8"/>
          <p:cNvSpPr txBox="1">
            <a:spLocks noChangeArrowheads="1"/>
          </p:cNvSpPr>
          <p:nvPr/>
        </p:nvSpPr>
        <p:spPr bwMode="auto">
          <a:xfrm>
            <a:off x="3865926" y="2362200"/>
            <a:ext cx="3835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AU" sz="2900" b="1" dirty="0">
                <a:solidFill>
                  <a:srgbClr val="002060"/>
                </a:solidFill>
              </a:rPr>
              <a:t>Test level of knowledge</a:t>
            </a:r>
            <a:endParaRPr lang="en-US" sz="2900" b="1" dirty="0">
              <a:solidFill>
                <a:srgbClr val="002060"/>
              </a:solidFill>
            </a:endParaRPr>
          </a:p>
        </p:txBody>
      </p:sp>
      <p:sp>
        <p:nvSpPr>
          <p:cNvPr id="403465" name="Text Box 9"/>
          <p:cNvSpPr txBox="1">
            <a:spLocks noChangeArrowheads="1"/>
          </p:cNvSpPr>
          <p:nvPr/>
        </p:nvSpPr>
        <p:spPr bwMode="auto">
          <a:xfrm>
            <a:off x="4493669" y="3569895"/>
            <a:ext cx="428977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AU" sz="2900" b="1" dirty="0">
                <a:solidFill>
                  <a:srgbClr val="002060"/>
                </a:solidFill>
              </a:rPr>
              <a:t>Gauge attitude and morale</a:t>
            </a:r>
            <a:endParaRPr lang="en-US" sz="2900" b="1" dirty="0">
              <a:solidFill>
                <a:srgbClr val="002060"/>
              </a:solidFill>
            </a:endParaRPr>
          </a:p>
        </p:txBody>
      </p:sp>
      <p:sp>
        <p:nvSpPr>
          <p:cNvPr id="403466" name="Text Box 10"/>
          <p:cNvSpPr txBox="1">
            <a:spLocks noChangeArrowheads="1"/>
          </p:cNvSpPr>
          <p:nvPr/>
        </p:nvSpPr>
        <p:spPr bwMode="auto">
          <a:xfrm>
            <a:off x="2694207" y="4993371"/>
            <a:ext cx="510963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AU" sz="2900" b="1" dirty="0">
                <a:solidFill>
                  <a:srgbClr val="002060"/>
                </a:solidFill>
              </a:rPr>
              <a:t>Seek guidance on priority areas</a:t>
            </a:r>
            <a:endParaRPr lang="en-US" sz="2900" b="1" dirty="0">
              <a:solidFill>
                <a:srgbClr val="002060"/>
              </a:solidFill>
            </a:endParaRPr>
          </a:p>
        </p:txBody>
      </p:sp>
      <p:sp>
        <p:nvSpPr>
          <p:cNvPr id="403467" name="Text Box 11"/>
          <p:cNvSpPr txBox="1">
            <a:spLocks noChangeArrowheads="1"/>
          </p:cNvSpPr>
          <p:nvPr/>
        </p:nvSpPr>
        <p:spPr bwMode="auto">
          <a:xfrm>
            <a:off x="3351878" y="2286000"/>
            <a:ext cx="652743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100">
                <a:solidFill>
                  <a:srgbClr val="002060"/>
                </a:solidFill>
                <a:sym typeface="Wingdings" pitchFamily="2" charset="2"/>
              </a:rPr>
              <a:t></a:t>
            </a:r>
          </a:p>
        </p:txBody>
      </p:sp>
      <p:sp>
        <p:nvSpPr>
          <p:cNvPr id="403468" name="Text Box 12"/>
          <p:cNvSpPr txBox="1">
            <a:spLocks noChangeArrowheads="1"/>
          </p:cNvSpPr>
          <p:nvPr/>
        </p:nvSpPr>
        <p:spPr bwMode="auto">
          <a:xfrm>
            <a:off x="3845874" y="3534234"/>
            <a:ext cx="652743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100">
                <a:solidFill>
                  <a:srgbClr val="002060"/>
                </a:solidFill>
                <a:sym typeface="Wingdings" pitchFamily="2" charset="2"/>
              </a:rPr>
              <a:t></a:t>
            </a:r>
          </a:p>
        </p:txBody>
      </p:sp>
      <p:sp>
        <p:nvSpPr>
          <p:cNvPr id="403469" name="Text Box 13"/>
          <p:cNvSpPr txBox="1">
            <a:spLocks noChangeArrowheads="1"/>
          </p:cNvSpPr>
          <p:nvPr/>
        </p:nvSpPr>
        <p:spPr bwMode="auto">
          <a:xfrm>
            <a:off x="2177136" y="4913994"/>
            <a:ext cx="652743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100">
                <a:solidFill>
                  <a:srgbClr val="002060"/>
                </a:solidFill>
                <a:sym typeface="Wingdings" pitchFamily="2" charset="2"/>
              </a:rPr>
              <a:t>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2829879" y="0"/>
            <a:ext cx="6392333" cy="3783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4800" b="1" dirty="0" smtClean="0">
                <a:solidFill>
                  <a:srgbClr val="DE0000"/>
                </a:solidFill>
              </a:rPr>
              <a:t>Communication</a:t>
            </a:r>
            <a:endParaRPr lang="en-US" sz="4800" b="1" dirty="0">
              <a:solidFill>
                <a:srgbClr val="D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33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61" grpId="0" animBg="1"/>
      <p:bldP spid="403462" grpId="0" animBg="1"/>
      <p:bldP spid="403463" grpId="0" animBg="1"/>
      <p:bldP spid="403464" grpId="0"/>
      <p:bldP spid="403465" grpId="0"/>
      <p:bldP spid="403466" grpId="0"/>
      <p:bldP spid="403467" grpId="0"/>
      <p:bldP spid="403468" grpId="0"/>
      <p:bldP spid="4034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71" name="Text Box 19"/>
          <p:cNvSpPr txBox="1">
            <a:spLocks noChangeArrowheads="1"/>
          </p:cNvSpPr>
          <p:nvPr/>
        </p:nvSpPr>
        <p:spPr bwMode="auto">
          <a:xfrm>
            <a:off x="169333" y="1752601"/>
            <a:ext cx="4402667" cy="3046988"/>
          </a:xfrm>
          <a:prstGeom prst="rect">
            <a:avLst/>
          </a:prstGeom>
          <a:solidFill>
            <a:srgbClr val="00FF00">
              <a:alpha val="47000"/>
            </a:srgbClr>
          </a:solidFill>
          <a:ln w="38100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AU" sz="2400" b="1" dirty="0">
                <a:solidFill>
                  <a:srgbClr val="002060"/>
                </a:solidFill>
              </a:rPr>
              <a:t>DO’s:</a:t>
            </a:r>
          </a:p>
          <a:p>
            <a:pPr algn="l">
              <a:buFont typeface="Wingdings" pitchFamily="2" charset="2"/>
              <a:buChar char="§"/>
            </a:pPr>
            <a:r>
              <a:rPr lang="en-AU" sz="2400" b="1" dirty="0">
                <a:solidFill>
                  <a:srgbClr val="002060"/>
                </a:solidFill>
              </a:rPr>
              <a:t> Listen and be prepared to learn</a:t>
            </a:r>
          </a:p>
          <a:p>
            <a:pPr algn="l">
              <a:buFont typeface="Wingdings" pitchFamily="2" charset="2"/>
              <a:buChar char="§"/>
            </a:pPr>
            <a:r>
              <a:rPr lang="en-AU" sz="2400" b="1" dirty="0">
                <a:solidFill>
                  <a:srgbClr val="002060"/>
                </a:solidFill>
              </a:rPr>
              <a:t> Take notes – </a:t>
            </a:r>
            <a:r>
              <a:rPr lang="en-AU" sz="2400" b="1" dirty="0">
                <a:solidFill>
                  <a:srgbClr val="FF0000"/>
                </a:solidFill>
              </a:rPr>
              <a:t>it’s your job. Don’t be </a:t>
            </a:r>
            <a:r>
              <a:rPr lang="en-AU" sz="2400" b="1" dirty="0" smtClean="0">
                <a:solidFill>
                  <a:srgbClr val="FF0000"/>
                </a:solidFill>
              </a:rPr>
              <a:t>embarrassed!</a:t>
            </a:r>
            <a:endParaRPr lang="en-AU" sz="2400" b="1" dirty="0">
              <a:solidFill>
                <a:srgbClr val="FF0000"/>
              </a:solidFill>
            </a:endParaRPr>
          </a:p>
          <a:p>
            <a:pPr algn="l">
              <a:buFont typeface="Wingdings" pitchFamily="2" charset="2"/>
              <a:buChar char="§"/>
            </a:pPr>
            <a:r>
              <a:rPr lang="en-AU" sz="2400" b="1" dirty="0">
                <a:solidFill>
                  <a:srgbClr val="002060"/>
                </a:solidFill>
              </a:rPr>
              <a:t> Ask </a:t>
            </a:r>
            <a:r>
              <a:rPr lang="en-AU" sz="2400" b="1" dirty="0" smtClean="0">
                <a:solidFill>
                  <a:srgbClr val="002060"/>
                </a:solidFill>
              </a:rPr>
              <a:t>follow up </a:t>
            </a:r>
            <a:r>
              <a:rPr lang="en-AU" sz="2400" b="1" dirty="0">
                <a:solidFill>
                  <a:srgbClr val="002060"/>
                </a:solidFill>
              </a:rPr>
              <a:t>questions and explore the issues</a:t>
            </a:r>
          </a:p>
          <a:p>
            <a:pPr algn="l">
              <a:buFont typeface="Wingdings" pitchFamily="2" charset="2"/>
              <a:buChar char="§"/>
            </a:pPr>
            <a:r>
              <a:rPr lang="en-AU" sz="2400" b="1" dirty="0">
                <a:solidFill>
                  <a:srgbClr val="002060"/>
                </a:solidFill>
              </a:rPr>
              <a:t> Compare one story against another! “Triangulate”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458772" name="Text Box 20"/>
          <p:cNvSpPr txBox="1">
            <a:spLocks noChangeArrowheads="1"/>
          </p:cNvSpPr>
          <p:nvPr/>
        </p:nvSpPr>
        <p:spPr bwMode="auto">
          <a:xfrm>
            <a:off x="4639733" y="3581401"/>
            <a:ext cx="4402667" cy="3046988"/>
          </a:xfrm>
          <a:prstGeom prst="rect">
            <a:avLst/>
          </a:prstGeom>
          <a:solidFill>
            <a:srgbClr val="FF0000">
              <a:alpha val="64000"/>
            </a:srgbClr>
          </a:solidFill>
          <a:ln w="38100" algn="ctr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AU" sz="2400" b="1" dirty="0">
                <a:solidFill>
                  <a:schemeClr val="bg1"/>
                </a:solidFill>
              </a:rPr>
              <a:t>DONT’s:</a:t>
            </a:r>
          </a:p>
          <a:p>
            <a:pPr algn="l">
              <a:buFont typeface="Wingdings" pitchFamily="2" charset="2"/>
              <a:buChar char="§"/>
            </a:pPr>
            <a:r>
              <a:rPr lang="en-AU" sz="2400" b="1" dirty="0">
                <a:solidFill>
                  <a:schemeClr val="bg1"/>
                </a:solidFill>
              </a:rPr>
              <a:t> Don’t worry if the person knows more than you</a:t>
            </a:r>
          </a:p>
          <a:p>
            <a:pPr algn="l">
              <a:buFont typeface="Wingdings" pitchFamily="2" charset="2"/>
              <a:buChar char="§"/>
            </a:pPr>
            <a:r>
              <a:rPr lang="en-AU" sz="2400" b="1" dirty="0">
                <a:solidFill>
                  <a:schemeClr val="bg1"/>
                </a:solidFill>
              </a:rPr>
              <a:t> Don’t take anything at face value – CHECK all verbal information against the data</a:t>
            </a:r>
          </a:p>
          <a:p>
            <a:pPr algn="l">
              <a:buFont typeface="Wingdings" pitchFamily="2" charset="2"/>
              <a:buChar char="§"/>
            </a:pPr>
            <a:r>
              <a:rPr lang="en-AU" sz="2400" b="1" dirty="0">
                <a:solidFill>
                  <a:schemeClr val="bg1"/>
                </a:solidFill>
              </a:rPr>
              <a:t> Don’t threaten or intimidate the people you speak to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58776" name="Rectangle 24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AU" b="1" dirty="0">
                <a:solidFill>
                  <a:srgbClr val="FF0000"/>
                </a:solidFill>
              </a:rPr>
              <a:t>Some Communication Tips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13</a:t>
            </a:fld>
            <a:endParaRPr lang="en-US"/>
          </a:p>
        </p:txBody>
      </p:sp>
      <p:sp>
        <p:nvSpPr>
          <p:cNvPr id="458777" name="Text Box 25"/>
          <p:cNvSpPr txBox="1">
            <a:spLocks noChangeArrowheads="1"/>
          </p:cNvSpPr>
          <p:nvPr/>
        </p:nvSpPr>
        <p:spPr bwMode="auto">
          <a:xfrm>
            <a:off x="3776354" y="1955797"/>
            <a:ext cx="1726755" cy="250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700" dirty="0">
                <a:solidFill>
                  <a:srgbClr val="00B050"/>
                </a:solidFill>
                <a:sym typeface="Wingdings 2" pitchFamily="18" charset="2"/>
              </a:rPr>
              <a:t></a:t>
            </a:r>
          </a:p>
        </p:txBody>
      </p:sp>
      <p:sp>
        <p:nvSpPr>
          <p:cNvPr id="458778" name="Text Box 26"/>
          <p:cNvSpPr txBox="1">
            <a:spLocks noChangeArrowheads="1"/>
          </p:cNvSpPr>
          <p:nvPr/>
        </p:nvSpPr>
        <p:spPr bwMode="auto">
          <a:xfrm>
            <a:off x="7954434" y="2438401"/>
            <a:ext cx="1350050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300" dirty="0">
                <a:solidFill>
                  <a:srgbClr val="C00000"/>
                </a:solidFill>
                <a:sym typeface="Wingdings" pitchFamily="2" charset="2"/>
              </a:rPr>
              <a:t></a:t>
            </a:r>
          </a:p>
        </p:txBody>
      </p:sp>
    </p:spTree>
    <p:extLst>
      <p:ext uri="{BB962C8B-B14F-4D97-AF65-F5344CB8AC3E}">
        <p14:creationId xmlns:p14="http://schemas.microsoft.com/office/powerpoint/2010/main" val="138507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71" grpId="0" build="p" animBg="1"/>
      <p:bldP spid="45877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14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76633" y="347661"/>
            <a:ext cx="674814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ea typeface="Calibri"/>
                <a:cs typeface="Times New Roman"/>
              </a:rPr>
              <a:t>MOUD- CLPIU FUNCTIONS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  <a:cs typeface="Times New Roman"/>
              </a:rPr>
              <a:t>Support through DLPIU in 14 affected Districts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58647" y="2399862"/>
            <a:ext cx="7329948" cy="135439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/>
                <a:ea typeface="Calibri"/>
              </a:rPr>
              <a:t>Inspection and certification of rural and urban Housing built through owner driven approach and built back better concept</a:t>
            </a:r>
            <a:endParaRPr lang="en-US" sz="2800" b="1" dirty="0">
              <a:solidFill>
                <a:srgbClr val="7030A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58646" y="4382814"/>
            <a:ext cx="7329948" cy="130853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/>
                <a:ea typeface="Calibri"/>
              </a:rPr>
              <a:t>Train mason and house owner and technician about Earthquake Resistant Technology</a:t>
            </a:r>
          </a:p>
        </p:txBody>
      </p:sp>
      <p:sp>
        <p:nvSpPr>
          <p:cNvPr id="14" name="Right Arrow 13"/>
          <p:cNvSpPr/>
          <p:nvPr/>
        </p:nvSpPr>
        <p:spPr>
          <a:xfrm rot="5400000">
            <a:off x="4303742" y="1694849"/>
            <a:ext cx="577715" cy="782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 rot="5400000">
            <a:off x="4039443" y="3677257"/>
            <a:ext cx="628558" cy="7825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6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38866" y="244385"/>
            <a:ext cx="6327058" cy="65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200" b="1" dirty="0" smtClean="0">
                <a:solidFill>
                  <a:srgbClr val="FF0000"/>
                </a:solidFill>
                <a:ea typeface="Calibri"/>
                <a:cs typeface="Times New Roman"/>
              </a:rPr>
              <a:t>Functional Modality</a:t>
            </a:r>
            <a:endParaRPr lang="en-US" sz="3200" dirty="0">
              <a:solidFill>
                <a:srgbClr val="FF0000"/>
              </a:solidFill>
              <a:ea typeface="Calibri"/>
              <a:cs typeface="Times New Roman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7822" y="1183805"/>
            <a:ext cx="5641256" cy="98729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 smtClean="0">
                <a:solidFill>
                  <a:srgbClr val="002060"/>
                </a:solidFill>
                <a:latin typeface="Times New Roman"/>
              </a:rPr>
              <a:t>MOUD</a:t>
            </a:r>
            <a:r>
              <a:rPr lang="en-US" sz="2000" dirty="0" smtClean="0">
                <a:solidFill>
                  <a:srgbClr val="002060"/>
                </a:solidFill>
                <a:latin typeface="Times New Roman"/>
              </a:rPr>
              <a:t> –</a:t>
            </a:r>
            <a:r>
              <a:rPr lang="en-US" sz="2000" dirty="0" err="1" smtClean="0">
                <a:solidFill>
                  <a:srgbClr val="002060"/>
                </a:solidFill>
                <a:latin typeface="Times New Roman"/>
              </a:rPr>
              <a:t>CLPIU</a:t>
            </a:r>
            <a:endParaRPr lang="en-US" sz="2000" dirty="0" smtClean="0">
              <a:solidFill>
                <a:srgbClr val="002060"/>
              </a:solidFill>
              <a:latin typeface="Times New Roman"/>
            </a:endParaRPr>
          </a:p>
          <a:p>
            <a:pPr algn="ctr"/>
            <a:r>
              <a:rPr lang="en-US" sz="2000" dirty="0" smtClean="0">
                <a:solidFill>
                  <a:srgbClr val="002060"/>
                </a:solidFill>
                <a:latin typeface="Times New Roman"/>
              </a:rPr>
              <a:t>Project </a:t>
            </a:r>
            <a:r>
              <a:rPr lang="en-US" sz="2000" dirty="0">
                <a:solidFill>
                  <a:srgbClr val="002060"/>
                </a:solidFill>
                <a:latin typeface="Times New Roman"/>
              </a:rPr>
              <a:t>Director, </a:t>
            </a:r>
            <a:endParaRPr lang="en-US" sz="2000" dirty="0" smtClean="0">
              <a:solidFill>
                <a:srgbClr val="002060"/>
              </a:solidFill>
              <a:latin typeface="Times New Roman"/>
            </a:endParaRPr>
          </a:p>
          <a:p>
            <a:pPr algn="ctr"/>
            <a:r>
              <a:rPr lang="en-US" sz="2000" dirty="0" smtClean="0">
                <a:solidFill>
                  <a:srgbClr val="002060"/>
                </a:solidFill>
                <a:latin typeface="Times New Roman"/>
              </a:rPr>
              <a:t>Deputy </a:t>
            </a:r>
            <a:r>
              <a:rPr lang="en-US" sz="2000" dirty="0">
                <a:solidFill>
                  <a:srgbClr val="002060"/>
                </a:solidFill>
                <a:latin typeface="Times New Roman"/>
              </a:rPr>
              <a:t>Project </a:t>
            </a:r>
            <a:r>
              <a:rPr lang="en-US" sz="2000" dirty="0" smtClean="0">
                <a:solidFill>
                  <a:srgbClr val="002060"/>
                </a:solidFill>
                <a:latin typeface="Times New Roman"/>
              </a:rPr>
              <a:t>Directors / </a:t>
            </a:r>
            <a:r>
              <a:rPr lang="en-US" sz="2000" dirty="0">
                <a:solidFill>
                  <a:srgbClr val="002060"/>
                </a:solidFill>
                <a:latin typeface="Times New Roman"/>
              </a:rPr>
              <a:t>Chief Finance Controller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67360" y="2775299"/>
            <a:ext cx="4461385" cy="4572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prstClr val="black"/>
                </a:solidFill>
                <a:latin typeface="Times New Roman"/>
              </a:rPr>
              <a:t>M &amp; E Specialist - Central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67359" y="4382238"/>
            <a:ext cx="4461386" cy="4572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prstClr val="black"/>
                </a:solidFill>
                <a:latin typeface="Times New Roman"/>
              </a:rPr>
              <a:t>M &amp; E Specialist - </a:t>
            </a:r>
            <a:r>
              <a:rPr lang="en-US" sz="2800" dirty="0" smtClean="0">
                <a:solidFill>
                  <a:prstClr val="black"/>
                </a:solidFill>
                <a:latin typeface="Times New Roman"/>
              </a:rPr>
              <a:t>Districts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072644" y="2775299"/>
            <a:ext cx="2042651" cy="45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prstClr val="black"/>
                </a:solidFill>
                <a:latin typeface="Times New Roman"/>
              </a:rPr>
              <a:t>NRA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383952" y="3594744"/>
            <a:ext cx="2359743" cy="4572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solidFill>
                  <a:prstClr val="black"/>
                </a:solidFill>
                <a:latin typeface="Times New Roman"/>
              </a:rPr>
              <a:t>DLPIU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207019" y="4257601"/>
            <a:ext cx="1696067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prstClr val="black"/>
                </a:solidFill>
                <a:latin typeface="Times New Roman"/>
              </a:rPr>
              <a:t>POs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48" name="Arc 47"/>
          <p:cNvSpPr/>
          <p:nvPr/>
        </p:nvSpPr>
        <p:spPr>
          <a:xfrm>
            <a:off x="4406076" y="1817144"/>
            <a:ext cx="3362632" cy="3022294"/>
          </a:xfrm>
          <a:prstGeom prst="arc">
            <a:avLst>
              <a:gd name="adj1" fmla="val 4551618"/>
              <a:gd name="adj2" fmla="val 4348468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9" name="Elbow Connector 48"/>
          <p:cNvCxnSpPr/>
          <p:nvPr/>
        </p:nvCxnSpPr>
        <p:spPr>
          <a:xfrm rot="10800000" flipV="1">
            <a:off x="542000" y="1677455"/>
            <a:ext cx="125823" cy="4208996"/>
          </a:xfrm>
          <a:prstGeom prst="bentConnector3">
            <a:avLst>
              <a:gd name="adj1" fmla="val 28168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2297057" y="2171105"/>
            <a:ext cx="0" cy="6041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>
            <a:off x="2297057" y="3232499"/>
            <a:ext cx="0" cy="11497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4686296" y="4051944"/>
            <a:ext cx="0" cy="35961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710876" y="3232499"/>
            <a:ext cx="0" cy="3622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128745" y="2946889"/>
            <a:ext cx="94389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4981263" y="3232499"/>
            <a:ext cx="0" cy="3622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128744" y="3209886"/>
            <a:ext cx="94389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c 56"/>
          <p:cNvSpPr/>
          <p:nvPr/>
        </p:nvSpPr>
        <p:spPr>
          <a:xfrm>
            <a:off x="4406076" y="1817144"/>
            <a:ext cx="3362632" cy="3022294"/>
          </a:xfrm>
          <a:prstGeom prst="arc">
            <a:avLst>
              <a:gd name="adj1" fmla="val 4551618"/>
              <a:gd name="adj2" fmla="val 4348468"/>
            </a:avLst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V="1">
            <a:off x="3186874" y="2171105"/>
            <a:ext cx="0" cy="222491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3382753" y="2171105"/>
            <a:ext cx="0" cy="219703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2449457" y="3232499"/>
            <a:ext cx="0" cy="11356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2449457" y="2182761"/>
            <a:ext cx="0" cy="6041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41999" y="5500688"/>
            <a:ext cx="7934631" cy="77152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7030A0"/>
                </a:solidFill>
                <a:latin typeface="Times New Roman"/>
              </a:rPr>
              <a:t>Support to Earthquake affected house owners for build back better &amp; Train Mason, </a:t>
            </a:r>
            <a:r>
              <a:rPr lang="en-US" sz="2000" b="1" dirty="0" err="1" smtClean="0">
                <a:solidFill>
                  <a:srgbClr val="7030A0"/>
                </a:solidFill>
                <a:latin typeface="Times New Roman"/>
              </a:rPr>
              <a:t>HHs</a:t>
            </a:r>
            <a:r>
              <a:rPr lang="en-US" sz="2000" b="1" dirty="0" smtClean="0">
                <a:solidFill>
                  <a:srgbClr val="7030A0"/>
                </a:solidFill>
                <a:latin typeface="Times New Roman"/>
              </a:rPr>
              <a:t> and Technicians.</a:t>
            </a:r>
            <a:endParaRPr lang="en-US" sz="2000" b="1" dirty="0">
              <a:solidFill>
                <a:srgbClr val="7030A0"/>
              </a:solidFill>
            </a:endParaRPr>
          </a:p>
        </p:txBody>
      </p:sp>
      <p:cxnSp>
        <p:nvCxnSpPr>
          <p:cNvPr id="63" name="Elbow Connector 62"/>
          <p:cNvCxnSpPr>
            <a:endCxn id="62" idx="3"/>
          </p:cNvCxnSpPr>
          <p:nvPr/>
        </p:nvCxnSpPr>
        <p:spPr>
          <a:xfrm>
            <a:off x="6309078" y="1677455"/>
            <a:ext cx="2167552" cy="4208996"/>
          </a:xfrm>
          <a:prstGeom prst="bentConnector3">
            <a:avLst>
              <a:gd name="adj1" fmla="val 110546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563823" y="2171105"/>
            <a:ext cx="36871" cy="14236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5857875" y="2171105"/>
            <a:ext cx="0" cy="14236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V="1">
            <a:off x="6199239" y="2182761"/>
            <a:ext cx="0" cy="5925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6046839" y="2182761"/>
            <a:ext cx="0" cy="6041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4838696" y="4062312"/>
            <a:ext cx="0" cy="3199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82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41" grpId="0" animBg="1"/>
      <p:bldP spid="44" grpId="0" animBg="1"/>
      <p:bldP spid="46" grpId="0" animBg="1"/>
      <p:bldP spid="47" grpId="0" animBg="1"/>
      <p:bldP spid="5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692653"/>
              </p:ext>
            </p:extLst>
          </p:nvPr>
        </p:nvGraphicFramePr>
        <p:xfrm>
          <a:off x="1021976" y="914836"/>
          <a:ext cx="7368988" cy="5181600"/>
        </p:xfrm>
        <a:graphic>
          <a:graphicData uri="http://schemas.openxmlformats.org/drawingml/2006/table">
            <a:tbl>
              <a:tblPr firstRow="1" firstCol="1" bandRow="1"/>
              <a:tblGrid>
                <a:gridCol w="636318"/>
                <a:gridCol w="4443380"/>
                <a:gridCol w="2289290"/>
              </a:tblGrid>
              <a:tr h="24035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 N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Name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Mobile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70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Dr. </a:t>
                      </a:r>
                      <a:r>
                        <a:rPr lang="en-US" sz="20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Diwat</a:t>
                      </a:r>
                      <a:r>
                        <a:rPr lang="en-US" sz="20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Kumar Shrestha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Team Leader Central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9851196789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70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Janak</a:t>
                      </a: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Raj Joshi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Ramechhap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/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Dolakha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9851101041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70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Khagendra</a:t>
                      </a: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Awasti</a:t>
                      </a: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Gorkha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/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Dhading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9741063150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70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Kiran Kumar </a:t>
                      </a: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Mahat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Sindhuli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/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Okhaldhunga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9841500163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70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Narakanta</a:t>
                      </a: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Sapkota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Kathmandu/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Bhakatpur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9851090721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70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Prabhu</a:t>
                      </a: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Ram </a:t>
                      </a: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Pokheral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Rasuwa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/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Nuwakot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9851224243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70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Roshan </a:t>
                      </a: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Giri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Lalitpur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/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Makawanpur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9841335744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570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Roshan</a:t>
                      </a: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Keshari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Kavre</a:t>
                      </a:r>
                      <a:r>
                        <a:rPr lang="en-US" sz="2000" dirty="0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/ </a:t>
                      </a:r>
                      <a:r>
                        <a:rPr lang="en-US" sz="2000" dirty="0" err="1">
                          <a:solidFill>
                            <a:srgbClr val="0070C0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Sindhupalchowk</a:t>
                      </a:r>
                      <a:endParaRPr lang="en-US" sz="2000" dirty="0">
                        <a:solidFill>
                          <a:srgbClr val="0070C0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9841640357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44323" y="270310"/>
            <a:ext cx="60409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600" b="1" dirty="0" err="1" smtClean="0">
                <a:solidFill>
                  <a:srgbClr val="FF0000"/>
                </a:solidFill>
              </a:rPr>
              <a:t>MoUD</a:t>
            </a:r>
            <a:r>
              <a:rPr lang="en-US" sz="3600" b="1" dirty="0" smtClean="0">
                <a:solidFill>
                  <a:srgbClr val="FF0000"/>
                </a:solidFill>
              </a:rPr>
              <a:t> CLPIU Monitoring Team</a:t>
            </a:r>
            <a:endParaRPr 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84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65122" y="599944"/>
            <a:ext cx="6902245" cy="825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4400" b="1" dirty="0" smtClean="0">
                <a:solidFill>
                  <a:srgbClr val="FF0000"/>
                </a:solidFill>
                <a:ea typeface="Calibri"/>
                <a:cs typeface="Times New Roman"/>
              </a:rPr>
              <a:t>Main Activity</a:t>
            </a:r>
            <a:endParaRPr lang="en-US" sz="4400" dirty="0">
              <a:solidFill>
                <a:srgbClr val="FF0000"/>
              </a:solidFill>
              <a:ea typeface="Calibri"/>
              <a:cs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99566" y="3436884"/>
            <a:ext cx="7342094" cy="170267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rgbClr val="00B050"/>
                </a:solidFill>
                <a:latin typeface="Times New Roman"/>
                <a:ea typeface="Calibri"/>
              </a:rPr>
              <a:t>Support </a:t>
            </a:r>
            <a:r>
              <a:rPr lang="en-US" sz="3200" b="1" dirty="0">
                <a:solidFill>
                  <a:srgbClr val="00B050"/>
                </a:solidFill>
                <a:latin typeface="Times New Roman"/>
                <a:ea typeface="Calibri"/>
              </a:rPr>
              <a:t>MOUD </a:t>
            </a:r>
            <a:r>
              <a:rPr lang="en-US" sz="3200" b="1" dirty="0">
                <a:solidFill>
                  <a:srgbClr val="7030A0"/>
                </a:solidFill>
                <a:latin typeface="Times New Roman"/>
                <a:ea typeface="Calibri"/>
              </a:rPr>
              <a:t>in monitoring and evaluation of owner driven </a:t>
            </a:r>
            <a:r>
              <a:rPr lang="en-US" sz="3200" b="1" dirty="0">
                <a:solidFill>
                  <a:srgbClr val="00B050"/>
                </a:solidFill>
                <a:latin typeface="Times New Roman"/>
                <a:ea typeface="Calibri"/>
              </a:rPr>
              <a:t>housing </a:t>
            </a:r>
            <a:r>
              <a:rPr lang="en-US" sz="3200" b="1" dirty="0" smtClean="0">
                <a:solidFill>
                  <a:srgbClr val="00B050"/>
                </a:solidFill>
                <a:latin typeface="Times New Roman"/>
                <a:ea typeface="Calibri"/>
              </a:rPr>
              <a:t>construction</a:t>
            </a:r>
            <a:r>
              <a:rPr lang="en-US" sz="3200" b="1" dirty="0" smtClean="0">
                <a:solidFill>
                  <a:srgbClr val="7030A0"/>
                </a:solidFill>
                <a:latin typeface="Times New Roman"/>
                <a:ea typeface="Calibri"/>
              </a:rPr>
              <a:t>.</a:t>
            </a:r>
            <a:endParaRPr lang="en-US" sz="3200" b="1" dirty="0">
              <a:solidFill>
                <a:srgbClr val="7030A0"/>
              </a:solidFill>
              <a:latin typeface="Times New Roman"/>
              <a:ea typeface="Calibri"/>
            </a:endParaRPr>
          </a:p>
          <a:p>
            <a:endParaRPr lang="en-US" sz="2800" b="1" dirty="0">
              <a:solidFill>
                <a:srgbClr val="7030A0"/>
              </a:solidFill>
              <a:latin typeface="Times New Roman"/>
              <a:ea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99566" y="1425236"/>
            <a:ext cx="7342094" cy="18066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7030A0"/>
                </a:solidFill>
                <a:latin typeface="Times New Roman"/>
                <a:ea typeface="Calibri"/>
              </a:rPr>
              <a:t>Monitor and evaluate </a:t>
            </a:r>
            <a:r>
              <a:rPr lang="en-US" sz="3200" b="1" dirty="0">
                <a:solidFill>
                  <a:srgbClr val="00B050"/>
                </a:solidFill>
                <a:latin typeface="Times New Roman"/>
                <a:ea typeface="Calibri"/>
              </a:rPr>
              <a:t>the training activities</a:t>
            </a:r>
            <a:r>
              <a:rPr lang="en-US" sz="3200" b="1" dirty="0">
                <a:solidFill>
                  <a:srgbClr val="7030A0"/>
                </a:solidFill>
                <a:latin typeface="Times New Roman"/>
                <a:ea typeface="Calibri"/>
              </a:rPr>
              <a:t> conducted by the </a:t>
            </a:r>
            <a:r>
              <a:rPr lang="en-US" sz="3200" b="1" dirty="0" err="1" smtClean="0">
                <a:solidFill>
                  <a:srgbClr val="7030A0"/>
                </a:solidFill>
                <a:latin typeface="Times New Roman"/>
                <a:ea typeface="Calibri"/>
              </a:rPr>
              <a:t>CLPIU</a:t>
            </a:r>
            <a:r>
              <a:rPr lang="en-US" sz="3200" b="1" dirty="0" smtClean="0">
                <a:solidFill>
                  <a:srgbClr val="7030A0"/>
                </a:solidFill>
                <a:latin typeface="Times New Roman"/>
                <a:ea typeface="Calibri"/>
              </a:rPr>
              <a:t> / </a:t>
            </a:r>
            <a:r>
              <a:rPr lang="en-US" sz="3200" b="1" dirty="0" err="1" smtClean="0">
                <a:solidFill>
                  <a:srgbClr val="7030A0"/>
                </a:solidFill>
                <a:latin typeface="Times New Roman"/>
                <a:ea typeface="Calibri"/>
              </a:rPr>
              <a:t>DLPIUs</a:t>
            </a:r>
            <a:r>
              <a:rPr lang="en-US" sz="3200" b="1" dirty="0" smtClean="0">
                <a:solidFill>
                  <a:srgbClr val="7030A0"/>
                </a:solidFill>
                <a:latin typeface="Times New Roman"/>
                <a:ea typeface="Calibri"/>
              </a:rPr>
              <a:t> / Partner Organizations.</a:t>
            </a:r>
          </a:p>
          <a:p>
            <a:endParaRPr lang="en-US" sz="2800" b="1" dirty="0">
              <a:solidFill>
                <a:srgbClr val="7030A0"/>
              </a:solidFill>
              <a:latin typeface="Times New Roman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40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18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55407" y="368417"/>
            <a:ext cx="70497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000" b="1" dirty="0" smtClean="0">
                <a:solidFill>
                  <a:srgbClr val="FF0000"/>
                </a:solidFill>
              </a:rPr>
              <a:t>Specific Activities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5187" y="1256759"/>
            <a:ext cx="8067368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9725" lvl="0" indent="-28098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prstClr val="black"/>
                </a:solidFill>
                <a:ea typeface="Calibri"/>
              </a:rPr>
              <a:t>Develop and implement </a:t>
            </a:r>
            <a:r>
              <a:rPr lang="en-US" sz="2800" b="1" dirty="0" smtClean="0">
                <a:solidFill>
                  <a:srgbClr val="00B0F0"/>
                </a:solidFill>
                <a:ea typeface="Calibri"/>
              </a:rPr>
              <a:t>M &amp; E framework </a:t>
            </a:r>
            <a:r>
              <a:rPr lang="en-US" sz="2800" dirty="0" smtClean="0">
                <a:solidFill>
                  <a:prstClr val="black"/>
                </a:solidFill>
                <a:ea typeface="Calibri"/>
              </a:rPr>
              <a:t>with detail Log Frame.</a:t>
            </a:r>
          </a:p>
          <a:p>
            <a:pPr marL="339725" lvl="0" indent="-28098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B0F0"/>
                </a:solidFill>
                <a:ea typeface="Calibri"/>
              </a:rPr>
              <a:t>Coordinate</a:t>
            </a:r>
            <a:r>
              <a:rPr lang="en-US" sz="2800" dirty="0" smtClean="0">
                <a:solidFill>
                  <a:prstClr val="black"/>
                </a:solidFill>
                <a:ea typeface="Calibri"/>
              </a:rPr>
              <a:t> with NRA, POs, </a:t>
            </a:r>
            <a:r>
              <a:rPr lang="en-US" sz="2800" dirty="0" err="1" smtClean="0">
                <a:solidFill>
                  <a:prstClr val="black"/>
                </a:solidFill>
                <a:ea typeface="Calibri"/>
              </a:rPr>
              <a:t>GOs</a:t>
            </a:r>
            <a:r>
              <a:rPr lang="en-US" sz="2800" dirty="0" smtClean="0">
                <a:solidFill>
                  <a:prstClr val="black"/>
                </a:solidFill>
                <a:ea typeface="Calibri"/>
              </a:rPr>
              <a:t> and Earthquake Affected Households.</a:t>
            </a:r>
          </a:p>
          <a:p>
            <a:pPr marL="339725" lvl="0" indent="-28098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ea typeface="Calibri"/>
              </a:rPr>
              <a:t>Conduct </a:t>
            </a:r>
            <a:r>
              <a:rPr lang="en-US" sz="2800" b="1" dirty="0">
                <a:solidFill>
                  <a:srgbClr val="00B0F0"/>
                </a:solidFill>
                <a:ea typeface="Calibri"/>
              </a:rPr>
              <a:t>periodic site visit </a:t>
            </a:r>
            <a:r>
              <a:rPr lang="en-US" sz="2800" dirty="0">
                <a:solidFill>
                  <a:prstClr val="black"/>
                </a:solidFill>
                <a:ea typeface="Calibri"/>
              </a:rPr>
              <a:t>of owner driven housing </a:t>
            </a:r>
            <a:r>
              <a:rPr lang="en-US" sz="2800" dirty="0" smtClean="0">
                <a:solidFill>
                  <a:prstClr val="black"/>
                </a:solidFill>
                <a:ea typeface="Calibri"/>
              </a:rPr>
              <a:t>construction </a:t>
            </a:r>
            <a:r>
              <a:rPr lang="en-US" sz="2800" dirty="0">
                <a:solidFill>
                  <a:prstClr val="black"/>
                </a:solidFill>
                <a:ea typeface="Calibri"/>
              </a:rPr>
              <a:t>in earthquake affected </a:t>
            </a:r>
            <a:r>
              <a:rPr lang="en-US" sz="2800" dirty="0" smtClean="0">
                <a:solidFill>
                  <a:prstClr val="black"/>
                </a:solidFill>
                <a:ea typeface="Calibri"/>
              </a:rPr>
              <a:t>region.</a:t>
            </a:r>
          </a:p>
          <a:p>
            <a:pPr marL="339725" lvl="0" indent="-280988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  <a:ea typeface="Calibri"/>
              </a:rPr>
              <a:t>Inspection and monitoring of housing construction and training activities by various partner </a:t>
            </a:r>
            <a:r>
              <a:rPr lang="en-US" sz="2800" b="1" dirty="0" smtClean="0">
                <a:solidFill>
                  <a:srgbClr val="00B0F0"/>
                </a:solidFill>
                <a:ea typeface="Calibri"/>
              </a:rPr>
              <a:t>organizations.</a:t>
            </a:r>
          </a:p>
        </p:txBody>
      </p:sp>
    </p:spTree>
    <p:extLst>
      <p:ext uri="{BB962C8B-B14F-4D97-AF65-F5344CB8AC3E}">
        <p14:creationId xmlns:p14="http://schemas.microsoft.com/office/powerpoint/2010/main" val="339568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19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628197" y="479775"/>
            <a:ext cx="38876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4000" b="1" dirty="0">
                <a:solidFill>
                  <a:srgbClr val="FF0000"/>
                </a:solidFill>
              </a:rPr>
              <a:t>Specific Activities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93376" y="1223352"/>
            <a:ext cx="766482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B050"/>
                </a:solidFill>
              </a:rPr>
              <a:t>Collection and Consolidation of data related to </a:t>
            </a:r>
            <a:r>
              <a:rPr lang="en-US" sz="2800" dirty="0">
                <a:solidFill>
                  <a:srgbClr val="00B050"/>
                </a:solidFill>
              </a:rPr>
              <a:t>owner driven housing </a:t>
            </a:r>
            <a:r>
              <a:rPr lang="en-US" sz="2800" dirty="0" smtClean="0">
                <a:solidFill>
                  <a:srgbClr val="00B050"/>
                </a:solidFill>
              </a:rPr>
              <a:t>construction and training activities and report to </a:t>
            </a:r>
            <a:r>
              <a:rPr lang="en-US" sz="2800" dirty="0" err="1" smtClean="0">
                <a:solidFill>
                  <a:srgbClr val="00B050"/>
                </a:solidFill>
              </a:rPr>
              <a:t>MOUD-DLPIU</a:t>
            </a:r>
            <a:r>
              <a:rPr lang="en-US" sz="2800" dirty="0" smtClean="0">
                <a:solidFill>
                  <a:srgbClr val="00B050"/>
                </a:solidFill>
              </a:rPr>
              <a:t>/ </a:t>
            </a:r>
            <a:r>
              <a:rPr lang="en-US" sz="2800" dirty="0" err="1" smtClean="0">
                <a:solidFill>
                  <a:srgbClr val="00B050"/>
                </a:solidFill>
              </a:rPr>
              <a:t>CLPIU</a:t>
            </a:r>
            <a:r>
              <a:rPr lang="en-US" sz="2800" dirty="0" smtClean="0">
                <a:solidFill>
                  <a:srgbClr val="00B050"/>
                </a:solidFill>
              </a:rPr>
              <a:t> and NRA.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Design and development of M&amp;E methods, M&amp;E </a:t>
            </a:r>
            <a:r>
              <a:rPr lang="en-US" sz="2800" dirty="0"/>
              <a:t>tools and </a:t>
            </a:r>
            <a:r>
              <a:rPr lang="en-US" sz="2800" dirty="0" smtClean="0"/>
              <a:t>implement/ timely modify it.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B050"/>
                </a:solidFill>
              </a:rPr>
              <a:t>Carrying </a:t>
            </a:r>
            <a:r>
              <a:rPr lang="en-US" sz="2800" dirty="0">
                <a:solidFill>
                  <a:srgbClr val="00B050"/>
                </a:solidFill>
              </a:rPr>
              <a:t>out training </a:t>
            </a:r>
            <a:r>
              <a:rPr lang="en-US" sz="2800" dirty="0" smtClean="0">
                <a:solidFill>
                  <a:srgbClr val="00B050"/>
                </a:solidFill>
              </a:rPr>
              <a:t>need assessments.</a:t>
            </a:r>
          </a:p>
          <a:p>
            <a:pPr marL="285750" lvl="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prstClr val="black"/>
                </a:solidFill>
              </a:rPr>
              <a:t>Provide technical assistance/ Advices related to Monitoring and Evaluation.</a:t>
            </a:r>
            <a:endParaRPr lang="en-US" sz="2800" dirty="0">
              <a:solidFill>
                <a:prstClr val="black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6913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11161" y="496979"/>
            <a:ext cx="7315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000" b="1" dirty="0">
                <a:solidFill>
                  <a:srgbClr val="FF0000"/>
                </a:solidFill>
              </a:rPr>
              <a:t>Specific Activities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1161" y="1362013"/>
            <a:ext cx="7919883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Be the focal person at </a:t>
            </a:r>
            <a:r>
              <a:rPr lang="en-US" sz="2800" dirty="0" smtClean="0">
                <a:solidFill>
                  <a:srgbClr val="00B050"/>
                </a:solidFill>
              </a:rPr>
              <a:t>MOUD- CLPIU/ DLPIU </a:t>
            </a:r>
            <a:r>
              <a:rPr lang="en-US" sz="2800" dirty="0">
                <a:solidFill>
                  <a:srgbClr val="00B050"/>
                </a:solidFill>
              </a:rPr>
              <a:t>for coordination between project </a:t>
            </a:r>
            <a:r>
              <a:rPr lang="en-US" sz="2800" dirty="0" smtClean="0">
                <a:solidFill>
                  <a:srgbClr val="00B050"/>
                </a:solidFill>
              </a:rPr>
              <a:t>level M&amp;E </a:t>
            </a:r>
            <a:r>
              <a:rPr lang="en-US" sz="2800" dirty="0">
                <a:solidFill>
                  <a:srgbClr val="00B050"/>
                </a:solidFill>
              </a:rPr>
              <a:t>and EHRP program level </a:t>
            </a:r>
            <a:r>
              <a:rPr lang="en-US" sz="2800" dirty="0" smtClean="0">
                <a:solidFill>
                  <a:srgbClr val="00B050"/>
                </a:solidFill>
              </a:rPr>
              <a:t>M&amp;E.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Develop </a:t>
            </a:r>
            <a:r>
              <a:rPr lang="en-US" sz="2800" dirty="0"/>
              <a:t>and maintain a </a:t>
            </a:r>
            <a:r>
              <a:rPr lang="en-US" sz="2800" dirty="0" smtClean="0"/>
              <a:t>M&amp;E </a:t>
            </a:r>
            <a:r>
              <a:rPr lang="en-US" sz="2800" dirty="0"/>
              <a:t>database for the project and contribute to </a:t>
            </a:r>
            <a:r>
              <a:rPr lang="en-US" sz="2800" dirty="0" smtClean="0"/>
              <a:t>the maintenance </a:t>
            </a:r>
            <a:r>
              <a:rPr lang="en-US" sz="2800" dirty="0"/>
              <a:t>of a database of EHRP </a:t>
            </a:r>
            <a:r>
              <a:rPr lang="en-US" sz="2800" dirty="0" smtClean="0"/>
              <a:t>project.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B050"/>
                </a:solidFill>
              </a:rPr>
              <a:t>Coordinate </a:t>
            </a:r>
            <a:r>
              <a:rPr lang="en-US" sz="2800" dirty="0">
                <a:solidFill>
                  <a:srgbClr val="00B050"/>
                </a:solidFill>
              </a:rPr>
              <a:t>and cooperate with </a:t>
            </a:r>
            <a:r>
              <a:rPr lang="en-US" sz="2800" dirty="0" smtClean="0">
                <a:solidFill>
                  <a:srgbClr val="00B050"/>
                </a:solidFill>
              </a:rPr>
              <a:t>NRA and all Stakeholders for </a:t>
            </a:r>
            <a:r>
              <a:rPr lang="en-US" sz="2800" dirty="0">
                <a:solidFill>
                  <a:srgbClr val="00B050"/>
                </a:solidFill>
              </a:rPr>
              <a:t>promoting </a:t>
            </a:r>
            <a:r>
              <a:rPr lang="en-US" sz="2800" dirty="0" smtClean="0">
                <a:solidFill>
                  <a:srgbClr val="00B050"/>
                </a:solidFill>
              </a:rPr>
              <a:t>and information </a:t>
            </a:r>
            <a:r>
              <a:rPr lang="en-US" sz="2800" dirty="0">
                <a:solidFill>
                  <a:srgbClr val="00B050"/>
                </a:solidFill>
              </a:rPr>
              <a:t>sharing on all </a:t>
            </a:r>
            <a:r>
              <a:rPr lang="en-US" sz="2800" dirty="0" smtClean="0">
                <a:solidFill>
                  <a:srgbClr val="00B050"/>
                </a:solidFill>
              </a:rPr>
              <a:t>aspects related </a:t>
            </a:r>
            <a:r>
              <a:rPr lang="en-US" sz="2800" dirty="0">
                <a:solidFill>
                  <a:srgbClr val="00B050"/>
                </a:solidFill>
              </a:rPr>
              <a:t>to project </a:t>
            </a:r>
            <a:r>
              <a:rPr lang="en-US" sz="2800" dirty="0" smtClean="0">
                <a:solidFill>
                  <a:srgbClr val="00B050"/>
                </a:solidFill>
              </a:rPr>
              <a:t>activities.</a:t>
            </a:r>
          </a:p>
        </p:txBody>
      </p:sp>
    </p:spTree>
    <p:extLst>
      <p:ext uri="{BB962C8B-B14F-4D97-AF65-F5344CB8AC3E}">
        <p14:creationId xmlns:p14="http://schemas.microsoft.com/office/powerpoint/2010/main" val="305968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8426" y="429744"/>
            <a:ext cx="7315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000" b="1" dirty="0">
                <a:solidFill>
                  <a:srgbClr val="FF0000"/>
                </a:solidFill>
              </a:rPr>
              <a:t>Specific Activities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5404" y="1390228"/>
            <a:ext cx="7728155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</a:rPr>
              <a:t>Ensuring mentoring and training of project team to foster capacity building on </a:t>
            </a:r>
            <a:r>
              <a:rPr lang="en-US" sz="2800" dirty="0" smtClean="0">
                <a:solidFill>
                  <a:srgbClr val="00B050"/>
                </a:solidFill>
              </a:rPr>
              <a:t>M &amp; E knowledge.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/>
              <a:t>Review </a:t>
            </a:r>
            <a:r>
              <a:rPr lang="en-US" sz="2800" dirty="0"/>
              <a:t>monitoring and evaluation system</a:t>
            </a:r>
            <a:r>
              <a:rPr lang="en-US" sz="2800" dirty="0" smtClean="0"/>
              <a:t>/ mechanism</a:t>
            </a:r>
            <a:r>
              <a:rPr lang="en-US" sz="2800" dirty="0"/>
              <a:t>, process and procedures </a:t>
            </a:r>
            <a:r>
              <a:rPr lang="en-US" sz="2800" dirty="0" smtClean="0"/>
              <a:t>of the </a:t>
            </a:r>
            <a:r>
              <a:rPr lang="en-US" sz="2800" dirty="0"/>
              <a:t>project and forms and formats for project activities under its </a:t>
            </a:r>
            <a:r>
              <a:rPr lang="en-US" sz="2800" dirty="0" smtClean="0"/>
              <a:t>various components.</a:t>
            </a:r>
          </a:p>
          <a:p>
            <a:pPr marL="342900" lvl="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B050"/>
                </a:solidFill>
              </a:rPr>
              <a:t>Monitor </a:t>
            </a:r>
            <a:r>
              <a:rPr lang="en-US" sz="2800" dirty="0">
                <a:solidFill>
                  <a:srgbClr val="00B050"/>
                </a:solidFill>
              </a:rPr>
              <a:t>project progress through field visit, offer feedback and keep </a:t>
            </a:r>
            <a:r>
              <a:rPr lang="en-US" sz="2800" dirty="0" smtClean="0">
                <a:solidFill>
                  <a:srgbClr val="00B050"/>
                </a:solidFill>
              </a:rPr>
              <a:t>regular communication </a:t>
            </a:r>
            <a:r>
              <a:rPr lang="en-US" sz="2800" dirty="0">
                <a:solidFill>
                  <a:srgbClr val="00B050"/>
                </a:solidFill>
              </a:rPr>
              <a:t>with related field and </a:t>
            </a:r>
            <a:r>
              <a:rPr lang="en-US" sz="2800" dirty="0" smtClean="0">
                <a:solidFill>
                  <a:srgbClr val="00B050"/>
                </a:solidFill>
              </a:rPr>
              <a:t>center </a:t>
            </a:r>
            <a:r>
              <a:rPr lang="en-US" sz="2800" dirty="0">
                <a:solidFill>
                  <a:srgbClr val="00B050"/>
                </a:solidFill>
              </a:rPr>
              <a:t>level </a:t>
            </a:r>
            <a:r>
              <a:rPr lang="en-US" sz="2800" dirty="0" smtClean="0">
                <a:solidFill>
                  <a:srgbClr val="00B050"/>
                </a:solidFill>
              </a:rPr>
              <a:t>staff.</a:t>
            </a:r>
            <a:endParaRPr lang="en-US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60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78426" y="254932"/>
            <a:ext cx="7315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000" b="1" dirty="0">
                <a:solidFill>
                  <a:srgbClr val="FF0000"/>
                </a:solidFill>
              </a:rPr>
              <a:t>Specific Activities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0439" y="1390228"/>
            <a:ext cx="8170605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cs typeface="Times New Roman" panose="02020603050405020304" pitchFamily="18" charset="0"/>
              </a:rPr>
              <a:t>F</a:t>
            </a:r>
            <a:r>
              <a:rPr lang="en-US" sz="2800" dirty="0" smtClean="0">
                <a:cs typeface="Times New Roman" panose="02020603050405020304" pitchFamily="18" charset="0"/>
              </a:rPr>
              <a:t>ocal </a:t>
            </a:r>
            <a:r>
              <a:rPr lang="en-US" sz="2800" dirty="0">
                <a:cs typeface="Times New Roman" panose="02020603050405020304" pitchFamily="18" charset="0"/>
              </a:rPr>
              <a:t>point for providing </a:t>
            </a:r>
            <a:r>
              <a:rPr lang="en-US" sz="2800" dirty="0" smtClean="0">
                <a:cs typeface="Times New Roman" panose="02020603050405020304" pitchFamily="18" charset="0"/>
              </a:rPr>
              <a:t>M&amp;E </a:t>
            </a:r>
            <a:r>
              <a:rPr lang="en-US" sz="2800" dirty="0">
                <a:cs typeface="Times New Roman" panose="02020603050405020304" pitchFamily="18" charset="0"/>
              </a:rPr>
              <a:t>inputs on Implementation </a:t>
            </a:r>
            <a:r>
              <a:rPr lang="en-US" sz="2800" dirty="0" smtClean="0">
                <a:cs typeface="Times New Roman" panose="02020603050405020304" pitchFamily="18" charset="0"/>
              </a:rPr>
              <a:t>Progress Reports </a:t>
            </a:r>
            <a:r>
              <a:rPr lang="en-US" sz="2800" dirty="0">
                <a:cs typeface="Times New Roman" panose="02020603050405020304" pitchFamily="18" charset="0"/>
              </a:rPr>
              <a:t>(</a:t>
            </a:r>
            <a:r>
              <a:rPr lang="en-US" sz="2800" dirty="0" smtClean="0">
                <a:cs typeface="Times New Roman" panose="02020603050405020304" pitchFamily="18" charset="0"/>
              </a:rPr>
              <a:t>IPRs).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Prepare </a:t>
            </a:r>
            <a:r>
              <a:rPr lang="en-US" sz="2800" b="1" dirty="0">
                <a:solidFill>
                  <a:srgbClr val="00B050"/>
                </a:solidFill>
                <a:cs typeface="Times New Roman" panose="02020603050405020304" pitchFamily="18" charset="0"/>
              </a:rPr>
              <a:t>and submit </a:t>
            </a:r>
            <a:r>
              <a:rPr lang="en-US" sz="2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M&amp;E </a:t>
            </a:r>
            <a:r>
              <a:rPr lang="en-US" sz="2800" b="1" dirty="0">
                <a:solidFill>
                  <a:srgbClr val="00B050"/>
                </a:solidFill>
                <a:cs typeface="Times New Roman" panose="02020603050405020304" pitchFamily="18" charset="0"/>
              </a:rPr>
              <a:t>inputs as per the Results Framework </a:t>
            </a:r>
            <a:r>
              <a:rPr lang="en-US" sz="2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to the </a:t>
            </a:r>
            <a:r>
              <a:rPr lang="en-US" sz="2800" b="1" dirty="0">
                <a:solidFill>
                  <a:srgbClr val="00B050"/>
                </a:solidFill>
                <a:cs typeface="Times New Roman" panose="02020603050405020304" pitchFamily="18" charset="0"/>
              </a:rPr>
              <a:t>consolidated trimester/ annual project implementation </a:t>
            </a:r>
            <a:r>
              <a:rPr lang="en-US" sz="2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progress as </a:t>
            </a:r>
            <a:r>
              <a:rPr lang="en-US" sz="2800" b="1" dirty="0">
                <a:solidFill>
                  <a:srgbClr val="00B050"/>
                </a:solidFill>
                <a:cs typeface="Times New Roman" panose="02020603050405020304" pitchFamily="18" charset="0"/>
              </a:rPr>
              <a:t>per the requirement of project and World </a:t>
            </a:r>
            <a:r>
              <a:rPr lang="en-US" sz="2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Bank.</a:t>
            </a:r>
          </a:p>
        </p:txBody>
      </p:sp>
    </p:spTree>
    <p:extLst>
      <p:ext uri="{BB962C8B-B14F-4D97-AF65-F5344CB8AC3E}">
        <p14:creationId xmlns:p14="http://schemas.microsoft.com/office/powerpoint/2010/main" val="45450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mage result for monitoring and evalu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3750"/>
            <a:ext cx="9144000" cy="511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535" y="205470"/>
            <a:ext cx="7886700" cy="766987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Monitoring and Evaluation System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411317"/>
              </p:ext>
            </p:extLst>
          </p:nvPr>
        </p:nvGraphicFramePr>
        <p:xfrm>
          <a:off x="289034" y="3886306"/>
          <a:ext cx="8563428" cy="25775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4972"/>
                <a:gridCol w="1666939"/>
                <a:gridCol w="1222655"/>
                <a:gridCol w="2442661"/>
                <a:gridCol w="1736201"/>
              </a:tblGrid>
              <a:tr h="257755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effectLst/>
                        </a:rPr>
                        <a:t>Inputs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Resources used to implement activities (financial, materials, human)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36505" marR="3650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Activities </a:t>
                      </a:r>
                      <a:r>
                        <a:rPr lang="en-US" sz="1800" dirty="0" smtClean="0">
                          <a:effectLst/>
                        </a:rPr>
                        <a:t>/Process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Regular efforts needed to produce the outputs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36505" marR="3650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Outputs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FFFF00"/>
                          </a:solidFill>
                          <a:effectLst/>
                        </a:rPr>
                        <a:t>Products or services needed to achieve the outcomes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36505" marR="3650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Outcomes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of beneficiary and population-level changes needed to achieve the goal (usually knowledge, attitudes and practices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  <a:endParaRPr lang="en-US" sz="1800" dirty="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36505" marR="3650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</a:t>
                      </a:r>
                      <a:r>
                        <a:rPr lang="en-US" sz="1800" dirty="0" smtClean="0">
                          <a:solidFill>
                            <a:srgbClr val="FFFF00"/>
                          </a:solidFill>
                          <a:effectLst/>
                        </a:rPr>
                        <a:t> </a:t>
                      </a:r>
                      <a:endParaRPr lang="en-US" sz="1800" dirty="0">
                        <a:solidFill>
                          <a:srgbClr val="FFFF00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 clear statement of the impact or results to achieve by the project</a:t>
                      </a:r>
                    </a:p>
                  </a:txBody>
                  <a:tcPr marL="36505" marR="36505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918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881256" y="6356351"/>
            <a:ext cx="634093" cy="365125"/>
          </a:xfrm>
        </p:spPr>
        <p:txBody>
          <a:bodyPr/>
          <a:lstStyle/>
          <a:p>
            <a:fld id="{70D42D0E-A88D-4DDD-9A0B-9B8A68EFDB8F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32387" y="89330"/>
            <a:ext cx="78018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257300" algn="ctr"/>
            <a:r>
              <a:rPr lang="en-US" sz="2800" b="1" dirty="0" err="1">
                <a:solidFill>
                  <a:srgbClr val="FF0000"/>
                </a:solidFill>
                <a:ea typeface="Calibri"/>
                <a:cs typeface="Times New Roman"/>
              </a:rPr>
              <a:t>MOUD</a:t>
            </a:r>
            <a:r>
              <a:rPr lang="en-US" sz="2800" b="1" dirty="0">
                <a:solidFill>
                  <a:srgbClr val="FF0000"/>
                </a:solidFill>
                <a:ea typeface="Calibri"/>
                <a:cs typeface="Times New Roman"/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  <a:ea typeface="Calibri"/>
                <a:cs typeface="Times New Roman"/>
              </a:rPr>
              <a:t>- </a:t>
            </a:r>
            <a:r>
              <a:rPr lang="en-US" sz="2800" b="1" dirty="0" err="1" smtClean="0">
                <a:solidFill>
                  <a:srgbClr val="FF0000"/>
                </a:solidFill>
                <a:ea typeface="Calibri"/>
                <a:cs typeface="Times New Roman"/>
              </a:rPr>
              <a:t>CLPIU</a:t>
            </a:r>
            <a:r>
              <a:rPr lang="en-US" sz="2800" b="1" dirty="0" smtClean="0">
                <a:solidFill>
                  <a:srgbClr val="FF0000"/>
                </a:solidFill>
                <a:ea typeface="Calibri"/>
                <a:cs typeface="Times New Roman"/>
              </a:rPr>
              <a:t> </a:t>
            </a:r>
            <a:r>
              <a:rPr lang="en-US" sz="2800" b="1" dirty="0">
                <a:solidFill>
                  <a:srgbClr val="FF0000"/>
                </a:solidFill>
                <a:ea typeface="Calibri"/>
                <a:cs typeface="Times New Roman"/>
              </a:rPr>
              <a:t>Reconstruction Framework</a:t>
            </a:r>
            <a:endParaRPr lang="en-US" sz="2800" dirty="0">
              <a:solidFill>
                <a:srgbClr val="FF0000"/>
              </a:solidFill>
              <a:ea typeface="Calibri"/>
              <a:cs typeface="Times New Roman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389073"/>
              </p:ext>
            </p:extLst>
          </p:nvPr>
        </p:nvGraphicFramePr>
        <p:xfrm>
          <a:off x="111432" y="685120"/>
          <a:ext cx="8916454" cy="5643114"/>
        </p:xfrm>
        <a:graphic>
          <a:graphicData uri="http://schemas.openxmlformats.org/drawingml/2006/table">
            <a:tbl>
              <a:tblPr firstRow="1" firstCol="1" bandRow="1"/>
              <a:tblGrid>
                <a:gridCol w="801663"/>
                <a:gridCol w="1636047"/>
                <a:gridCol w="3435698"/>
                <a:gridCol w="1893879"/>
                <a:gridCol w="1149167"/>
              </a:tblGrid>
              <a:tr h="2246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Function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Input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Process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Output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Outcomes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656391">
                <a:tc rowSpan="5">
                  <a:txBody>
                    <a:bodyPr/>
                    <a:lstStyle/>
                    <a:p>
                      <a:pPr marL="73025" marR="7302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Inspection and certification of rural and urban Housing built through owner driven approach and built back better concept</a:t>
                      </a:r>
                    </a:p>
                  </a:txBody>
                  <a:tcPr marL="41835" marR="4183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Engineers, Sub Engineers and </a:t>
                      </a:r>
                      <a:r>
                        <a:rPr lang="en-US" sz="12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Asst</a:t>
                      </a: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Sub Engineers (Hiring with Motivational Packages)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Capacity </a:t>
                      </a:r>
                      <a:r>
                        <a:rPr lang="en-US" sz="1200" b="1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Development of Engineers.</a:t>
                      </a:r>
                      <a:endParaRPr lang="en-US" sz="12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Inspection of Houses.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Awareness Campion for safer construction.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Input to database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Timely fill up forms and formats.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Reporting to Village Council and </a:t>
                      </a:r>
                      <a:r>
                        <a:rPr lang="en-US" sz="12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DLPIU</a:t>
                      </a: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 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Coordination POs/ </a:t>
                      </a:r>
                      <a:r>
                        <a:rPr lang="en-US" sz="12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GOs</a:t>
                      </a:r>
                      <a:r>
                        <a:rPr lang="en-US" sz="1200" b="1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./ </a:t>
                      </a:r>
                      <a:r>
                        <a:rPr lang="en-US" sz="1200" b="1" dirty="0" err="1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HHs</a:t>
                      </a:r>
                      <a:endParaRPr lang="en-US" sz="12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Timely updated Database / Compliance houses increased. 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Safer infrastructure to resist disasters with better lives of people.</a:t>
                      </a:r>
                    </a:p>
                  </a:txBody>
                  <a:tcPr marL="41835" marR="418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89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Policies, Guidelines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Dissemination of Policies and guidelines.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Implementations of Policies and guidelines.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Feedbacks and rectifications.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Public aware about Policies and Guidelines. 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405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Designs, Drawings/ Catalogues/ Manuals  / Awareness Creating Materials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Disseminations, Implementations, getting Feedbacks and </a:t>
                      </a:r>
                      <a:r>
                        <a:rPr lang="en-US" sz="1200" b="1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corrections </a:t>
                      </a: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according to NBC.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People are encouraged to safer construction and built back better.  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9405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DLPIUs</a:t>
                      </a:r>
                      <a:r>
                        <a:rPr lang="en-US" sz="1200" b="1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/ NRA</a:t>
                      </a:r>
                      <a:r>
                        <a:rPr lang="en-US" sz="1200" b="1" baseline="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district</a:t>
                      </a:r>
                      <a:endParaRPr lang="en-US" sz="12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Deployment of Engineers.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Follow up Engineers’ performance.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Reporting  </a:t>
                      </a:r>
                      <a:r>
                        <a:rPr lang="en-US" sz="12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MoFALD</a:t>
                      </a: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/ </a:t>
                      </a:r>
                      <a:r>
                        <a:rPr lang="en-US" sz="1200" b="1" dirty="0" err="1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CLPIU</a:t>
                      </a:r>
                      <a:r>
                        <a:rPr lang="en-US" sz="1200" b="1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and others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Coordination POs/ </a:t>
                      </a:r>
                      <a:r>
                        <a:rPr lang="en-US" sz="12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GOs</a:t>
                      </a: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.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Safer and better houses in District / Compliance houses increased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1791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Partner Organizations 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Reconstruction programs.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Training programs.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Supports to Earthquake victims.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Livelihood programs</a:t>
                      </a:r>
                    </a:p>
                    <a:p>
                      <a:pPr marL="176213" marR="0" lvl="0" indent="-176213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Other infrastructure development programs.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Recovery from the disasters/ safer better houses </a:t>
                      </a:r>
                    </a:p>
                  </a:txBody>
                  <a:tcPr marL="41835" marR="4183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20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587665"/>
              </p:ext>
            </p:extLst>
          </p:nvPr>
        </p:nvGraphicFramePr>
        <p:xfrm>
          <a:off x="213510" y="697894"/>
          <a:ext cx="8738751" cy="5557762"/>
        </p:xfrm>
        <a:graphic>
          <a:graphicData uri="http://schemas.openxmlformats.org/drawingml/2006/table">
            <a:tbl>
              <a:tblPr firstRow="1" firstCol="1" bandRow="1"/>
              <a:tblGrid>
                <a:gridCol w="1006473"/>
                <a:gridCol w="1246112"/>
                <a:gridCol w="3993944"/>
                <a:gridCol w="1310014"/>
                <a:gridCol w="1182208"/>
              </a:tblGrid>
              <a:tr h="223987">
                <a:tc>
                  <a:txBody>
                    <a:bodyPr/>
                    <a:lstStyle/>
                    <a:p>
                      <a:pPr marL="73025" marR="7302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Function</a:t>
                      </a:r>
                    </a:p>
                  </a:txBody>
                  <a:tcPr marL="72901" marR="729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Input 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Process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Output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Outcomes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781738">
                <a:tc rowSpan="6">
                  <a:txBody>
                    <a:bodyPr/>
                    <a:lstStyle/>
                    <a:p>
                      <a:pPr marL="73025" marR="73025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Training mason and house owner and technician about earthquake Resistant Technology</a:t>
                      </a:r>
                    </a:p>
                  </a:txBody>
                  <a:tcPr marL="72901" marR="72901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Training Venues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Training hall.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Workshop.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Sample house construction.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Skilled </a:t>
                      </a: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Workers in Earthquake Resistance Building </a:t>
                      </a:r>
                      <a:r>
                        <a:rPr lang="en-US" sz="1500" b="1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Construction fulfilled.</a:t>
                      </a:r>
                      <a:endParaRPr lang="en-US" sz="15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901" marR="729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Self Employment and Living standard of the people increased.</a:t>
                      </a:r>
                    </a:p>
                  </a:txBody>
                  <a:tcPr marL="72901" marR="7290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17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Training Materials (Hardware)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Uses of Training Materials as per Curriculum.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4487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Trainers/ Training Managers 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Quality Training delivery as per curriculum. 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Training Plan, Lesson Plan, Log Book, Visitors feedback, Attendance.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Evaluation of Participants.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Training Evaluation/ feedback.</a:t>
                      </a: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Management of training. </a:t>
                      </a:r>
                      <a:endParaRPr lang="en-US" sz="1500" b="1" dirty="0" smtClean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Skill Testing. </a:t>
                      </a:r>
                      <a:endParaRPr lang="en-US" sz="15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159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Curriculums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>
                          <a:effectLst/>
                          <a:latin typeface="Calibri"/>
                          <a:ea typeface="Calibri"/>
                          <a:cs typeface="Times New Roman"/>
                        </a:rPr>
                        <a:t>Appropriate Uses of Training Curriculum (DUDBC/ CTEVT).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817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Training Materials (Software) 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Uses of Training Materials developed by </a:t>
                      </a:r>
                      <a:r>
                        <a:rPr lang="en-US" sz="15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DUDBC</a:t>
                      </a: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/ </a:t>
                      </a:r>
                      <a:r>
                        <a:rPr lang="en-US" sz="15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CLPIU</a:t>
                      </a: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/ NRA/ </a:t>
                      </a:r>
                      <a:r>
                        <a:rPr lang="en-US" sz="15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CTEVT</a:t>
                      </a: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and others.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932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Training Participants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Selection of Training Participants as per </a:t>
                      </a:r>
                      <a:r>
                        <a:rPr lang="en-US" sz="15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DUDBC</a:t>
                      </a: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/ </a:t>
                      </a:r>
                      <a:r>
                        <a:rPr lang="en-US" sz="15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CLPIU</a:t>
                      </a: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/ </a:t>
                      </a:r>
                      <a:r>
                        <a:rPr lang="en-US" sz="1500" b="1" dirty="0" err="1">
                          <a:effectLst/>
                          <a:latin typeface="Calibri"/>
                          <a:ea typeface="Calibri"/>
                          <a:cs typeface="Times New Roman"/>
                        </a:rPr>
                        <a:t>CTEVT</a:t>
                      </a:r>
                      <a:r>
                        <a:rPr lang="en-US" sz="1500" b="1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 requirements.</a:t>
                      </a:r>
                    </a:p>
                  </a:txBody>
                  <a:tcPr marL="72901" marR="7290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74725" y="17843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88845" y="132872"/>
            <a:ext cx="78018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257300" algn="ctr"/>
            <a:r>
              <a:rPr lang="en-US" sz="2800" b="1" dirty="0" err="1">
                <a:solidFill>
                  <a:srgbClr val="FF0000"/>
                </a:solidFill>
                <a:ea typeface="Calibri"/>
                <a:cs typeface="Times New Roman"/>
              </a:rPr>
              <a:t>MOUD</a:t>
            </a:r>
            <a:r>
              <a:rPr lang="en-US" sz="2800" b="1" dirty="0">
                <a:solidFill>
                  <a:srgbClr val="FF0000"/>
                </a:solidFill>
                <a:ea typeface="Calibri"/>
                <a:cs typeface="Times New Roman"/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  <a:ea typeface="Calibri"/>
                <a:cs typeface="Times New Roman"/>
              </a:rPr>
              <a:t>- </a:t>
            </a:r>
            <a:r>
              <a:rPr lang="en-US" sz="2800" b="1" dirty="0" err="1" smtClean="0">
                <a:solidFill>
                  <a:srgbClr val="FF0000"/>
                </a:solidFill>
                <a:ea typeface="Calibri"/>
                <a:cs typeface="Times New Roman"/>
              </a:rPr>
              <a:t>CLPIU</a:t>
            </a:r>
            <a:r>
              <a:rPr lang="en-US" sz="2800" b="1" dirty="0" smtClean="0">
                <a:solidFill>
                  <a:srgbClr val="FF0000"/>
                </a:solidFill>
                <a:ea typeface="Calibri"/>
                <a:cs typeface="Times New Roman"/>
              </a:rPr>
              <a:t> </a:t>
            </a:r>
            <a:r>
              <a:rPr lang="en-US" sz="2800" b="1" dirty="0">
                <a:solidFill>
                  <a:srgbClr val="FF0000"/>
                </a:solidFill>
                <a:ea typeface="Calibri"/>
                <a:cs typeface="Times New Roman"/>
              </a:rPr>
              <a:t>Reconstruction Framework</a:t>
            </a:r>
            <a:endParaRPr lang="en-US" sz="2800" dirty="0">
              <a:solidFill>
                <a:srgbClr val="FF0000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98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26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248715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FF0000"/>
                </a:solidFill>
              </a:rPr>
              <a:t>Monitoring Framework</a:t>
            </a:r>
            <a:endParaRPr 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82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27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0375" y="631582"/>
            <a:ext cx="9021055" cy="1547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5138" marR="73025" lvl="0" indent="-465138" defTabSz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2800" b="1" dirty="0">
                <a:solidFill>
                  <a:srgbClr val="00B050"/>
                </a:solidFill>
                <a:ea typeface="Calibri"/>
                <a:cs typeface="Times New Roman"/>
              </a:rPr>
              <a:t>1.</a:t>
            </a:r>
            <a:r>
              <a:rPr lang="en-US" sz="2800" b="1" dirty="0" smtClean="0">
                <a:solidFill>
                  <a:srgbClr val="00B050"/>
                </a:solidFill>
                <a:ea typeface="Calibri"/>
                <a:cs typeface="Times New Roman"/>
              </a:rPr>
              <a:t>	Inspection </a:t>
            </a:r>
            <a:r>
              <a:rPr lang="en-US" sz="2800" b="1" dirty="0">
                <a:solidFill>
                  <a:srgbClr val="00B050"/>
                </a:solidFill>
                <a:ea typeface="Calibri"/>
                <a:cs typeface="Times New Roman"/>
              </a:rPr>
              <a:t>and certification of rural and urban Housing built </a:t>
            </a:r>
            <a:r>
              <a:rPr lang="en-US" sz="2800" b="1" dirty="0" smtClean="0">
                <a:solidFill>
                  <a:srgbClr val="00B050"/>
                </a:solidFill>
                <a:ea typeface="Calibri"/>
                <a:cs typeface="Times New Roman"/>
              </a:rPr>
              <a:t>	through owner </a:t>
            </a:r>
            <a:r>
              <a:rPr lang="en-US" sz="2800" b="1" dirty="0">
                <a:solidFill>
                  <a:srgbClr val="00B050"/>
                </a:solidFill>
                <a:ea typeface="Calibri"/>
                <a:cs typeface="Times New Roman"/>
              </a:rPr>
              <a:t>driven approach and built back better concept</a:t>
            </a:r>
            <a:r>
              <a:rPr lang="en-US" sz="2800" b="1" dirty="0" smtClean="0">
                <a:solidFill>
                  <a:srgbClr val="00B050"/>
                </a:solidFill>
                <a:ea typeface="Calibri"/>
                <a:cs typeface="Times New Roman"/>
              </a:rPr>
              <a:t>.</a:t>
            </a:r>
            <a:endParaRPr lang="en-US" sz="2800" dirty="0">
              <a:solidFill>
                <a:srgbClr val="00B05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45030" y="2351092"/>
            <a:ext cx="798284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Engineers, Sub Engineers and Asst. Sub </a:t>
            </a:r>
            <a:r>
              <a:rPr lang="en-US" sz="2800" dirty="0" smtClean="0"/>
              <a:t>Engineers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a typeface="Calibri"/>
                <a:cs typeface="Times New Roman"/>
              </a:rPr>
              <a:t>DLPIU</a:t>
            </a:r>
            <a:endParaRPr lang="en-US" sz="2800" dirty="0">
              <a:latin typeface="Times New Roman"/>
              <a:ea typeface="Times New Roman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a typeface="Calibri"/>
                <a:cs typeface="Times New Roman"/>
              </a:rPr>
              <a:t>Partner Organizations </a:t>
            </a:r>
            <a:endParaRPr lang="en-US" sz="2800" dirty="0">
              <a:latin typeface="Times New Roman"/>
              <a:ea typeface="Times New Roman"/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ea typeface="Calibri"/>
                <a:cs typeface="Times New Roman"/>
              </a:rPr>
              <a:t>Dissemination and availability of Housing Reconstruction Materials </a:t>
            </a: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1988482" y="-110911"/>
            <a:ext cx="7155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 smtClean="0">
                <a:solidFill>
                  <a:srgbClr val="FF0000"/>
                </a:solidFill>
              </a:rPr>
              <a:t>Monitoring Framework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70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28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988482" y="-110911"/>
            <a:ext cx="7155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 smtClean="0">
                <a:solidFill>
                  <a:srgbClr val="FF0000"/>
                </a:solidFill>
              </a:rPr>
              <a:t>Monitoring Framework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2945" y="91798"/>
            <a:ext cx="9021055" cy="688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 </a:t>
            </a:r>
            <a:r>
              <a:rPr lang="en-US" sz="2400" b="1" dirty="0" smtClean="0">
                <a:solidFill>
                  <a:srgbClr val="000000"/>
                </a:solidFill>
                <a:ea typeface="Calibri"/>
                <a:cs typeface="Times New Roman"/>
              </a:rPr>
              <a:t>Engineers</a:t>
            </a: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, Sub Engineers and Asst. Sub Engineers </a:t>
            </a:r>
            <a:endParaRPr lang="en-US" sz="2400" dirty="0">
              <a:latin typeface="Times New Roman"/>
              <a:ea typeface="Times New Roman"/>
            </a:endParaRPr>
          </a:p>
          <a:p>
            <a:pPr>
              <a:lnSpc>
                <a:spcPct val="115000"/>
              </a:lnSpc>
            </a:pP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(Receive the information from </a:t>
            </a:r>
            <a:r>
              <a:rPr lang="en-US" sz="2400" b="1" i="1" dirty="0" err="1">
                <a:solidFill>
                  <a:srgbClr val="CC00CC"/>
                </a:solidFill>
                <a:ea typeface="Calibri"/>
                <a:cs typeface="Times New Roman"/>
              </a:rPr>
              <a:t>DLPIU</a:t>
            </a: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, </a:t>
            </a:r>
            <a:r>
              <a:rPr lang="en-US" sz="2400" b="1" i="1" dirty="0" err="1">
                <a:solidFill>
                  <a:srgbClr val="CC00CC"/>
                </a:solidFill>
                <a:ea typeface="Calibri"/>
                <a:cs typeface="Times New Roman"/>
              </a:rPr>
              <a:t>DLPIU</a:t>
            </a: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 focal person, Engineers, MIS database, Community </a:t>
            </a:r>
            <a:r>
              <a:rPr lang="en-US" sz="2400" b="1" i="1" dirty="0" err="1">
                <a:solidFill>
                  <a:srgbClr val="CC00CC"/>
                </a:solidFill>
                <a:ea typeface="Calibri"/>
                <a:cs typeface="Times New Roman"/>
              </a:rPr>
              <a:t>HHs</a:t>
            </a: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 and different authentic medium).</a:t>
            </a:r>
            <a:endParaRPr lang="en-US" sz="2400" b="1" dirty="0">
              <a:solidFill>
                <a:srgbClr val="CC00CC"/>
              </a:solidFill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 err="1">
                <a:solidFill>
                  <a:srgbClr val="00B0F0"/>
                </a:solidFill>
                <a:ea typeface="Calibri"/>
                <a:cs typeface="Times New Roman"/>
              </a:rPr>
              <a:t>VDC</a:t>
            </a:r>
            <a:r>
              <a:rPr lang="en-US" sz="2400" dirty="0">
                <a:solidFill>
                  <a:srgbClr val="00B0F0"/>
                </a:solidFill>
                <a:ea typeface="Calibri"/>
                <a:cs typeface="Times New Roman"/>
              </a:rPr>
              <a:t> wise data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 of Engineers, Sub Engineers and Asst. Sub Engineers and find gap if there is some post are vacant.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B0F0"/>
                </a:solidFill>
                <a:ea typeface="Calibri"/>
                <a:cs typeface="Times New Roman"/>
              </a:rPr>
              <a:t>Attendance of Engineers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in the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VDC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 and their effort in earthquake resistance building construction and housing inspection to distribute housing grant.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B0F0"/>
                </a:solidFill>
                <a:ea typeface="Calibri"/>
                <a:cs typeface="Times New Roman"/>
              </a:rPr>
              <a:t>HHs </a:t>
            </a:r>
            <a:r>
              <a:rPr lang="en-US" sz="2400" dirty="0" smtClean="0">
                <a:solidFill>
                  <a:srgbClr val="00B0F0"/>
                </a:solidFill>
                <a:ea typeface="Calibri"/>
                <a:cs typeface="Times New Roman"/>
              </a:rPr>
              <a:t>data: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Times New Roman"/>
              </a:rPr>
              <a:t>received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housing grant 1</a:t>
            </a:r>
            <a:r>
              <a:rPr lang="en-US" sz="2400" baseline="30000" dirty="0">
                <a:solidFill>
                  <a:srgbClr val="000000"/>
                </a:solidFill>
                <a:ea typeface="Calibri"/>
                <a:cs typeface="Times New Roman"/>
              </a:rPr>
              <a:t>st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 installment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Times New Roman"/>
              </a:rPr>
              <a:t>/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started to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Times New Roman"/>
              </a:rPr>
              <a:t>construct/ eligible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to receive 2</a:t>
            </a:r>
            <a:r>
              <a:rPr lang="en-US" sz="2400" baseline="30000" dirty="0">
                <a:solidFill>
                  <a:srgbClr val="000000"/>
                </a:solidFill>
                <a:ea typeface="Calibri"/>
                <a:cs typeface="Times New Roman"/>
              </a:rPr>
              <a:t>nd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 installment/ No of Grievance handling and passed in</a:t>
            </a:r>
            <a:r>
              <a:rPr lang="en-US" sz="2400" dirty="0">
                <a:latin typeface="Times New Roman"/>
                <a:ea typeface="Times New Roman"/>
              </a:rPr>
              <a:t>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Grievance handling in each VDC.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B0F0"/>
                </a:solidFill>
                <a:ea typeface="Calibri"/>
                <a:cs typeface="Times New Roman"/>
              </a:rPr>
              <a:t>Capacity development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of Technical personnel. 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B0F0"/>
                </a:solidFill>
                <a:ea typeface="Calibri"/>
                <a:cs typeface="Times New Roman"/>
              </a:rPr>
              <a:t>Positive Trends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in safer house construction/ housing grant distribution. 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B0F0"/>
                </a:solidFill>
                <a:ea typeface="Calibri"/>
                <a:cs typeface="Times New Roman"/>
              </a:rPr>
              <a:t>Improvements needed 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in safer house construction/ housing grant distribution. </a:t>
            </a:r>
            <a:endParaRPr lang="en-US" sz="24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5458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5429" y="613547"/>
            <a:ext cx="841828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b="1" dirty="0" err="1">
                <a:solidFill>
                  <a:srgbClr val="000000"/>
                </a:solidFill>
                <a:ea typeface="Calibri"/>
                <a:cs typeface="Times New Roman"/>
              </a:rPr>
              <a:t>DLPIU</a:t>
            </a:r>
            <a:endParaRPr lang="en-US" sz="2400" dirty="0">
              <a:latin typeface="Times New Roman"/>
              <a:ea typeface="Times New Roman"/>
            </a:endParaRPr>
          </a:p>
          <a:p>
            <a:pPr>
              <a:lnSpc>
                <a:spcPct val="115000"/>
              </a:lnSpc>
            </a:pP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(Receive the information from </a:t>
            </a:r>
            <a:r>
              <a:rPr lang="en-US" sz="2400" b="1" i="1" dirty="0" err="1">
                <a:solidFill>
                  <a:srgbClr val="CC00CC"/>
                </a:solidFill>
                <a:ea typeface="Calibri"/>
                <a:cs typeface="Times New Roman"/>
              </a:rPr>
              <a:t>DLPIU</a:t>
            </a: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 Chief, Deputy Chief, Focal Person, other Engineers and Staffs, MIS database, NRA, POs and Community </a:t>
            </a:r>
            <a:r>
              <a:rPr lang="en-US" sz="2400" b="1" i="1" dirty="0" err="1">
                <a:solidFill>
                  <a:srgbClr val="CC00CC"/>
                </a:solidFill>
                <a:ea typeface="Calibri"/>
                <a:cs typeface="Times New Roman"/>
              </a:rPr>
              <a:t>HHs</a:t>
            </a: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)</a:t>
            </a:r>
            <a:endParaRPr lang="en-US" sz="3600" b="1" dirty="0">
              <a:solidFill>
                <a:srgbClr val="CC00CC"/>
              </a:solidFill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Human resources (Engineers) working in reconstruction.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Existing Monitoring and communication Mechanisms of HR. 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Physical and financial resources.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Coordination between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GOs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 in reconstruction.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POs working in the districts. 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Coordination with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POs.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Positive Trends. 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Improvements needed. </a:t>
            </a:r>
            <a:endParaRPr lang="en-US" sz="2400" dirty="0">
              <a:effectLst/>
              <a:latin typeface="Times New Roman"/>
              <a:ea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88482" y="-110911"/>
            <a:ext cx="7155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 smtClean="0">
                <a:solidFill>
                  <a:srgbClr val="FF0000"/>
                </a:solidFill>
              </a:rPr>
              <a:t>Monitoring Framework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24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8255" y="658692"/>
            <a:ext cx="8596087" cy="550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Partner Organizations </a:t>
            </a:r>
            <a:endParaRPr lang="en-US" sz="2400" b="1" dirty="0">
              <a:latin typeface="Times New Roman"/>
              <a:ea typeface="Times New Roman"/>
            </a:endParaRPr>
          </a:p>
          <a:p>
            <a:pPr>
              <a:lnSpc>
                <a:spcPct val="115000"/>
              </a:lnSpc>
            </a:pP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(Receive the information from POs - first individual PO and conducting all PO’s meeting/ </a:t>
            </a:r>
            <a:r>
              <a:rPr lang="en-US" sz="2400" b="1" i="1" dirty="0" err="1">
                <a:solidFill>
                  <a:srgbClr val="CC00CC"/>
                </a:solidFill>
                <a:ea typeface="Calibri"/>
                <a:cs typeface="Times New Roman"/>
              </a:rPr>
              <a:t>DLPIU</a:t>
            </a: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 Chief, Deputy Chief, Focal Person, other Engineers and Staffs, MIS database, NRA and Community </a:t>
            </a:r>
            <a:r>
              <a:rPr lang="en-US" sz="2400" b="1" i="1" dirty="0" err="1">
                <a:solidFill>
                  <a:srgbClr val="CC00CC"/>
                </a:solidFill>
                <a:ea typeface="Calibri"/>
                <a:cs typeface="Times New Roman"/>
              </a:rPr>
              <a:t>HHs</a:t>
            </a: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).</a:t>
            </a:r>
            <a:endParaRPr lang="en-US" sz="2400" b="1" dirty="0">
              <a:solidFill>
                <a:srgbClr val="CC00CC"/>
              </a:solidFill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Programs related to reconstruction (housing, training, livelihood, infrastructure development and others)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Human resources working in reconstruction from PO.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Physical and financial resources.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Coordination with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CLPIU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/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CLPIU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 Engineers in Field/ other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GOs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./ other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POs.</a:t>
            </a:r>
            <a:endParaRPr lang="en-US" sz="2400" dirty="0">
              <a:solidFill>
                <a:srgbClr val="000000"/>
              </a:solidFill>
              <a:ea typeface="Calibri"/>
              <a:cs typeface="Times New Roman"/>
            </a:endParaRPr>
          </a:p>
          <a:p>
            <a:pPr marL="342900" marR="0" lvl="0" indent="-342900"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Positive Trends. 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Improvements needed. </a:t>
            </a:r>
            <a:endParaRPr lang="en-US" sz="2400" dirty="0">
              <a:effectLst/>
              <a:latin typeface="Times New Roman"/>
              <a:ea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88482" y="-110911"/>
            <a:ext cx="7155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 smtClean="0">
                <a:solidFill>
                  <a:srgbClr val="FF0000"/>
                </a:solidFill>
              </a:rPr>
              <a:t>Monitoring Framework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24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4673" y="847193"/>
            <a:ext cx="8652781" cy="4994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Dissemination and availability of Housing Reconstruction Materials </a:t>
            </a:r>
            <a:endParaRPr lang="en-US" sz="2400" dirty="0">
              <a:latin typeface="Times New Roman"/>
              <a:ea typeface="Times New Roman"/>
            </a:endParaRPr>
          </a:p>
          <a:p>
            <a:pPr>
              <a:lnSpc>
                <a:spcPct val="115000"/>
              </a:lnSpc>
            </a:pP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(Receive the information from DLPIU and Community HHs</a:t>
            </a:r>
            <a:r>
              <a:rPr lang="en-US" sz="2400" b="1" i="1" dirty="0" smtClean="0">
                <a:solidFill>
                  <a:srgbClr val="CC00CC"/>
                </a:solidFill>
                <a:ea typeface="Calibri"/>
                <a:cs typeface="Times New Roman"/>
              </a:rPr>
              <a:t>).</a:t>
            </a:r>
          </a:p>
          <a:p>
            <a:pPr>
              <a:lnSpc>
                <a:spcPct val="115000"/>
              </a:lnSpc>
            </a:pPr>
            <a:endParaRPr lang="en-US" sz="3600" b="1" dirty="0">
              <a:solidFill>
                <a:srgbClr val="CC00CC"/>
              </a:solidFill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latin typeface="Times New Roman"/>
                <a:ea typeface="Times New Roman"/>
              </a:rPr>
              <a:t>Policies, laws, guidelines, standards related to Reconstruction.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Design Catalogues and other revised building designs.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Public awareness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Times New Roman"/>
              </a:rPr>
              <a:t>on materials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Inspections forms and formats.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Use of FM Radio, TV, Newspapers and other Medias for safer building construction.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spcBef>
                <a:spcPts val="50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latin typeface="Times New Roman"/>
                <a:ea typeface="Times New Roman"/>
              </a:rPr>
              <a:t>Positive Trends. </a:t>
            </a:r>
          </a:p>
          <a:p>
            <a:pPr marL="342900" marR="0" lvl="0" indent="-342900">
              <a:spcBef>
                <a:spcPts val="50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latin typeface="Times New Roman"/>
                <a:ea typeface="Times New Roman"/>
              </a:rPr>
              <a:t>Improvements needed. </a:t>
            </a:r>
            <a:endParaRPr lang="en-US" sz="2400" dirty="0">
              <a:effectLst/>
              <a:latin typeface="Times New Roman"/>
              <a:ea typeface="Times New Roman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88482" y="-110911"/>
            <a:ext cx="7155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 smtClean="0">
                <a:solidFill>
                  <a:srgbClr val="FF0000"/>
                </a:solidFill>
              </a:rPr>
              <a:t>Monitoring Framework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24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8694" y="773024"/>
            <a:ext cx="85792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2763" marR="73025" lvl="0" indent="-512763" defTabSz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US" sz="2800" b="1" dirty="0" smtClean="0">
                <a:solidFill>
                  <a:srgbClr val="FF0000"/>
                </a:solidFill>
                <a:ea typeface="Calibri"/>
                <a:cs typeface="Times New Roman"/>
              </a:rPr>
              <a:t>2.	Training </a:t>
            </a:r>
            <a:r>
              <a:rPr lang="en-US" sz="2800" b="1" dirty="0">
                <a:solidFill>
                  <a:srgbClr val="FF0000"/>
                </a:solidFill>
                <a:ea typeface="Calibri"/>
                <a:cs typeface="Times New Roman"/>
              </a:rPr>
              <a:t>mason and house owner and technician about </a:t>
            </a:r>
            <a:r>
              <a:rPr lang="en-US" sz="2800" b="1" dirty="0" smtClean="0">
                <a:solidFill>
                  <a:srgbClr val="FF0000"/>
                </a:solidFill>
                <a:ea typeface="Calibri"/>
                <a:cs typeface="Times New Roman"/>
              </a:rPr>
              <a:t>earthquake </a:t>
            </a:r>
            <a:r>
              <a:rPr lang="en-US" sz="2800" b="1" dirty="0">
                <a:solidFill>
                  <a:srgbClr val="FF0000"/>
                </a:solidFill>
                <a:ea typeface="Calibri"/>
                <a:cs typeface="Times New Roman"/>
              </a:rPr>
              <a:t>Resistant Technology</a:t>
            </a:r>
            <a:r>
              <a:rPr lang="en-US" sz="2800" b="1" dirty="0" smtClean="0">
                <a:solidFill>
                  <a:srgbClr val="FF0000"/>
                </a:solidFill>
                <a:ea typeface="Calibri"/>
                <a:cs typeface="Times New Roman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1179583" y="1768469"/>
            <a:ext cx="71302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1625" marR="73025">
              <a:spcBef>
                <a:spcPts val="0"/>
              </a:spcBef>
              <a:spcAft>
                <a:spcPts val="0"/>
              </a:spcAft>
            </a:pPr>
            <a:r>
              <a:rPr lang="en-US" sz="2400" b="1" i="1" dirty="0" smtClean="0">
                <a:solidFill>
                  <a:srgbClr val="CC00CC"/>
                </a:solidFill>
                <a:ea typeface="Calibri"/>
                <a:cs typeface="Times New Roman"/>
              </a:rPr>
              <a:t>Visiting </a:t>
            </a: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the Training Activities the information from direct observation will be based / necessary tools to note the observations will be developed accordingly for each </a:t>
            </a:r>
            <a:r>
              <a:rPr lang="en-US" sz="2400" b="1" i="1" dirty="0" smtClean="0">
                <a:solidFill>
                  <a:srgbClr val="CC00CC"/>
                </a:solidFill>
                <a:ea typeface="Calibri"/>
                <a:cs typeface="Times New Roman"/>
              </a:rPr>
              <a:t>component</a:t>
            </a:r>
            <a:r>
              <a:rPr lang="en-US" sz="2400" b="1" i="1" dirty="0">
                <a:solidFill>
                  <a:srgbClr val="CC00CC"/>
                </a:solidFill>
                <a:ea typeface="Calibri"/>
                <a:cs typeface="Times New Roman"/>
              </a:rPr>
              <a:t>.</a:t>
            </a:r>
            <a:endParaRPr lang="en-US" sz="2400" b="1" dirty="0">
              <a:solidFill>
                <a:srgbClr val="CC00CC"/>
              </a:solidFill>
              <a:latin typeface="Times New Roman"/>
              <a:ea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96735" y="3374405"/>
            <a:ext cx="6213076" cy="3228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itchFamily="34" charset="0"/>
              <a:buChar char="•"/>
              <a:tabLst>
                <a:tab pos="914400" algn="l"/>
              </a:tabLst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Training </a:t>
            </a:r>
            <a:r>
              <a:rPr lang="en-US" sz="2400" b="1" dirty="0" smtClean="0">
                <a:solidFill>
                  <a:srgbClr val="000000"/>
                </a:solidFill>
                <a:ea typeface="Calibri"/>
                <a:cs typeface="Times New Roman"/>
              </a:rPr>
              <a:t>Venues</a:t>
            </a:r>
          </a:p>
          <a:p>
            <a:pPr marL="342900" indent="-342900">
              <a:spcAft>
                <a:spcPts val="600"/>
              </a:spcAft>
              <a:buFont typeface="Arial" pitchFamily="34" charset="0"/>
              <a:buChar char="•"/>
              <a:tabLst>
                <a:tab pos="914400" algn="l"/>
              </a:tabLst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Training Materials (Hardware)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indent="-342900">
              <a:spcAft>
                <a:spcPts val="600"/>
              </a:spcAft>
              <a:buFont typeface="Arial" pitchFamily="34" charset="0"/>
              <a:buChar char="•"/>
              <a:tabLst>
                <a:tab pos="914400" algn="l"/>
              </a:tabLst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Trainers/ Training Managers </a:t>
            </a:r>
            <a:endParaRPr lang="en-US" sz="2400" dirty="0">
              <a:ea typeface="Calibri"/>
              <a:cs typeface="Times New Roman"/>
            </a:endParaRPr>
          </a:p>
          <a:p>
            <a:pPr marL="342900" indent="-342900">
              <a:spcAft>
                <a:spcPts val="600"/>
              </a:spcAft>
              <a:buFont typeface="Arial" pitchFamily="34" charset="0"/>
              <a:buChar char="•"/>
              <a:tabLst>
                <a:tab pos="914400" algn="l"/>
              </a:tabLst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Curriculums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indent="-342900">
              <a:lnSpc>
                <a:spcPct val="115000"/>
              </a:lnSpc>
              <a:buFont typeface="Arial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Training Materials (Software) 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itchFamily="34" charset="0"/>
              <a:buChar char="•"/>
              <a:tabLst>
                <a:tab pos="914400" algn="l"/>
              </a:tabLst>
            </a:pPr>
            <a:r>
              <a:rPr lang="en-US" sz="2400" b="1" dirty="0" smtClean="0">
                <a:solidFill>
                  <a:srgbClr val="000000"/>
                </a:solidFill>
                <a:ea typeface="Calibri"/>
                <a:cs typeface="Times New Roman"/>
              </a:rPr>
              <a:t>Training </a:t>
            </a: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Participants</a:t>
            </a:r>
            <a:endParaRPr lang="en-US" sz="2400" dirty="0">
              <a:ea typeface="Calibri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itchFamily="34" charset="0"/>
              <a:buChar char="•"/>
              <a:tabLst>
                <a:tab pos="914400" algn="l"/>
              </a:tabLst>
            </a:pPr>
            <a:r>
              <a:rPr lang="en-US" sz="2400" b="1" dirty="0" smtClean="0">
                <a:solidFill>
                  <a:srgbClr val="000000"/>
                </a:solidFill>
                <a:ea typeface="Calibri"/>
                <a:cs typeface="Times New Roman"/>
              </a:rPr>
              <a:t>Training </a:t>
            </a: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Need </a:t>
            </a:r>
            <a:r>
              <a:rPr lang="en-US" sz="2400" b="1" dirty="0" smtClean="0">
                <a:solidFill>
                  <a:srgbClr val="000000"/>
                </a:solidFill>
                <a:ea typeface="Calibri"/>
                <a:cs typeface="Times New Roman"/>
              </a:rPr>
              <a:t>Assessment</a:t>
            </a:r>
            <a:endParaRPr lang="en-US" sz="2400" dirty="0">
              <a:ea typeface="Calibri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88482" y="-110911"/>
            <a:ext cx="7155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 smtClean="0">
                <a:solidFill>
                  <a:srgbClr val="FF0000"/>
                </a:solidFill>
              </a:rPr>
              <a:t>Monitoring Framework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1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030" y="933444"/>
            <a:ext cx="8579255" cy="37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tabLst>
                <a:tab pos="914400" algn="l"/>
              </a:tabLst>
            </a:pPr>
            <a:r>
              <a:rPr lang="en-US" sz="2400" b="1" dirty="0" smtClean="0">
                <a:solidFill>
                  <a:srgbClr val="000000"/>
                </a:solidFill>
                <a:ea typeface="Calibri"/>
                <a:cs typeface="Times New Roman"/>
              </a:rPr>
              <a:t>Training </a:t>
            </a: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Venues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Symbol"/>
              <a:buChar char=""/>
              <a:tabLst>
                <a:tab pos="457200" algn="l"/>
                <a:tab pos="9144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Training hall.</a:t>
            </a:r>
            <a:endParaRPr lang="en-US" sz="2400" dirty="0"/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  <a:tab pos="9144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Workshop.</a:t>
            </a:r>
            <a:endParaRPr lang="en-US" sz="2400" dirty="0"/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  <a:tab pos="9144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Sample house construction.</a:t>
            </a:r>
            <a:endParaRPr lang="en-US" sz="2400" dirty="0"/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  <a:tab pos="914400" algn="l"/>
              </a:tabLst>
            </a:pPr>
            <a:r>
              <a:rPr lang="en-US" sz="2400" dirty="0">
                <a:latin typeface="Times New Roman"/>
                <a:ea typeface="Times New Roman"/>
              </a:rPr>
              <a:t>Comments and Suggestions.</a:t>
            </a:r>
            <a:endParaRPr lang="en-US" sz="2400" dirty="0"/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 </a:t>
            </a:r>
            <a:endParaRPr lang="en-US" sz="20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Training Materials (Hardware)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Symbol"/>
              <a:buChar char=""/>
              <a:tabLst>
                <a:tab pos="457200" algn="l"/>
                <a:tab pos="9144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Uses of Training Materials as per Curriculum.</a:t>
            </a:r>
            <a:endParaRPr lang="en-US" sz="2400" dirty="0"/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Symbol"/>
              <a:buChar char=""/>
              <a:tabLst>
                <a:tab pos="457200" algn="l"/>
                <a:tab pos="914400" algn="l"/>
              </a:tabLst>
            </a:pPr>
            <a:r>
              <a:rPr lang="en-US" sz="2400" dirty="0">
                <a:latin typeface="Times New Roman"/>
                <a:ea typeface="Times New Roman"/>
              </a:rPr>
              <a:t>Comments and Suggestions</a:t>
            </a:r>
            <a:r>
              <a:rPr lang="en-US" sz="2400" dirty="0" smtClean="0">
                <a:latin typeface="Times New Roman"/>
                <a:ea typeface="Times New Roman"/>
              </a:rPr>
              <a:t>.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988482" y="-110911"/>
            <a:ext cx="7155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 smtClean="0">
                <a:solidFill>
                  <a:srgbClr val="FF0000"/>
                </a:solidFill>
              </a:rPr>
              <a:t>Monitoring Framework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43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3829" y="501971"/>
            <a:ext cx="8621485" cy="522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tabLst>
                <a:tab pos="914400" algn="l"/>
              </a:tabLst>
            </a:pPr>
            <a:r>
              <a:rPr lang="en-US" sz="2400" b="1" dirty="0">
                <a:solidFill>
                  <a:srgbClr val="000000"/>
                </a:solidFill>
                <a:ea typeface="Calibri"/>
                <a:cs typeface="Times New Roman"/>
              </a:rPr>
              <a:t>Trainers/ Training Managers </a:t>
            </a:r>
            <a:endParaRPr lang="en-US" sz="2000" dirty="0">
              <a:ea typeface="Calibri"/>
              <a:cs typeface="Times New Roman"/>
            </a:endParaRPr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Quality Training delivery as per curriculum. </a:t>
            </a:r>
            <a:endParaRPr lang="en-US" sz="2400" dirty="0"/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Training Plan, Lesson Plan, Log Book, Visitors feedback, Attendance.</a:t>
            </a:r>
            <a:endParaRPr lang="en-US" sz="2400" dirty="0"/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Evaluation of Participants.</a:t>
            </a:r>
            <a:endParaRPr lang="en-US" sz="2400" dirty="0"/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Training Evaluation/ feedback.</a:t>
            </a:r>
            <a:endParaRPr lang="en-US" sz="2400" dirty="0"/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Management of training. </a:t>
            </a:r>
            <a:endParaRPr lang="en-US" sz="2400" dirty="0"/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Skill Testing. </a:t>
            </a:r>
            <a:endParaRPr lang="en-US" sz="2400" dirty="0"/>
          </a:p>
          <a:p>
            <a:pPr marL="342900" lvl="0" indent="-342900">
              <a:spcBef>
                <a:spcPts val="0"/>
              </a:spcBef>
              <a:spcAft>
                <a:spcPts val="0"/>
              </a:spcAft>
              <a:buFont typeface="Symbol"/>
              <a:buChar char=""/>
              <a:tabLst>
                <a:tab pos="457200" algn="l"/>
              </a:tabLst>
            </a:pPr>
            <a:r>
              <a:rPr lang="en-US" sz="2400" dirty="0">
                <a:latin typeface="Times New Roman"/>
                <a:ea typeface="Times New Roman"/>
              </a:rPr>
              <a:t>Comments and Suggestions.</a:t>
            </a:r>
            <a:endParaRPr lang="en-US" sz="2400" dirty="0"/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/>
                <a:ea typeface="Times New Roman"/>
              </a:rPr>
              <a:t> </a:t>
            </a:r>
          </a:p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000000"/>
                </a:solidFill>
                <a:ea typeface="Calibri"/>
                <a:cs typeface="Times New Roman"/>
              </a:rPr>
              <a:t>Curriculums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Symbol"/>
              <a:buChar char=""/>
              <a:tabLst>
                <a:tab pos="457200" algn="l"/>
                <a:tab pos="914400" algn="l"/>
              </a:tabLst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Appropriate Uses of Training Curriculum (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DUDBC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/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CTEVT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).</a:t>
            </a:r>
            <a:endParaRPr lang="en-US" sz="2400" dirty="0">
              <a:solidFill>
                <a:srgbClr val="000000"/>
              </a:solidFill>
            </a:endParaRPr>
          </a:p>
          <a:p>
            <a:pPr marL="342900" lvl="0" indent="-342900">
              <a:spcBef>
                <a:spcPts val="0"/>
              </a:spcBef>
              <a:spcAft>
                <a:spcPts val="600"/>
              </a:spcAft>
              <a:buFont typeface="Symbol"/>
              <a:buChar char=""/>
              <a:tabLst>
                <a:tab pos="457200" algn="l"/>
                <a:tab pos="914400" algn="l"/>
              </a:tabLst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</a:rPr>
              <a:t>Comments and Suggestions</a:t>
            </a:r>
            <a:endParaRPr lang="en-US" sz="2400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88482" y="-110911"/>
            <a:ext cx="7155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 smtClean="0">
                <a:solidFill>
                  <a:srgbClr val="FF0000"/>
                </a:solidFill>
              </a:rPr>
              <a:t>Monitoring Framework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1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2689" y="482333"/>
            <a:ext cx="8055882" cy="55348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800" b="1" dirty="0">
                <a:solidFill>
                  <a:srgbClr val="000000"/>
                </a:solidFill>
                <a:ea typeface="Calibri"/>
                <a:cs typeface="Times New Roman"/>
              </a:rPr>
              <a:t>Training Materials (Software) </a:t>
            </a:r>
            <a:endParaRPr lang="en-US" sz="2400" dirty="0">
              <a:latin typeface="Times New Roman"/>
              <a:ea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Uses of Training Materials developed by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DUDBC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/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CLPIU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/ NRA/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CTEVT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 and others.</a:t>
            </a:r>
            <a:endParaRPr lang="en-US" sz="2000" dirty="0"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Comments and Suggestions.</a:t>
            </a:r>
            <a:endParaRPr lang="en-US" sz="20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tabLst>
                <a:tab pos="914400" algn="l"/>
              </a:tabLst>
            </a:pPr>
            <a:r>
              <a:rPr lang="en-US" sz="2800" b="1" dirty="0">
                <a:solidFill>
                  <a:srgbClr val="000000"/>
                </a:solidFill>
                <a:ea typeface="Calibri"/>
                <a:cs typeface="Times New Roman"/>
              </a:rPr>
              <a:t>Training Participants</a:t>
            </a:r>
            <a:endParaRPr lang="en-US" sz="2000" dirty="0"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Selection of Training Participants as per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DUDBC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/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CLPIU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/ </a:t>
            </a:r>
            <a:r>
              <a:rPr lang="en-US" sz="2400" dirty="0" err="1">
                <a:solidFill>
                  <a:srgbClr val="000000"/>
                </a:solidFill>
                <a:ea typeface="Calibri"/>
                <a:cs typeface="Times New Roman"/>
              </a:rPr>
              <a:t>CTEVT</a:t>
            </a: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 requirements.</a:t>
            </a:r>
            <a:endParaRPr lang="en-US" sz="2000" dirty="0">
              <a:ea typeface="Calibri"/>
              <a:cs typeface="Times New Roman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Symbol"/>
              <a:buChar char=""/>
            </a:pPr>
            <a:r>
              <a:rPr lang="en-US" sz="2400" dirty="0">
                <a:solidFill>
                  <a:srgbClr val="000000"/>
                </a:solidFill>
                <a:ea typeface="Calibri"/>
                <a:cs typeface="Times New Roman"/>
              </a:rPr>
              <a:t>Comments and Suggestions.</a:t>
            </a:r>
            <a:endParaRPr lang="en-US" sz="2000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600"/>
              </a:spcAft>
              <a:tabLst>
                <a:tab pos="914400" algn="l"/>
              </a:tabLst>
            </a:pPr>
            <a:r>
              <a:rPr lang="en-US" sz="2800" b="1" dirty="0">
                <a:solidFill>
                  <a:srgbClr val="000000"/>
                </a:solidFill>
                <a:ea typeface="Calibri"/>
                <a:cs typeface="Times New Roman"/>
              </a:rPr>
              <a:t>Training Need </a:t>
            </a:r>
            <a:r>
              <a:rPr lang="en-US" sz="2800" b="1" dirty="0" smtClean="0">
                <a:solidFill>
                  <a:srgbClr val="000000"/>
                </a:solidFill>
                <a:ea typeface="Calibri"/>
                <a:cs typeface="Times New Roman"/>
              </a:rPr>
              <a:t>Assessment</a:t>
            </a: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itchFamily="34" charset="0"/>
              <a:buChar char="•"/>
              <a:tabLst>
                <a:tab pos="914400" algn="l"/>
              </a:tabLst>
            </a:pPr>
            <a:r>
              <a:rPr lang="en-US" sz="2400" dirty="0" smtClean="0">
                <a:solidFill>
                  <a:srgbClr val="000000"/>
                </a:solidFill>
                <a:ea typeface="Calibri"/>
                <a:cs typeface="Times New Roman"/>
              </a:rPr>
              <a:t>Data</a:t>
            </a:r>
            <a:r>
              <a:rPr lang="en-US" sz="2800" b="1" dirty="0">
                <a:solidFill>
                  <a:srgbClr val="000000"/>
                </a:solidFill>
                <a:ea typeface="Calibri"/>
                <a:cs typeface="Times New Roman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ea typeface="Calibri"/>
                <a:cs typeface="Times New Roman"/>
              </a:rPr>
              <a:t>Analysis</a:t>
            </a:r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Font typeface="Arial" pitchFamily="34" charset="0"/>
              <a:buChar char="•"/>
              <a:tabLst>
                <a:tab pos="914400" algn="l"/>
              </a:tabLst>
            </a:pPr>
            <a:r>
              <a:rPr lang="en-US" sz="2400" dirty="0" smtClean="0">
                <a:solidFill>
                  <a:srgbClr val="000000"/>
                </a:solidFill>
                <a:ea typeface="Calibri"/>
                <a:cs typeface="Times New Roman"/>
              </a:rPr>
              <a:t>Recommendation</a:t>
            </a:r>
            <a:endParaRPr lang="en-US" sz="2400" dirty="0">
              <a:solidFill>
                <a:srgbClr val="000000"/>
              </a:solidFill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88482" y="-110911"/>
            <a:ext cx="715551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2400" b="1" dirty="0" smtClean="0">
                <a:solidFill>
                  <a:srgbClr val="FF0000"/>
                </a:solidFill>
              </a:rPr>
              <a:t>Monitoring Framework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1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9375" y="553789"/>
            <a:ext cx="80877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 smtClean="0">
                <a:solidFill>
                  <a:srgbClr val="FF0000"/>
                </a:solidFill>
              </a:rPr>
              <a:t>MoUD</a:t>
            </a:r>
            <a:r>
              <a:rPr lang="en-US" sz="3600" b="1" dirty="0" smtClean="0">
                <a:solidFill>
                  <a:srgbClr val="FF0000"/>
                </a:solidFill>
              </a:rPr>
              <a:t> CLPIU Monitoring Activities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Program Files\Microsoft Office\MEDIA\CAGCAT10\j0297551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14" y="2345892"/>
            <a:ext cx="1195121" cy="1823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/>
          <p:cNvSpPr/>
          <p:nvPr/>
        </p:nvSpPr>
        <p:spPr>
          <a:xfrm>
            <a:off x="1390436" y="1200120"/>
            <a:ext cx="3341221" cy="4429155"/>
          </a:xfrm>
          <a:prstGeom prst="rightArrow">
            <a:avLst>
              <a:gd name="adj1" fmla="val 85772"/>
              <a:gd name="adj2" fmla="val 12231"/>
            </a:avLst>
          </a:prstGeom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CC00CC"/>
                </a:solidFill>
              </a:rPr>
              <a:t>Observations/ Inspections.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Collect information from Engineers.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CC00CC"/>
                </a:solidFill>
              </a:rPr>
              <a:t>Information from Households.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Interactions with Stakeholders.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CC00CC"/>
                </a:solidFill>
              </a:rPr>
              <a:t>Data collection.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Progress Review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4825094" y="2220689"/>
            <a:ext cx="4173763" cy="2438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Data Analysis, Preparation and  submission of Monthly Report.</a:t>
            </a:r>
          </a:p>
          <a:p>
            <a:endParaRPr lang="en-US" sz="1400" b="1" dirty="0" smtClean="0">
              <a:solidFill>
                <a:srgbClr val="0070C0"/>
              </a:solidFill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70C0"/>
                </a:solidFill>
              </a:rPr>
              <a:t>Take Action through </a:t>
            </a:r>
            <a:r>
              <a:rPr lang="en-US" sz="2400" b="1" dirty="0" err="1" smtClean="0">
                <a:solidFill>
                  <a:srgbClr val="0070C0"/>
                </a:solidFill>
              </a:rPr>
              <a:t>MOUD-CLPIU</a:t>
            </a:r>
            <a:r>
              <a:rPr lang="en-US" sz="2400" b="1" dirty="0" smtClean="0">
                <a:solidFill>
                  <a:srgbClr val="0070C0"/>
                </a:solidFill>
              </a:rPr>
              <a:t>/ </a:t>
            </a:r>
            <a:r>
              <a:rPr lang="en-US" sz="2400" b="1" dirty="0" err="1" smtClean="0">
                <a:solidFill>
                  <a:srgbClr val="0070C0"/>
                </a:solidFill>
              </a:rPr>
              <a:t>DLPIU</a:t>
            </a:r>
            <a:r>
              <a:rPr lang="en-US" sz="2400" b="1" dirty="0" smtClean="0">
                <a:solidFill>
                  <a:srgbClr val="0070C0"/>
                </a:solidFill>
              </a:rPr>
              <a:t>/ NRA.</a:t>
            </a: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167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93647" y="371344"/>
            <a:ext cx="690224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a typeface="Calibri"/>
                <a:cs typeface="Times New Roman"/>
              </a:rPr>
              <a:t>Recent Performance of M &amp; E Team in Coordination of </a:t>
            </a:r>
            <a:r>
              <a:rPr lang="en-US" sz="3200" b="1" dirty="0" err="1" smtClean="0">
                <a:solidFill>
                  <a:srgbClr val="FF0000"/>
                </a:solidFill>
                <a:ea typeface="Calibri"/>
                <a:cs typeface="Times New Roman"/>
              </a:rPr>
              <a:t>CLPIU</a:t>
            </a:r>
            <a:r>
              <a:rPr lang="en-US" sz="3200" b="1" dirty="0" smtClean="0">
                <a:solidFill>
                  <a:srgbClr val="FF0000"/>
                </a:solidFill>
                <a:ea typeface="Calibri"/>
                <a:cs typeface="Times New Roman"/>
              </a:rPr>
              <a:t>/ </a:t>
            </a:r>
            <a:r>
              <a:rPr lang="en-US" sz="3200" b="1" dirty="0" err="1" smtClean="0">
                <a:solidFill>
                  <a:srgbClr val="FF0000"/>
                </a:solidFill>
                <a:ea typeface="Calibri"/>
                <a:cs typeface="Times New Roman"/>
              </a:rPr>
              <a:t>DLPIU</a:t>
            </a:r>
            <a:r>
              <a:rPr lang="en-US" sz="3200" b="1" dirty="0" smtClean="0">
                <a:solidFill>
                  <a:srgbClr val="FF0000"/>
                </a:solidFill>
                <a:ea typeface="Calibri"/>
                <a:cs typeface="Times New Roman"/>
              </a:rPr>
              <a:t>/ NRA</a:t>
            </a:r>
            <a:endParaRPr lang="en-US" sz="3200" dirty="0">
              <a:solidFill>
                <a:srgbClr val="FF0000"/>
              </a:solidFill>
              <a:ea typeface="Calibri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7370" y="1580002"/>
            <a:ext cx="8665029" cy="4622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buFont typeface="Symbol"/>
              <a:buChar char=""/>
            </a:pPr>
            <a:r>
              <a:rPr lang="en-US" sz="3200" dirty="0" smtClean="0">
                <a:solidFill>
                  <a:prstClr val="black"/>
                </a:solidFill>
                <a:ea typeface="Calibri"/>
                <a:cs typeface="Times New Roman"/>
              </a:rPr>
              <a:t>Development of Monitoring Framework.</a:t>
            </a:r>
          </a:p>
          <a:p>
            <a:pPr marL="342900" indent="-342900">
              <a:lnSpc>
                <a:spcPct val="115000"/>
              </a:lnSpc>
              <a:buFont typeface="Symbol"/>
              <a:buChar char=""/>
            </a:pPr>
            <a:r>
              <a:rPr lang="en-US" sz="3200" dirty="0" smtClean="0">
                <a:solidFill>
                  <a:prstClr val="black"/>
                </a:solidFill>
                <a:ea typeface="Calibri"/>
                <a:cs typeface="Times New Roman"/>
              </a:rPr>
              <a:t>Meeting </a:t>
            </a:r>
            <a:r>
              <a:rPr lang="en-US" sz="3200" dirty="0">
                <a:solidFill>
                  <a:prstClr val="black"/>
                </a:solidFill>
                <a:ea typeface="Calibri"/>
                <a:cs typeface="Times New Roman"/>
              </a:rPr>
              <a:t>with </a:t>
            </a:r>
            <a:r>
              <a:rPr lang="en-US" sz="3200" dirty="0" err="1">
                <a:solidFill>
                  <a:prstClr val="black"/>
                </a:solidFill>
                <a:ea typeface="Calibri"/>
                <a:cs typeface="Times New Roman"/>
              </a:rPr>
              <a:t>DLPIU</a:t>
            </a:r>
            <a:r>
              <a:rPr lang="en-US" sz="3200" dirty="0">
                <a:solidFill>
                  <a:prstClr val="black"/>
                </a:solidFill>
                <a:ea typeface="Calibri"/>
                <a:cs typeface="Times New Roman"/>
              </a:rPr>
              <a:t> officials in the districts.</a:t>
            </a:r>
          </a:p>
          <a:p>
            <a:pPr marL="342900" indent="-342900">
              <a:lnSpc>
                <a:spcPct val="115000"/>
              </a:lnSpc>
              <a:buFont typeface="Symbol"/>
              <a:buChar char=""/>
            </a:pPr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ea typeface="Calibri"/>
                <a:cs typeface="Times New Roman"/>
              </a:rPr>
              <a:t>Coordination meeting with Partner </a:t>
            </a:r>
            <a:r>
              <a:rPr lang="en-US" sz="3200" dirty="0" smtClean="0">
                <a:solidFill>
                  <a:schemeClr val="accent2">
                    <a:lumMod val="60000"/>
                    <a:lumOff val="40000"/>
                  </a:schemeClr>
                </a:solidFill>
                <a:ea typeface="Calibri"/>
                <a:cs typeface="Times New Roman"/>
              </a:rPr>
              <a:t>Organizations </a:t>
            </a:r>
            <a:r>
              <a:rPr lang="en-US" sz="3200" dirty="0">
                <a:solidFill>
                  <a:schemeClr val="accent2">
                    <a:lumMod val="60000"/>
                    <a:lumOff val="40000"/>
                  </a:schemeClr>
                </a:solidFill>
                <a:ea typeface="Calibri"/>
                <a:cs typeface="Times New Roman"/>
              </a:rPr>
              <a:t>in Districts.</a:t>
            </a:r>
          </a:p>
          <a:p>
            <a:pPr marL="342900" indent="-342900">
              <a:lnSpc>
                <a:spcPct val="115000"/>
              </a:lnSpc>
              <a:buFont typeface="Symbol"/>
              <a:buChar char=""/>
            </a:pPr>
            <a:r>
              <a:rPr lang="en-US" sz="3200" dirty="0">
                <a:solidFill>
                  <a:prstClr val="black"/>
                </a:solidFill>
                <a:ea typeface="Calibri"/>
                <a:cs typeface="Times New Roman"/>
              </a:rPr>
              <a:t>Monitoring of training/ reconstruction activities performed by </a:t>
            </a:r>
            <a:r>
              <a:rPr lang="en-US" sz="3200" dirty="0" err="1">
                <a:solidFill>
                  <a:prstClr val="black"/>
                </a:solidFill>
                <a:ea typeface="Calibri"/>
                <a:cs typeface="Times New Roman"/>
              </a:rPr>
              <a:t>POs.</a:t>
            </a:r>
            <a:endParaRPr lang="en-US" sz="3200" dirty="0">
              <a:solidFill>
                <a:prstClr val="black"/>
              </a:solidFill>
              <a:ea typeface="Calibri"/>
              <a:cs typeface="Times New Roman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Symbol"/>
              <a:buChar char=""/>
            </a:pPr>
            <a:r>
              <a:rPr lang="en-US" sz="3200" dirty="0">
                <a:solidFill>
                  <a:prstClr val="black"/>
                </a:solidFill>
                <a:ea typeface="Calibri"/>
                <a:cs typeface="Times New Roman"/>
              </a:rPr>
              <a:t>Collection of the Status of </a:t>
            </a:r>
            <a:r>
              <a:rPr lang="en-US" sz="3200" dirty="0" smtClean="0">
                <a:solidFill>
                  <a:prstClr val="black"/>
                </a:solidFill>
                <a:ea typeface="Calibri"/>
                <a:cs typeface="Times New Roman"/>
              </a:rPr>
              <a:t>Tablets for data collection.</a:t>
            </a:r>
            <a:endParaRPr lang="en-US" sz="3200" dirty="0">
              <a:solidFill>
                <a:prstClr val="black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4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741324"/>
            <a:ext cx="7815261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Symbol"/>
              <a:buChar char=""/>
            </a:pPr>
            <a:r>
              <a:rPr lang="en-US" sz="2800" dirty="0" smtClean="0">
                <a:solidFill>
                  <a:prstClr val="black"/>
                </a:solidFill>
                <a:ea typeface="Calibri"/>
                <a:cs typeface="Times New Roman"/>
              </a:rPr>
              <a:t>Master </a:t>
            </a:r>
            <a:r>
              <a:rPr lang="en-US" sz="2800" dirty="0">
                <a:solidFill>
                  <a:prstClr val="black"/>
                </a:solidFill>
                <a:ea typeface="Calibri"/>
                <a:cs typeface="Times New Roman"/>
              </a:rPr>
              <a:t>Training of Trainers on Retrofitting </a:t>
            </a:r>
            <a:r>
              <a:rPr lang="en-US" sz="2800" dirty="0" smtClean="0">
                <a:solidFill>
                  <a:prstClr val="black"/>
                </a:solidFill>
                <a:ea typeface="Calibri"/>
                <a:cs typeface="Times New Roman"/>
              </a:rPr>
              <a:t>Techniques and </a:t>
            </a:r>
            <a:r>
              <a:rPr lang="en-US" sz="2800" dirty="0">
                <a:solidFill>
                  <a:prstClr val="black"/>
                </a:solidFill>
                <a:ea typeface="Calibri"/>
                <a:cs typeface="Times New Roman"/>
              </a:rPr>
              <a:t>Correction/ </a:t>
            </a:r>
            <a:r>
              <a:rPr lang="en-US" sz="2800" dirty="0" smtClean="0">
                <a:solidFill>
                  <a:prstClr val="black"/>
                </a:solidFill>
                <a:ea typeface="Calibri"/>
                <a:cs typeface="Times New Roman"/>
              </a:rPr>
              <a:t>Exception Manual.</a:t>
            </a:r>
          </a:p>
          <a:p>
            <a:pPr marL="342900" indent="-342900">
              <a:spcAft>
                <a:spcPts val="1200"/>
              </a:spcAft>
              <a:buFont typeface="Symbol"/>
              <a:buChar char=""/>
            </a:pPr>
            <a:r>
              <a:rPr lang="en-US" sz="2800" dirty="0" smtClean="0">
                <a:solidFill>
                  <a:prstClr val="black"/>
                </a:solidFill>
                <a:ea typeface="Calibri"/>
                <a:cs typeface="Times New Roman"/>
              </a:rPr>
              <a:t>Training </a:t>
            </a:r>
            <a:r>
              <a:rPr lang="en-US" sz="2800" dirty="0">
                <a:solidFill>
                  <a:prstClr val="black"/>
                </a:solidFill>
                <a:ea typeface="Calibri"/>
                <a:cs typeface="Times New Roman"/>
              </a:rPr>
              <a:t>on Retrofitting Techniques and Correction/ Exception Manual </a:t>
            </a:r>
            <a:r>
              <a:rPr lang="en-US" sz="2800" dirty="0" smtClean="0">
                <a:solidFill>
                  <a:prstClr val="black"/>
                </a:solidFill>
                <a:ea typeface="Calibri"/>
                <a:cs typeface="Times New Roman"/>
              </a:rPr>
              <a:t>ongoing </a:t>
            </a:r>
            <a:r>
              <a:rPr lang="en-US" sz="2800" dirty="0">
                <a:solidFill>
                  <a:prstClr val="black"/>
                </a:solidFill>
                <a:ea typeface="Calibri"/>
                <a:cs typeface="Times New Roman"/>
              </a:rPr>
              <a:t>in 6 districts </a:t>
            </a:r>
            <a:r>
              <a:rPr lang="en-US" sz="2800" dirty="0" smtClean="0">
                <a:solidFill>
                  <a:prstClr val="black"/>
                </a:solidFill>
                <a:ea typeface="Calibri"/>
                <a:cs typeface="Times New Roman"/>
              </a:rPr>
              <a:t>center. </a:t>
            </a:r>
          </a:p>
          <a:p>
            <a:pPr marL="342900" indent="-342900">
              <a:spcAft>
                <a:spcPts val="1200"/>
              </a:spcAft>
              <a:buFont typeface="Symbol"/>
              <a:buChar char=""/>
            </a:pPr>
            <a:r>
              <a:rPr lang="en-US" sz="2800" dirty="0" smtClean="0">
                <a:solidFill>
                  <a:srgbClr val="CC9900"/>
                </a:solidFill>
                <a:ea typeface="Calibri"/>
                <a:cs typeface="Times New Roman"/>
              </a:rPr>
              <a:t>Development </a:t>
            </a:r>
            <a:r>
              <a:rPr lang="en-US" sz="2800" dirty="0">
                <a:solidFill>
                  <a:srgbClr val="CC9900"/>
                </a:solidFill>
                <a:ea typeface="Calibri"/>
                <a:cs typeface="Times New Roman"/>
              </a:rPr>
              <a:t>of Monitoring tools on input and process </a:t>
            </a:r>
            <a:r>
              <a:rPr lang="en-US" sz="2800" dirty="0" smtClean="0">
                <a:solidFill>
                  <a:srgbClr val="CC9900"/>
                </a:solidFill>
                <a:ea typeface="Calibri"/>
                <a:cs typeface="Times New Roman"/>
              </a:rPr>
              <a:t>monitoring ongoing.</a:t>
            </a:r>
          </a:p>
          <a:p>
            <a:pPr marL="342900" indent="-342900">
              <a:spcAft>
                <a:spcPts val="1200"/>
              </a:spcAft>
              <a:buFont typeface="Symbol"/>
              <a:buChar char=""/>
            </a:pPr>
            <a:r>
              <a:rPr lang="en-US" sz="2800" dirty="0" smtClean="0">
                <a:solidFill>
                  <a:prstClr val="black"/>
                </a:solidFill>
                <a:ea typeface="Calibri"/>
                <a:cs typeface="Times New Roman"/>
              </a:rPr>
              <a:t>7 days Mason Training for 2334 existing Masons in 14 districts. </a:t>
            </a:r>
          </a:p>
          <a:p>
            <a:pPr marL="342900" indent="-342900">
              <a:spcAft>
                <a:spcPts val="1200"/>
              </a:spcAft>
              <a:buFont typeface="Symbol"/>
              <a:buChar char=""/>
            </a:pPr>
            <a:r>
              <a:rPr lang="en-US" sz="2800" dirty="0" smtClean="0">
                <a:solidFill>
                  <a:prstClr val="black"/>
                </a:solidFill>
                <a:ea typeface="Calibri"/>
                <a:cs typeface="Times New Roman"/>
              </a:rPr>
              <a:t>Training on Building Inspection and public Procurement.</a:t>
            </a:r>
            <a:endParaRPr lang="en-US" sz="2800" dirty="0">
              <a:solidFill>
                <a:prstClr val="black"/>
              </a:solidFill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179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8663" y="399961"/>
            <a:ext cx="7029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600" b="1" dirty="0" smtClean="0">
                <a:solidFill>
                  <a:srgbClr val="FF0000"/>
                </a:solidFill>
              </a:rPr>
              <a:t>Sample Tools developed for M &amp; E </a:t>
            </a:r>
            <a:endParaRPr lang="en-US" sz="36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904678"/>
              </p:ext>
            </p:extLst>
          </p:nvPr>
        </p:nvGraphicFramePr>
        <p:xfrm>
          <a:off x="728663" y="1046292"/>
          <a:ext cx="3729038" cy="5568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" name="Document" r:id="rId4" imgW="6112129" imgH="9824065" progId="Word.Document.12">
                  <p:embed/>
                </p:oleObj>
              </mc:Choice>
              <mc:Fallback>
                <p:oleObj name="Document" r:id="rId4" imgW="6112129" imgH="98240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8663" y="1046292"/>
                        <a:ext cx="3729038" cy="5568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8988601"/>
              </p:ext>
            </p:extLst>
          </p:nvPr>
        </p:nvGraphicFramePr>
        <p:xfrm>
          <a:off x="4681536" y="1046292"/>
          <a:ext cx="3848101" cy="5540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2" name="Document" r:id="rId7" imgW="6112129" imgH="9313213" progId="Word.Document.12">
                  <p:embed/>
                </p:oleObj>
              </mc:Choice>
              <mc:Fallback>
                <p:oleObj name="Document" r:id="rId7" imgW="6112129" imgH="93132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81536" y="1046292"/>
                        <a:ext cx="3848101" cy="55402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906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277955"/>
              </p:ext>
            </p:extLst>
          </p:nvPr>
        </p:nvGraphicFramePr>
        <p:xfrm>
          <a:off x="1500188" y="342899"/>
          <a:ext cx="6286500" cy="602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Document" r:id="rId4" imgW="5940848" imgH="8971804" progId="Word.Document.12">
                  <p:embed/>
                </p:oleObj>
              </mc:Choice>
              <mc:Fallback>
                <p:oleObj name="Document" r:id="rId4" imgW="5940848" imgH="89718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00188" y="342899"/>
                        <a:ext cx="6286500" cy="6029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525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888" y="228599"/>
            <a:ext cx="5222875" cy="6243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982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703246"/>
              </p:ext>
            </p:extLst>
          </p:nvPr>
        </p:nvGraphicFramePr>
        <p:xfrm>
          <a:off x="796925" y="514350"/>
          <a:ext cx="3903664" cy="584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" name="Document" r:id="rId4" imgW="6815603" imgH="8958105" progId="Word.Document.12">
                  <p:embed/>
                </p:oleObj>
              </mc:Choice>
              <mc:Fallback>
                <p:oleObj name="Document" r:id="rId4" imgW="6815603" imgH="89581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6925" y="514350"/>
                        <a:ext cx="3903664" cy="5843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398150"/>
              </p:ext>
            </p:extLst>
          </p:nvPr>
        </p:nvGraphicFramePr>
        <p:xfrm>
          <a:off x="5172075" y="1282699"/>
          <a:ext cx="3565525" cy="498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" name="Document" r:id="rId7" imgW="6828197" imgH="8621022" progId="Word.Document.12">
                  <p:embed/>
                </p:oleObj>
              </mc:Choice>
              <mc:Fallback>
                <p:oleObj name="Document" r:id="rId7" imgW="6828197" imgH="86210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72075" y="1282699"/>
                        <a:ext cx="3565525" cy="4989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43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221567"/>
              </p:ext>
            </p:extLst>
          </p:nvPr>
        </p:nvGraphicFramePr>
        <p:xfrm>
          <a:off x="942975" y="1069976"/>
          <a:ext cx="7400925" cy="504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Document" r:id="rId4" imgW="9001367" imgH="6091618" progId="Word.Document.12">
                  <p:embed/>
                </p:oleObj>
              </mc:Choice>
              <mc:Fallback>
                <p:oleObj name="Document" r:id="rId4" imgW="9001367" imgH="60916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2975" y="1069976"/>
                        <a:ext cx="7400925" cy="5045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787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205038"/>
            <a:ext cx="6400800" cy="784905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CC0000"/>
                </a:solidFill>
              </a:rPr>
              <a:t>The </a:t>
            </a:r>
            <a:r>
              <a:rPr lang="fr-FR" sz="4000" b="1" dirty="0">
                <a:solidFill>
                  <a:srgbClr val="CC0000"/>
                </a:solidFill>
              </a:rPr>
              <a:t>Monitoring report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172454" y="1027113"/>
            <a:ext cx="8763000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The purpose of monitoring reports is to provide :</a:t>
            </a:r>
          </a:p>
          <a:p>
            <a:pPr marL="336550" indent="-336550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pdates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on achievements against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indicators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336550" indent="-336550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Guidance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on the elements that should be adjusted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1752600" y="0"/>
            <a:ext cx="7391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000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THE MONITORING REPORT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6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838200" y="125413"/>
            <a:ext cx="73914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MINIMUM STRUCTURE OF MONITORING REPORT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00025" y="1387474"/>
            <a:ext cx="8667750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fr-CH" sz="28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>
              <a:buFontTx/>
              <a:buAutoNum type="arabicPeriod"/>
            </a:pPr>
            <a:endParaRPr lang="fr-CH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AutoNum type="arabicPeriod"/>
            </a:pPr>
            <a:r>
              <a:rPr lang="fr-CH" sz="2800" dirty="0">
                <a:latin typeface="Times New Roman" pitchFamily="18" charset="0"/>
                <a:cs typeface="Times New Roman" pitchFamily="18" charset="0"/>
              </a:rPr>
              <a:t>Monitoring of </a:t>
            </a:r>
            <a:r>
              <a:rPr lang="fr-CH" sz="2800" dirty="0" smtClean="0">
                <a:latin typeface="Times New Roman" pitchFamily="18" charset="0"/>
                <a:cs typeface="Times New Roman" pitchFamily="18" charset="0"/>
              </a:rPr>
              <a:t>situation</a:t>
            </a:r>
            <a:endParaRPr lang="fr-CH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AutoNum type="arabicPeriod"/>
            </a:pPr>
            <a:endParaRPr lang="fr-CH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AutoNum type="arabicPeriod"/>
            </a:pPr>
            <a:r>
              <a:rPr lang="fr-CH" sz="2800" dirty="0">
                <a:latin typeface="Times New Roman" pitchFamily="18" charset="0"/>
                <a:cs typeface="Times New Roman" pitchFamily="18" charset="0"/>
              </a:rPr>
              <a:t>Monitoring of objectives and </a:t>
            </a:r>
            <a:r>
              <a:rPr lang="fr-CH" sz="2800" dirty="0" err="1" smtClean="0">
                <a:latin typeface="Times New Roman" pitchFamily="18" charset="0"/>
                <a:cs typeface="Times New Roman" pitchFamily="18" charset="0"/>
              </a:rPr>
              <a:t>indicators</a:t>
            </a:r>
            <a:endParaRPr lang="fr-CH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AutoNum type="arabicPeriod"/>
            </a:pPr>
            <a:endParaRPr lang="fr-CH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AutoNum type="arabicPeriod"/>
            </a:pPr>
            <a:r>
              <a:rPr lang="fr-CH" sz="2800" dirty="0">
                <a:latin typeface="Times New Roman" pitchFamily="18" charset="0"/>
                <a:cs typeface="Times New Roman" pitchFamily="18" charset="0"/>
              </a:rPr>
              <a:t>Progress of </a:t>
            </a:r>
            <a:r>
              <a:rPr lang="fr-CH" sz="2800" dirty="0" err="1" smtClean="0">
                <a:latin typeface="Times New Roman" pitchFamily="18" charset="0"/>
                <a:cs typeface="Times New Roman" pitchFamily="18" charset="0"/>
              </a:rPr>
              <a:t>activites</a:t>
            </a:r>
            <a:endParaRPr lang="fr-CH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AutoNum type="arabicPeriod"/>
            </a:pPr>
            <a:endParaRPr lang="fr-CH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AutoNum type="arabicPeriod"/>
            </a:pPr>
            <a:r>
              <a:rPr lang="fr-CH" sz="2800" dirty="0">
                <a:latin typeface="Times New Roman" pitchFamily="18" charset="0"/>
                <a:cs typeface="Times New Roman" pitchFamily="18" charset="0"/>
              </a:rPr>
              <a:t>Conclusions</a:t>
            </a:r>
          </a:p>
          <a:p>
            <a:pPr>
              <a:buFontTx/>
              <a:buAutoNum type="arabicPeriod"/>
            </a:pPr>
            <a:endParaRPr lang="fr-CH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AutoNum type="arabicPeriod"/>
            </a:pPr>
            <a:r>
              <a:rPr lang="fr-CH" sz="2800" dirty="0" smtClean="0">
                <a:latin typeface="Times New Roman" pitchFamily="18" charset="0"/>
                <a:cs typeface="Times New Roman" pitchFamily="18" charset="0"/>
              </a:rPr>
              <a:t>Recommandations </a:t>
            </a:r>
            <a:endParaRPr lang="fr-CH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AutoNum type="arabicPeriod"/>
            </a:pPr>
            <a:endParaRPr lang="fr-CH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AutoNum type="arabicPeriod"/>
            </a:pPr>
            <a:r>
              <a:rPr lang="fr-CH" sz="2800" dirty="0">
                <a:latin typeface="Times New Roman" pitchFamily="18" charset="0"/>
                <a:cs typeface="Times New Roman" pitchFamily="18" charset="0"/>
              </a:rPr>
              <a:t>Annexes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46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47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49943" y="1669143"/>
            <a:ext cx="8287657" cy="2539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 smtClean="0">
                <a:solidFill>
                  <a:srgbClr val="FF0000"/>
                </a:solidFill>
              </a:rPr>
              <a:t>Reconstruction Status</a:t>
            </a:r>
            <a:endParaRPr lang="en-US" sz="7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94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91217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Reconstruction </a:t>
            </a:r>
            <a:r>
              <a:rPr lang="en-US" b="1" smtClean="0">
                <a:solidFill>
                  <a:srgbClr val="FF0000"/>
                </a:solidFill>
              </a:rPr>
              <a:t>Status (National)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371761"/>
            <a:ext cx="8515350" cy="356734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en-US" dirty="0"/>
              <a:t>Source: </a:t>
            </a:r>
            <a:r>
              <a:rPr lang="en-US" dirty="0" err="1" smtClean="0"/>
              <a:t>MoFALD</a:t>
            </a:r>
            <a:r>
              <a:rPr lang="en-US" dirty="0" smtClean="0"/>
              <a:t> CLPIU;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mofald-clpiu.gov.np/page/78</a:t>
            </a:r>
            <a:r>
              <a:rPr lang="en-US" dirty="0" smtClean="0"/>
              <a:t>; </a:t>
            </a:r>
            <a:r>
              <a:rPr lang="en-US" sz="1400" dirty="0"/>
              <a:t>Date:</a:t>
            </a:r>
            <a:r>
              <a:rPr lang="en-US" dirty="0" smtClean="0"/>
              <a:t> </a:t>
            </a:r>
            <a:r>
              <a:rPr lang="en-US" sz="1400" dirty="0" smtClean="0"/>
              <a:t>2074/04/25</a:t>
            </a:r>
            <a:endParaRPr lang="en-US" sz="1400" dirty="0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4" y="817144"/>
            <a:ext cx="8992776" cy="5246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310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371761"/>
            <a:ext cx="8515350" cy="356734"/>
          </a:xfrm>
        </p:spPr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en-US" dirty="0"/>
              <a:t>Source: </a:t>
            </a:r>
            <a:r>
              <a:rPr lang="en-US" dirty="0" err="1" smtClean="0"/>
              <a:t>MoFALD</a:t>
            </a:r>
            <a:r>
              <a:rPr lang="en-US" dirty="0" smtClean="0"/>
              <a:t> CLPIU; </a:t>
            </a:r>
            <a:r>
              <a:rPr lang="en-US" dirty="0" smtClean="0">
                <a:hlinkClick r:id="rId3"/>
              </a:rPr>
              <a:t>http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mofald-clpiu.gov.np/page/78</a:t>
            </a:r>
            <a:r>
              <a:rPr lang="en-US" dirty="0" smtClean="0"/>
              <a:t>; </a:t>
            </a:r>
            <a:r>
              <a:rPr lang="en-US" sz="1400" dirty="0"/>
              <a:t>Date:</a:t>
            </a:r>
            <a:r>
              <a:rPr lang="en-US" dirty="0" smtClean="0"/>
              <a:t> </a:t>
            </a:r>
            <a:r>
              <a:rPr lang="en-US" sz="1400" dirty="0" smtClean="0"/>
              <a:t>2074/04/25</a:t>
            </a:r>
            <a:endParaRPr lang="en-US" sz="1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89642" y="146498"/>
            <a:ext cx="7886700" cy="491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solidFill>
                  <a:srgbClr val="FF0000"/>
                </a:solidFill>
              </a:rPr>
              <a:t>Reconstruction Status </a:t>
            </a:r>
            <a:r>
              <a:rPr lang="en-US" sz="2400" b="1" dirty="0">
                <a:solidFill>
                  <a:srgbClr val="FF0000"/>
                </a:solidFill>
              </a:rPr>
              <a:t>(14 District</a:t>
            </a:r>
            <a:r>
              <a:rPr lang="en-US" sz="2400" b="1" dirty="0" smtClean="0">
                <a:solidFill>
                  <a:srgbClr val="FF0000"/>
                </a:solidFill>
              </a:rPr>
              <a:t>)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02" y="637715"/>
            <a:ext cx="7363326" cy="565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576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50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59279" y="885371"/>
            <a:ext cx="7886700" cy="4383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Reconstruction Status</a:t>
            </a:r>
          </a:p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(at Local Level)</a:t>
            </a:r>
          </a:p>
          <a:p>
            <a:pPr algn="ctr"/>
            <a:endParaRPr lang="en-US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86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20775" y="188913"/>
            <a:ext cx="7772400" cy="1470025"/>
          </a:xfrm>
        </p:spPr>
        <p:txBody>
          <a:bodyPr/>
          <a:lstStyle/>
          <a:p>
            <a:r>
              <a:rPr lang="fr-FR" sz="2800" b="1" dirty="0"/>
              <a:t>IF A MONITORING DOES NOT LEAD TO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/>
              <a:t/>
            </a:r>
            <a:br>
              <a:rPr lang="fr-FR" sz="2400" dirty="0"/>
            </a:br>
            <a:r>
              <a:rPr lang="fr-FR" sz="3200" b="1" dirty="0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ANALYSIS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35150" y="2205038"/>
            <a:ext cx="6400800" cy="3600450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90000"/>
              </a:lnSpc>
            </a:pPr>
            <a:r>
              <a:rPr lang="fr-FR" sz="2400" b="1" dirty="0"/>
              <a:t>AND THEN TO</a:t>
            </a:r>
          </a:p>
          <a:p>
            <a:pPr algn="l">
              <a:lnSpc>
                <a:spcPct val="90000"/>
              </a:lnSpc>
            </a:pPr>
            <a:endParaRPr lang="fr-FR" sz="2400" b="1" dirty="0"/>
          </a:p>
          <a:p>
            <a:pPr>
              <a:lnSpc>
                <a:spcPct val="90000"/>
              </a:lnSpc>
            </a:pPr>
            <a:r>
              <a:rPr lang="fr-FR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DECISION MAKING</a:t>
            </a:r>
          </a:p>
          <a:p>
            <a:pPr>
              <a:lnSpc>
                <a:spcPct val="90000"/>
              </a:lnSpc>
            </a:pPr>
            <a:r>
              <a:rPr lang="fr-FR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(ADAPTATIONS)</a:t>
            </a:r>
          </a:p>
          <a:p>
            <a:pPr>
              <a:lnSpc>
                <a:spcPct val="90000"/>
              </a:lnSpc>
            </a:pPr>
            <a:endParaRPr lang="fr-FR" sz="2400" dirty="0"/>
          </a:p>
          <a:p>
            <a:pPr algn="l">
              <a:lnSpc>
                <a:spcPct val="90000"/>
              </a:lnSpc>
            </a:pPr>
            <a:r>
              <a:rPr lang="fr-FR" sz="2400" b="1" dirty="0">
                <a:solidFill>
                  <a:srgbClr val="800000"/>
                </a:solidFill>
              </a:rPr>
              <a:t>IT IS</a:t>
            </a:r>
          </a:p>
          <a:p>
            <a:pPr>
              <a:lnSpc>
                <a:spcPct val="90000"/>
              </a:lnSpc>
            </a:pPr>
            <a:r>
              <a:rPr lang="fr-FR" sz="6000" b="1" u="sng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USELESS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4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42D0E-A88D-4DDD-9A0B-9B8A68EFDB8F}" type="slidenum">
              <a:rPr lang="en-US" smtClean="0"/>
              <a:t>52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387423" y="5534710"/>
            <a:ext cx="31489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5400" b="1" dirty="0" smtClean="0">
                <a:solidFill>
                  <a:srgbClr val="FF0000"/>
                </a:solidFill>
              </a:rPr>
              <a:t>Thank You</a:t>
            </a:r>
            <a:endParaRPr lang="en-US" sz="54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828675"/>
            <a:ext cx="7515225" cy="455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793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11383</TotalTime>
  <Words>2358</Words>
  <Application>Microsoft Office PowerPoint</Application>
  <PresentationFormat>On-screen Show (4:3)</PresentationFormat>
  <Paragraphs>505</Paragraphs>
  <Slides>52</Slides>
  <Notes>14</Notes>
  <HiddenSlides>2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1_Office Theme</vt:lpstr>
      <vt:lpstr>4_Office Theme</vt:lpstr>
      <vt:lpstr>5_Office Theme</vt:lpstr>
      <vt:lpstr>CorelDRAW</vt:lpstr>
      <vt:lpstr>Document</vt:lpstr>
      <vt:lpstr>PowerPoint Presentation</vt:lpstr>
      <vt:lpstr>PowerPoint Presentation</vt:lpstr>
      <vt:lpstr>PowerPoint Presentation</vt:lpstr>
      <vt:lpstr>PowerPoint Presentation</vt:lpstr>
      <vt:lpstr>Monitoring</vt:lpstr>
      <vt:lpstr>Planning a Monitoring System</vt:lpstr>
      <vt:lpstr>Planning a Monitoring System</vt:lpstr>
      <vt:lpstr>Planning a Monitoring System</vt:lpstr>
      <vt:lpstr>How should I monitor?</vt:lpstr>
      <vt:lpstr>The first step is observation, but talking and analysis help you understand the cause</vt:lpstr>
      <vt:lpstr>Communication</vt:lpstr>
      <vt:lpstr>Find Out More from People</vt:lpstr>
      <vt:lpstr>Some Communication Tips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Monitoring and Evaluation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Reconstruction Status (National)</vt:lpstr>
      <vt:lpstr>PowerPoint Presentation</vt:lpstr>
      <vt:lpstr>PowerPoint Presentation</vt:lpstr>
      <vt:lpstr>IF A MONITORING DOES NOT LEAD TO   ANALYSIS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Diwat</dc:creator>
  <cp:lastModifiedBy>Rijan Gajurel</cp:lastModifiedBy>
  <cp:revision>1538</cp:revision>
  <cp:lastPrinted>2017-05-15T08:26:24Z</cp:lastPrinted>
  <dcterms:created xsi:type="dcterms:W3CDTF">2016-09-21T07:56:52Z</dcterms:created>
  <dcterms:modified xsi:type="dcterms:W3CDTF">2017-09-04T10:44:07Z</dcterms:modified>
</cp:coreProperties>
</file>