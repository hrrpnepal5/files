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17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0" r:id="rId1"/>
  </p:sldMasterIdLst>
  <p:notesMasterIdLst>
    <p:notesMasterId r:id="rId43"/>
  </p:notesMasterIdLst>
  <p:handoutMasterIdLst>
    <p:handoutMasterId r:id="rId44"/>
  </p:handoutMasterIdLst>
  <p:sldIdLst>
    <p:sldId id="256" r:id="rId2"/>
    <p:sldId id="257" r:id="rId3"/>
    <p:sldId id="322" r:id="rId4"/>
    <p:sldId id="335" r:id="rId5"/>
    <p:sldId id="336" r:id="rId6"/>
    <p:sldId id="323" r:id="rId7"/>
    <p:sldId id="334" r:id="rId8"/>
    <p:sldId id="358" r:id="rId9"/>
    <p:sldId id="359" r:id="rId10"/>
    <p:sldId id="337" r:id="rId11"/>
    <p:sldId id="324" r:id="rId12"/>
    <p:sldId id="328" r:id="rId13"/>
    <p:sldId id="329" r:id="rId14"/>
    <p:sldId id="318" r:id="rId15"/>
    <p:sldId id="331" r:id="rId16"/>
    <p:sldId id="266" r:id="rId17"/>
    <p:sldId id="319" r:id="rId18"/>
    <p:sldId id="332" r:id="rId19"/>
    <p:sldId id="363" r:id="rId20"/>
    <p:sldId id="340" r:id="rId21"/>
    <p:sldId id="361" r:id="rId22"/>
    <p:sldId id="341" r:id="rId23"/>
    <p:sldId id="362" r:id="rId24"/>
    <p:sldId id="357" r:id="rId25"/>
    <p:sldId id="342" r:id="rId26"/>
    <p:sldId id="344" r:id="rId27"/>
    <p:sldId id="347" r:id="rId28"/>
    <p:sldId id="343" r:id="rId29"/>
    <p:sldId id="345" r:id="rId30"/>
    <p:sldId id="348" r:id="rId31"/>
    <p:sldId id="349" r:id="rId32"/>
    <p:sldId id="350" r:id="rId33"/>
    <p:sldId id="351" r:id="rId34"/>
    <p:sldId id="364" r:id="rId35"/>
    <p:sldId id="346" r:id="rId36"/>
    <p:sldId id="352" r:id="rId37"/>
    <p:sldId id="355" r:id="rId38"/>
    <p:sldId id="353" r:id="rId39"/>
    <p:sldId id="354" r:id="rId40"/>
    <p:sldId id="360" r:id="rId41"/>
    <p:sldId id="356" r:id="rId4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3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1F0"/>
    <a:srgbClr val="4F81BD"/>
    <a:srgbClr val="C0504D"/>
    <a:srgbClr val="183D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97" autoAdjust="0"/>
    <p:restoredTop sz="98957" autoAdjust="0"/>
  </p:normalViewPr>
  <p:slideViewPr>
    <p:cSldViewPr snapToGrid="0" snapToObjects="1">
      <p:cViewPr varScale="1">
        <p:scale>
          <a:sx n="87" d="100"/>
          <a:sy n="87" d="100"/>
        </p:scale>
        <p:origin x="87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78" y="1092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286D82-EBA6-4F47-8138-F6FDBF4522FF}" type="datetimeFigureOut">
              <a:rPr lang="en-US" smtClean="0"/>
              <a:t>5/5/2016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D0072-49DD-4343-84C2-28CC796E9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10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05563-2927-4C19-A36E-FE8CF09DD8FA}" type="datetimeFigureOut">
              <a:rPr lang="en-US" smtClean="0"/>
              <a:t>5/5/2016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F11B0A-49F4-40E6-9EB9-78F332027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96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F11B0A-49F4-40E6-9EB9-78F332027D7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91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fr-CH" smtClean="0"/>
              <a:t>Fare clic per modificare stile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CH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21832-C3C3-408D-A70E-A17D95AD9D72}" type="datetime1">
              <a:rPr lang="en-US" smtClean="0"/>
              <a:t>5/5/2016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Housing Recovery &amp; Reconstruction Platform (HRRP)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smtClean="0"/>
              <a:t>Fare clic per modificare stile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6AFD4-CFDD-43B9-B8F7-51442E92CD50}" type="datetime1">
              <a:rPr lang="en-US" smtClean="0"/>
              <a:t>5/5/2016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Housing Recovery &amp; Reconstruction Platform (HRRP)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fr-CH" smtClean="0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C576-A44D-4A7F-91DF-0CAA3DB7D76A}" type="datetime1">
              <a:rPr lang="en-US" smtClean="0"/>
              <a:t>5/5/2016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Housing Recovery &amp; Reconstruction Platform (HRRP)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smtClean="0"/>
              <a:t>Fare clic per modificare stile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A5BEF-861E-4F1C-9D64-DC2FF91F95D5}" type="datetime1">
              <a:rPr lang="en-US" smtClean="0"/>
              <a:t>5/5/2016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Housing Recovery &amp; Reconstruction Platform (HRRP)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CH" smtClean="0"/>
              <a:t>Fare clic per modificare stile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8D36-6891-4EC2-A8A6-DF445F42BA40}" type="datetime1">
              <a:rPr lang="en-US" smtClean="0"/>
              <a:t>5/5/2016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Housing Recovery &amp; Reconstruction Platform (HRRP)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smtClean="0"/>
              <a:t>Fare clic per modificare stile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661E6-40D1-4B4E-8257-A0980031A3D0}" type="datetime1">
              <a:rPr lang="en-US" smtClean="0"/>
              <a:t>5/5/2016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Housing Recovery &amp; Reconstruction Platform (HRRP)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8750A-9012-43F9-9179-0FE272000535}" type="datetime1">
              <a:rPr lang="en-US" smtClean="0"/>
              <a:t>5/5/2016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Housing Recovery &amp; Reconstruction Platform (HRRP)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fr-CH" smtClean="0"/>
              <a:t>Fare clic per modificare stile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414D3-4108-4DB0-97F7-286C70DB7389}" type="datetime1">
              <a:rPr lang="en-US" smtClean="0"/>
              <a:t>5/5/2016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Housing Recovery &amp; Reconstruction Platform (HRRP)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fr-CH" smtClean="0"/>
              <a:t>Fare clic per modificare stile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CH" smtClean="0"/>
              <a:t>Trascinare l'immagine su un segnaposto o fare clic sull'icona per aggiungerla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4B755-1D85-49AA-ABC3-9FFA3A54B2DE}" type="datetime1">
              <a:rPr lang="en-US" smtClean="0"/>
              <a:t>5/5/2016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Housing Recovery &amp; Reconstruction Platform (HRRP)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smtClean="0"/>
              <a:t>Fare clic per modificare stile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A2D9-F0F6-4A6D-96AD-A9469B5781BD}" type="datetime1">
              <a:rPr lang="en-US" smtClean="0"/>
              <a:t>5/5/2016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Housing Recovery &amp; Reconstruction Platform (HRRP)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fr-CH" smtClean="0"/>
              <a:t>Fare clic per modificare stile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39AA-2F89-4D27-B531-3F9D928D2CD5}" type="datetime1">
              <a:rPr lang="en-US" smtClean="0"/>
              <a:t>5/5/2016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Housing Recovery &amp; Reconstruction Platform (HRRP)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H" smtClean="0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Housing Recovery &amp; Reconstruction Platform (HRRP)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483F6D8-BB93-492D-BEBA-9D389C7919C2}" type="datetime1">
              <a:rPr lang="en-US" smtClean="0"/>
              <a:t>5/5/2016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Information_transfer" TargetMode="External"/><Relationship Id="rId2" Type="http://schemas.openxmlformats.org/officeDocument/2006/relationships/hyperlink" Target="http://en.wikipedia.org/wiki/Informati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29236" y="1443210"/>
            <a:ext cx="7543800" cy="2565376"/>
          </a:xfrm>
        </p:spPr>
        <p:txBody>
          <a:bodyPr/>
          <a:lstStyle/>
          <a:p>
            <a:r>
              <a:rPr lang="en-GB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5400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5400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5400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5400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5400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HRRP </a:t>
            </a:r>
            <a:br>
              <a:rPr lang="en-US" altLang="zh-CN" sz="5400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5400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</a:t>
            </a:r>
            <a:br>
              <a:rPr lang="en-US" altLang="zh-CN" sz="5400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5400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r>
              <a:rPr lang="en-GB" sz="5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5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54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65690" y="3742530"/>
            <a:ext cx="6461760" cy="1681014"/>
          </a:xfrm>
        </p:spPr>
        <p:txBody>
          <a:bodyPr>
            <a:noAutofit/>
          </a:bodyPr>
          <a:lstStyle/>
          <a:p>
            <a:endParaRPr lang="en-GB" sz="1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Date: </a:t>
            </a:r>
            <a:r>
              <a:rPr lang="en-US" altLang="zh-CN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5 May 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2016</a:t>
            </a:r>
            <a:endParaRPr lang="en-GB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r>
              <a:rPr lang="en-US" altLang="zh-CN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Venue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: </a:t>
            </a:r>
            <a:r>
              <a:rPr lang="en-US" altLang="zh-CN" sz="1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Rasuwa</a:t>
            </a:r>
            <a:r>
              <a:rPr lang="en-US" altLang="zh-CN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, DDC</a:t>
            </a:r>
            <a:endParaRPr lang="en-GB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endParaRPr lang="en-GB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 smtClean="0">
                <a:latin typeface="Arial"/>
                <a:cs typeface="Arial"/>
              </a:rPr>
              <a:t>Housing Recovery &amp; Reconstruction Platform (HRRP)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27450" y="69904"/>
            <a:ext cx="1398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 smtClean="0">
                <a:solidFill>
                  <a:srgbClr val="183D7B"/>
                </a:solidFill>
                <a:latin typeface="Arial Narrow"/>
                <a:cs typeface="Arial Narrow"/>
              </a:rPr>
              <a:t>HRRP</a:t>
            </a:r>
            <a:endParaRPr kumimoji="1" lang="zh-CN" altLang="en-US" sz="4000" b="1" dirty="0">
              <a:solidFill>
                <a:srgbClr val="183D7B"/>
              </a:solidFill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83428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290"/>
            <a:ext cx="762000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GB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73090"/>
            <a:ext cx="6549656" cy="4142191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77240" lvl="2" indent="0">
              <a:buNone/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42900">
              <a:buAutoNum type="arabicPeriod" startAt="2"/>
            </a:pP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Coordination Mechanism</a:t>
            </a:r>
          </a:p>
          <a:p>
            <a:pPr marL="457200" indent="-342900">
              <a:buAutoNum type="arabicPeriod" startAt="2"/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 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Analysis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77240" lvl="2" indent="0">
              <a:buNone/>
            </a:pPr>
            <a:endParaRPr lang="en-GB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42900">
              <a:buAutoNum type="arabicPeriod" startAt="4"/>
            </a:pPr>
            <a:r>
              <a:rPr lang="en-GB" altLang="zh-CN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Showcase and Demo</a:t>
            </a:r>
          </a:p>
          <a:p>
            <a:pPr marL="114300" indent="0">
              <a:buNone/>
            </a:pPr>
            <a:endParaRPr lang="en-GB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GB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GB" altLang="zh-CN" sz="1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GB" altLang="zh-CN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 &amp; A</a:t>
            </a: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Housing Recovery &amp; Reconstruction Platform (HRRP)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57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87338"/>
            <a:ext cx="762000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GB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22372"/>
            <a:ext cx="7620000" cy="4800600"/>
          </a:xfrm>
        </p:spPr>
        <p:txBody>
          <a:bodyPr>
            <a:normAutofit/>
          </a:bodyPr>
          <a:lstStyle/>
          <a:p>
            <a:pPr>
              <a:buClr>
                <a:schemeClr val="tx2">
                  <a:lumMod val="75000"/>
                  <a:lumOff val="25000"/>
                </a:schemeClr>
              </a:buClr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Information management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 (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IM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) is the collection and management of 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  <a:hlinkClick r:id="rId2" tooltip="Information"/>
              </a:rPr>
              <a:t>information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 from one or more sources and the 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  <a:hlinkClick r:id="rId3" tooltip="Information transfer"/>
              </a:rPr>
              <a:t>distribution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 of that information to one or more audiences.</a:t>
            </a:r>
          </a:p>
          <a:p>
            <a:pPr>
              <a:buClr>
                <a:schemeClr val="tx2">
                  <a:lumMod val="75000"/>
                  <a:lumOff val="25000"/>
                </a:schemeClr>
              </a:buClr>
            </a:pPr>
            <a:endParaRPr lang="en-US" sz="24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chemeClr val="tx2">
                  <a:lumMod val="90000"/>
                  <a:lumOff val="10000"/>
                </a:schemeClr>
              </a:buClr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/>
                <a:cs typeface="Arial" pitchFamily="34" charset="0"/>
              </a:rPr>
              <a:t>an integral part of </a:t>
            </a:r>
            <a:r>
              <a:rPr lang="en-US" sz="2400" dirty="0">
                <a:solidFill>
                  <a:srgbClr val="459FD5"/>
                </a:solidFill>
                <a:latin typeface="Arial" pitchFamily="34" charset="0"/>
                <a:ea typeface="Arial"/>
                <a:cs typeface="Arial" pitchFamily="34" charset="0"/>
              </a:rPr>
              <a:t>preparing for and responding to needs and challenges (development/humanitarian contexts).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>
              <a:buClr>
                <a:schemeClr val="tx2">
                  <a:lumMod val="90000"/>
                  <a:lumOff val="10000"/>
                </a:schemeClr>
              </a:buClr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an integral part of </a:t>
            </a:r>
            <a:r>
              <a:rPr lang="en-US" sz="2400" dirty="0">
                <a:solidFill>
                  <a:srgbClr val="459FD5"/>
                </a:solidFill>
                <a:latin typeface="Arial" pitchFamily="34" charset="0"/>
                <a:cs typeface="Arial" pitchFamily="34" charset="0"/>
              </a:rPr>
              <a:t>every day work of local government to best serve the population.</a:t>
            </a:r>
          </a:p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None/>
            </a:pPr>
            <a:endParaRPr lang="en-US" sz="24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14300" indent="0">
              <a:buNone/>
            </a:pPr>
            <a:endParaRPr kumimoji="1" lang="zh-CN" altLang="en-US" sz="2400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</p:spTree>
    <p:extLst>
      <p:ext uri="{BB962C8B-B14F-4D97-AF65-F5344CB8AC3E}">
        <p14:creationId xmlns:p14="http://schemas.microsoft.com/office/powerpoint/2010/main" val="2539899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38076"/>
            <a:ext cx="7460255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GB" altLang="zh-CN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A cliché , but true </a:t>
            </a:r>
            <a:endParaRPr kumimoji="1" lang="zh-CN" altLang="en-US" sz="3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121821"/>
            <a:ext cx="7460256" cy="2065021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Its no less true for being repeated, but for many organization their information and knowledge 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kumimoji="1" lang="en-US" altLang="zh-CN" sz="2800" i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there greatest assets.</a:t>
            </a:r>
            <a:endParaRPr kumimoji="1" lang="zh-CN" altLang="en-US" sz="3200" i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Housing Recovery &amp; Reconstruction Platform (HRRP)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457200" y="3247590"/>
            <a:ext cx="7629181" cy="11538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Font typeface="Arial" pitchFamily="34" charset="0"/>
              <a:buNone/>
            </a:pPr>
            <a:r>
              <a:rPr kumimoji="1" lang="en-US" altLang="zh-CN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Unfortunately is it often under utilized</a:t>
            </a:r>
            <a:r>
              <a:rPr kumimoji="1" lang="en-US" altLang="zh-CN" sz="2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Many organizations don’t recognize information as an assess or entity in itself, and they </a:t>
            </a:r>
            <a:r>
              <a:rPr kumimoji="1" lang="en-US" altLang="zh-CN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don’t know </a:t>
            </a:r>
          </a:p>
          <a:p>
            <a:pPr marL="114300" indent="0">
              <a:buFont typeface="Arial" pitchFamily="34" charset="0"/>
              <a:buNone/>
            </a:pPr>
            <a:r>
              <a:rPr kumimoji="1" lang="en-US" altLang="zh-CN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manage it effectively </a:t>
            </a:r>
            <a:endParaRPr kumimoji="1" lang="en-US" altLang="zh-CN" sz="2400" u="sng" dirty="0" smtClean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091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38076"/>
            <a:ext cx="7460255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GB" altLang="zh-CN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!!!</a:t>
            </a:r>
            <a:endParaRPr kumimoji="1" lang="zh-CN" altLang="en-US" sz="3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121821"/>
            <a:ext cx="7460256" cy="2065021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 of knowledge and information is an </a:t>
            </a:r>
            <a:r>
              <a:rPr lang="en-US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obvious causes</a:t>
            </a:r>
          </a:p>
          <a:p>
            <a:pPr marL="114300" indent="0">
              <a:buNone/>
            </a:pPr>
            <a:r>
              <a:rPr kumimoji="1" lang="en-US" altLang="zh-CN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the inability to </a:t>
            </a:r>
            <a:r>
              <a:rPr kumimoji="1" lang="en-US" altLang="zh-CN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	 plan, </a:t>
            </a:r>
            <a:r>
              <a:rPr kumimoji="1"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 and identify community needs</a:t>
            </a:r>
            <a:r>
              <a:rPr kumimoji="1" lang="en-US" altLang="zh-CN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Housing Recovery &amp; Reconstruction Platform (HRRP)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457200" y="3593685"/>
            <a:ext cx="7629181" cy="11538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Font typeface="Arial" pitchFamily="34" charset="0"/>
              <a:buNone/>
            </a:pPr>
            <a:r>
              <a:rPr kumimoji="1" lang="en-US" altLang="zh-CN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addition , lack of information is a major handicap to solve problems and effective</a:t>
            </a:r>
          </a:p>
          <a:p>
            <a:pPr marL="114300" indent="0">
              <a:buFont typeface="Arial" pitchFamily="34" charset="0"/>
              <a:buNone/>
            </a:pPr>
            <a:r>
              <a:rPr kumimoji="1" lang="en-US" altLang="zh-CN" sz="2800" b="1" u="sng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coordination</a:t>
            </a:r>
            <a:endParaRPr kumimoji="1" lang="en-US" altLang="zh-CN" sz="2400" b="1" u="sng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40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US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HRRP IM process continuum 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333719" y="1320384"/>
            <a:ext cx="7629181" cy="2337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Font typeface="Arial" pitchFamily="34" charset="0"/>
              <a:buNone/>
            </a:pPr>
            <a:r>
              <a:rPr kumimoji="1" lang="en-US" altLang="zh-CN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HRRP information management unit working with key partners to produce standard information products to support housing and reconstruction to NRA, DUDBC</a:t>
            </a:r>
          </a:p>
          <a:p>
            <a:pPr marL="114300" indent="0">
              <a:buFont typeface="Arial" pitchFamily="34" charset="0"/>
              <a:buNone/>
            </a:pPr>
            <a:r>
              <a:rPr kumimoji="1" lang="en-US" altLang="zh-C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1" lang="en-US" altLang="zh-C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 on the response operation</a:t>
            </a:r>
            <a:endParaRPr kumimoji="1" lang="en-US" altLang="zh-CN" sz="2400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333718" y="3796998"/>
            <a:ext cx="7629181" cy="11538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Font typeface="Arial" pitchFamily="34" charset="0"/>
              <a:buNone/>
            </a:pPr>
            <a:r>
              <a:rPr kumimoji="1" lang="en-US" altLang="zh-CN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</a:t>
            </a:r>
            <a:r>
              <a:rPr kumimoji="1" lang="en-US" altLang="zh-CN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 </a:t>
            </a:r>
            <a:r>
              <a:rPr kumimoji="1" lang="en-US" altLang="zh-CN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Who does What Where and When (4W) </a:t>
            </a:r>
            <a:r>
              <a:rPr kumimoji="1" lang="en-US" altLang="zh-CN" sz="28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tracking database , contact list, and meeting schedules.</a:t>
            </a:r>
            <a:endParaRPr kumimoji="1" lang="en-US" altLang="zh-CN" sz="2400" b="1" u="sng" dirty="0" smtClean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380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" y="301552"/>
            <a:ext cx="8587671" cy="63662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GB" altLang="zh-CN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Why is a good information management Important</a:t>
            </a:r>
            <a:endParaRPr kumimoji="1" lang="zh-CN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39321"/>
            <a:ext cx="7924801" cy="5418679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IM is a central component of coordination</a:t>
            </a:r>
          </a:p>
          <a:p>
            <a:r>
              <a:rPr kumimoji="1" lang="en-US" altLang="zh-C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Key element of planning /decision-making</a:t>
            </a:r>
          </a:p>
          <a:p>
            <a:r>
              <a:rPr kumimoji="1" lang="en-US" altLang="zh-C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Processing adds values</a:t>
            </a:r>
          </a:p>
          <a:p>
            <a:r>
              <a:rPr kumimoji="1" lang="en-US" altLang="zh-C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Confirms /Negates rumors</a:t>
            </a:r>
          </a:p>
          <a:p>
            <a:r>
              <a:rPr kumimoji="1" lang="en-US" altLang="zh-C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To increase productivity and saves </a:t>
            </a:r>
            <a:r>
              <a:rPr kumimoji="1" lang="en-US" altLang="zh-C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money</a:t>
            </a:r>
            <a:endParaRPr kumimoji="1" lang="en-US" altLang="zh-CN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zh-C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To retain corporate memory ! Records are irreplaceable asset</a:t>
            </a:r>
          </a:p>
          <a:p>
            <a:r>
              <a:rPr kumimoji="1" lang="en-US" altLang="zh-C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Enables colleagues to share work in each other to avoid re-doing work</a:t>
            </a:r>
            <a:endParaRPr kumimoji="1"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Housing Recovery &amp; Reconstruction Platform (HRRP)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77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835" t="19829" r="67597" b="60600"/>
          <a:stretch/>
        </p:blipFill>
        <p:spPr>
          <a:xfrm>
            <a:off x="2800350" y="2647542"/>
            <a:ext cx="2829741" cy="992778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44500" y="-144462"/>
            <a:ext cx="7226300" cy="9906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US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National Coordination Mechanism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" y="846138"/>
            <a:ext cx="330199" cy="804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701" y="890905"/>
            <a:ext cx="4051299" cy="804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3846" t="33975" r="13049" b="3501"/>
          <a:stretch/>
        </p:blipFill>
        <p:spPr>
          <a:xfrm>
            <a:off x="369283" y="3385185"/>
            <a:ext cx="7873017" cy="3175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90" t="15912" r="61057" b="61223"/>
          <a:stretch/>
        </p:blipFill>
        <p:spPr>
          <a:xfrm>
            <a:off x="5388" y="2129058"/>
            <a:ext cx="3728412" cy="120516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61868" b="62042"/>
          <a:stretch/>
        </p:blipFill>
        <p:spPr>
          <a:xfrm>
            <a:off x="2891609" y="677509"/>
            <a:ext cx="5161175" cy="282181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891609" y="890904"/>
            <a:ext cx="3826146" cy="849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699941" y="5600700"/>
            <a:ext cx="529409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 smtClean="0">
                <a:solidFill>
                  <a:srgbClr val="00B1F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HRRP</a:t>
            </a:r>
            <a:endParaRPr lang="en-US" sz="1400" b="1" dirty="0">
              <a:solidFill>
                <a:srgbClr val="00B1F0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76309" y="6038374"/>
            <a:ext cx="765991" cy="5218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617381" y="6484362"/>
            <a:ext cx="2082209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 smtClean="0">
                <a:solidFill>
                  <a:srgbClr val="00B1F0"/>
                </a:solidFill>
                <a:ea typeface="Microsoft Sans Serif" panose="020B0604020202020204" pitchFamily="34" charset="0"/>
                <a:cs typeface="Microsoft Sans Serif" panose="020B0604020202020204" pitchFamily="34" charset="0"/>
              </a:rPr>
              <a:t>Partners  Organizations</a:t>
            </a:r>
            <a:endParaRPr lang="en-US" sz="1400" dirty="0">
              <a:solidFill>
                <a:srgbClr val="00B1F0"/>
              </a:solidFill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451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6138"/>
            <a:ext cx="9144000" cy="5584856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44500" y="-144462"/>
            <a:ext cx="7226300" cy="9906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US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Structural Mechanism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14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Information Flow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-556329" y="1470646"/>
            <a:ext cx="9144000" cy="5022224"/>
            <a:chOff x="-28575" y="1073776"/>
            <a:chExt cx="9144000" cy="5022224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8575" y="1073776"/>
              <a:ext cx="9144000" cy="5022224"/>
            </a:xfrm>
            <a:prstGeom prst="rect">
              <a:avLst/>
            </a:prstGeom>
          </p:spPr>
        </p:pic>
        <p:pic>
          <p:nvPicPr>
            <p:cNvPr id="10" name="Picture 9"/>
            <p:cNvPicPr/>
            <p:nvPr/>
          </p:nvPicPr>
          <p:blipFill rotWithShape="1">
            <a:blip r:embed="rId3"/>
            <a:srcRect l="53949" t="33349" r="44407" b="62553"/>
            <a:stretch/>
          </p:blipFill>
          <p:spPr bwMode="auto">
            <a:xfrm>
              <a:off x="6248400" y="4724400"/>
              <a:ext cx="389890" cy="38100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99235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GB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88120" y="1622372"/>
            <a:ext cx="8765311" cy="4456460"/>
            <a:chOff x="0" y="1125538"/>
            <a:chExt cx="9685337" cy="5113337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0" y="1125538"/>
              <a:ext cx="9685337" cy="5113337"/>
              <a:chOff x="0" y="754"/>
              <a:chExt cx="5999" cy="3176"/>
            </a:xfrm>
          </p:grpSpPr>
          <p:grpSp>
            <p:nvGrpSpPr>
              <p:cNvPr id="15" name="Group 14"/>
              <p:cNvGrpSpPr>
                <a:grpSpLocks/>
              </p:cNvGrpSpPr>
              <p:nvPr/>
            </p:nvGrpSpPr>
            <p:grpSpPr bwMode="auto">
              <a:xfrm>
                <a:off x="703" y="754"/>
                <a:ext cx="4445" cy="2949"/>
                <a:chOff x="703" y="754"/>
                <a:chExt cx="4445" cy="2949"/>
              </a:xfrm>
            </p:grpSpPr>
            <p:pic>
              <p:nvPicPr>
                <p:cNvPr id="25" name="Picture 24" descr="Forex-Trading-Information-Icon"/>
                <p:cNvPicPr>
                  <a:picLocks noChangeAspect="1" noChangeArrowheads="1"/>
                </p:cNvPicPr>
                <p:nvPr/>
              </p:nvPicPr>
              <p:blipFill>
                <a:blip r:embed="rId2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651" y="2750"/>
                  <a:ext cx="680" cy="6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" name="Picture 25" descr="Forex-Trading-Information-Icon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62" y="3022"/>
                  <a:ext cx="681" cy="6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" name="Picture 26" descr="Forex-Trading-Information-Icon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62" y="754"/>
                  <a:ext cx="635" cy="6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" name="Picture 27" descr="Forex-Trading-Information-Icon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474" y="2795"/>
                  <a:ext cx="635" cy="6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9" name="Picture 28" descr="Forex-Trading-Information-Icon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474" y="981"/>
                  <a:ext cx="636" cy="6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0" name="Picture 29" descr="Forex-Trading-Information-Icon"/>
                <p:cNvPicPr>
                  <a:picLocks noChangeAspect="1" noChangeArrowheads="1"/>
                </p:cNvPicPr>
                <p:nvPr/>
              </p:nvPicPr>
              <p:blipFill>
                <a:blip r:embed="rId2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03" y="1797"/>
                  <a:ext cx="680" cy="6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1" name="Picture 30" descr="Forex-Trading-Information-Icon"/>
                <p:cNvPicPr>
                  <a:picLocks noChangeAspect="1" noChangeArrowheads="1"/>
                </p:cNvPicPr>
                <p:nvPr/>
              </p:nvPicPr>
              <p:blipFill>
                <a:blip r:embed="rId2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468" y="1797"/>
                  <a:ext cx="680" cy="6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2" name="Picture 31" descr="Forex-Trading-Information-Icon"/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606" y="981"/>
                  <a:ext cx="635" cy="6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6" name="Group 15"/>
              <p:cNvGrpSpPr>
                <a:grpSpLocks/>
              </p:cNvGrpSpPr>
              <p:nvPr/>
            </p:nvGrpSpPr>
            <p:grpSpPr bwMode="auto">
              <a:xfrm>
                <a:off x="0" y="754"/>
                <a:ext cx="5999" cy="3176"/>
                <a:chOff x="0" y="754"/>
                <a:chExt cx="5999" cy="3176"/>
              </a:xfrm>
            </p:grpSpPr>
            <p:sp>
              <p:nvSpPr>
                <p:cNvPr id="17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3198" y="754"/>
                  <a:ext cx="670" cy="2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/>
                  <a:r>
                    <a:rPr lang="en-GB" altLang="en-US" b="1" i="1">
                      <a:solidFill>
                        <a:schemeClr val="accent2"/>
                      </a:solidFill>
                      <a:latin typeface="Constantia" pitchFamily="18" charset="0"/>
                    </a:rPr>
                    <a:t>what</a:t>
                  </a:r>
                  <a:endParaRPr lang="en-US" altLang="en-US" b="1" i="1">
                    <a:solidFill>
                      <a:schemeClr val="accent2"/>
                    </a:solidFill>
                    <a:latin typeface="Constantia" pitchFamily="18" charset="0"/>
                  </a:endParaRPr>
                </a:p>
              </p:txBody>
            </p:sp>
            <p:sp>
              <p:nvSpPr>
                <p:cNvPr id="18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930" y="1207"/>
                  <a:ext cx="670" cy="2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/>
                  <a:r>
                    <a:rPr lang="en-GB" altLang="en-US" b="1" i="1">
                      <a:solidFill>
                        <a:schemeClr val="accent2"/>
                      </a:solidFill>
                      <a:latin typeface="Constantia" pitchFamily="18" charset="0"/>
                    </a:rPr>
                    <a:t>when</a:t>
                  </a:r>
                  <a:endParaRPr lang="en-US" altLang="en-US" b="1" i="1">
                    <a:solidFill>
                      <a:schemeClr val="accent2"/>
                    </a:solidFill>
                    <a:latin typeface="Constantia" pitchFamily="18" charset="0"/>
                  </a:endParaRPr>
                </a:p>
              </p:txBody>
            </p:sp>
            <p:sp>
              <p:nvSpPr>
                <p:cNvPr id="19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975" y="3022"/>
                  <a:ext cx="670" cy="2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/>
                  <a:r>
                    <a:rPr lang="en-GB" altLang="en-US" b="1" i="1" dirty="0">
                      <a:solidFill>
                        <a:schemeClr val="accent2"/>
                      </a:solidFill>
                      <a:latin typeface="Constantia" pitchFamily="18" charset="0"/>
                    </a:rPr>
                    <a:t>why</a:t>
                  </a:r>
                  <a:endParaRPr lang="en-US" altLang="en-US" b="1" i="1" dirty="0">
                    <a:solidFill>
                      <a:schemeClr val="accent2"/>
                    </a:solidFill>
                    <a:latin typeface="Constantia" pitchFamily="18" charset="0"/>
                  </a:endParaRPr>
                </a:p>
              </p:txBody>
            </p:sp>
            <p:sp>
              <p:nvSpPr>
                <p:cNvPr id="20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472" y="3702"/>
                  <a:ext cx="851" cy="2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/>
                  <a:r>
                    <a:rPr lang="en-GB" altLang="en-US" b="1" i="1" dirty="0">
                      <a:solidFill>
                        <a:schemeClr val="accent2"/>
                      </a:solidFill>
                      <a:latin typeface="Constantia" pitchFamily="18" charset="0"/>
                    </a:rPr>
                    <a:t>how many</a:t>
                  </a:r>
                  <a:endParaRPr lang="en-US" altLang="en-US" b="1" i="1" dirty="0">
                    <a:solidFill>
                      <a:schemeClr val="accent2"/>
                    </a:solidFill>
                    <a:latin typeface="Constantia" pitchFamily="18" charset="0"/>
                  </a:endParaRPr>
                </a:p>
              </p:txBody>
            </p:sp>
            <p:sp>
              <p:nvSpPr>
                <p:cNvPr id="21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4377" y="2976"/>
                  <a:ext cx="851" cy="2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/>
                  <a:r>
                    <a:rPr lang="en-GB" altLang="en-US" b="1" i="1">
                      <a:solidFill>
                        <a:schemeClr val="accent2"/>
                      </a:solidFill>
                      <a:latin typeface="Constantia" pitchFamily="18" charset="0"/>
                    </a:rPr>
                    <a:t>how long</a:t>
                  </a:r>
                  <a:endParaRPr lang="en-US" altLang="en-US" b="1" i="1">
                    <a:solidFill>
                      <a:schemeClr val="accent2"/>
                    </a:solidFill>
                    <a:latin typeface="Constantia" pitchFamily="18" charset="0"/>
                  </a:endParaRPr>
                </a:p>
              </p:txBody>
            </p:sp>
            <p:sp>
              <p:nvSpPr>
                <p:cNvPr id="22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5148" y="2069"/>
                  <a:ext cx="851" cy="2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/>
                  <a:r>
                    <a:rPr lang="en-GB" altLang="en-US" b="1" i="1">
                      <a:solidFill>
                        <a:schemeClr val="accent2"/>
                      </a:solidFill>
                      <a:latin typeface="Constantia" pitchFamily="18" charset="0"/>
                    </a:rPr>
                    <a:t>who</a:t>
                  </a:r>
                  <a:endParaRPr lang="en-US" altLang="en-US" b="1" i="1">
                    <a:solidFill>
                      <a:schemeClr val="accent2"/>
                    </a:solidFill>
                    <a:latin typeface="Constantia" pitchFamily="18" charset="0"/>
                  </a:endParaRPr>
                </a:p>
              </p:txBody>
            </p:sp>
            <p:sp>
              <p:nvSpPr>
                <p:cNvPr id="23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4286" y="1162"/>
                  <a:ext cx="851" cy="2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/>
                  <a:r>
                    <a:rPr lang="en-GB" altLang="en-US" b="1" i="1">
                      <a:solidFill>
                        <a:schemeClr val="accent2"/>
                      </a:solidFill>
                      <a:latin typeface="Constantia" pitchFamily="18" charset="0"/>
                    </a:rPr>
                    <a:t>where</a:t>
                  </a:r>
                  <a:endParaRPr lang="en-US" altLang="en-US" b="1" i="1">
                    <a:solidFill>
                      <a:schemeClr val="accent2"/>
                    </a:solidFill>
                    <a:latin typeface="Constantia" pitchFamily="18" charset="0"/>
                  </a:endParaRPr>
                </a:p>
              </p:txBody>
            </p:sp>
            <p:sp>
              <p:nvSpPr>
                <p:cNvPr id="24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0" y="2160"/>
                  <a:ext cx="851" cy="2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/>
                  <a:r>
                    <a:rPr lang="en-GB" altLang="en-US" b="1" i="1">
                      <a:solidFill>
                        <a:schemeClr val="accent2"/>
                      </a:solidFill>
                      <a:latin typeface="Constantia" pitchFamily="18" charset="0"/>
                    </a:rPr>
                    <a:t>how far</a:t>
                  </a:r>
                  <a:endParaRPr lang="en-US" altLang="en-US" b="1" i="1">
                    <a:solidFill>
                      <a:schemeClr val="accent2"/>
                    </a:solidFill>
                    <a:latin typeface="Constantia" pitchFamily="18" charset="0"/>
                  </a:endParaRPr>
                </a:p>
              </p:txBody>
            </p:sp>
          </p:grpSp>
        </p:grpSp>
        <p:pic>
          <p:nvPicPr>
            <p:cNvPr id="14" name="Picture 13" descr="9631787-a-person-stands-before-a-clear-glass-board-and-draws-a-light-bulb-with-the-word-idea-in-it-as-he-bra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796" t="10660" b="2907"/>
            <a:stretch>
              <a:fillRect/>
            </a:stretch>
          </p:blipFill>
          <p:spPr bwMode="auto">
            <a:xfrm>
              <a:off x="3563938" y="2206308"/>
              <a:ext cx="1944687" cy="2633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" name="AutoShape 50"/>
          <p:cNvSpPr>
            <a:spLocks noChangeArrowheads="1"/>
          </p:cNvSpPr>
          <p:nvPr/>
        </p:nvSpPr>
        <p:spPr bwMode="auto">
          <a:xfrm>
            <a:off x="1870544" y="3595226"/>
            <a:ext cx="1666564" cy="1057738"/>
          </a:xfrm>
          <a:prstGeom prst="wedgeEllipseCallout">
            <a:avLst>
              <a:gd name="adj1" fmla="val 68417"/>
              <a:gd name="adj2" fmla="val -60375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en-US" b="1" dirty="0"/>
              <a:t>proper analysis!</a:t>
            </a:r>
            <a:endParaRPr lang="en-US" altLang="en-US" b="1" dirty="0"/>
          </a:p>
        </p:txBody>
      </p:sp>
      <p:sp>
        <p:nvSpPr>
          <p:cNvPr id="34" name="AutoShape 47"/>
          <p:cNvSpPr>
            <a:spLocks noChangeArrowheads="1"/>
          </p:cNvSpPr>
          <p:nvPr/>
        </p:nvSpPr>
        <p:spPr bwMode="auto">
          <a:xfrm>
            <a:off x="2195513" y="1883456"/>
            <a:ext cx="1728594" cy="1164543"/>
          </a:xfrm>
          <a:prstGeom prst="wedgeEllipseCallout">
            <a:avLst>
              <a:gd name="adj1" fmla="val 42406"/>
              <a:gd name="adj2" fmla="val 5732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en-US" b="1" dirty="0"/>
              <a:t>timely decision + action!</a:t>
            </a:r>
            <a:endParaRPr lang="en-US" altLang="en-US" b="1" dirty="0"/>
          </a:p>
        </p:txBody>
      </p:sp>
      <p:sp>
        <p:nvSpPr>
          <p:cNvPr id="35" name="AutoShape 48"/>
          <p:cNvSpPr>
            <a:spLocks noChangeArrowheads="1"/>
          </p:cNvSpPr>
          <p:nvPr/>
        </p:nvSpPr>
        <p:spPr bwMode="auto">
          <a:xfrm>
            <a:off x="5508625" y="3150421"/>
            <a:ext cx="1518825" cy="999303"/>
          </a:xfrm>
          <a:prstGeom prst="wedgeEllipseCallout">
            <a:avLst>
              <a:gd name="adj1" fmla="val -78481"/>
              <a:gd name="adj2" fmla="val 3362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en-US" b="1" dirty="0"/>
              <a:t>relevant idea!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116500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162" y="327581"/>
            <a:ext cx="762000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GB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Data to decision-making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sp>
        <p:nvSpPr>
          <p:cNvPr id="7" name="Content Placeholder 2"/>
          <p:cNvSpPr>
            <a:spLocks noGrp="1"/>
          </p:cNvSpPr>
          <p:nvPr/>
        </p:nvSpPr>
        <p:spPr>
          <a:xfrm>
            <a:off x="334162" y="1472461"/>
            <a:ext cx="56269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8,000 , 22 </a:t>
            </a:r>
          </a:p>
          <a:p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8,000 </a:t>
            </a:r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households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 </a:t>
            </a:r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housing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22 </a:t>
            </a:r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VDCs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2 </a:t>
            </a:r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enrollment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centers </a:t>
            </a:r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covers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 </a:t>
            </a:r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VDCs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establish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enrollment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centers to </a:t>
            </a:r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cover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16 </a:t>
            </a:r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VDCs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coordination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advocacy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coordinated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800" dirty="0" err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lang="es-MX" sz="28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5884040" y="1490853"/>
            <a:ext cx="1390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TextBox 5"/>
          <p:cNvSpPr txBox="1"/>
          <p:nvPr/>
        </p:nvSpPr>
        <p:spPr>
          <a:xfrm>
            <a:off x="5884041" y="2332037"/>
            <a:ext cx="2365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</a:p>
        </p:txBody>
      </p:sp>
      <p:sp>
        <p:nvSpPr>
          <p:cNvPr id="10" name="TextBox 7"/>
          <p:cNvSpPr txBox="1"/>
          <p:nvPr/>
        </p:nvSpPr>
        <p:spPr>
          <a:xfrm>
            <a:off x="5889252" y="4564282"/>
            <a:ext cx="1840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</a:p>
        </p:txBody>
      </p:sp>
      <p:sp>
        <p:nvSpPr>
          <p:cNvPr id="11" name="TextBox 8"/>
          <p:cNvSpPr txBox="1"/>
          <p:nvPr/>
        </p:nvSpPr>
        <p:spPr>
          <a:xfrm>
            <a:off x="5884041" y="3212223"/>
            <a:ext cx="2247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Knowledge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81762" y="2025668"/>
            <a:ext cx="82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67362" y="2863868"/>
            <a:ext cx="82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67362" y="3778268"/>
            <a:ext cx="82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67362" y="5174693"/>
            <a:ext cx="82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9"/>
          <p:cNvSpPr txBox="1"/>
          <p:nvPr/>
        </p:nvSpPr>
        <p:spPr>
          <a:xfrm>
            <a:off x="6540228" y="6545481"/>
            <a:ext cx="16209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dirty="0">
                <a:solidFill>
                  <a:schemeClr val="bg1">
                    <a:lumMod val="65000"/>
                  </a:schemeClr>
                </a:solidFill>
              </a:rPr>
              <a:t>SOURCE: Protection Cluster, Nepal</a:t>
            </a:r>
          </a:p>
        </p:txBody>
      </p:sp>
    </p:spTree>
    <p:extLst>
      <p:ext uri="{BB962C8B-B14F-4D97-AF65-F5344CB8AC3E}">
        <p14:creationId xmlns:p14="http://schemas.microsoft.com/office/powerpoint/2010/main" val="179577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GB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sp>
        <p:nvSpPr>
          <p:cNvPr id="9" name="Subtitle 4"/>
          <p:cNvSpPr>
            <a:spLocks noGrp="1"/>
          </p:cNvSpPr>
          <p:nvPr/>
        </p:nvSpPr>
        <p:spPr>
          <a:xfrm>
            <a:off x="457200" y="1878031"/>
            <a:ext cx="5418483" cy="3427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data can be analyzed further in order to know:</a:t>
            </a:r>
          </a:p>
          <a:p>
            <a:pPr marL="457200" indent="-457200" algn="l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Identify Gaps of services</a:t>
            </a:r>
          </a:p>
          <a:p>
            <a:pPr marL="457200" indent="-457200" algn="l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Future planning for housing related assistance</a:t>
            </a:r>
          </a:p>
          <a:p>
            <a:pPr marL="457200" indent="-457200" algn="l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Compare,</a:t>
            </a:r>
          </a:p>
          <a:p>
            <a:pPr marL="457200" indent="-457200" algn="l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Prioritize </a:t>
            </a:r>
          </a:p>
          <a:p>
            <a:pPr marL="457200" indent="-457200" algn="l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Advocacy at national level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136" y="2841116"/>
            <a:ext cx="1886364" cy="188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49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US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HRRP Information Products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20800"/>
            <a:ext cx="7908878" cy="5080000"/>
          </a:xfrm>
        </p:spPr>
        <p:txBody>
          <a:bodyPr>
            <a:normAutofit/>
          </a:bodyPr>
          <a:lstStyle/>
          <a:p>
            <a:r>
              <a:rPr kumimoji="1"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directories/lists</a:t>
            </a:r>
            <a:endParaRPr kumimoji="1"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Meeting schedules</a:t>
            </a:r>
          </a:p>
          <a:p>
            <a:r>
              <a:rPr kumimoji="1"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 of relevant documents</a:t>
            </a:r>
          </a:p>
          <a:p>
            <a:pPr lvl="1"/>
            <a:r>
              <a:rPr kumimoji="1"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Guidelines, policies, assessment</a:t>
            </a:r>
            <a:r>
              <a:rPr kumimoji="1"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evaluations etc.</a:t>
            </a:r>
            <a:endParaRPr kumimoji="1" lang="en-US" altLang="zh-CN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 does What Where and When (</a:t>
            </a:r>
            <a:r>
              <a:rPr kumimoji="1" lang="en-US" altLang="zh-CN" sz="24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kumimoji="1"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kumimoji="1"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Its derivative products – coordination </a:t>
            </a:r>
            <a:r>
              <a:rPr kumimoji="1"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</a:t>
            </a:r>
            <a:endParaRPr kumimoji="1"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 </a:t>
            </a:r>
          </a:p>
          <a:p>
            <a:r>
              <a:rPr kumimoji="1"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 of datasets </a:t>
            </a:r>
            <a:r>
              <a:rPr kumimoji="1"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en-US" altLang="zh-CN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kumimoji="1"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CoDs</a:t>
            </a:r>
            <a:r>
              <a:rPr kumimoji="1"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kumimoji="1" lang="en-US" altLang="zh-CN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FoDs</a:t>
            </a:r>
            <a:r>
              <a:rPr kumimoji="1"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kumimoji="1"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– Key figures</a:t>
            </a:r>
          </a:p>
          <a:p>
            <a:r>
              <a:rPr kumimoji="1"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Newsletter</a:t>
            </a:r>
          </a:p>
          <a:p>
            <a:r>
              <a:rPr kumimoji="1"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Bulletin Boards </a:t>
            </a:r>
            <a:r>
              <a:rPr kumimoji="1"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en-US" altLang="zh-CN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eg.BBS</a:t>
            </a:r>
            <a:r>
              <a:rPr kumimoji="1"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materials)</a:t>
            </a:r>
            <a:endParaRPr kumimoji="1"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kumimoji="1" lang="en-US" altLang="zh-CN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kumimoji="1"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kumimoji="1"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kumimoji="1" lang="en-US" altLang="zh-CN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 smtClean="0">
                <a:latin typeface="Arial"/>
                <a:cs typeface="Arial"/>
              </a:rPr>
              <a:t>Housing Recovery &amp; Reconstruction Platform (HRRP)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027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GB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Data analysis software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9810"/>
            <a:ext cx="75628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476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1"/>
          <p:cNvSpPr txBox="1">
            <a:spLocks/>
          </p:cNvSpPr>
          <p:nvPr/>
        </p:nvSpPr>
        <p:spPr>
          <a:xfrm>
            <a:off x="609600" y="344037"/>
            <a:ext cx="7620000" cy="9291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kumimoji="1" sz="36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Google Drive Structure</a:t>
            </a:r>
            <a:endParaRPr lang="zh-CN" altLang="en-US" dirty="0"/>
          </a:p>
        </p:txBody>
      </p:sp>
      <p:sp>
        <p:nvSpPr>
          <p:cNvPr id="34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 smtClean="0">
                <a:latin typeface="Arial"/>
                <a:cs typeface="Arial"/>
              </a:rPr>
              <a:t>Housing Recovery &amp; Reconstruction Platform (HRRP)</a:t>
            </a:r>
            <a:endParaRPr lang="en-US" dirty="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8" y="1346227"/>
            <a:ext cx="5152917" cy="527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7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1"/>
          <p:cNvSpPr txBox="1">
            <a:spLocks/>
          </p:cNvSpPr>
          <p:nvPr/>
        </p:nvSpPr>
        <p:spPr>
          <a:xfrm>
            <a:off x="609600" y="344037"/>
            <a:ext cx="7620000" cy="9291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kumimoji="1" sz="36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Getting the Share Link</a:t>
            </a:r>
            <a:endParaRPr lang="zh-CN" altLang="en-US" dirty="0"/>
          </a:p>
        </p:txBody>
      </p:sp>
      <p:sp>
        <p:nvSpPr>
          <p:cNvPr id="34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 smtClean="0">
                <a:latin typeface="Arial"/>
                <a:cs typeface="Arial"/>
              </a:rPr>
              <a:t>Housing Recovery &amp; Reconstruction Platform (HRRP)</a:t>
            </a:r>
            <a:endParaRPr lang="en-US" dirty="0"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99" y="1347448"/>
            <a:ext cx="7382215" cy="28028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390" y="4183889"/>
            <a:ext cx="4552420" cy="24627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771" y="1311264"/>
            <a:ext cx="6174969" cy="497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6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GB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Dissemination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836" y="2628529"/>
            <a:ext cx="1886364" cy="1886364"/>
          </a:xfrm>
          <a:prstGeom prst="rect">
            <a:avLst/>
          </a:prstGeom>
        </p:spPr>
      </p:pic>
      <p:sp>
        <p:nvSpPr>
          <p:cNvPr id="7" name="Subtitle 4"/>
          <p:cNvSpPr txBox="1">
            <a:spLocks/>
          </p:cNvSpPr>
          <p:nvPr/>
        </p:nvSpPr>
        <p:spPr>
          <a:xfrm>
            <a:off x="457200" y="1654042"/>
            <a:ext cx="5572539" cy="4734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Right to information for all: </a:t>
            </a:r>
          </a:p>
          <a:p>
            <a:pPr marL="457200" indent="-457200" algn="l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Meetings or group discussion or ……at central, district or VDC or ward level </a:t>
            </a:r>
            <a:endParaRPr lang="en-US" sz="2400" dirty="0" smtClean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Phone calls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</a:p>
          <a:p>
            <a:pPr marL="457200" indent="-457200" algn="l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 copy</a:t>
            </a:r>
          </a:p>
          <a:p>
            <a:pPr marL="457200" indent="-457200" algn="l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 copy</a:t>
            </a:r>
          </a:p>
          <a:p>
            <a:pPr marL="457200" indent="-457200" algn="l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Website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disseminate the information on a timely </a:t>
            </a: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basis</a:t>
            </a:r>
          </a:p>
          <a:p>
            <a:pPr marL="457200" indent="-457200" algn="l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UP</a:t>
            </a:r>
          </a:p>
          <a:p>
            <a:pPr marL="457200" indent="-457200" algn="l">
              <a:buFont typeface="Arial" pitchFamily="34" charset="0"/>
              <a:buChar char="•"/>
            </a:pP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99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546100" y="2653998"/>
            <a:ext cx="762000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Products Demo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997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045" y="248047"/>
            <a:ext cx="8990476" cy="6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94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546100" y="2653998"/>
            <a:ext cx="762000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Administrative - Map Layer  Demo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05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52" y="300428"/>
            <a:ext cx="8838095" cy="6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069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546100" y="2653998"/>
            <a:ext cx="762000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Administrative - Map Layer  Demo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095" y="138524"/>
            <a:ext cx="9276190" cy="6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63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546100" y="2653998"/>
            <a:ext cx="762000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Administrative - Map Layer  Demo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286" y="176619"/>
            <a:ext cx="9228571" cy="6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8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330" t="4376" r="2416" b="2025"/>
          <a:stretch/>
        </p:blipFill>
        <p:spPr>
          <a:xfrm>
            <a:off x="0" y="152399"/>
            <a:ext cx="9144000" cy="659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86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366"/>
            <a:ext cx="9144000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05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200"/>
            <a:ext cx="8953431" cy="635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128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952"/>
            <a:ext cx="9144000" cy="650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63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828"/>
            <a:ext cx="9144000" cy="656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55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7" y="333762"/>
            <a:ext cx="9114286" cy="61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3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569"/>
          <a:stretch/>
        </p:blipFill>
        <p:spPr>
          <a:xfrm>
            <a:off x="63500" y="863600"/>
            <a:ext cx="9028571" cy="56527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6814"/>
            <a:ext cx="9028571" cy="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9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286" y="190905"/>
            <a:ext cx="9228571" cy="6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4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62" y="190905"/>
            <a:ext cx="9209524" cy="6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524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546100" y="2653998"/>
            <a:ext cx="762000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District Profile</a:t>
            </a:r>
            <a:b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GB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1" lang="en-GB" altLang="zh-CN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www.hrrpnepal.org/maps/districtprofile</a:t>
            </a:r>
            <a: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10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26" y="205190"/>
            <a:ext cx="8019048" cy="644761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38500" y="393700"/>
            <a:ext cx="248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(as of 10 </a:t>
            </a:r>
            <a:r>
              <a:rPr lang="en-US" sz="1600" dirty="0">
                <a:solidFill>
                  <a:schemeClr val="bg1"/>
                </a:solidFill>
              </a:rPr>
              <a:t>Mar 2016)</a:t>
            </a:r>
          </a:p>
        </p:txBody>
      </p:sp>
    </p:spTree>
    <p:extLst>
      <p:ext uri="{BB962C8B-B14F-4D97-AF65-F5344CB8AC3E}">
        <p14:creationId xmlns:p14="http://schemas.microsoft.com/office/powerpoint/2010/main" val="177732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05" y="236943"/>
            <a:ext cx="7876190" cy="6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25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967671" y="2653998"/>
            <a:ext cx="671830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Dashboard - Map Layer  Demo</a:t>
            </a:r>
            <a:b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967671" y="3374990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GB" altLang="zh-CN" sz="3600" dirty="0" smtClean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www.hrrpnepal.org/dashboard</a:t>
            </a:r>
            <a:endParaRPr kumimoji="1" lang="zh-CN" altLang="en-US" sz="3600" dirty="0">
              <a:solidFill>
                <a:srgbClr val="4F81B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28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17500"/>
            <a:ext cx="9157148" cy="612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07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85" y="0"/>
            <a:ext cx="7000515" cy="674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748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414642" y="3085798"/>
            <a:ext cx="5382329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4W – Know how- Demo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1414642" y="1942798"/>
            <a:ext cx="627132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GB" altLang="zh-CN" sz="3600" dirty="0" smtClean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www.hrrpnepal.org/4W</a:t>
            </a:r>
            <a:endParaRPr kumimoji="1" lang="zh-CN" altLang="en-US" sz="3600" dirty="0">
              <a:solidFill>
                <a:srgbClr val="4F81B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50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7152268" y="3614118"/>
            <a:ext cx="3236566" cy="365760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Housing Recovery &amp; Reconstruction Platform (HRRP)</a:t>
            </a: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967671" y="2971196"/>
            <a:ext cx="671830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Thankyou </a:t>
            </a:r>
            <a:b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Any Questions</a:t>
            </a:r>
            <a:br>
              <a:rPr kumimoji="1" lang="en-GB" altLang="zh-CN" sz="3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989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iacenz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6072</TotalTime>
  <Words>818</Words>
  <Application>Microsoft Office PowerPoint</Application>
  <PresentationFormat>On-screen Show (4:3)</PresentationFormat>
  <Paragraphs>156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宋体</vt:lpstr>
      <vt:lpstr>Arial</vt:lpstr>
      <vt:lpstr>Arial Narrow</vt:lpstr>
      <vt:lpstr>Calibri</vt:lpstr>
      <vt:lpstr>Cambria</vt:lpstr>
      <vt:lpstr>Constantia</vt:lpstr>
      <vt:lpstr>Microsoft Sans Serif</vt:lpstr>
      <vt:lpstr>Wingdings</vt:lpstr>
      <vt:lpstr>Adiacenza</vt:lpstr>
      <vt:lpstr>   HRRP  Information  Management </vt:lpstr>
      <vt:lpstr>Agenda</vt:lpstr>
      <vt:lpstr>Introduction</vt:lpstr>
      <vt:lpstr>A cliché , but true </vt:lpstr>
      <vt:lpstr>!!!</vt:lpstr>
      <vt:lpstr>HRRP IM process continuum </vt:lpstr>
      <vt:lpstr>Why is a good information management Important</vt:lpstr>
      <vt:lpstr>National Coordination Mechanism</vt:lpstr>
      <vt:lpstr>Structural Mechanism</vt:lpstr>
      <vt:lpstr>Information Flow</vt:lpstr>
      <vt:lpstr>Goal</vt:lpstr>
      <vt:lpstr>Data to decision-making</vt:lpstr>
      <vt:lpstr>Analysis</vt:lpstr>
      <vt:lpstr>HRRP Information Products</vt:lpstr>
      <vt:lpstr>Data analysis software</vt:lpstr>
      <vt:lpstr>PowerPoint Presentation</vt:lpstr>
      <vt:lpstr>PowerPoint Presentation</vt:lpstr>
      <vt:lpstr>Dissemination</vt:lpstr>
      <vt:lpstr>Products Demo</vt:lpstr>
      <vt:lpstr>PowerPoint Presentation</vt:lpstr>
      <vt:lpstr>Administrative - Map Layer  Demo</vt:lpstr>
      <vt:lpstr>PowerPoint Presentation</vt:lpstr>
      <vt:lpstr>Administrative - Map Layer  Demo</vt:lpstr>
      <vt:lpstr>Administrative - Map Layer  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District Profile  www.hrrpnepal.org/maps/districtprofile </vt:lpstr>
      <vt:lpstr>PowerPoint Presentation</vt:lpstr>
      <vt:lpstr>PowerPoint Presentation</vt:lpstr>
      <vt:lpstr>Dashboard - Map Layer  Demo </vt:lpstr>
      <vt:lpstr>PowerPoint Presentation</vt:lpstr>
      <vt:lpstr>PowerPoint Presentation</vt:lpstr>
      <vt:lpstr>4W – Know how- Demo</vt:lpstr>
      <vt:lpstr>Thankyou   Any Questions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HRRP CSG Meeting</dc:title>
  <dc:creator>Jennifer</dc:creator>
  <cp:lastModifiedBy>MAHARJAN Narayan Raj</cp:lastModifiedBy>
  <cp:revision>221</cp:revision>
  <cp:lastPrinted>2016-03-17T07:52:44Z</cp:lastPrinted>
  <dcterms:created xsi:type="dcterms:W3CDTF">2016-01-17T05:06:47Z</dcterms:created>
  <dcterms:modified xsi:type="dcterms:W3CDTF">2016-05-05T04:46:24Z</dcterms:modified>
</cp:coreProperties>
</file>