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8" r:id="rId3"/>
    <p:sldId id="261" r:id="rId4"/>
    <p:sldId id="262" r:id="rId5"/>
    <p:sldId id="270" r:id="rId6"/>
    <p:sldId id="288" r:id="rId7"/>
    <p:sldId id="289" r:id="rId8"/>
    <p:sldId id="290" r:id="rId9"/>
    <p:sldId id="294" r:id="rId10"/>
    <p:sldId id="295" r:id="rId11"/>
    <p:sldId id="277" r:id="rId12"/>
    <p:sldId id="276" r:id="rId13"/>
    <p:sldId id="271" r:id="rId14"/>
    <p:sldId id="279" r:id="rId15"/>
    <p:sldId id="272" r:id="rId16"/>
    <p:sldId id="275" r:id="rId17"/>
    <p:sldId id="278" r:id="rId18"/>
    <p:sldId id="282" r:id="rId19"/>
    <p:sldId id="281" r:id="rId20"/>
    <p:sldId id="301" r:id="rId21"/>
    <p:sldId id="299" r:id="rId22"/>
    <p:sldId id="302" r:id="rId23"/>
    <p:sldId id="296" r:id="rId24"/>
    <p:sldId id="303" r:id="rId25"/>
    <p:sldId id="269" r:id="rId26"/>
    <p:sldId id="297" r:id="rId27"/>
    <p:sldId id="298" r:id="rId28"/>
    <p:sldId id="263" r:id="rId29"/>
    <p:sldId id="30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5620"/>
    <p:restoredTop sz="94086" autoAdjust="0"/>
  </p:normalViewPr>
  <p:slideViewPr>
    <p:cSldViewPr>
      <p:cViewPr>
        <p:scale>
          <a:sx n="70" d="100"/>
          <a:sy n="70" d="100"/>
        </p:scale>
        <p:origin x="-1152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B3622-3F5F-475A-B592-06958A802C68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B7676-03EB-40F2-912F-E1D0DBC600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213F6-0E1B-4466-88FE-854734C6B4A9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1791F-118C-4806-9B0C-3D13AD37C3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F1791F-118C-4806-9B0C-3D13AD37C37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F1791F-118C-4806-9B0C-3D13AD37C37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F1791F-118C-4806-9B0C-3D13AD37C376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4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0"/>
            <a:ext cx="8839200" cy="21336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Responsive and Adoptive Shelter for Earthquake Affected Communities – RASEAC</a:t>
            </a:r>
            <a:br>
              <a:rPr lang="en-US" sz="3200" b="1" dirty="0" smtClean="0"/>
            </a:br>
            <a:r>
              <a:rPr lang="en-US" sz="3200" b="1" dirty="0" err="1" smtClean="0">
                <a:solidFill>
                  <a:srgbClr val="FF0000"/>
                </a:solidFill>
                <a:latin typeface="Preeti"/>
                <a:cs typeface="Preeti"/>
              </a:rPr>
              <a:t>e'sDk</a:t>
            </a:r>
            <a:r>
              <a:rPr lang="en-US" sz="3200" b="1" dirty="0" smtClean="0">
                <a:solidFill>
                  <a:srgbClr val="FF0000"/>
                </a:solidFill>
                <a:latin typeface="Preeti"/>
                <a:cs typeface="Preeti"/>
              </a:rPr>
              <a:t> lkl8t ;</a:t>
            </a:r>
            <a:r>
              <a:rPr lang="en-US" sz="3200" b="1" dirty="0" err="1" smtClean="0">
                <a:solidFill>
                  <a:srgbClr val="FF0000"/>
                </a:solidFill>
                <a:latin typeface="Preeti"/>
                <a:cs typeface="Preeti"/>
              </a:rPr>
              <a:t>d'bfosf</a:t>
            </a:r>
            <a:r>
              <a:rPr lang="en-US" sz="3200" b="1" dirty="0" smtClean="0">
                <a:solidFill>
                  <a:srgbClr val="FF0000"/>
                </a:solidFill>
                <a:latin typeface="Preeti"/>
                <a:cs typeface="Preeti"/>
              </a:rPr>
              <a:t>] </a:t>
            </a:r>
            <a:r>
              <a:rPr lang="en-US" sz="3200" b="1" dirty="0" err="1" smtClean="0">
                <a:solidFill>
                  <a:srgbClr val="FF0000"/>
                </a:solidFill>
                <a:latin typeface="Preeti"/>
                <a:cs typeface="Preeti"/>
              </a:rPr>
              <a:t>nflu</a:t>
            </a:r>
            <a:r>
              <a:rPr lang="en-US" sz="3200" b="1" dirty="0" smtClean="0">
                <a:solidFill>
                  <a:srgbClr val="FF0000"/>
                </a:solidFill>
                <a:latin typeface="Preeti"/>
                <a:cs typeface="Preeti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latin typeface="Preeti"/>
                <a:cs typeface="Preeti"/>
              </a:rPr>
              <a:t>pTt</a:t>
            </a:r>
            <a:r>
              <a:rPr lang="en-US" sz="3200" b="1" dirty="0" smtClean="0">
                <a:solidFill>
                  <a:srgbClr val="FF0000"/>
                </a:solidFill>
                <a:latin typeface="Preeti"/>
                <a:cs typeface="Preeti"/>
              </a:rPr>
              <a:t>/</a:t>
            </a:r>
            <a:r>
              <a:rPr lang="en-US" sz="3200" b="1" dirty="0" err="1" smtClean="0">
                <a:solidFill>
                  <a:srgbClr val="FF0000"/>
                </a:solidFill>
                <a:latin typeface="Preeti"/>
                <a:cs typeface="Preeti"/>
              </a:rPr>
              <a:t>bfoL</a:t>
            </a:r>
            <a:r>
              <a:rPr lang="en-US" sz="3200" b="1" dirty="0" smtClean="0">
                <a:solidFill>
                  <a:srgbClr val="FF0000"/>
                </a:solidFill>
                <a:latin typeface="Preeti"/>
                <a:cs typeface="Preeti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latin typeface="Preeti"/>
                <a:cs typeface="Preeti"/>
              </a:rPr>
              <a:t>tyf</a:t>
            </a:r>
            <a:r>
              <a:rPr lang="en-US" sz="3200" b="1" dirty="0" smtClean="0">
                <a:solidFill>
                  <a:srgbClr val="FF0000"/>
                </a:solidFill>
                <a:latin typeface="Preeti"/>
                <a:cs typeface="Preeti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latin typeface="Preeti"/>
                <a:cs typeface="Preeti"/>
              </a:rPr>
              <a:t>cg's'n</a:t>
            </a:r>
            <a:r>
              <a:rPr lang="en-US" sz="3200" b="1" dirty="0" smtClean="0">
                <a:solidFill>
                  <a:srgbClr val="FF0000"/>
                </a:solidFill>
                <a:latin typeface="Preeti"/>
                <a:cs typeface="Preeti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latin typeface="Preeti"/>
                <a:cs typeface="Preeti"/>
              </a:rPr>
              <a:t>cfjf</a:t>
            </a:r>
            <a:r>
              <a:rPr lang="en-US" sz="3200" b="1" dirty="0" smtClean="0">
                <a:solidFill>
                  <a:srgbClr val="FF0000"/>
                </a:solidFill>
                <a:latin typeface="Preeti"/>
                <a:cs typeface="Preeti"/>
              </a:rPr>
              <a:t>; </a:t>
            </a:r>
            <a:r>
              <a:rPr lang="en-US" sz="3200" b="1" dirty="0" err="1" smtClean="0">
                <a:solidFill>
                  <a:srgbClr val="FF0000"/>
                </a:solidFill>
                <a:latin typeface="Preeti"/>
                <a:cs typeface="Preeti"/>
              </a:rPr>
              <a:t>sfo</a:t>
            </a:r>
            <a:r>
              <a:rPr lang="en-US" sz="3200" b="1" dirty="0" smtClean="0">
                <a:solidFill>
                  <a:srgbClr val="FF0000"/>
                </a:solidFill>
                <a:latin typeface="Preeti"/>
                <a:cs typeface="Preeti"/>
              </a:rPr>
              <a:t>{</a:t>
            </a:r>
            <a:r>
              <a:rPr lang="en-US" sz="3200" b="1" dirty="0" err="1" smtClean="0">
                <a:solidFill>
                  <a:srgbClr val="FF0000"/>
                </a:solidFill>
                <a:latin typeface="Preeti"/>
                <a:cs typeface="Preeti"/>
              </a:rPr>
              <a:t>qmd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ne-NP" sz="3600" b="1" dirty="0" smtClean="0"/>
              <a:t>					</a:t>
            </a:r>
            <a:r>
              <a:rPr lang="en-US" sz="2000" i="1" u="sng" dirty="0" smtClean="0"/>
              <a:t>Working VDCs- Yarsa &amp; Ramche</a:t>
            </a:r>
            <a:endParaRPr lang="en-US" sz="2400" u="sng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04800" y="1981200"/>
            <a:ext cx="8229600" cy="274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Supporting Organizations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Disaster Emergency Committee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Islamic Relief Worldwide </a:t>
            </a:r>
          </a:p>
          <a:p>
            <a:pPr lvl="0">
              <a:spcBef>
                <a:spcPct val="20000"/>
              </a:spcBef>
              <a:buFont typeface="Wingdings" pitchFamily="2" charset="2"/>
              <a:buChar char="v"/>
              <a:defRPr/>
            </a:pPr>
            <a:r>
              <a:rPr lang="en-US" sz="2400" b="1" dirty="0" smtClean="0"/>
              <a:t>The Lutheran World Federation Nepal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Implementing Organization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BATAS Foundation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 descr="E:\Logo\4. dec-r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0" y="5438775"/>
            <a:ext cx="2857500" cy="1190625"/>
          </a:xfrm>
          <a:prstGeom prst="rect">
            <a:avLst/>
          </a:prstGeom>
          <a:noFill/>
        </p:spPr>
      </p:pic>
      <p:pic>
        <p:nvPicPr>
          <p:cNvPr id="7" name="Picture 3" descr="E:\Logo\3. Islamic-Relief-Blue.jpeg-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27550" y="4788038"/>
            <a:ext cx="1111250" cy="2039311"/>
          </a:xfrm>
          <a:prstGeom prst="rect">
            <a:avLst/>
          </a:prstGeom>
          <a:noFill/>
        </p:spPr>
      </p:pic>
      <p:pic>
        <p:nvPicPr>
          <p:cNvPr id="8" name="Picture 4" descr="E:\Logo\2. LWF_logo.svg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62200" y="4800600"/>
            <a:ext cx="1568277" cy="1905000"/>
          </a:xfrm>
          <a:prstGeom prst="rect">
            <a:avLst/>
          </a:prstGeom>
          <a:noFill/>
        </p:spPr>
      </p:pic>
      <p:pic>
        <p:nvPicPr>
          <p:cNvPr id="9" name="Picture 5" descr="E:\Logo\1.Batas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6851" y="4876800"/>
            <a:ext cx="1842459" cy="1828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Program Activities: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34400" cy="55626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800" b="1" dirty="0" smtClean="0"/>
              <a:t>WASH/DRR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3600" b="1" dirty="0" smtClean="0"/>
              <a:t>Livelihood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sz="3600" b="1" dirty="0" smtClean="0"/>
              <a:t>Shelter</a:t>
            </a:r>
          </a:p>
          <a:p>
            <a:pPr marL="514350" indent="-514350">
              <a:buNone/>
            </a:pPr>
            <a:endParaRPr lang="en-US" sz="3800" b="1" dirty="0" smtClean="0"/>
          </a:p>
        </p:txBody>
      </p:sp>
      <p:pic>
        <p:nvPicPr>
          <p:cNvPr id="4" name="Picture 5" descr="E:\Logo\1.Bata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95290" y="406865"/>
            <a:ext cx="1048710" cy="10409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 smtClean="0"/>
              <a:t>Program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82000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 smtClean="0"/>
              <a:t>3. Shelter </a:t>
            </a:r>
          </a:p>
          <a:p>
            <a:pPr marL="514350" indent="-514350"/>
            <a:r>
              <a:rPr lang="en-US" sz="3600" dirty="0" smtClean="0"/>
              <a:t>Training to Masons on Earthquake Resilient House Construction (2 events; 60 Beneficiaries; Ramche &amp; Yarsa)- </a:t>
            </a:r>
            <a:r>
              <a:rPr lang="en-US" sz="3600" b="1" dirty="0" smtClean="0"/>
              <a:t>Completed</a:t>
            </a:r>
          </a:p>
          <a:p>
            <a:pPr marL="514350" indent="-514350"/>
            <a:r>
              <a:rPr lang="en-US" sz="2800" dirty="0" smtClean="0"/>
              <a:t>Training on ICS for Smoke Free Houses (1 event; 40 Beneficiaries- Ramche) </a:t>
            </a:r>
            <a:r>
              <a:rPr lang="en-US" sz="2800" b="1" dirty="0" smtClean="0"/>
              <a:t>Completed</a:t>
            </a:r>
          </a:p>
          <a:p>
            <a:pPr marL="514350" indent="-514350"/>
            <a:r>
              <a:rPr lang="en-US" sz="3600" dirty="0" smtClean="0"/>
              <a:t>Community</a:t>
            </a:r>
            <a:r>
              <a:rPr lang="en-US" sz="3600" b="1" dirty="0" smtClean="0"/>
              <a:t> </a:t>
            </a:r>
            <a:r>
              <a:rPr lang="en-US" sz="3600" dirty="0" smtClean="0"/>
              <a:t>Orientation and Awareness- </a:t>
            </a:r>
            <a:r>
              <a:rPr lang="en-US" sz="3600" b="1" dirty="0" smtClean="0"/>
              <a:t>On Progress</a:t>
            </a:r>
          </a:p>
        </p:txBody>
      </p:sp>
      <p:pic>
        <p:nvPicPr>
          <p:cNvPr id="4" name="Picture 5" descr="E:\Logo\1.Bata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72400" y="304800"/>
            <a:ext cx="1048710" cy="10409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B050"/>
                </a:solidFill>
              </a:rPr>
              <a:t>Shelter…………….. </a:t>
            </a:r>
            <a:r>
              <a:rPr lang="en-US" sz="3200" dirty="0" smtClean="0">
                <a:solidFill>
                  <a:srgbClr val="00B050"/>
                </a:solidFill>
              </a:rPr>
              <a:t>Contd.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5943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 smtClean="0"/>
              <a:t>Support for Construction of Earthquake</a:t>
            </a:r>
          </a:p>
          <a:p>
            <a:pPr>
              <a:buNone/>
            </a:pPr>
            <a:r>
              <a:rPr lang="en-US" b="1" dirty="0" smtClean="0"/>
              <a:t>Resilient Permanent Houses </a:t>
            </a:r>
            <a:r>
              <a:rPr lang="en-US" dirty="0" smtClean="0"/>
              <a:t>(</a:t>
            </a:r>
            <a:r>
              <a:rPr lang="en-US" u="sng" dirty="0" smtClean="0"/>
              <a:t>Target 151 HHs</a:t>
            </a:r>
            <a:r>
              <a:rPr lang="en-US" dirty="0" smtClean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sz="4000" b="1" dirty="0" smtClean="0"/>
              <a:t> </a:t>
            </a:r>
            <a:r>
              <a:rPr lang="en-US" dirty="0" smtClean="0"/>
              <a:t>Awareness Raising to community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Support to construct in any design of Buildings approved by DUDBC/GOs.)</a:t>
            </a:r>
          </a:p>
          <a:p>
            <a:pPr>
              <a:buFont typeface="Wingdings" pitchFamily="2" charset="2"/>
              <a:buChar char="Ø"/>
            </a:pPr>
            <a:r>
              <a:rPr lang="en-US" i="1" dirty="0" smtClean="0"/>
              <a:t>Technical &amp; quality Construction Material support (equivalent to government support fund + Transportation)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Tri-Parties Agreement </a:t>
            </a:r>
            <a:r>
              <a:rPr lang="en-US" dirty="0" smtClean="0"/>
              <a:t>for 151 Permanent Shelters Construction- </a:t>
            </a:r>
            <a:r>
              <a:rPr lang="en-US" b="1" dirty="0" smtClean="0"/>
              <a:t>Completed</a:t>
            </a:r>
            <a:endParaRPr lang="en-US" dirty="0" smtClean="0"/>
          </a:p>
        </p:txBody>
      </p:sp>
      <p:pic>
        <p:nvPicPr>
          <p:cNvPr id="4" name="Picture 5" descr="E:\Logo\1.Bata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24800" y="152400"/>
            <a:ext cx="1066800" cy="105889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B050"/>
                </a:solidFill>
              </a:rPr>
              <a:t>Shelter…………….. </a:t>
            </a:r>
            <a:r>
              <a:rPr lang="en-US" sz="3200" dirty="0" smtClean="0">
                <a:solidFill>
                  <a:srgbClr val="00B050"/>
                </a:solidFill>
              </a:rPr>
              <a:t>Contd.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67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Construction activities started in 139 HHs</a:t>
            </a:r>
          </a:p>
          <a:p>
            <a:pPr lvl="1"/>
            <a:r>
              <a:rPr lang="en-US" sz="3600" b="1" dirty="0" smtClean="0"/>
              <a:t>Site Clearance:  18</a:t>
            </a:r>
          </a:p>
          <a:p>
            <a:pPr lvl="1"/>
            <a:r>
              <a:rPr lang="en-US" sz="3600" b="1" dirty="0" smtClean="0"/>
              <a:t>E/W Excavation: 6</a:t>
            </a:r>
          </a:p>
          <a:p>
            <a:pPr lvl="1"/>
            <a:r>
              <a:rPr lang="en-US" sz="3600" b="1" dirty="0" smtClean="0"/>
              <a:t>Vertical Rod Erection: 6</a:t>
            </a:r>
          </a:p>
          <a:p>
            <a:pPr lvl="1"/>
            <a:r>
              <a:rPr lang="en-US" sz="3600" b="1" dirty="0" smtClean="0"/>
              <a:t>DPC Completed: 20</a:t>
            </a:r>
          </a:p>
          <a:p>
            <a:pPr lvl="1"/>
            <a:r>
              <a:rPr lang="en-US" sz="3600" b="1" dirty="0" smtClean="0"/>
              <a:t>Sill Band Completed: 21</a:t>
            </a:r>
          </a:p>
          <a:p>
            <a:pPr lvl="1"/>
            <a:r>
              <a:rPr lang="en-US" sz="3600" b="1" dirty="0" smtClean="0"/>
              <a:t>Stitch Band Completed: 16</a:t>
            </a:r>
          </a:p>
          <a:p>
            <a:pPr lvl="1"/>
            <a:r>
              <a:rPr lang="en-US" sz="3600" b="1" dirty="0" smtClean="0"/>
              <a:t>Lintel Completed: 52</a:t>
            </a:r>
          </a:p>
          <a:p>
            <a:pPr lvl="1"/>
            <a:r>
              <a:rPr lang="en-US" sz="3600" b="1" dirty="0" smtClean="0"/>
              <a:t>Toilet under construction: 20 HHs</a:t>
            </a:r>
          </a:p>
        </p:txBody>
      </p:sp>
      <p:pic>
        <p:nvPicPr>
          <p:cNvPr id="7" name="Picture 5" descr="E:\Logo\1.Bata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19090" y="152400"/>
            <a:ext cx="1048710" cy="10409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Documentation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Tri-Parties</a:t>
            </a:r>
            <a:r>
              <a:rPr lang="en-US" dirty="0" smtClean="0"/>
              <a:t> (Beneficiary, LWF Nepal &amp; </a:t>
            </a:r>
          </a:p>
          <a:p>
            <a:pPr>
              <a:buNone/>
            </a:pPr>
            <a:r>
              <a:rPr lang="en-US" dirty="0" smtClean="0"/>
              <a:t>	BATAS Foundation) </a:t>
            </a:r>
            <a:r>
              <a:rPr lang="en-US" b="1" dirty="0" smtClean="0"/>
              <a:t>Agreement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Beneficiary Card </a:t>
            </a:r>
            <a:r>
              <a:rPr lang="en-US" dirty="0" smtClean="0"/>
              <a:t>(Yellow Card) includes Beneficiary details &amp; materials received by communities from Project Support.</a:t>
            </a:r>
          </a:p>
          <a:p>
            <a:r>
              <a:rPr lang="en-US" b="1" dirty="0" smtClean="0"/>
              <a:t>Monitoring Template for House &amp; Toilet Construction- </a:t>
            </a:r>
            <a:r>
              <a:rPr lang="en-US" dirty="0" smtClean="0"/>
              <a:t>Stepwise Verification from BATAS Foundation Technical Team/ Cross-check/verification by LWF PM/Technical Team</a:t>
            </a:r>
          </a:p>
          <a:p>
            <a:r>
              <a:rPr lang="en-US" b="1" dirty="0" smtClean="0"/>
              <a:t>Daily Progress report/Measurement Book- </a:t>
            </a:r>
            <a:r>
              <a:rPr lang="en-US" dirty="0" smtClean="0"/>
              <a:t>BATAS Technical Official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5" descr="E:\Logo\1.Bata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88215" y="76200"/>
            <a:ext cx="1228306" cy="1219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Documentation……………. </a:t>
            </a:r>
            <a:r>
              <a:rPr lang="en-US" sz="3100" dirty="0" smtClean="0">
                <a:solidFill>
                  <a:srgbClr val="FF0000"/>
                </a:solidFill>
              </a:rPr>
              <a:t>Contd.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81600"/>
          </a:xfrm>
        </p:spPr>
        <p:txBody>
          <a:bodyPr>
            <a:normAutofit/>
          </a:bodyPr>
          <a:lstStyle/>
          <a:p>
            <a:r>
              <a:rPr lang="en-US" b="1" dirty="0" smtClean="0"/>
              <a:t>Daily Attendance Card </a:t>
            </a:r>
            <a:r>
              <a:rPr lang="en-US" dirty="0" smtClean="0"/>
              <a:t>for Labor involved</a:t>
            </a:r>
          </a:p>
          <a:p>
            <a:pPr>
              <a:buNone/>
            </a:pPr>
            <a:r>
              <a:rPr lang="en-US" dirty="0" smtClean="0"/>
              <a:t>	in Shelter Construction</a:t>
            </a:r>
          </a:p>
          <a:p>
            <a:r>
              <a:rPr lang="en-US" b="1" dirty="0" smtClean="0"/>
              <a:t>Material Quality Report- MQR</a:t>
            </a:r>
            <a:r>
              <a:rPr lang="en-US" dirty="0" smtClean="0"/>
              <a:t>- Prepared by Technical Team after material inspection.</a:t>
            </a:r>
          </a:p>
          <a:p>
            <a:r>
              <a:rPr lang="en-US" b="1" dirty="0" smtClean="0"/>
              <a:t>Goods Receiving Note- GRN: </a:t>
            </a:r>
            <a:r>
              <a:rPr lang="en-US" dirty="0" smtClean="0"/>
              <a:t>According to MQR.</a:t>
            </a:r>
          </a:p>
          <a:p>
            <a:r>
              <a:rPr lang="en-US" b="1" dirty="0" smtClean="0"/>
              <a:t>Stock Book Entry</a:t>
            </a:r>
            <a:r>
              <a:rPr lang="en-US" dirty="0" smtClean="0"/>
              <a:t>- Daily Updated</a:t>
            </a:r>
            <a:endParaRPr lang="en-US" b="1" dirty="0" smtClean="0"/>
          </a:p>
          <a:p>
            <a:r>
              <a:rPr lang="en-US" b="1" dirty="0" smtClean="0"/>
              <a:t>Stock Release/</a:t>
            </a:r>
            <a:r>
              <a:rPr lang="en-US" b="1" dirty="0" err="1" smtClean="0"/>
              <a:t>Chalan</a:t>
            </a:r>
            <a:endParaRPr lang="en-US" b="1" dirty="0"/>
          </a:p>
        </p:txBody>
      </p:sp>
      <p:pic>
        <p:nvPicPr>
          <p:cNvPr id="4" name="Picture 5" descr="E:\Logo\1.Bata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44635" y="76200"/>
            <a:ext cx="1305075" cy="129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Materials Support/Supply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Bricks</a:t>
            </a:r>
          </a:p>
          <a:p>
            <a:r>
              <a:rPr lang="en-US" dirty="0" smtClean="0"/>
              <a:t>Sand</a:t>
            </a:r>
          </a:p>
          <a:p>
            <a:r>
              <a:rPr lang="en-US" dirty="0" smtClean="0"/>
              <a:t>Aggregate</a:t>
            </a:r>
          </a:p>
          <a:p>
            <a:r>
              <a:rPr lang="en-US" dirty="0" smtClean="0"/>
              <a:t>Reinforcement Bar</a:t>
            </a:r>
          </a:p>
          <a:p>
            <a:r>
              <a:rPr lang="en-US" dirty="0" smtClean="0"/>
              <a:t>Cement</a:t>
            </a:r>
          </a:p>
          <a:p>
            <a:r>
              <a:rPr lang="en-US" dirty="0" smtClean="0"/>
              <a:t>Truss</a:t>
            </a:r>
          </a:p>
          <a:p>
            <a:r>
              <a:rPr lang="en-US" dirty="0" smtClean="0"/>
              <a:t>CGI Sheet &amp; Plain Sheet</a:t>
            </a:r>
          </a:p>
          <a:p>
            <a:r>
              <a:rPr lang="en-US" dirty="0" smtClean="0"/>
              <a:t>Shovel, Axe Peak, Layout Thread, Measuring Tape, </a:t>
            </a:r>
            <a:r>
              <a:rPr lang="en-US" dirty="0" err="1" smtClean="0"/>
              <a:t>Tagari</a:t>
            </a:r>
            <a:r>
              <a:rPr lang="en-US" dirty="0" smtClean="0"/>
              <a:t>, etc.</a:t>
            </a:r>
          </a:p>
          <a:p>
            <a:r>
              <a:rPr lang="en-US" dirty="0" smtClean="0"/>
              <a:t>Toilet Construction materials- equivalent to 10,000</a:t>
            </a:r>
          </a:p>
          <a:p>
            <a:r>
              <a:rPr lang="en-US" dirty="0" smtClean="0"/>
              <a:t>And other Masonry equipments</a:t>
            </a:r>
            <a:endParaRPr lang="en-US" dirty="0"/>
          </a:p>
        </p:txBody>
      </p:sp>
      <p:pic>
        <p:nvPicPr>
          <p:cNvPr id="4" name="Picture 5" descr="E:\Logo\1.Bata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8600" y="76200"/>
            <a:ext cx="1228307" cy="1219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/>
              <a:t>Shelter Construction Support Modality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Agreement:  </a:t>
            </a:r>
            <a:r>
              <a:rPr lang="en-US" dirty="0" smtClean="0"/>
              <a:t>any DUDBC/GOs approved Models</a:t>
            </a:r>
            <a:endParaRPr lang="en-US" b="1" dirty="0" smtClean="0"/>
          </a:p>
          <a:p>
            <a:r>
              <a:rPr lang="en-US" b="1" dirty="0" smtClean="0"/>
              <a:t>Clusters identification: </a:t>
            </a:r>
            <a:r>
              <a:rPr lang="en-US" dirty="0" smtClean="0"/>
              <a:t>4 major working clusters identified.</a:t>
            </a:r>
          </a:p>
          <a:p>
            <a:r>
              <a:rPr lang="en-US" b="1" dirty="0" smtClean="0"/>
              <a:t>Working Committee: </a:t>
            </a:r>
            <a:r>
              <a:rPr lang="en-US" dirty="0" smtClean="0"/>
              <a:t>1 (or more) formed in each Cluster.</a:t>
            </a:r>
          </a:p>
          <a:p>
            <a:r>
              <a:rPr lang="en-US" b="1" dirty="0" smtClean="0"/>
              <a:t>Material delivery: </a:t>
            </a:r>
            <a:r>
              <a:rPr lang="en-US" dirty="0" err="1" smtClean="0"/>
              <a:t>upto</a:t>
            </a:r>
            <a:r>
              <a:rPr lang="en-US" dirty="0" smtClean="0"/>
              <a:t> beneficiaries nearest road access</a:t>
            </a:r>
            <a:endParaRPr lang="en-US" b="1" dirty="0" smtClean="0"/>
          </a:p>
          <a:p>
            <a:r>
              <a:rPr lang="en-US" b="1" dirty="0" smtClean="0"/>
              <a:t>Technical Support:</a:t>
            </a:r>
            <a:r>
              <a:rPr lang="en-US" dirty="0" smtClean="0"/>
              <a:t> Minimum one BATAS Technical official in each cluster at every crucial stage of shelter construction- facilitated by one SM.</a:t>
            </a:r>
          </a:p>
        </p:txBody>
      </p:sp>
      <p:pic>
        <p:nvPicPr>
          <p:cNvPr id="4" name="Picture 5" descr="E:\Logo\1.Bata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42890" y="26995"/>
            <a:ext cx="1201110" cy="11922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 algn="l"/>
            <a:r>
              <a:rPr lang="en-US" sz="2600" b="1" dirty="0" smtClean="0"/>
              <a:t>Shelter Construction Support Modality</a:t>
            </a:r>
            <a:r>
              <a:rPr lang="en-US" sz="2200" b="1" dirty="0" smtClean="0"/>
              <a:t>…………………</a:t>
            </a:r>
            <a:r>
              <a:rPr lang="en-US" sz="2200" dirty="0" smtClean="0"/>
              <a:t>contd.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/>
          </a:bodyPr>
          <a:lstStyle/>
          <a:p>
            <a:r>
              <a:rPr lang="en-US" b="1" dirty="0" smtClean="0"/>
              <a:t>Skilled Mason: </a:t>
            </a:r>
            <a:r>
              <a:rPr lang="en-US" sz="2800" dirty="0" smtClean="0"/>
              <a:t>minimum 2 Trained/skilled mason present in each HHs during shelter construction</a:t>
            </a:r>
            <a:endParaRPr lang="en-US" dirty="0" smtClean="0"/>
          </a:p>
          <a:p>
            <a:r>
              <a:rPr lang="en-US" b="1" dirty="0" smtClean="0"/>
              <a:t>Earthquake Resilient Verification: </a:t>
            </a:r>
            <a:r>
              <a:rPr lang="en-US" dirty="0" smtClean="0"/>
              <a:t>Stage-wise verification of Shelter Construction </a:t>
            </a:r>
            <a:r>
              <a:rPr lang="en-US" sz="2800" i="1" dirty="0" smtClean="0"/>
              <a:t>(Foundation, Plinth Band, Sill Band, Stitching Band, Lintel Band, etc.)</a:t>
            </a:r>
            <a:r>
              <a:rPr lang="en-US" sz="2800" dirty="0" smtClean="0"/>
              <a:t> </a:t>
            </a:r>
            <a:r>
              <a:rPr lang="en-US" dirty="0" smtClean="0"/>
              <a:t>by TO</a:t>
            </a:r>
          </a:p>
          <a:p>
            <a:r>
              <a:rPr lang="en-US" b="1" dirty="0" smtClean="0"/>
              <a:t>Field Level Monitoring: </a:t>
            </a:r>
            <a:r>
              <a:rPr lang="en-US" dirty="0" smtClean="0"/>
              <a:t>frequently by BATAS FC and LWF PM/Engineer- jointly/individually.</a:t>
            </a:r>
          </a:p>
          <a:p>
            <a:r>
              <a:rPr lang="en-US" dirty="0" smtClean="0"/>
              <a:t>Joint/official monitoring from district/center.</a:t>
            </a:r>
          </a:p>
          <a:p>
            <a:r>
              <a:rPr lang="en-US" b="1" dirty="0" smtClean="0"/>
              <a:t>Provision of Complain Box </a:t>
            </a:r>
            <a:r>
              <a:rPr lang="en-US" dirty="0" smtClean="0"/>
              <a:t>at Office premises.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" name="Picture 5" descr="E:\Logo\1.Bata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42890" y="0"/>
            <a:ext cx="1201110" cy="11922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7800" y="685800"/>
            <a:ext cx="2819400" cy="24384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Community participation in site clearance</a:t>
            </a:r>
            <a:endParaRPr lang="en-US" sz="2800" b="1" dirty="0"/>
          </a:p>
        </p:txBody>
      </p:sp>
      <p:pic>
        <p:nvPicPr>
          <p:cNvPr id="7170" name="Picture 2" descr="E:\1. Construction\Yarsa site photos\Kari Ghale\resized\IMG_4976_600x45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3251433"/>
            <a:ext cx="5105400" cy="3606567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0" y="4648200"/>
            <a:ext cx="3733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During Site Clearance (Dismantling existing Old House)</a:t>
            </a:r>
            <a:endParaRPr lang="en-US" sz="2800" b="1" dirty="0"/>
          </a:p>
        </p:txBody>
      </p:sp>
      <p:pic>
        <p:nvPicPr>
          <p:cNvPr id="6" name="Picture 5" descr="E:\Logo\1.Bata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98173" y="76200"/>
            <a:ext cx="1151537" cy="1143000"/>
          </a:xfrm>
          <a:prstGeom prst="rect">
            <a:avLst/>
          </a:prstGeom>
          <a:noFill/>
        </p:spPr>
      </p:pic>
      <p:pic>
        <p:nvPicPr>
          <p:cNvPr id="2050" name="Picture 2" descr="E:\1. Construction\Yarsa site photos\resized\20161214_122027_320x240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4800600" cy="3600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E:\1. Construction\Yarsa site photos\Kari Ghale\resized\20161115_083735_600x45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52400"/>
            <a:ext cx="8305800" cy="5715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533400" y="5943600"/>
            <a:ext cx="746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70 Years old Couples actively involved in site clearance (Earthquake damaged building)</a:t>
            </a:r>
            <a:endParaRPr lang="en-US" sz="2000" b="1" dirty="0"/>
          </a:p>
        </p:txBody>
      </p:sp>
      <p:pic>
        <p:nvPicPr>
          <p:cNvPr id="6" name="Picture 5" descr="E:\Logo\1.Bata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371600" cy="13614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E:\1. Construction\Yarsa site photos\Yo Dube\IMG_506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1468100" y="-8610600"/>
            <a:ext cx="4876702" cy="3657600"/>
          </a:xfrm>
          <a:prstGeom prst="rect">
            <a:avLst/>
          </a:prstGeom>
          <a:noFill/>
        </p:spPr>
      </p:pic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E:\1. Construction\Yarsa site photos\Himal B K\resized\IMG_4566_600x45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285750"/>
            <a:ext cx="8382000" cy="5657850"/>
          </a:xfrm>
          <a:prstGeom prst="rect">
            <a:avLst/>
          </a:prstGeom>
          <a:noFill/>
        </p:spPr>
      </p:pic>
      <p:pic>
        <p:nvPicPr>
          <p:cNvPr id="1029" name="Picture 5" descr="E:\1. Construction\Yarsa site photos\Himal B K\resized\IMG_4567_600x450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19800" y="285750"/>
            <a:ext cx="2667000" cy="20002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</p:pic>
      <p:sp>
        <p:nvSpPr>
          <p:cNvPr id="13" name="Right Arrow 12"/>
          <p:cNvSpPr/>
          <p:nvPr/>
        </p:nvSpPr>
        <p:spPr>
          <a:xfrm>
            <a:off x="2209800" y="1524000"/>
            <a:ext cx="38100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66800" y="6096000"/>
            <a:ext cx="701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Vertical Rod Erection in Foundation</a:t>
            </a:r>
            <a:endParaRPr lang="en-US" sz="2000" b="1" dirty="0"/>
          </a:p>
        </p:txBody>
      </p:sp>
      <p:pic>
        <p:nvPicPr>
          <p:cNvPr id="9" name="Picture 8" descr="E:\Logo\1.Batas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152400"/>
            <a:ext cx="1277310" cy="12678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E:\1. Construction\Yarsa site photos\Kari Ghale\resized\IMG_4981_600x45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42900"/>
            <a:ext cx="8382000" cy="57531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514600" y="6248400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Bar Bending Work at Plinth Level</a:t>
            </a:r>
            <a:endParaRPr lang="en-US" sz="2000" b="1" dirty="0"/>
          </a:p>
        </p:txBody>
      </p:sp>
      <p:pic>
        <p:nvPicPr>
          <p:cNvPr id="6" name="Picture 5" descr="E:\Logo\1.Batas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924800" y="0"/>
            <a:ext cx="1228307" cy="1219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E:\1. Construction\Yarsa site photos\Himal B K\resized\IMG_4545_600x45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0"/>
            <a:ext cx="8382000" cy="57912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362200" y="6248400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Casting of Plinth Band (DPC)</a:t>
            </a:r>
            <a:endParaRPr lang="en-US" sz="2000" b="1" dirty="0"/>
          </a:p>
        </p:txBody>
      </p:sp>
      <p:pic>
        <p:nvPicPr>
          <p:cNvPr id="6" name="Picture 5" descr="E:\Logo\1.Bata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38924" y="0"/>
            <a:ext cx="1305076" cy="1295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E:\1. Construction\Yarsa site photos\Narayan bk\IMG_457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1" y="457201"/>
            <a:ext cx="8077199" cy="54864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209800" y="609600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Compacting &amp; Stone Soling in Floor</a:t>
            </a:r>
            <a:endParaRPr lang="en-US" sz="2400" b="1" dirty="0"/>
          </a:p>
        </p:txBody>
      </p:sp>
      <p:pic>
        <p:nvPicPr>
          <p:cNvPr id="6" name="Picture 5" descr="E:\Logo\1.Bata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15693" y="0"/>
            <a:ext cx="1228307" cy="1219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9" name="Picture 3" descr="E:\1. Construction\Yarsa site photos\Kari Ghale\resized\IMG_4994_600x450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0"/>
            <a:ext cx="8382000" cy="55626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209800" y="60960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Plain Cement Concrete Work at Floor Level</a:t>
            </a:r>
            <a:endParaRPr lang="en-US" b="1" dirty="0"/>
          </a:p>
        </p:txBody>
      </p:sp>
      <p:pic>
        <p:nvPicPr>
          <p:cNvPr id="5" name="Picture 4" descr="E:\Logo\1.Bata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85386" y="0"/>
            <a:ext cx="1458614" cy="1447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E:\1. Construction\Yarsa site photos\Sanukaji\resized\IMG_4929_600x45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85750"/>
            <a:ext cx="8458200" cy="581025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600200" y="6172200"/>
            <a:ext cx="6019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Skilled Mason Ensuring Constructed Wall  by </a:t>
            </a:r>
            <a:r>
              <a:rPr lang="en-US" sz="2000" b="1" dirty="0" err="1" smtClean="0"/>
              <a:t>Plumbob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pic>
        <p:nvPicPr>
          <p:cNvPr id="6" name="Picture 5" descr="E:\Logo\1.Bata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15693" y="0"/>
            <a:ext cx="1228307" cy="1219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572000"/>
            <a:ext cx="2590800" cy="1066800"/>
          </a:xfrm>
        </p:spPr>
        <p:txBody>
          <a:bodyPr>
            <a:normAutofit/>
          </a:bodyPr>
          <a:lstStyle/>
          <a:p>
            <a:pPr algn="just"/>
            <a:r>
              <a:rPr lang="en-US" sz="6600" b="1" baseline="-25000" dirty="0" smtClean="0"/>
              <a:t>Sill Band</a:t>
            </a:r>
            <a:endParaRPr lang="en-US" sz="6600" baseline="-25000" dirty="0"/>
          </a:p>
        </p:txBody>
      </p:sp>
      <p:pic>
        <p:nvPicPr>
          <p:cNvPr id="12290" name="Picture 2" descr="E:\1. Construction\Yarsa site photos\Sanukaji\resized\IMG_5079_600x45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4860651" cy="3352800"/>
          </a:xfrm>
          <a:prstGeom prst="rect">
            <a:avLst/>
          </a:prstGeom>
          <a:noFill/>
        </p:spPr>
      </p:pic>
      <p:pic>
        <p:nvPicPr>
          <p:cNvPr id="6" name="Picture 5" descr="E:\Logo\1.Bata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14290" y="28690"/>
            <a:ext cx="1429710" cy="1419110"/>
          </a:xfrm>
          <a:prstGeom prst="rect">
            <a:avLst/>
          </a:prstGeom>
          <a:noFill/>
        </p:spPr>
      </p:pic>
      <p:pic>
        <p:nvPicPr>
          <p:cNvPr id="7" name="Picture 3" descr="E:\1. Construction\Yarsa site photos\resized\20161222_080748_640x480.jpg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4470400" y="3352800"/>
            <a:ext cx="4673600" cy="350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62200" y="6248400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Laying of Window</a:t>
            </a:r>
            <a:endParaRPr lang="en-US" sz="2400" b="1" dirty="0"/>
          </a:p>
        </p:txBody>
      </p:sp>
      <p:pic>
        <p:nvPicPr>
          <p:cNvPr id="2050" name="Picture 2" descr="C:\Users\Prem Subedi\Desktop\resized\Aqua Pride_20161201_143745_600x33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609600"/>
            <a:ext cx="8909256" cy="5399881"/>
          </a:xfrm>
          <a:prstGeom prst="rect">
            <a:avLst/>
          </a:prstGeom>
          <a:noFill/>
        </p:spPr>
      </p:pic>
      <p:pic>
        <p:nvPicPr>
          <p:cNvPr id="6" name="Picture 5" descr="E:\Logo\1.Bata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85386" y="0"/>
            <a:ext cx="1458614" cy="1447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876800" y="533401"/>
            <a:ext cx="3581400" cy="3067050"/>
          </a:xfrm>
        </p:spPr>
        <p:txBody>
          <a:bodyPr/>
          <a:lstStyle/>
          <a:p>
            <a:r>
              <a:rPr lang="en-US" dirty="0" smtClean="0"/>
              <a:t>The House Reached At Stitch Band Stage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3962400" cy="17526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At Stitch Band Stage Monitored By NRA Chief of  </a:t>
            </a:r>
            <a:r>
              <a:rPr lang="en-US" b="1" dirty="0" err="1" smtClean="0"/>
              <a:t>Rasuwa</a:t>
            </a:r>
            <a:r>
              <a:rPr lang="en-US" b="1" dirty="0" smtClean="0"/>
              <a:t> District</a:t>
            </a:r>
            <a:endParaRPr lang="en-US" b="1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09600"/>
            <a:ext cx="422275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4575" y="3733800"/>
            <a:ext cx="4289425" cy="241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4495800" y="1066801"/>
            <a:ext cx="3962400" cy="2133600"/>
          </a:xfrm>
        </p:spPr>
        <p:txBody>
          <a:bodyPr/>
          <a:lstStyle/>
          <a:p>
            <a:r>
              <a:rPr lang="en-US" dirty="0" smtClean="0"/>
              <a:t>Formwork For </a:t>
            </a:r>
            <a:r>
              <a:rPr lang="en-US" dirty="0" smtClean="0"/>
              <a:t>lintel </a:t>
            </a:r>
            <a:r>
              <a:rPr lang="en-US" dirty="0" smtClean="0"/>
              <a:t>Band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3962400" cy="2514600"/>
          </a:xfrm>
        </p:spPr>
        <p:txBody>
          <a:bodyPr/>
          <a:lstStyle/>
          <a:p>
            <a:r>
              <a:rPr lang="en-US" dirty="0" smtClean="0"/>
              <a:t>Formwork And shuttering Work </a:t>
            </a:r>
            <a:r>
              <a:rPr lang="en-US" smtClean="0"/>
              <a:t>for </a:t>
            </a:r>
            <a:r>
              <a:rPr lang="en-US" smtClean="0"/>
              <a:t>lintel </a:t>
            </a:r>
            <a:r>
              <a:rPr lang="en-US" dirty="0" smtClean="0"/>
              <a:t>Band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76313"/>
            <a:ext cx="4359275" cy="2452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7200" y="3429000"/>
            <a:ext cx="47244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267200"/>
            <a:ext cx="3733800" cy="1676400"/>
          </a:xfrm>
        </p:spPr>
        <p:txBody>
          <a:bodyPr>
            <a:normAutofit/>
          </a:bodyPr>
          <a:lstStyle/>
          <a:p>
            <a:r>
              <a:rPr lang="en-US" b="1" dirty="0" smtClean="0"/>
              <a:t>Houses ready for Roofing</a:t>
            </a:r>
            <a:endParaRPr lang="en-US" b="1" dirty="0"/>
          </a:p>
        </p:txBody>
      </p:sp>
      <p:pic>
        <p:nvPicPr>
          <p:cNvPr id="1028" name="Picture 4" descr="E:\1. Construction\Yarsa site photos\resized\20161226_132536_320x240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-228600"/>
            <a:ext cx="4648200" cy="3657600"/>
          </a:xfrm>
          <a:prstGeom prst="rect">
            <a:avLst/>
          </a:prstGeom>
          <a:noFill/>
        </p:spPr>
      </p:pic>
      <p:pic>
        <p:nvPicPr>
          <p:cNvPr id="1030" name="Picture 6" descr="E:\1. Construction\Yarsa site photos\resized\20170101_151741_320x24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199" y="3124200"/>
            <a:ext cx="4538133" cy="3733800"/>
          </a:xfrm>
          <a:prstGeom prst="rect">
            <a:avLst/>
          </a:prstGeom>
          <a:noFill/>
        </p:spPr>
      </p:pic>
      <p:pic>
        <p:nvPicPr>
          <p:cNvPr id="9" name="Picture 8" descr="E:\Logo\1.Batas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38924" y="0"/>
            <a:ext cx="1305076" cy="129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52401" y="4406901"/>
            <a:ext cx="3962400" cy="8509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Ready For Roofing After </a:t>
            </a:r>
            <a:r>
              <a:rPr lang="en-US" dirty="0" err="1" smtClean="0"/>
              <a:t>paster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724400" y="1905000"/>
            <a:ext cx="3617912" cy="598487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Houses  With internal Plaster Competed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76313"/>
            <a:ext cx="4494213" cy="252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07200" y="-2743200"/>
            <a:ext cx="16687800" cy="2211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91000" y="3657600"/>
            <a:ext cx="4953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:\DCIM\164___12\resized\IMG_5097_600x45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495800" cy="3429000"/>
          </a:xfrm>
          <a:prstGeom prst="rect">
            <a:avLst/>
          </a:prstGeom>
          <a:noFill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429000"/>
            <a:ext cx="44958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4" descr="H:\DCIM\164___12\resized\IMG_5113_600x450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3429000"/>
            <a:ext cx="4572000" cy="3429000"/>
          </a:xfrm>
          <a:prstGeom prst="rect">
            <a:avLst/>
          </a:prstGeom>
          <a:noFill/>
        </p:spPr>
      </p:pic>
      <p:pic>
        <p:nvPicPr>
          <p:cNvPr id="8" name="Picture 3" descr="H:\DCIM\164___12\resized\IMG_5102_600x450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97400" y="685800"/>
            <a:ext cx="4546600" cy="3429000"/>
          </a:xfrm>
          <a:prstGeom prst="rect">
            <a:avLst/>
          </a:prstGeom>
          <a:noFill/>
        </p:spPr>
      </p:pic>
      <p:pic>
        <p:nvPicPr>
          <p:cNvPr id="9" name="Picture 2" descr="G:\cement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71800" y="0"/>
            <a:ext cx="4064000" cy="2057400"/>
          </a:xfrm>
          <a:prstGeom prst="rect">
            <a:avLst/>
          </a:prstGeom>
          <a:noFill/>
        </p:spPr>
      </p:pic>
      <p:sp>
        <p:nvSpPr>
          <p:cNvPr id="10" name="Dodecagon 9"/>
          <p:cNvSpPr/>
          <p:nvPr/>
        </p:nvSpPr>
        <p:spPr>
          <a:xfrm>
            <a:off x="3505200" y="3048000"/>
            <a:ext cx="2133600" cy="838200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Construction Materials</a:t>
            </a:r>
            <a:endParaRPr lang="en-US" sz="2000" b="1" dirty="0"/>
          </a:p>
        </p:txBody>
      </p:sp>
      <p:pic>
        <p:nvPicPr>
          <p:cNvPr id="11" name="Picture 10" descr="E:\Logo\1.Batas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915693" y="0"/>
            <a:ext cx="1228307" cy="121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791200"/>
            <a:ext cx="7696200" cy="914400"/>
          </a:xfrm>
        </p:spPr>
        <p:txBody>
          <a:bodyPr>
            <a:normAutofit fontScale="90000"/>
          </a:bodyPr>
          <a:lstStyle/>
          <a:p>
            <a:r>
              <a:rPr lang="en-US" sz="2200" dirty="0" smtClean="0"/>
              <a:t>Joint</a:t>
            </a:r>
            <a:r>
              <a:rPr lang="en-US" dirty="0" smtClean="0"/>
              <a:t> </a:t>
            </a:r>
            <a:r>
              <a:rPr lang="en-US" sz="2200" dirty="0" smtClean="0"/>
              <a:t>monitoring visit from Government Stakeholders (CDO, LDO, DSP, Program Officer, Monitoring Officer, VDC </a:t>
            </a:r>
            <a:r>
              <a:rPr lang="en-US" sz="2200" dirty="0" err="1" smtClean="0"/>
              <a:t>Secreteriat</a:t>
            </a:r>
            <a:r>
              <a:rPr lang="en-US" sz="2200" dirty="0" smtClean="0"/>
              <a:t>, etc.)</a:t>
            </a:r>
            <a:endParaRPr lang="en-US" dirty="0"/>
          </a:p>
        </p:txBody>
      </p:sp>
      <p:pic>
        <p:nvPicPr>
          <p:cNvPr id="1026" name="Picture 2" descr="E:\M&amp;E_Snaps\M&amp;E by GOs\resized\20161203_133750_600x450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8458200" cy="5943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E:\1. Construction\Yarsa site photos\resized\image-0-02-03-2943e9f749112aa361c0dfce4df00e741752c0bf93acdb7cfe74bb3e540ce8c1-V_180x2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0"/>
            <a:ext cx="3810000" cy="4089400"/>
          </a:xfrm>
          <a:prstGeom prst="rect">
            <a:avLst/>
          </a:prstGeom>
          <a:noFill/>
        </p:spPr>
      </p:pic>
      <p:pic>
        <p:nvPicPr>
          <p:cNvPr id="2051" name="Picture 3" descr="E:\1. Construction\Yarsa site photos\resized\image-0-02-06-8ee570917e9be81160f89f9e8dbe0e3cb395d0fad4b49bd6540205c103a0be15-V_320x24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0"/>
            <a:ext cx="4902200" cy="3676650"/>
          </a:xfrm>
          <a:prstGeom prst="rect">
            <a:avLst/>
          </a:prstGeom>
          <a:noFill/>
        </p:spPr>
      </p:pic>
      <p:pic>
        <p:nvPicPr>
          <p:cNvPr id="2052" name="Picture 4" descr="E:\1. Construction\Yarsa site photos\resized\20170112_082720_320x240.jpg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27000" y="3657600"/>
            <a:ext cx="4064000" cy="30480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876800" y="4267200"/>
            <a:ext cx="365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Inspection of construction material quality and quantity by BATAS Foundation Technical Officials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Shelter…………….. </a:t>
            </a:r>
            <a:r>
              <a:rPr lang="en-US" sz="3200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1"/>
            <a:ext cx="8382000" cy="52577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i="1" u="sng" dirty="0" smtClean="0"/>
              <a:t>Challenges</a:t>
            </a:r>
            <a:r>
              <a:rPr lang="en-US" sz="3600" b="1" dirty="0" smtClean="0"/>
              <a:t> :</a:t>
            </a:r>
          </a:p>
          <a:p>
            <a:pPr marL="514350" indent="-514350">
              <a:buAutoNum type="arabicPeriod"/>
            </a:pPr>
            <a:r>
              <a:rPr lang="en-US" dirty="0" smtClean="0"/>
              <a:t>Access of Road (Earthen, Heavy Boulders throughout alignment)</a:t>
            </a:r>
          </a:p>
          <a:p>
            <a:pPr marL="514350" indent="-514350">
              <a:buAutoNum type="arabicPeriod"/>
            </a:pPr>
            <a:r>
              <a:rPr lang="en-US" dirty="0" smtClean="0"/>
              <a:t>Geology and Topography of Land (</a:t>
            </a:r>
            <a:r>
              <a:rPr lang="en-US" sz="3000" dirty="0" smtClean="0"/>
              <a:t>Difficulty on site clearance &amp; Earthwork excavation</a:t>
            </a:r>
            <a:r>
              <a:rPr lang="en-US" dirty="0" smtClean="0"/>
              <a:t>)</a:t>
            </a:r>
          </a:p>
          <a:p>
            <a:pPr marL="514350" indent="-514350">
              <a:buAutoNum type="arabicPeriod"/>
            </a:pPr>
            <a:r>
              <a:rPr lang="en-US" dirty="0" smtClean="0"/>
              <a:t>Scarcity of Skilled/Unskilled Labor</a:t>
            </a:r>
          </a:p>
        </p:txBody>
      </p:sp>
      <p:pic>
        <p:nvPicPr>
          <p:cNvPr id="5" name="Picture 4" descr="E:\Logo\1.Bata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67865" y="76200"/>
            <a:ext cx="1381845" cy="1371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9900" dirty="0" smtClean="0"/>
              <a:t>Thanks</a:t>
            </a:r>
            <a:endParaRPr lang="en-US" sz="19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571</Words>
  <Application>Microsoft Office PowerPoint</Application>
  <PresentationFormat>On-screen Show (4:3)</PresentationFormat>
  <Paragraphs>100</Paragraphs>
  <Slides>29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Responsive and Adoptive Shelter for Earthquake Affected Communities – RASEAC e'sDk lkl8t ;d'bfosf] nflu pTt/bfoL tyf cg's'n cfjf; sfo{qmd      Working VDCs- Yarsa &amp; Ramche</vt:lpstr>
      <vt:lpstr>Program Activities:</vt:lpstr>
      <vt:lpstr>Program Activities</vt:lpstr>
      <vt:lpstr>Shelter…………….. Contd.</vt:lpstr>
      <vt:lpstr>Shelter…………….. Contd.</vt:lpstr>
      <vt:lpstr>Documentation</vt:lpstr>
      <vt:lpstr>Documentation……………. Contd.</vt:lpstr>
      <vt:lpstr>Materials Support/Supply</vt:lpstr>
      <vt:lpstr>Shelter Construction Support Modality</vt:lpstr>
      <vt:lpstr>Shelter Construction Support Modality…………………contd.</vt:lpstr>
      <vt:lpstr>Community participation in site clearance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Sill Band</vt:lpstr>
      <vt:lpstr>Slide 20</vt:lpstr>
      <vt:lpstr>The House Reached At Stitch Band Stage</vt:lpstr>
      <vt:lpstr>Formwork For lintel Band</vt:lpstr>
      <vt:lpstr>Houses ready for Roofing</vt:lpstr>
      <vt:lpstr>Ready For Roofing After paster </vt:lpstr>
      <vt:lpstr>Slide 25</vt:lpstr>
      <vt:lpstr>Joint monitoring visit from Government Stakeholders (CDO, LDO, DSP, Program Officer, Monitoring Officer, VDC Secreteriat, etc.)</vt:lpstr>
      <vt:lpstr>Slide 27</vt:lpstr>
      <vt:lpstr>Shelter…………….. Contd.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Responsive and Adoptive Shelter for Earthquake Affected Communities - RASEAC</dc:title>
  <dc:creator>Prem Subedi</dc:creator>
  <cp:lastModifiedBy>Satrudhan</cp:lastModifiedBy>
  <cp:revision>91</cp:revision>
  <dcterms:created xsi:type="dcterms:W3CDTF">2006-08-16T00:00:00Z</dcterms:created>
  <dcterms:modified xsi:type="dcterms:W3CDTF">2017-02-01T03:44:53Z</dcterms:modified>
</cp:coreProperties>
</file>