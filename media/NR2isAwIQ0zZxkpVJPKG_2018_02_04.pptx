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2.xml" ContentType="application/vnd.openxmlformats-officedocument.themeOverride+xml"/>
  <Override PartName="/ppt/charts/chart2.xml" ContentType="application/vnd.openxmlformats-officedocument.drawingml.chart+xml"/>
  <Override PartName="/ppt/theme/themeOverride3.xml" ContentType="application/vnd.openxmlformats-officedocument.themeOverride+xml"/>
  <Override PartName="/ppt/charts/chart3.xml" ContentType="application/vnd.openxmlformats-officedocument.drawingml.chart+xml"/>
  <Override PartName="/ppt/theme/themeOverride4.xml" ContentType="application/vnd.openxmlformats-officedocument.themeOverride+xml"/>
  <Override PartName="/ppt/charts/chart4.xml" ContentType="application/vnd.openxmlformats-officedocument.drawingml.chart+xml"/>
  <Override PartName="/ppt/theme/themeOverride5.xml" ContentType="application/vnd.openxmlformats-officedocument.themeOverride+xml"/>
  <Override PartName="/ppt/charts/chart5.xml" ContentType="application/vnd.openxmlformats-officedocument.drawingml.chart+xml"/>
  <Override PartName="/ppt/theme/themeOverride6.xml" ContentType="application/vnd.openxmlformats-officedocument.themeOverride+xml"/>
  <Override PartName="/ppt/charts/chart6.xml" ContentType="application/vnd.openxmlformats-officedocument.drawingml.chart+xml"/>
  <Override PartName="/ppt/theme/themeOverride7.xml" ContentType="application/vnd.openxmlformats-officedocument.themeOverride+xml"/>
  <Override PartName="/ppt/charts/chart7.xml" ContentType="application/vnd.openxmlformats-officedocument.drawingml.chart+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21"/>
  </p:notesMasterIdLst>
  <p:handoutMasterIdLst>
    <p:handoutMasterId r:id="rId22"/>
  </p:handoutMasterIdLst>
  <p:sldIdLst>
    <p:sldId id="261" r:id="rId2"/>
    <p:sldId id="265" r:id="rId3"/>
    <p:sldId id="262" r:id="rId4"/>
    <p:sldId id="263" r:id="rId5"/>
    <p:sldId id="264" r:id="rId6"/>
    <p:sldId id="266" r:id="rId7"/>
    <p:sldId id="267" r:id="rId8"/>
    <p:sldId id="268" r:id="rId9"/>
    <p:sldId id="269" r:id="rId10"/>
    <p:sldId id="270" r:id="rId11"/>
    <p:sldId id="279" r:id="rId12"/>
    <p:sldId id="271" r:id="rId13"/>
    <p:sldId id="272" r:id="rId14"/>
    <p:sldId id="273" r:id="rId15"/>
    <p:sldId id="274" r:id="rId16"/>
    <p:sldId id="275" r:id="rId17"/>
    <p:sldId id="276" r:id="rId18"/>
    <p:sldId id="277" r:id="rId19"/>
    <p:sldId id="278" r:id="rId20"/>
  </p:sldIdLst>
  <p:sldSz cx="10688638" cy="7553325"/>
  <p:notesSz cx="6858000" cy="9144000"/>
  <p:defaultTextStyle>
    <a:defPPr>
      <a:defRPr lang="en-US"/>
    </a:defPPr>
    <a:lvl1pPr marL="0" algn="l" defTabSz="1042325" rtl="0" eaLnBrk="1" latinLnBrk="0" hangingPunct="1">
      <a:defRPr sz="2052" kern="1200">
        <a:solidFill>
          <a:schemeClr val="tx1"/>
        </a:solidFill>
        <a:latin typeface="+mn-lt"/>
        <a:ea typeface="+mn-ea"/>
        <a:cs typeface="+mn-cs"/>
      </a:defRPr>
    </a:lvl1pPr>
    <a:lvl2pPr marL="521162" algn="l" defTabSz="1042325" rtl="0" eaLnBrk="1" latinLnBrk="0" hangingPunct="1">
      <a:defRPr sz="2052" kern="1200">
        <a:solidFill>
          <a:schemeClr val="tx1"/>
        </a:solidFill>
        <a:latin typeface="+mn-lt"/>
        <a:ea typeface="+mn-ea"/>
        <a:cs typeface="+mn-cs"/>
      </a:defRPr>
    </a:lvl2pPr>
    <a:lvl3pPr marL="1042325" algn="l" defTabSz="1042325" rtl="0" eaLnBrk="1" latinLnBrk="0" hangingPunct="1">
      <a:defRPr sz="2052" kern="1200">
        <a:solidFill>
          <a:schemeClr val="tx1"/>
        </a:solidFill>
        <a:latin typeface="+mn-lt"/>
        <a:ea typeface="+mn-ea"/>
        <a:cs typeface="+mn-cs"/>
      </a:defRPr>
    </a:lvl3pPr>
    <a:lvl4pPr marL="1563487" algn="l" defTabSz="1042325" rtl="0" eaLnBrk="1" latinLnBrk="0" hangingPunct="1">
      <a:defRPr sz="2052" kern="1200">
        <a:solidFill>
          <a:schemeClr val="tx1"/>
        </a:solidFill>
        <a:latin typeface="+mn-lt"/>
        <a:ea typeface="+mn-ea"/>
        <a:cs typeface="+mn-cs"/>
      </a:defRPr>
    </a:lvl4pPr>
    <a:lvl5pPr marL="2084649" algn="l" defTabSz="1042325" rtl="0" eaLnBrk="1" latinLnBrk="0" hangingPunct="1">
      <a:defRPr sz="2052" kern="1200">
        <a:solidFill>
          <a:schemeClr val="tx1"/>
        </a:solidFill>
        <a:latin typeface="+mn-lt"/>
        <a:ea typeface="+mn-ea"/>
        <a:cs typeface="+mn-cs"/>
      </a:defRPr>
    </a:lvl5pPr>
    <a:lvl6pPr marL="2605811" algn="l" defTabSz="1042325" rtl="0" eaLnBrk="1" latinLnBrk="0" hangingPunct="1">
      <a:defRPr sz="2052" kern="1200">
        <a:solidFill>
          <a:schemeClr val="tx1"/>
        </a:solidFill>
        <a:latin typeface="+mn-lt"/>
        <a:ea typeface="+mn-ea"/>
        <a:cs typeface="+mn-cs"/>
      </a:defRPr>
    </a:lvl6pPr>
    <a:lvl7pPr marL="3126974" algn="l" defTabSz="1042325" rtl="0" eaLnBrk="1" latinLnBrk="0" hangingPunct="1">
      <a:defRPr sz="2052" kern="1200">
        <a:solidFill>
          <a:schemeClr val="tx1"/>
        </a:solidFill>
        <a:latin typeface="+mn-lt"/>
        <a:ea typeface="+mn-ea"/>
        <a:cs typeface="+mn-cs"/>
      </a:defRPr>
    </a:lvl7pPr>
    <a:lvl8pPr marL="3648136" algn="l" defTabSz="1042325" rtl="0" eaLnBrk="1" latinLnBrk="0" hangingPunct="1">
      <a:defRPr sz="2052" kern="1200">
        <a:solidFill>
          <a:schemeClr val="tx1"/>
        </a:solidFill>
        <a:latin typeface="+mn-lt"/>
        <a:ea typeface="+mn-ea"/>
        <a:cs typeface="+mn-cs"/>
      </a:defRPr>
    </a:lvl8pPr>
    <a:lvl9pPr marL="4169298" algn="l" defTabSz="1042325" rtl="0" eaLnBrk="1" latinLnBrk="0" hangingPunct="1">
      <a:defRPr sz="2052"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xmi Prasad Bhatta" initials="LPB"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5A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59" autoAdjust="0"/>
    <p:restoredTop sz="86715" autoAdjust="0"/>
  </p:normalViewPr>
  <p:slideViewPr>
    <p:cSldViewPr snapToGrid="0">
      <p:cViewPr>
        <p:scale>
          <a:sx n="64" d="100"/>
          <a:sy n="64" d="100"/>
        </p:scale>
        <p:origin x="-1308" y="-72"/>
      </p:cViewPr>
      <p:guideLst>
        <p:guide orient="horz" pos="2379"/>
        <p:guide pos="3366"/>
      </p:guideLst>
    </p:cSldViewPr>
  </p:slideViewPr>
  <p:notesTextViewPr>
    <p:cViewPr>
      <p:scale>
        <a:sx n="1" d="1"/>
        <a:sy n="1" d="1"/>
      </p:scale>
      <p:origin x="0" y="0"/>
    </p:cViewPr>
  </p:notesTextViewPr>
  <p:sorterViewPr>
    <p:cViewPr>
      <p:scale>
        <a:sx n="100" d="100"/>
        <a:sy n="100" d="100"/>
      </p:scale>
      <p:origin x="0" y="-17832"/>
    </p:cViewPr>
  </p:sorter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2.xml"/></Relationships>
</file>

<file path=ppt/charts/_rels/chart2.xml.rels><?xml version="1.0" encoding="UTF-8" standalone="yes"?>
<Relationships xmlns="http://schemas.openxmlformats.org/package/2006/relationships"><Relationship Id="rId2" Type="http://schemas.openxmlformats.org/officeDocument/2006/relationships/oleObject" Target="../embeddings/oleObject2.bin"/><Relationship Id="rId1" Type="http://schemas.openxmlformats.org/officeDocument/2006/relationships/themeOverride" Target="../theme/themeOverride3.xml"/></Relationships>
</file>

<file path=ppt/charts/_rels/chart3.xml.rels><?xml version="1.0" encoding="UTF-8" standalone="yes"?>
<Relationships xmlns="http://schemas.openxmlformats.org/package/2006/relationships"><Relationship Id="rId2" Type="http://schemas.openxmlformats.org/officeDocument/2006/relationships/oleObject" Target="../embeddings/oleObject3.bin"/><Relationship Id="rId1" Type="http://schemas.openxmlformats.org/officeDocument/2006/relationships/themeOverride" Target="../theme/themeOverride4.xml"/></Relationships>
</file>

<file path=ppt/charts/_rels/chart4.xml.rels><?xml version="1.0" encoding="UTF-8" standalone="yes"?>
<Relationships xmlns="http://schemas.openxmlformats.org/package/2006/relationships"><Relationship Id="rId2" Type="http://schemas.openxmlformats.org/officeDocument/2006/relationships/oleObject" Target="../embeddings/oleObject4.bin"/><Relationship Id="rId1" Type="http://schemas.openxmlformats.org/officeDocument/2006/relationships/themeOverride" Target="../theme/themeOverride5.xml"/></Relationships>
</file>

<file path=ppt/charts/_rels/chart5.xml.rels><?xml version="1.0" encoding="UTF-8" standalone="yes"?>
<Relationships xmlns="http://schemas.openxmlformats.org/package/2006/relationships"><Relationship Id="rId2" Type="http://schemas.openxmlformats.org/officeDocument/2006/relationships/oleObject" Target="../embeddings/oleObject5.bin"/><Relationship Id="rId1" Type="http://schemas.openxmlformats.org/officeDocument/2006/relationships/themeOverride" Target="../theme/themeOverride6.xml"/></Relationships>
</file>

<file path=ppt/charts/_rels/chart6.xml.rels><?xml version="1.0" encoding="UTF-8" standalone="yes"?>
<Relationships xmlns="http://schemas.openxmlformats.org/package/2006/relationships"><Relationship Id="rId2" Type="http://schemas.openxmlformats.org/officeDocument/2006/relationships/oleObject" Target="../embeddings/oleObject6.bin"/><Relationship Id="rId1" Type="http://schemas.openxmlformats.org/officeDocument/2006/relationships/themeOverride" Target="../theme/themeOverride7.xml"/></Relationships>
</file>

<file path=ppt/charts/_rels/chart7.xml.rels><?xml version="1.0" encoding="UTF-8" standalone="yes"?>
<Relationships xmlns="http://schemas.openxmlformats.org/package/2006/relationships"><Relationship Id="rId2" Type="http://schemas.openxmlformats.org/officeDocument/2006/relationships/oleObject" Target="../embeddings/oleObject7.bin"/><Relationship Id="rId1" Type="http://schemas.openxmlformats.org/officeDocument/2006/relationships/themeOverride" Target="../theme/themeOverride8.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Rasuwa:Gosaikunda Rural Municipality:Coverage Of TA </a:t>
            </a:r>
          </a:p>
        </c:rich>
      </c:tx>
      <c:layout>
        <c:manualLayout>
          <c:xMode val="edge"/>
          <c:yMode val="edge"/>
          <c:x val="3.3598592729100311E-3"/>
          <c:y val="2.23463687150838E-2"/>
        </c:manualLayout>
      </c:layout>
      <c:overlay val="0"/>
    </c:title>
    <c:autoTitleDeleted val="0"/>
    <c:plotArea>
      <c:layout/>
      <c:barChart>
        <c:barDir val="col"/>
        <c:grouping val="stacked"/>
        <c:varyColors val="0"/>
        <c:ser>
          <c:idx val="0"/>
          <c:order val="0"/>
          <c:tx>
            <c:strRef>
              <c:f>Sheet17!$C$1</c:f>
              <c:strCache>
                <c:ptCount val="1"/>
                <c:pt idx="0">
                  <c:v>Community reconstruction orientation</c:v>
                </c:pt>
              </c:strCache>
            </c:strRef>
          </c:tx>
          <c:invertIfNegative val="0"/>
          <c:cat>
            <c:strRef>
              <c:f>Sheet17!$B$2:$B$6</c:f>
              <c:strCache>
                <c:ptCount val="5"/>
                <c:pt idx="0">
                  <c:v>Ward 1</c:v>
                </c:pt>
                <c:pt idx="1">
                  <c:v>Ward 2</c:v>
                </c:pt>
                <c:pt idx="2">
                  <c:v>Ward 3</c:v>
                </c:pt>
                <c:pt idx="3">
                  <c:v>Ward 4</c:v>
                </c:pt>
                <c:pt idx="4">
                  <c:v>Ward 5</c:v>
                </c:pt>
              </c:strCache>
            </c:strRef>
          </c:cat>
          <c:val>
            <c:numRef>
              <c:f>Sheet17!$C$2:$C$6</c:f>
              <c:numCache>
                <c:formatCode>General</c:formatCode>
                <c:ptCount val="5"/>
                <c:pt idx="0">
                  <c:v>0</c:v>
                </c:pt>
                <c:pt idx="1">
                  <c:v>1</c:v>
                </c:pt>
                <c:pt idx="2">
                  <c:v>1</c:v>
                </c:pt>
                <c:pt idx="3">
                  <c:v>0</c:v>
                </c:pt>
                <c:pt idx="4">
                  <c:v>1</c:v>
                </c:pt>
              </c:numCache>
            </c:numRef>
          </c:val>
        </c:ser>
        <c:ser>
          <c:idx val="1"/>
          <c:order val="1"/>
          <c:tx>
            <c:strRef>
              <c:f>Sheet17!$D$1</c:f>
              <c:strCache>
                <c:ptCount val="1"/>
                <c:pt idx="0">
                  <c:v>Demonstration Construction</c:v>
                </c:pt>
              </c:strCache>
            </c:strRef>
          </c:tx>
          <c:invertIfNegative val="0"/>
          <c:cat>
            <c:strRef>
              <c:f>Sheet17!$B$2:$B$6</c:f>
              <c:strCache>
                <c:ptCount val="5"/>
                <c:pt idx="0">
                  <c:v>Ward 1</c:v>
                </c:pt>
                <c:pt idx="1">
                  <c:v>Ward 2</c:v>
                </c:pt>
                <c:pt idx="2">
                  <c:v>Ward 3</c:v>
                </c:pt>
                <c:pt idx="3">
                  <c:v>Ward 4</c:v>
                </c:pt>
                <c:pt idx="4">
                  <c:v>Ward 5</c:v>
                </c:pt>
              </c:strCache>
            </c:strRef>
          </c:cat>
          <c:val>
            <c:numRef>
              <c:f>Sheet17!$D$2:$D$6</c:f>
              <c:numCache>
                <c:formatCode>General</c:formatCode>
                <c:ptCount val="5"/>
                <c:pt idx="0">
                  <c:v>1</c:v>
                </c:pt>
                <c:pt idx="1">
                  <c:v>1</c:v>
                </c:pt>
                <c:pt idx="2">
                  <c:v>0</c:v>
                </c:pt>
                <c:pt idx="3">
                  <c:v>1</c:v>
                </c:pt>
                <c:pt idx="4">
                  <c:v>1</c:v>
                </c:pt>
              </c:numCache>
            </c:numRef>
          </c:val>
        </c:ser>
        <c:ser>
          <c:idx val="2"/>
          <c:order val="2"/>
          <c:tx>
            <c:strRef>
              <c:f>Sheet17!$E$1</c:f>
              <c:strCache>
                <c:ptCount val="1"/>
                <c:pt idx="0">
                  <c:v>Door-to-door technical assistance</c:v>
                </c:pt>
              </c:strCache>
            </c:strRef>
          </c:tx>
          <c:invertIfNegative val="0"/>
          <c:cat>
            <c:strRef>
              <c:f>Sheet17!$B$2:$B$6</c:f>
              <c:strCache>
                <c:ptCount val="5"/>
                <c:pt idx="0">
                  <c:v>Ward 1</c:v>
                </c:pt>
                <c:pt idx="1">
                  <c:v>Ward 2</c:v>
                </c:pt>
                <c:pt idx="2">
                  <c:v>Ward 3</c:v>
                </c:pt>
                <c:pt idx="3">
                  <c:v>Ward 4</c:v>
                </c:pt>
                <c:pt idx="4">
                  <c:v>Ward 5</c:v>
                </c:pt>
              </c:strCache>
            </c:strRef>
          </c:cat>
          <c:val>
            <c:numRef>
              <c:f>Sheet17!$E$2:$E$6</c:f>
              <c:numCache>
                <c:formatCode>General</c:formatCode>
                <c:ptCount val="5"/>
                <c:pt idx="0">
                  <c:v>1</c:v>
                </c:pt>
                <c:pt idx="1">
                  <c:v>1</c:v>
                </c:pt>
                <c:pt idx="2">
                  <c:v>1</c:v>
                </c:pt>
                <c:pt idx="3">
                  <c:v>1</c:v>
                </c:pt>
                <c:pt idx="4">
                  <c:v>1</c:v>
                </c:pt>
              </c:numCache>
            </c:numRef>
          </c:val>
        </c:ser>
        <c:ser>
          <c:idx val="3"/>
          <c:order val="3"/>
          <c:tx>
            <c:strRef>
              <c:f>Sheet17!$F$1</c:f>
              <c:strCache>
                <c:ptCount val="1"/>
                <c:pt idx="0">
                  <c:v>Helpdesk/technical support center</c:v>
                </c:pt>
              </c:strCache>
            </c:strRef>
          </c:tx>
          <c:invertIfNegative val="0"/>
          <c:cat>
            <c:strRef>
              <c:f>Sheet17!$B$2:$B$6</c:f>
              <c:strCache>
                <c:ptCount val="5"/>
                <c:pt idx="0">
                  <c:v>Ward 1</c:v>
                </c:pt>
                <c:pt idx="1">
                  <c:v>Ward 2</c:v>
                </c:pt>
                <c:pt idx="2">
                  <c:v>Ward 3</c:v>
                </c:pt>
                <c:pt idx="3">
                  <c:v>Ward 4</c:v>
                </c:pt>
                <c:pt idx="4">
                  <c:v>Ward 5</c:v>
                </c:pt>
              </c:strCache>
            </c:strRef>
          </c:cat>
          <c:val>
            <c:numRef>
              <c:f>Sheet17!$F$2:$F$6</c:f>
              <c:numCache>
                <c:formatCode>General</c:formatCode>
                <c:ptCount val="5"/>
                <c:pt idx="0">
                  <c:v>0</c:v>
                </c:pt>
                <c:pt idx="1">
                  <c:v>1</c:v>
                </c:pt>
                <c:pt idx="2">
                  <c:v>1</c:v>
                </c:pt>
                <c:pt idx="3">
                  <c:v>0</c:v>
                </c:pt>
                <c:pt idx="4">
                  <c:v>1</c:v>
                </c:pt>
              </c:numCache>
            </c:numRef>
          </c:val>
        </c:ser>
        <c:ser>
          <c:idx val="4"/>
          <c:order val="4"/>
          <c:tx>
            <c:strRef>
              <c:f>Sheet17!$G$1</c:f>
              <c:strCache>
                <c:ptCount val="1"/>
                <c:pt idx="0">
                  <c:v>Reconstruction Coordination Committee</c:v>
                </c:pt>
              </c:strCache>
            </c:strRef>
          </c:tx>
          <c:invertIfNegative val="0"/>
          <c:cat>
            <c:strRef>
              <c:f>Sheet17!$B$2:$B$6</c:f>
              <c:strCache>
                <c:ptCount val="5"/>
                <c:pt idx="0">
                  <c:v>Ward 1</c:v>
                </c:pt>
                <c:pt idx="1">
                  <c:v>Ward 2</c:v>
                </c:pt>
                <c:pt idx="2">
                  <c:v>Ward 3</c:v>
                </c:pt>
                <c:pt idx="3">
                  <c:v>Ward 4</c:v>
                </c:pt>
                <c:pt idx="4">
                  <c:v>Ward 5</c:v>
                </c:pt>
              </c:strCache>
            </c:strRef>
          </c:cat>
          <c:val>
            <c:numRef>
              <c:f>Sheet17!$G$2:$G$6</c:f>
              <c:numCache>
                <c:formatCode>General</c:formatCode>
                <c:ptCount val="5"/>
                <c:pt idx="0">
                  <c:v>1</c:v>
                </c:pt>
                <c:pt idx="1">
                  <c:v>1</c:v>
                </c:pt>
                <c:pt idx="2">
                  <c:v>1</c:v>
                </c:pt>
                <c:pt idx="3">
                  <c:v>0</c:v>
                </c:pt>
                <c:pt idx="4">
                  <c:v>0</c:v>
                </c:pt>
              </c:numCache>
            </c:numRef>
          </c:val>
        </c:ser>
        <c:ser>
          <c:idx val="5"/>
          <c:order val="5"/>
          <c:tx>
            <c:strRef>
              <c:f>Sheet17!$H$1</c:f>
              <c:strCache>
                <c:ptCount val="1"/>
                <c:pt idx="0">
                  <c:v>Short training</c:v>
                </c:pt>
              </c:strCache>
            </c:strRef>
          </c:tx>
          <c:invertIfNegative val="0"/>
          <c:cat>
            <c:strRef>
              <c:f>Sheet17!$B$2:$B$6</c:f>
              <c:strCache>
                <c:ptCount val="5"/>
                <c:pt idx="0">
                  <c:v>Ward 1</c:v>
                </c:pt>
                <c:pt idx="1">
                  <c:v>Ward 2</c:v>
                </c:pt>
                <c:pt idx="2">
                  <c:v>Ward 3</c:v>
                </c:pt>
                <c:pt idx="3">
                  <c:v>Ward 4</c:v>
                </c:pt>
                <c:pt idx="4">
                  <c:v>Ward 5</c:v>
                </c:pt>
              </c:strCache>
            </c:strRef>
          </c:cat>
          <c:val>
            <c:numRef>
              <c:f>Sheet17!$H$2:$H$6</c:f>
              <c:numCache>
                <c:formatCode>General</c:formatCode>
                <c:ptCount val="5"/>
                <c:pt idx="0">
                  <c:v>1</c:v>
                </c:pt>
                <c:pt idx="1">
                  <c:v>1</c:v>
                </c:pt>
                <c:pt idx="2">
                  <c:v>1</c:v>
                </c:pt>
                <c:pt idx="3">
                  <c:v>1</c:v>
                </c:pt>
                <c:pt idx="4">
                  <c:v>1</c:v>
                </c:pt>
              </c:numCache>
            </c:numRef>
          </c:val>
        </c:ser>
        <c:ser>
          <c:idx val="6"/>
          <c:order val="6"/>
          <c:tx>
            <c:strRef>
              <c:f>Sheet17!$I$1</c:f>
              <c:strCache>
                <c:ptCount val="1"/>
                <c:pt idx="0">
                  <c:v>Vocational training</c:v>
                </c:pt>
              </c:strCache>
            </c:strRef>
          </c:tx>
          <c:invertIfNegative val="0"/>
          <c:cat>
            <c:strRef>
              <c:f>Sheet17!$B$2:$B$6</c:f>
              <c:strCache>
                <c:ptCount val="5"/>
                <c:pt idx="0">
                  <c:v>Ward 1</c:v>
                </c:pt>
                <c:pt idx="1">
                  <c:v>Ward 2</c:v>
                </c:pt>
                <c:pt idx="2">
                  <c:v>Ward 3</c:v>
                </c:pt>
                <c:pt idx="3">
                  <c:v>Ward 4</c:v>
                </c:pt>
                <c:pt idx="4">
                  <c:v>Ward 5</c:v>
                </c:pt>
              </c:strCache>
            </c:strRef>
          </c:cat>
          <c:val>
            <c:numRef>
              <c:f>Sheet17!$I$2:$I$6</c:f>
              <c:numCache>
                <c:formatCode>General</c:formatCode>
                <c:ptCount val="5"/>
                <c:pt idx="0">
                  <c:v>1</c:v>
                </c:pt>
                <c:pt idx="1">
                  <c:v>1</c:v>
                </c:pt>
                <c:pt idx="2">
                  <c:v>1</c:v>
                </c:pt>
                <c:pt idx="3">
                  <c:v>1</c:v>
                </c:pt>
                <c:pt idx="4">
                  <c:v>1</c:v>
                </c:pt>
              </c:numCache>
            </c:numRef>
          </c:val>
        </c:ser>
        <c:dLbls>
          <c:showLegendKey val="0"/>
          <c:showVal val="0"/>
          <c:showCatName val="0"/>
          <c:showSerName val="0"/>
          <c:showPercent val="0"/>
          <c:showBubbleSize val="0"/>
        </c:dLbls>
        <c:gapWidth val="150"/>
        <c:overlap val="100"/>
        <c:axId val="146313728"/>
        <c:axId val="143430720"/>
      </c:barChart>
      <c:catAx>
        <c:axId val="146313728"/>
        <c:scaling>
          <c:orientation val="minMax"/>
        </c:scaling>
        <c:delete val="0"/>
        <c:axPos val="b"/>
        <c:title>
          <c:tx>
            <c:rich>
              <a:bodyPr/>
              <a:lstStyle/>
              <a:p>
                <a:pPr>
                  <a:defRPr/>
                </a:pPr>
                <a:r>
                  <a:rPr lang="en-US"/>
                  <a:t>Gosaikunda Rrural Municipality </a:t>
                </a:r>
              </a:p>
            </c:rich>
          </c:tx>
          <c:layout/>
          <c:overlay val="0"/>
        </c:title>
        <c:majorTickMark val="out"/>
        <c:minorTickMark val="none"/>
        <c:tickLblPos val="nextTo"/>
        <c:crossAx val="143430720"/>
        <c:crosses val="autoZero"/>
        <c:auto val="1"/>
        <c:lblAlgn val="ctr"/>
        <c:lblOffset val="100"/>
        <c:noMultiLvlLbl val="0"/>
      </c:catAx>
      <c:valAx>
        <c:axId val="143430720"/>
        <c:scaling>
          <c:orientation val="minMax"/>
        </c:scaling>
        <c:delete val="0"/>
        <c:axPos val="l"/>
        <c:title>
          <c:tx>
            <c:rich>
              <a:bodyPr rot="-5400000" vert="horz"/>
              <a:lstStyle/>
              <a:p>
                <a:pPr>
                  <a:defRPr/>
                </a:pPr>
                <a:r>
                  <a:rPr lang="en-US"/>
                  <a:t>Technical Assistance </a:t>
                </a:r>
              </a:p>
            </c:rich>
          </c:tx>
          <c:layout/>
          <c:overlay val="0"/>
        </c:title>
        <c:numFmt formatCode="General" sourceLinked="1"/>
        <c:majorTickMark val="out"/>
        <c:minorTickMark val="none"/>
        <c:tickLblPos val="nextTo"/>
        <c:crossAx val="146313728"/>
        <c:crosses val="autoZero"/>
        <c:crossBetween val="between"/>
      </c:valAx>
    </c:plotArea>
    <c:legend>
      <c:legendPos val="r"/>
      <c:layout>
        <c:manualLayout>
          <c:xMode val="edge"/>
          <c:yMode val="edge"/>
          <c:x val="0.62765957446808507"/>
          <c:y val="0.11297262423202688"/>
          <c:w val="0.34397163120567376"/>
          <c:h val="0.78034556858640403"/>
        </c:manualLayout>
      </c:layout>
      <c:overlay val="0"/>
    </c:legend>
    <c:plotVisOnly val="1"/>
    <c:dispBlanksAs val="gap"/>
    <c:showDLblsOverMax val="0"/>
  </c:chart>
  <c:spPr>
    <a:ln>
      <a:solidFill>
        <a:sysClr val="windowText" lastClr="000000">
          <a:lumMod val="95000"/>
          <a:lumOff val="5000"/>
        </a:sysClr>
      </a:solidFill>
    </a:ln>
  </c:spPr>
  <c:txPr>
    <a:bodyPr/>
    <a:lstStyle/>
    <a:p>
      <a:pPr>
        <a:defRPr sz="12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Rasuwa:kalika Rural Municipality:Coverage of TA</a:t>
            </a:r>
          </a:p>
        </c:rich>
      </c:tx>
      <c:layout>
        <c:manualLayout>
          <c:xMode val="edge"/>
          <c:yMode val="edge"/>
          <c:x val="4.9778904345989367E-4"/>
          <c:y val="5.1115247635545886E-3"/>
        </c:manualLayout>
      </c:layout>
      <c:overlay val="0"/>
    </c:title>
    <c:autoTitleDeleted val="0"/>
    <c:plotArea>
      <c:layout/>
      <c:barChart>
        <c:barDir val="col"/>
        <c:grouping val="stacked"/>
        <c:varyColors val="0"/>
        <c:ser>
          <c:idx val="0"/>
          <c:order val="0"/>
          <c:tx>
            <c:strRef>
              <c:f>Sheet17!$C$1</c:f>
              <c:strCache>
                <c:ptCount val="1"/>
                <c:pt idx="0">
                  <c:v>Community reconstruction orientation</c:v>
                </c:pt>
              </c:strCache>
            </c:strRef>
          </c:tx>
          <c:invertIfNegative val="0"/>
          <c:cat>
            <c:strRef>
              <c:f>Sheet17!$B$2:$B$6</c:f>
              <c:strCache>
                <c:ptCount val="5"/>
                <c:pt idx="0">
                  <c:v>Ward 1</c:v>
                </c:pt>
                <c:pt idx="1">
                  <c:v>Ward 2</c:v>
                </c:pt>
                <c:pt idx="2">
                  <c:v>Ward 3</c:v>
                </c:pt>
                <c:pt idx="3">
                  <c:v>Ward 4</c:v>
                </c:pt>
                <c:pt idx="4">
                  <c:v>Ward 5</c:v>
                </c:pt>
              </c:strCache>
            </c:strRef>
          </c:cat>
          <c:val>
            <c:numRef>
              <c:f>Sheet17!$C$2:$C$6</c:f>
              <c:numCache>
                <c:formatCode>General</c:formatCode>
                <c:ptCount val="5"/>
                <c:pt idx="0">
                  <c:v>0</c:v>
                </c:pt>
                <c:pt idx="1">
                  <c:v>1</c:v>
                </c:pt>
                <c:pt idx="2">
                  <c:v>1</c:v>
                </c:pt>
                <c:pt idx="3">
                  <c:v>0</c:v>
                </c:pt>
                <c:pt idx="4">
                  <c:v>1</c:v>
                </c:pt>
              </c:numCache>
            </c:numRef>
          </c:val>
        </c:ser>
        <c:ser>
          <c:idx val="1"/>
          <c:order val="1"/>
          <c:tx>
            <c:strRef>
              <c:f>Sheet17!$D$1</c:f>
              <c:strCache>
                <c:ptCount val="1"/>
                <c:pt idx="0">
                  <c:v>Demonstration Construction</c:v>
                </c:pt>
              </c:strCache>
            </c:strRef>
          </c:tx>
          <c:invertIfNegative val="0"/>
          <c:cat>
            <c:strRef>
              <c:f>Sheet17!$B$2:$B$6</c:f>
              <c:strCache>
                <c:ptCount val="5"/>
                <c:pt idx="0">
                  <c:v>Ward 1</c:v>
                </c:pt>
                <c:pt idx="1">
                  <c:v>Ward 2</c:v>
                </c:pt>
                <c:pt idx="2">
                  <c:v>Ward 3</c:v>
                </c:pt>
                <c:pt idx="3">
                  <c:v>Ward 4</c:v>
                </c:pt>
                <c:pt idx="4">
                  <c:v>Ward 5</c:v>
                </c:pt>
              </c:strCache>
            </c:strRef>
          </c:cat>
          <c:val>
            <c:numRef>
              <c:f>Sheet17!$D$2:$D$6</c:f>
              <c:numCache>
                <c:formatCode>General</c:formatCode>
                <c:ptCount val="5"/>
                <c:pt idx="0">
                  <c:v>1</c:v>
                </c:pt>
                <c:pt idx="1">
                  <c:v>1</c:v>
                </c:pt>
                <c:pt idx="2">
                  <c:v>0</c:v>
                </c:pt>
                <c:pt idx="3">
                  <c:v>1</c:v>
                </c:pt>
                <c:pt idx="4">
                  <c:v>1</c:v>
                </c:pt>
              </c:numCache>
            </c:numRef>
          </c:val>
        </c:ser>
        <c:ser>
          <c:idx val="2"/>
          <c:order val="2"/>
          <c:tx>
            <c:strRef>
              <c:f>Sheet17!$E$1</c:f>
              <c:strCache>
                <c:ptCount val="1"/>
                <c:pt idx="0">
                  <c:v>Door-to-door technical assistance</c:v>
                </c:pt>
              </c:strCache>
            </c:strRef>
          </c:tx>
          <c:invertIfNegative val="0"/>
          <c:cat>
            <c:strRef>
              <c:f>Sheet17!$B$2:$B$6</c:f>
              <c:strCache>
                <c:ptCount val="5"/>
                <c:pt idx="0">
                  <c:v>Ward 1</c:v>
                </c:pt>
                <c:pt idx="1">
                  <c:v>Ward 2</c:v>
                </c:pt>
                <c:pt idx="2">
                  <c:v>Ward 3</c:v>
                </c:pt>
                <c:pt idx="3">
                  <c:v>Ward 4</c:v>
                </c:pt>
                <c:pt idx="4">
                  <c:v>Ward 5</c:v>
                </c:pt>
              </c:strCache>
            </c:strRef>
          </c:cat>
          <c:val>
            <c:numRef>
              <c:f>Sheet17!$E$2:$E$6</c:f>
              <c:numCache>
                <c:formatCode>General</c:formatCode>
                <c:ptCount val="5"/>
                <c:pt idx="0">
                  <c:v>1</c:v>
                </c:pt>
                <c:pt idx="1">
                  <c:v>1</c:v>
                </c:pt>
                <c:pt idx="2">
                  <c:v>1</c:v>
                </c:pt>
                <c:pt idx="3">
                  <c:v>1</c:v>
                </c:pt>
                <c:pt idx="4">
                  <c:v>1</c:v>
                </c:pt>
              </c:numCache>
            </c:numRef>
          </c:val>
        </c:ser>
        <c:ser>
          <c:idx val="3"/>
          <c:order val="3"/>
          <c:tx>
            <c:strRef>
              <c:f>Sheet17!$F$1</c:f>
              <c:strCache>
                <c:ptCount val="1"/>
                <c:pt idx="0">
                  <c:v>Helpdesk/technical support center</c:v>
                </c:pt>
              </c:strCache>
            </c:strRef>
          </c:tx>
          <c:invertIfNegative val="0"/>
          <c:cat>
            <c:strRef>
              <c:f>Sheet17!$B$2:$B$6</c:f>
              <c:strCache>
                <c:ptCount val="5"/>
                <c:pt idx="0">
                  <c:v>Ward 1</c:v>
                </c:pt>
                <c:pt idx="1">
                  <c:v>Ward 2</c:v>
                </c:pt>
                <c:pt idx="2">
                  <c:v>Ward 3</c:v>
                </c:pt>
                <c:pt idx="3">
                  <c:v>Ward 4</c:v>
                </c:pt>
                <c:pt idx="4">
                  <c:v>Ward 5</c:v>
                </c:pt>
              </c:strCache>
            </c:strRef>
          </c:cat>
          <c:val>
            <c:numRef>
              <c:f>Sheet17!$F$2:$F$6</c:f>
              <c:numCache>
                <c:formatCode>General</c:formatCode>
                <c:ptCount val="5"/>
                <c:pt idx="0">
                  <c:v>0</c:v>
                </c:pt>
                <c:pt idx="1">
                  <c:v>1</c:v>
                </c:pt>
                <c:pt idx="2">
                  <c:v>1</c:v>
                </c:pt>
                <c:pt idx="3">
                  <c:v>0</c:v>
                </c:pt>
                <c:pt idx="4">
                  <c:v>1</c:v>
                </c:pt>
              </c:numCache>
            </c:numRef>
          </c:val>
        </c:ser>
        <c:ser>
          <c:idx val="4"/>
          <c:order val="4"/>
          <c:tx>
            <c:strRef>
              <c:f>Sheet17!$G$1</c:f>
              <c:strCache>
                <c:ptCount val="1"/>
                <c:pt idx="0">
                  <c:v>Reconstruction Coordination Committee</c:v>
                </c:pt>
              </c:strCache>
            </c:strRef>
          </c:tx>
          <c:invertIfNegative val="0"/>
          <c:cat>
            <c:strRef>
              <c:f>Sheet17!$B$2:$B$6</c:f>
              <c:strCache>
                <c:ptCount val="5"/>
                <c:pt idx="0">
                  <c:v>Ward 1</c:v>
                </c:pt>
                <c:pt idx="1">
                  <c:v>Ward 2</c:v>
                </c:pt>
                <c:pt idx="2">
                  <c:v>Ward 3</c:v>
                </c:pt>
                <c:pt idx="3">
                  <c:v>Ward 4</c:v>
                </c:pt>
                <c:pt idx="4">
                  <c:v>Ward 5</c:v>
                </c:pt>
              </c:strCache>
            </c:strRef>
          </c:cat>
          <c:val>
            <c:numRef>
              <c:f>Sheet17!$G$2:$G$6</c:f>
              <c:numCache>
                <c:formatCode>General</c:formatCode>
                <c:ptCount val="5"/>
                <c:pt idx="0">
                  <c:v>1</c:v>
                </c:pt>
                <c:pt idx="1">
                  <c:v>1</c:v>
                </c:pt>
                <c:pt idx="2">
                  <c:v>1</c:v>
                </c:pt>
                <c:pt idx="3">
                  <c:v>0</c:v>
                </c:pt>
                <c:pt idx="4">
                  <c:v>0</c:v>
                </c:pt>
              </c:numCache>
            </c:numRef>
          </c:val>
        </c:ser>
        <c:ser>
          <c:idx val="5"/>
          <c:order val="5"/>
          <c:tx>
            <c:strRef>
              <c:f>Sheet17!$H$1</c:f>
              <c:strCache>
                <c:ptCount val="1"/>
                <c:pt idx="0">
                  <c:v>Short training</c:v>
                </c:pt>
              </c:strCache>
            </c:strRef>
          </c:tx>
          <c:invertIfNegative val="0"/>
          <c:cat>
            <c:strRef>
              <c:f>Sheet17!$B$2:$B$6</c:f>
              <c:strCache>
                <c:ptCount val="5"/>
                <c:pt idx="0">
                  <c:v>Ward 1</c:v>
                </c:pt>
                <c:pt idx="1">
                  <c:v>Ward 2</c:v>
                </c:pt>
                <c:pt idx="2">
                  <c:v>Ward 3</c:v>
                </c:pt>
                <c:pt idx="3">
                  <c:v>Ward 4</c:v>
                </c:pt>
                <c:pt idx="4">
                  <c:v>Ward 5</c:v>
                </c:pt>
              </c:strCache>
            </c:strRef>
          </c:cat>
          <c:val>
            <c:numRef>
              <c:f>Sheet17!$H$2:$H$6</c:f>
              <c:numCache>
                <c:formatCode>General</c:formatCode>
                <c:ptCount val="5"/>
                <c:pt idx="0">
                  <c:v>1</c:v>
                </c:pt>
                <c:pt idx="1">
                  <c:v>1</c:v>
                </c:pt>
                <c:pt idx="2">
                  <c:v>1</c:v>
                </c:pt>
                <c:pt idx="3">
                  <c:v>1</c:v>
                </c:pt>
                <c:pt idx="4">
                  <c:v>1</c:v>
                </c:pt>
              </c:numCache>
            </c:numRef>
          </c:val>
        </c:ser>
        <c:ser>
          <c:idx val="6"/>
          <c:order val="6"/>
          <c:tx>
            <c:strRef>
              <c:f>Sheet17!$I$1</c:f>
              <c:strCache>
                <c:ptCount val="1"/>
                <c:pt idx="0">
                  <c:v>Vocational training</c:v>
                </c:pt>
              </c:strCache>
            </c:strRef>
          </c:tx>
          <c:invertIfNegative val="0"/>
          <c:cat>
            <c:strRef>
              <c:f>Sheet17!$B$2:$B$6</c:f>
              <c:strCache>
                <c:ptCount val="5"/>
                <c:pt idx="0">
                  <c:v>Ward 1</c:v>
                </c:pt>
                <c:pt idx="1">
                  <c:v>Ward 2</c:v>
                </c:pt>
                <c:pt idx="2">
                  <c:v>Ward 3</c:v>
                </c:pt>
                <c:pt idx="3">
                  <c:v>Ward 4</c:v>
                </c:pt>
                <c:pt idx="4">
                  <c:v>Ward 5</c:v>
                </c:pt>
              </c:strCache>
            </c:strRef>
          </c:cat>
          <c:val>
            <c:numRef>
              <c:f>Sheet17!$I$2:$I$6</c:f>
              <c:numCache>
                <c:formatCode>General</c:formatCode>
                <c:ptCount val="5"/>
                <c:pt idx="0">
                  <c:v>1</c:v>
                </c:pt>
                <c:pt idx="1">
                  <c:v>1</c:v>
                </c:pt>
                <c:pt idx="2">
                  <c:v>1</c:v>
                </c:pt>
                <c:pt idx="3">
                  <c:v>1</c:v>
                </c:pt>
                <c:pt idx="4">
                  <c:v>1</c:v>
                </c:pt>
              </c:numCache>
            </c:numRef>
          </c:val>
        </c:ser>
        <c:dLbls>
          <c:showLegendKey val="0"/>
          <c:showVal val="0"/>
          <c:showCatName val="0"/>
          <c:showSerName val="0"/>
          <c:showPercent val="0"/>
          <c:showBubbleSize val="0"/>
        </c:dLbls>
        <c:gapWidth val="150"/>
        <c:overlap val="100"/>
        <c:axId val="146315776"/>
        <c:axId val="143429568"/>
      </c:barChart>
      <c:catAx>
        <c:axId val="146315776"/>
        <c:scaling>
          <c:orientation val="minMax"/>
        </c:scaling>
        <c:delete val="0"/>
        <c:axPos val="b"/>
        <c:title>
          <c:tx>
            <c:rich>
              <a:bodyPr/>
              <a:lstStyle/>
              <a:p>
                <a:pPr>
                  <a:defRPr/>
                </a:pPr>
                <a:r>
                  <a:rPr lang="en-US"/>
                  <a:t>Kalika Rrural Municipality </a:t>
                </a:r>
              </a:p>
            </c:rich>
          </c:tx>
          <c:layout/>
          <c:overlay val="0"/>
        </c:title>
        <c:majorTickMark val="out"/>
        <c:minorTickMark val="none"/>
        <c:tickLblPos val="nextTo"/>
        <c:crossAx val="143429568"/>
        <c:crosses val="autoZero"/>
        <c:auto val="1"/>
        <c:lblAlgn val="ctr"/>
        <c:lblOffset val="100"/>
        <c:noMultiLvlLbl val="0"/>
      </c:catAx>
      <c:valAx>
        <c:axId val="143429568"/>
        <c:scaling>
          <c:orientation val="minMax"/>
        </c:scaling>
        <c:delete val="0"/>
        <c:axPos val="l"/>
        <c:title>
          <c:tx>
            <c:rich>
              <a:bodyPr rot="-5400000" vert="horz"/>
              <a:lstStyle/>
              <a:p>
                <a:pPr>
                  <a:defRPr/>
                </a:pPr>
                <a:r>
                  <a:rPr lang="en-US"/>
                  <a:t>Technical Assistance </a:t>
                </a:r>
              </a:p>
            </c:rich>
          </c:tx>
          <c:layout/>
          <c:overlay val="0"/>
        </c:title>
        <c:numFmt formatCode="General" sourceLinked="1"/>
        <c:majorTickMark val="out"/>
        <c:minorTickMark val="none"/>
        <c:tickLblPos val="nextTo"/>
        <c:crossAx val="146315776"/>
        <c:crosses val="autoZero"/>
        <c:crossBetween val="between"/>
      </c:valAx>
    </c:plotArea>
    <c:legend>
      <c:legendPos val="r"/>
      <c:layout>
        <c:manualLayout>
          <c:xMode val="edge"/>
          <c:yMode val="edge"/>
          <c:x val="0.64772729495769554"/>
          <c:y val="4.4244996719160108E-2"/>
          <c:w val="0.32742798454541011"/>
          <c:h val="0.84900959645669294"/>
        </c:manualLayout>
      </c:layout>
      <c:overlay val="0"/>
    </c:legend>
    <c:plotVisOnly val="1"/>
    <c:dispBlanksAs val="gap"/>
    <c:showDLblsOverMax val="0"/>
  </c:chart>
  <c:spPr>
    <a:ln>
      <a:solidFill>
        <a:sysClr val="windowText" lastClr="000000"/>
      </a:solidFill>
    </a:ln>
  </c:spPr>
  <c:txPr>
    <a:bodyPr/>
    <a:lstStyle/>
    <a:p>
      <a:pPr>
        <a:defRPr sz="1200"/>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Rasuwa:NaukundaRural Municipality:Coverage of TA </a:t>
            </a:r>
          </a:p>
        </c:rich>
      </c:tx>
      <c:layout>
        <c:manualLayout>
          <c:xMode val="edge"/>
          <c:yMode val="edge"/>
          <c:x val="4.0522875816993448E-3"/>
          <c:y val="2.7397260273972601E-2"/>
        </c:manualLayout>
      </c:layout>
      <c:overlay val="0"/>
    </c:title>
    <c:autoTitleDeleted val="0"/>
    <c:plotArea>
      <c:layout/>
      <c:barChart>
        <c:barDir val="col"/>
        <c:grouping val="stacked"/>
        <c:varyColors val="0"/>
        <c:ser>
          <c:idx val="0"/>
          <c:order val="0"/>
          <c:tx>
            <c:strRef>
              <c:f>Sheet17!$C$1</c:f>
              <c:strCache>
                <c:ptCount val="1"/>
                <c:pt idx="0">
                  <c:v>Community reconstruction orientation</c:v>
                </c:pt>
              </c:strCache>
            </c:strRef>
          </c:tx>
          <c:invertIfNegative val="0"/>
          <c:cat>
            <c:strRef>
              <c:f>Sheet17!$B$2:$B$6</c:f>
              <c:strCache>
                <c:ptCount val="5"/>
                <c:pt idx="0">
                  <c:v>Ward 1</c:v>
                </c:pt>
                <c:pt idx="1">
                  <c:v>Ward 2</c:v>
                </c:pt>
                <c:pt idx="2">
                  <c:v>Ward 3</c:v>
                </c:pt>
                <c:pt idx="3">
                  <c:v>Ward 4</c:v>
                </c:pt>
                <c:pt idx="4">
                  <c:v>Ward 5</c:v>
                </c:pt>
              </c:strCache>
            </c:strRef>
          </c:cat>
          <c:val>
            <c:numRef>
              <c:f>Sheet17!$C$2:$C$6</c:f>
              <c:numCache>
                <c:formatCode>General</c:formatCode>
                <c:ptCount val="5"/>
                <c:pt idx="0">
                  <c:v>0</c:v>
                </c:pt>
                <c:pt idx="1">
                  <c:v>1</c:v>
                </c:pt>
                <c:pt idx="2">
                  <c:v>1</c:v>
                </c:pt>
                <c:pt idx="3">
                  <c:v>0</c:v>
                </c:pt>
                <c:pt idx="4">
                  <c:v>1</c:v>
                </c:pt>
              </c:numCache>
            </c:numRef>
          </c:val>
        </c:ser>
        <c:ser>
          <c:idx val="1"/>
          <c:order val="1"/>
          <c:tx>
            <c:strRef>
              <c:f>Sheet17!$D$1</c:f>
              <c:strCache>
                <c:ptCount val="1"/>
                <c:pt idx="0">
                  <c:v>Demonstration Construction</c:v>
                </c:pt>
              </c:strCache>
            </c:strRef>
          </c:tx>
          <c:invertIfNegative val="0"/>
          <c:cat>
            <c:strRef>
              <c:f>Sheet17!$B$2:$B$6</c:f>
              <c:strCache>
                <c:ptCount val="5"/>
                <c:pt idx="0">
                  <c:v>Ward 1</c:v>
                </c:pt>
                <c:pt idx="1">
                  <c:v>Ward 2</c:v>
                </c:pt>
                <c:pt idx="2">
                  <c:v>Ward 3</c:v>
                </c:pt>
                <c:pt idx="3">
                  <c:v>Ward 4</c:v>
                </c:pt>
                <c:pt idx="4">
                  <c:v>Ward 5</c:v>
                </c:pt>
              </c:strCache>
            </c:strRef>
          </c:cat>
          <c:val>
            <c:numRef>
              <c:f>Sheet17!$D$2:$D$6</c:f>
              <c:numCache>
                <c:formatCode>General</c:formatCode>
                <c:ptCount val="5"/>
                <c:pt idx="0">
                  <c:v>1</c:v>
                </c:pt>
                <c:pt idx="1">
                  <c:v>1</c:v>
                </c:pt>
                <c:pt idx="2">
                  <c:v>0</c:v>
                </c:pt>
                <c:pt idx="3">
                  <c:v>1</c:v>
                </c:pt>
                <c:pt idx="4">
                  <c:v>1</c:v>
                </c:pt>
              </c:numCache>
            </c:numRef>
          </c:val>
        </c:ser>
        <c:ser>
          <c:idx val="2"/>
          <c:order val="2"/>
          <c:tx>
            <c:strRef>
              <c:f>Sheet17!$E$1</c:f>
              <c:strCache>
                <c:ptCount val="1"/>
                <c:pt idx="0">
                  <c:v>Door-to-door technical assistance</c:v>
                </c:pt>
              </c:strCache>
            </c:strRef>
          </c:tx>
          <c:invertIfNegative val="0"/>
          <c:cat>
            <c:strRef>
              <c:f>Sheet17!$B$2:$B$6</c:f>
              <c:strCache>
                <c:ptCount val="5"/>
                <c:pt idx="0">
                  <c:v>Ward 1</c:v>
                </c:pt>
                <c:pt idx="1">
                  <c:v>Ward 2</c:v>
                </c:pt>
                <c:pt idx="2">
                  <c:v>Ward 3</c:v>
                </c:pt>
                <c:pt idx="3">
                  <c:v>Ward 4</c:v>
                </c:pt>
                <c:pt idx="4">
                  <c:v>Ward 5</c:v>
                </c:pt>
              </c:strCache>
            </c:strRef>
          </c:cat>
          <c:val>
            <c:numRef>
              <c:f>Sheet17!$E$2:$E$6</c:f>
              <c:numCache>
                <c:formatCode>General</c:formatCode>
                <c:ptCount val="5"/>
                <c:pt idx="0">
                  <c:v>1</c:v>
                </c:pt>
                <c:pt idx="1">
                  <c:v>1</c:v>
                </c:pt>
                <c:pt idx="2">
                  <c:v>1</c:v>
                </c:pt>
                <c:pt idx="3">
                  <c:v>1</c:v>
                </c:pt>
                <c:pt idx="4">
                  <c:v>1</c:v>
                </c:pt>
              </c:numCache>
            </c:numRef>
          </c:val>
        </c:ser>
        <c:ser>
          <c:idx val="3"/>
          <c:order val="3"/>
          <c:tx>
            <c:strRef>
              <c:f>Sheet17!$F$1</c:f>
              <c:strCache>
                <c:ptCount val="1"/>
                <c:pt idx="0">
                  <c:v>Helpdesk/technical support center</c:v>
                </c:pt>
              </c:strCache>
            </c:strRef>
          </c:tx>
          <c:invertIfNegative val="0"/>
          <c:cat>
            <c:strRef>
              <c:f>Sheet17!$B$2:$B$6</c:f>
              <c:strCache>
                <c:ptCount val="5"/>
                <c:pt idx="0">
                  <c:v>Ward 1</c:v>
                </c:pt>
                <c:pt idx="1">
                  <c:v>Ward 2</c:v>
                </c:pt>
                <c:pt idx="2">
                  <c:v>Ward 3</c:v>
                </c:pt>
                <c:pt idx="3">
                  <c:v>Ward 4</c:v>
                </c:pt>
                <c:pt idx="4">
                  <c:v>Ward 5</c:v>
                </c:pt>
              </c:strCache>
            </c:strRef>
          </c:cat>
          <c:val>
            <c:numRef>
              <c:f>Sheet17!$F$2:$F$6</c:f>
              <c:numCache>
                <c:formatCode>General</c:formatCode>
                <c:ptCount val="5"/>
                <c:pt idx="0">
                  <c:v>0</c:v>
                </c:pt>
                <c:pt idx="1">
                  <c:v>1</c:v>
                </c:pt>
                <c:pt idx="2">
                  <c:v>1</c:v>
                </c:pt>
                <c:pt idx="3">
                  <c:v>0</c:v>
                </c:pt>
                <c:pt idx="4">
                  <c:v>1</c:v>
                </c:pt>
              </c:numCache>
            </c:numRef>
          </c:val>
        </c:ser>
        <c:ser>
          <c:idx val="4"/>
          <c:order val="4"/>
          <c:tx>
            <c:strRef>
              <c:f>Sheet17!$G$1</c:f>
              <c:strCache>
                <c:ptCount val="1"/>
                <c:pt idx="0">
                  <c:v>Reconstruction Coordination Committee</c:v>
                </c:pt>
              </c:strCache>
            </c:strRef>
          </c:tx>
          <c:invertIfNegative val="0"/>
          <c:cat>
            <c:strRef>
              <c:f>Sheet17!$B$2:$B$6</c:f>
              <c:strCache>
                <c:ptCount val="5"/>
                <c:pt idx="0">
                  <c:v>Ward 1</c:v>
                </c:pt>
                <c:pt idx="1">
                  <c:v>Ward 2</c:v>
                </c:pt>
                <c:pt idx="2">
                  <c:v>Ward 3</c:v>
                </c:pt>
                <c:pt idx="3">
                  <c:v>Ward 4</c:v>
                </c:pt>
                <c:pt idx="4">
                  <c:v>Ward 5</c:v>
                </c:pt>
              </c:strCache>
            </c:strRef>
          </c:cat>
          <c:val>
            <c:numRef>
              <c:f>Sheet17!$G$2:$G$6</c:f>
              <c:numCache>
                <c:formatCode>General</c:formatCode>
                <c:ptCount val="5"/>
                <c:pt idx="0">
                  <c:v>1</c:v>
                </c:pt>
                <c:pt idx="1">
                  <c:v>1</c:v>
                </c:pt>
                <c:pt idx="2">
                  <c:v>1</c:v>
                </c:pt>
                <c:pt idx="3">
                  <c:v>0</c:v>
                </c:pt>
                <c:pt idx="4">
                  <c:v>0</c:v>
                </c:pt>
              </c:numCache>
            </c:numRef>
          </c:val>
        </c:ser>
        <c:ser>
          <c:idx val="5"/>
          <c:order val="5"/>
          <c:tx>
            <c:strRef>
              <c:f>Sheet17!$H$1</c:f>
              <c:strCache>
                <c:ptCount val="1"/>
                <c:pt idx="0">
                  <c:v>Short training</c:v>
                </c:pt>
              </c:strCache>
            </c:strRef>
          </c:tx>
          <c:invertIfNegative val="0"/>
          <c:cat>
            <c:strRef>
              <c:f>Sheet17!$B$2:$B$6</c:f>
              <c:strCache>
                <c:ptCount val="5"/>
                <c:pt idx="0">
                  <c:v>Ward 1</c:v>
                </c:pt>
                <c:pt idx="1">
                  <c:v>Ward 2</c:v>
                </c:pt>
                <c:pt idx="2">
                  <c:v>Ward 3</c:v>
                </c:pt>
                <c:pt idx="3">
                  <c:v>Ward 4</c:v>
                </c:pt>
                <c:pt idx="4">
                  <c:v>Ward 5</c:v>
                </c:pt>
              </c:strCache>
            </c:strRef>
          </c:cat>
          <c:val>
            <c:numRef>
              <c:f>Sheet17!$H$2:$H$6</c:f>
              <c:numCache>
                <c:formatCode>General</c:formatCode>
                <c:ptCount val="5"/>
                <c:pt idx="0">
                  <c:v>1</c:v>
                </c:pt>
                <c:pt idx="1">
                  <c:v>1</c:v>
                </c:pt>
                <c:pt idx="2">
                  <c:v>1</c:v>
                </c:pt>
                <c:pt idx="3">
                  <c:v>1</c:v>
                </c:pt>
                <c:pt idx="4">
                  <c:v>1</c:v>
                </c:pt>
              </c:numCache>
            </c:numRef>
          </c:val>
        </c:ser>
        <c:ser>
          <c:idx val="6"/>
          <c:order val="6"/>
          <c:tx>
            <c:strRef>
              <c:f>Sheet17!$I$1</c:f>
              <c:strCache>
                <c:ptCount val="1"/>
                <c:pt idx="0">
                  <c:v>Vocational training</c:v>
                </c:pt>
              </c:strCache>
            </c:strRef>
          </c:tx>
          <c:invertIfNegative val="0"/>
          <c:cat>
            <c:strRef>
              <c:f>Sheet17!$B$2:$B$6</c:f>
              <c:strCache>
                <c:ptCount val="5"/>
                <c:pt idx="0">
                  <c:v>Ward 1</c:v>
                </c:pt>
                <c:pt idx="1">
                  <c:v>Ward 2</c:v>
                </c:pt>
                <c:pt idx="2">
                  <c:v>Ward 3</c:v>
                </c:pt>
                <c:pt idx="3">
                  <c:v>Ward 4</c:v>
                </c:pt>
                <c:pt idx="4">
                  <c:v>Ward 5</c:v>
                </c:pt>
              </c:strCache>
            </c:strRef>
          </c:cat>
          <c:val>
            <c:numRef>
              <c:f>Sheet17!$I$2:$I$6</c:f>
              <c:numCache>
                <c:formatCode>General</c:formatCode>
                <c:ptCount val="5"/>
                <c:pt idx="0">
                  <c:v>1</c:v>
                </c:pt>
                <c:pt idx="1">
                  <c:v>1</c:v>
                </c:pt>
                <c:pt idx="2">
                  <c:v>1</c:v>
                </c:pt>
                <c:pt idx="3">
                  <c:v>1</c:v>
                </c:pt>
                <c:pt idx="4">
                  <c:v>1</c:v>
                </c:pt>
              </c:numCache>
            </c:numRef>
          </c:val>
        </c:ser>
        <c:dLbls>
          <c:showLegendKey val="0"/>
          <c:showVal val="0"/>
          <c:showCatName val="0"/>
          <c:showSerName val="0"/>
          <c:showPercent val="0"/>
          <c:showBubbleSize val="0"/>
        </c:dLbls>
        <c:gapWidth val="150"/>
        <c:overlap val="100"/>
        <c:axId val="146508288"/>
        <c:axId val="48742976"/>
      </c:barChart>
      <c:catAx>
        <c:axId val="146508288"/>
        <c:scaling>
          <c:orientation val="minMax"/>
        </c:scaling>
        <c:delete val="0"/>
        <c:axPos val="b"/>
        <c:title>
          <c:tx>
            <c:rich>
              <a:bodyPr/>
              <a:lstStyle/>
              <a:p>
                <a:pPr>
                  <a:defRPr/>
                </a:pPr>
                <a:r>
                  <a:rPr lang="en-US"/>
                  <a:t>Naukunda Rrural Municipality </a:t>
                </a:r>
              </a:p>
            </c:rich>
          </c:tx>
          <c:layout>
            <c:manualLayout>
              <c:xMode val="edge"/>
              <c:yMode val="edge"/>
              <c:x val="2.115682867605307E-2"/>
              <c:y val="0.94716222729958854"/>
            </c:manualLayout>
          </c:layout>
          <c:overlay val="0"/>
        </c:title>
        <c:majorTickMark val="out"/>
        <c:minorTickMark val="none"/>
        <c:tickLblPos val="nextTo"/>
        <c:crossAx val="48742976"/>
        <c:crosses val="autoZero"/>
        <c:auto val="1"/>
        <c:lblAlgn val="ctr"/>
        <c:lblOffset val="100"/>
        <c:noMultiLvlLbl val="0"/>
      </c:catAx>
      <c:valAx>
        <c:axId val="48742976"/>
        <c:scaling>
          <c:orientation val="minMax"/>
        </c:scaling>
        <c:delete val="0"/>
        <c:axPos val="l"/>
        <c:title>
          <c:tx>
            <c:rich>
              <a:bodyPr rot="-5400000" vert="horz"/>
              <a:lstStyle/>
              <a:p>
                <a:pPr>
                  <a:defRPr/>
                </a:pPr>
                <a:r>
                  <a:rPr lang="en-US"/>
                  <a:t>Technical Assistance </a:t>
                </a:r>
              </a:p>
            </c:rich>
          </c:tx>
          <c:layout/>
          <c:overlay val="0"/>
        </c:title>
        <c:numFmt formatCode="General" sourceLinked="1"/>
        <c:majorTickMark val="out"/>
        <c:minorTickMark val="none"/>
        <c:tickLblPos val="nextTo"/>
        <c:crossAx val="146508288"/>
        <c:crosses val="autoZero"/>
        <c:crossBetween val="between"/>
      </c:valAx>
    </c:plotArea>
    <c:legend>
      <c:legendPos val="r"/>
      <c:layout>
        <c:manualLayout>
          <c:xMode val="edge"/>
          <c:yMode val="edge"/>
          <c:x val="0.6315694851869007"/>
          <c:y val="0.12786538668967748"/>
          <c:w val="0.34228672396342613"/>
          <c:h val="0.83559342753388699"/>
        </c:manualLayout>
      </c:layout>
      <c:overlay val="0"/>
    </c:legend>
    <c:plotVisOnly val="1"/>
    <c:dispBlanksAs val="gap"/>
    <c:showDLblsOverMax val="0"/>
  </c:chart>
  <c:spPr>
    <a:ln>
      <a:solidFill>
        <a:sysClr val="windowText" lastClr="000000">
          <a:lumMod val="95000"/>
          <a:lumOff val="5000"/>
        </a:sysClr>
      </a:solidFill>
    </a:ln>
  </c:spPr>
  <c:txPr>
    <a:bodyPr/>
    <a:lstStyle/>
    <a:p>
      <a:pPr>
        <a:defRPr sz="1200"/>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Rasuwa:Parbatikunda rural Municioality : Coverage of TA </a:t>
            </a:r>
          </a:p>
        </c:rich>
      </c:tx>
      <c:layout>
        <c:manualLayout>
          <c:xMode val="edge"/>
          <c:yMode val="edge"/>
          <c:x val="2.4682611724472791E-2"/>
          <c:y val="2.2909507445589918E-2"/>
        </c:manualLayout>
      </c:layout>
      <c:overlay val="0"/>
    </c:title>
    <c:autoTitleDeleted val="0"/>
    <c:plotArea>
      <c:layout/>
      <c:barChart>
        <c:barDir val="col"/>
        <c:grouping val="stacked"/>
        <c:varyColors val="0"/>
        <c:ser>
          <c:idx val="0"/>
          <c:order val="0"/>
          <c:tx>
            <c:strRef>
              <c:f>Sheet17!$C$1</c:f>
              <c:strCache>
                <c:ptCount val="1"/>
                <c:pt idx="0">
                  <c:v>Community reconstruction orientation</c:v>
                </c:pt>
              </c:strCache>
            </c:strRef>
          </c:tx>
          <c:invertIfNegative val="0"/>
          <c:cat>
            <c:strRef>
              <c:f>Sheet17!$B$2:$B$6</c:f>
              <c:strCache>
                <c:ptCount val="5"/>
                <c:pt idx="0">
                  <c:v>Ward 1</c:v>
                </c:pt>
                <c:pt idx="1">
                  <c:v>Ward 2</c:v>
                </c:pt>
                <c:pt idx="2">
                  <c:v>Ward 3</c:v>
                </c:pt>
                <c:pt idx="3">
                  <c:v>Ward 4</c:v>
                </c:pt>
                <c:pt idx="4">
                  <c:v>Ward 5</c:v>
                </c:pt>
              </c:strCache>
            </c:strRef>
          </c:cat>
          <c:val>
            <c:numRef>
              <c:f>Sheet17!$C$2:$C$6</c:f>
              <c:numCache>
                <c:formatCode>General</c:formatCode>
                <c:ptCount val="5"/>
                <c:pt idx="0">
                  <c:v>0</c:v>
                </c:pt>
                <c:pt idx="1">
                  <c:v>1</c:v>
                </c:pt>
                <c:pt idx="2">
                  <c:v>1</c:v>
                </c:pt>
                <c:pt idx="3">
                  <c:v>0</c:v>
                </c:pt>
                <c:pt idx="4">
                  <c:v>1</c:v>
                </c:pt>
              </c:numCache>
            </c:numRef>
          </c:val>
        </c:ser>
        <c:ser>
          <c:idx val="1"/>
          <c:order val="1"/>
          <c:tx>
            <c:strRef>
              <c:f>Sheet17!$D$1</c:f>
              <c:strCache>
                <c:ptCount val="1"/>
                <c:pt idx="0">
                  <c:v>Demonstration Construction</c:v>
                </c:pt>
              </c:strCache>
            </c:strRef>
          </c:tx>
          <c:invertIfNegative val="0"/>
          <c:cat>
            <c:strRef>
              <c:f>Sheet17!$B$2:$B$6</c:f>
              <c:strCache>
                <c:ptCount val="5"/>
                <c:pt idx="0">
                  <c:v>Ward 1</c:v>
                </c:pt>
                <c:pt idx="1">
                  <c:v>Ward 2</c:v>
                </c:pt>
                <c:pt idx="2">
                  <c:v>Ward 3</c:v>
                </c:pt>
                <c:pt idx="3">
                  <c:v>Ward 4</c:v>
                </c:pt>
                <c:pt idx="4">
                  <c:v>Ward 5</c:v>
                </c:pt>
              </c:strCache>
            </c:strRef>
          </c:cat>
          <c:val>
            <c:numRef>
              <c:f>Sheet17!$D$2:$D$6</c:f>
              <c:numCache>
                <c:formatCode>General</c:formatCode>
                <c:ptCount val="5"/>
                <c:pt idx="0">
                  <c:v>1</c:v>
                </c:pt>
                <c:pt idx="1">
                  <c:v>1</c:v>
                </c:pt>
                <c:pt idx="2">
                  <c:v>0</c:v>
                </c:pt>
                <c:pt idx="3">
                  <c:v>1</c:v>
                </c:pt>
                <c:pt idx="4">
                  <c:v>1</c:v>
                </c:pt>
              </c:numCache>
            </c:numRef>
          </c:val>
        </c:ser>
        <c:ser>
          <c:idx val="2"/>
          <c:order val="2"/>
          <c:tx>
            <c:strRef>
              <c:f>Sheet17!$E$1</c:f>
              <c:strCache>
                <c:ptCount val="1"/>
                <c:pt idx="0">
                  <c:v>Door-to-door technical assistance</c:v>
                </c:pt>
              </c:strCache>
            </c:strRef>
          </c:tx>
          <c:invertIfNegative val="0"/>
          <c:cat>
            <c:strRef>
              <c:f>Sheet17!$B$2:$B$6</c:f>
              <c:strCache>
                <c:ptCount val="5"/>
                <c:pt idx="0">
                  <c:v>Ward 1</c:v>
                </c:pt>
                <c:pt idx="1">
                  <c:v>Ward 2</c:v>
                </c:pt>
                <c:pt idx="2">
                  <c:v>Ward 3</c:v>
                </c:pt>
                <c:pt idx="3">
                  <c:v>Ward 4</c:v>
                </c:pt>
                <c:pt idx="4">
                  <c:v>Ward 5</c:v>
                </c:pt>
              </c:strCache>
            </c:strRef>
          </c:cat>
          <c:val>
            <c:numRef>
              <c:f>Sheet17!$E$2:$E$6</c:f>
              <c:numCache>
                <c:formatCode>General</c:formatCode>
                <c:ptCount val="5"/>
                <c:pt idx="0">
                  <c:v>1</c:v>
                </c:pt>
                <c:pt idx="1">
                  <c:v>1</c:v>
                </c:pt>
                <c:pt idx="2">
                  <c:v>1</c:v>
                </c:pt>
                <c:pt idx="3">
                  <c:v>1</c:v>
                </c:pt>
                <c:pt idx="4">
                  <c:v>1</c:v>
                </c:pt>
              </c:numCache>
            </c:numRef>
          </c:val>
        </c:ser>
        <c:ser>
          <c:idx val="3"/>
          <c:order val="3"/>
          <c:tx>
            <c:strRef>
              <c:f>Sheet17!$F$1</c:f>
              <c:strCache>
                <c:ptCount val="1"/>
                <c:pt idx="0">
                  <c:v>Helpdesk/technical support center</c:v>
                </c:pt>
              </c:strCache>
            </c:strRef>
          </c:tx>
          <c:invertIfNegative val="0"/>
          <c:cat>
            <c:strRef>
              <c:f>Sheet17!$B$2:$B$6</c:f>
              <c:strCache>
                <c:ptCount val="5"/>
                <c:pt idx="0">
                  <c:v>Ward 1</c:v>
                </c:pt>
                <c:pt idx="1">
                  <c:v>Ward 2</c:v>
                </c:pt>
                <c:pt idx="2">
                  <c:v>Ward 3</c:v>
                </c:pt>
                <c:pt idx="3">
                  <c:v>Ward 4</c:v>
                </c:pt>
                <c:pt idx="4">
                  <c:v>Ward 5</c:v>
                </c:pt>
              </c:strCache>
            </c:strRef>
          </c:cat>
          <c:val>
            <c:numRef>
              <c:f>Sheet17!$F$2:$F$6</c:f>
              <c:numCache>
                <c:formatCode>General</c:formatCode>
                <c:ptCount val="5"/>
                <c:pt idx="0">
                  <c:v>0</c:v>
                </c:pt>
                <c:pt idx="1">
                  <c:v>1</c:v>
                </c:pt>
                <c:pt idx="2">
                  <c:v>1</c:v>
                </c:pt>
                <c:pt idx="3">
                  <c:v>0</c:v>
                </c:pt>
                <c:pt idx="4">
                  <c:v>1</c:v>
                </c:pt>
              </c:numCache>
            </c:numRef>
          </c:val>
        </c:ser>
        <c:ser>
          <c:idx val="4"/>
          <c:order val="4"/>
          <c:tx>
            <c:strRef>
              <c:f>Sheet17!$G$1</c:f>
              <c:strCache>
                <c:ptCount val="1"/>
                <c:pt idx="0">
                  <c:v>Reconstruction Coordination Committee</c:v>
                </c:pt>
              </c:strCache>
            </c:strRef>
          </c:tx>
          <c:invertIfNegative val="0"/>
          <c:cat>
            <c:strRef>
              <c:f>Sheet17!$B$2:$B$6</c:f>
              <c:strCache>
                <c:ptCount val="5"/>
                <c:pt idx="0">
                  <c:v>Ward 1</c:v>
                </c:pt>
                <c:pt idx="1">
                  <c:v>Ward 2</c:v>
                </c:pt>
                <c:pt idx="2">
                  <c:v>Ward 3</c:v>
                </c:pt>
                <c:pt idx="3">
                  <c:v>Ward 4</c:v>
                </c:pt>
                <c:pt idx="4">
                  <c:v>Ward 5</c:v>
                </c:pt>
              </c:strCache>
            </c:strRef>
          </c:cat>
          <c:val>
            <c:numRef>
              <c:f>Sheet17!$G$2:$G$6</c:f>
              <c:numCache>
                <c:formatCode>General</c:formatCode>
                <c:ptCount val="5"/>
                <c:pt idx="0">
                  <c:v>1</c:v>
                </c:pt>
                <c:pt idx="1">
                  <c:v>1</c:v>
                </c:pt>
                <c:pt idx="2">
                  <c:v>1</c:v>
                </c:pt>
                <c:pt idx="3">
                  <c:v>0</c:v>
                </c:pt>
                <c:pt idx="4">
                  <c:v>0</c:v>
                </c:pt>
              </c:numCache>
            </c:numRef>
          </c:val>
        </c:ser>
        <c:ser>
          <c:idx val="5"/>
          <c:order val="5"/>
          <c:tx>
            <c:strRef>
              <c:f>Sheet17!$H$1</c:f>
              <c:strCache>
                <c:ptCount val="1"/>
                <c:pt idx="0">
                  <c:v>Short training</c:v>
                </c:pt>
              </c:strCache>
            </c:strRef>
          </c:tx>
          <c:invertIfNegative val="0"/>
          <c:cat>
            <c:strRef>
              <c:f>Sheet17!$B$2:$B$6</c:f>
              <c:strCache>
                <c:ptCount val="5"/>
                <c:pt idx="0">
                  <c:v>Ward 1</c:v>
                </c:pt>
                <c:pt idx="1">
                  <c:v>Ward 2</c:v>
                </c:pt>
                <c:pt idx="2">
                  <c:v>Ward 3</c:v>
                </c:pt>
                <c:pt idx="3">
                  <c:v>Ward 4</c:v>
                </c:pt>
                <c:pt idx="4">
                  <c:v>Ward 5</c:v>
                </c:pt>
              </c:strCache>
            </c:strRef>
          </c:cat>
          <c:val>
            <c:numRef>
              <c:f>Sheet17!$H$2:$H$6</c:f>
              <c:numCache>
                <c:formatCode>General</c:formatCode>
                <c:ptCount val="5"/>
                <c:pt idx="0">
                  <c:v>1</c:v>
                </c:pt>
                <c:pt idx="1">
                  <c:v>1</c:v>
                </c:pt>
                <c:pt idx="2">
                  <c:v>1</c:v>
                </c:pt>
                <c:pt idx="3">
                  <c:v>1</c:v>
                </c:pt>
                <c:pt idx="4">
                  <c:v>1</c:v>
                </c:pt>
              </c:numCache>
            </c:numRef>
          </c:val>
        </c:ser>
        <c:ser>
          <c:idx val="6"/>
          <c:order val="6"/>
          <c:tx>
            <c:strRef>
              <c:f>Sheet17!$I$1</c:f>
              <c:strCache>
                <c:ptCount val="1"/>
                <c:pt idx="0">
                  <c:v>Vocational training</c:v>
                </c:pt>
              </c:strCache>
            </c:strRef>
          </c:tx>
          <c:invertIfNegative val="0"/>
          <c:cat>
            <c:strRef>
              <c:f>Sheet17!$B$2:$B$6</c:f>
              <c:strCache>
                <c:ptCount val="5"/>
                <c:pt idx="0">
                  <c:v>Ward 1</c:v>
                </c:pt>
                <c:pt idx="1">
                  <c:v>Ward 2</c:v>
                </c:pt>
                <c:pt idx="2">
                  <c:v>Ward 3</c:v>
                </c:pt>
                <c:pt idx="3">
                  <c:v>Ward 4</c:v>
                </c:pt>
                <c:pt idx="4">
                  <c:v>Ward 5</c:v>
                </c:pt>
              </c:strCache>
            </c:strRef>
          </c:cat>
          <c:val>
            <c:numRef>
              <c:f>Sheet17!$I$2:$I$6</c:f>
              <c:numCache>
                <c:formatCode>General</c:formatCode>
                <c:ptCount val="5"/>
                <c:pt idx="0">
                  <c:v>1</c:v>
                </c:pt>
                <c:pt idx="1">
                  <c:v>1</c:v>
                </c:pt>
                <c:pt idx="2">
                  <c:v>1</c:v>
                </c:pt>
                <c:pt idx="3">
                  <c:v>1</c:v>
                </c:pt>
                <c:pt idx="4">
                  <c:v>1</c:v>
                </c:pt>
              </c:numCache>
            </c:numRef>
          </c:val>
        </c:ser>
        <c:dLbls>
          <c:showLegendKey val="0"/>
          <c:showVal val="0"/>
          <c:showCatName val="0"/>
          <c:showSerName val="0"/>
          <c:showPercent val="0"/>
          <c:showBubbleSize val="0"/>
        </c:dLbls>
        <c:gapWidth val="150"/>
        <c:overlap val="100"/>
        <c:axId val="146155008"/>
        <c:axId val="48744704"/>
      </c:barChart>
      <c:catAx>
        <c:axId val="146155008"/>
        <c:scaling>
          <c:orientation val="minMax"/>
        </c:scaling>
        <c:delete val="0"/>
        <c:axPos val="b"/>
        <c:title>
          <c:tx>
            <c:rich>
              <a:bodyPr/>
              <a:lstStyle/>
              <a:p>
                <a:pPr>
                  <a:defRPr/>
                </a:pPr>
                <a:r>
                  <a:rPr lang="en-US"/>
                  <a:t>Parbati Kunda Rrural Municipality </a:t>
                </a:r>
              </a:p>
            </c:rich>
          </c:tx>
          <c:layout>
            <c:manualLayout>
              <c:xMode val="edge"/>
              <c:yMode val="edge"/>
              <c:x val="4.7075245287487397E-2"/>
              <c:y val="0.93238213956468319"/>
            </c:manualLayout>
          </c:layout>
          <c:overlay val="0"/>
        </c:title>
        <c:majorTickMark val="out"/>
        <c:minorTickMark val="none"/>
        <c:tickLblPos val="nextTo"/>
        <c:crossAx val="48744704"/>
        <c:crosses val="autoZero"/>
        <c:auto val="1"/>
        <c:lblAlgn val="ctr"/>
        <c:lblOffset val="100"/>
        <c:noMultiLvlLbl val="0"/>
      </c:catAx>
      <c:valAx>
        <c:axId val="48744704"/>
        <c:scaling>
          <c:orientation val="minMax"/>
        </c:scaling>
        <c:delete val="0"/>
        <c:axPos val="l"/>
        <c:title>
          <c:tx>
            <c:rich>
              <a:bodyPr rot="-5400000" vert="horz"/>
              <a:lstStyle/>
              <a:p>
                <a:pPr>
                  <a:defRPr/>
                </a:pPr>
                <a:r>
                  <a:rPr lang="en-US"/>
                  <a:t>Technical Assistance </a:t>
                </a:r>
              </a:p>
            </c:rich>
          </c:tx>
          <c:layout/>
          <c:overlay val="0"/>
        </c:title>
        <c:numFmt formatCode="General" sourceLinked="1"/>
        <c:majorTickMark val="out"/>
        <c:minorTickMark val="none"/>
        <c:tickLblPos val="nextTo"/>
        <c:crossAx val="146155008"/>
        <c:crosses val="autoZero"/>
        <c:crossBetween val="between"/>
      </c:valAx>
    </c:plotArea>
    <c:legend>
      <c:legendPos val="r"/>
      <c:layout>
        <c:manualLayout>
          <c:xMode val="edge"/>
          <c:yMode val="edge"/>
          <c:x val="0.63707303343114285"/>
          <c:y val="9.6231836999756473E-2"/>
          <c:w val="0.34147924538923252"/>
          <c:h val="0.87977018336625445"/>
        </c:manualLayout>
      </c:layout>
      <c:overlay val="0"/>
    </c:legend>
    <c:plotVisOnly val="1"/>
    <c:dispBlanksAs val="gap"/>
    <c:showDLblsOverMax val="0"/>
  </c:chart>
  <c:spPr>
    <a:ln>
      <a:solidFill>
        <a:sysClr val="windowText" lastClr="000000">
          <a:lumMod val="95000"/>
          <a:lumOff val="5000"/>
        </a:sysClr>
      </a:solidFill>
    </a:ln>
  </c:spPr>
  <c:txPr>
    <a:bodyPr/>
    <a:lstStyle/>
    <a:p>
      <a:pPr>
        <a:defRPr sz="1200"/>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Rasuwa:Uttargaya Rural Municipality:Coverage of TA </a:t>
            </a:r>
          </a:p>
        </c:rich>
      </c:tx>
      <c:layout/>
      <c:overlay val="0"/>
    </c:title>
    <c:autoTitleDeleted val="0"/>
    <c:plotArea>
      <c:layout/>
      <c:barChart>
        <c:barDir val="col"/>
        <c:grouping val="stacked"/>
        <c:varyColors val="0"/>
        <c:ser>
          <c:idx val="0"/>
          <c:order val="0"/>
          <c:tx>
            <c:strRef>
              <c:f>Sheet17!$C$1</c:f>
              <c:strCache>
                <c:ptCount val="1"/>
                <c:pt idx="0">
                  <c:v>Community reconstruction orientation</c:v>
                </c:pt>
              </c:strCache>
            </c:strRef>
          </c:tx>
          <c:invertIfNegative val="0"/>
          <c:cat>
            <c:strRef>
              <c:f>Sheet17!$B$2:$B$6</c:f>
              <c:strCache>
                <c:ptCount val="5"/>
                <c:pt idx="0">
                  <c:v>Ward 1</c:v>
                </c:pt>
                <c:pt idx="1">
                  <c:v>Ward 2</c:v>
                </c:pt>
                <c:pt idx="2">
                  <c:v>Ward 3</c:v>
                </c:pt>
                <c:pt idx="3">
                  <c:v>Ward 4</c:v>
                </c:pt>
                <c:pt idx="4">
                  <c:v>Ward 5</c:v>
                </c:pt>
              </c:strCache>
            </c:strRef>
          </c:cat>
          <c:val>
            <c:numRef>
              <c:f>Sheet17!$C$2:$C$6</c:f>
              <c:numCache>
                <c:formatCode>General</c:formatCode>
                <c:ptCount val="5"/>
                <c:pt idx="0">
                  <c:v>0</c:v>
                </c:pt>
                <c:pt idx="1">
                  <c:v>1</c:v>
                </c:pt>
                <c:pt idx="2">
                  <c:v>1</c:v>
                </c:pt>
                <c:pt idx="3">
                  <c:v>0</c:v>
                </c:pt>
                <c:pt idx="4">
                  <c:v>1</c:v>
                </c:pt>
              </c:numCache>
            </c:numRef>
          </c:val>
        </c:ser>
        <c:ser>
          <c:idx val="1"/>
          <c:order val="1"/>
          <c:tx>
            <c:strRef>
              <c:f>Sheet17!$D$1</c:f>
              <c:strCache>
                <c:ptCount val="1"/>
                <c:pt idx="0">
                  <c:v>Demonstration Construction</c:v>
                </c:pt>
              </c:strCache>
            </c:strRef>
          </c:tx>
          <c:invertIfNegative val="0"/>
          <c:cat>
            <c:strRef>
              <c:f>Sheet17!$B$2:$B$6</c:f>
              <c:strCache>
                <c:ptCount val="5"/>
                <c:pt idx="0">
                  <c:v>Ward 1</c:v>
                </c:pt>
                <c:pt idx="1">
                  <c:v>Ward 2</c:v>
                </c:pt>
                <c:pt idx="2">
                  <c:v>Ward 3</c:v>
                </c:pt>
                <c:pt idx="3">
                  <c:v>Ward 4</c:v>
                </c:pt>
                <c:pt idx="4">
                  <c:v>Ward 5</c:v>
                </c:pt>
              </c:strCache>
            </c:strRef>
          </c:cat>
          <c:val>
            <c:numRef>
              <c:f>Sheet17!$D$2:$D$6</c:f>
              <c:numCache>
                <c:formatCode>General</c:formatCode>
                <c:ptCount val="5"/>
                <c:pt idx="0">
                  <c:v>1</c:v>
                </c:pt>
                <c:pt idx="1">
                  <c:v>1</c:v>
                </c:pt>
                <c:pt idx="2">
                  <c:v>0</c:v>
                </c:pt>
                <c:pt idx="3">
                  <c:v>1</c:v>
                </c:pt>
                <c:pt idx="4">
                  <c:v>1</c:v>
                </c:pt>
              </c:numCache>
            </c:numRef>
          </c:val>
        </c:ser>
        <c:ser>
          <c:idx val="2"/>
          <c:order val="2"/>
          <c:tx>
            <c:strRef>
              <c:f>Sheet17!$E$1</c:f>
              <c:strCache>
                <c:ptCount val="1"/>
                <c:pt idx="0">
                  <c:v>Door-to-door technical assistance</c:v>
                </c:pt>
              </c:strCache>
            </c:strRef>
          </c:tx>
          <c:invertIfNegative val="0"/>
          <c:cat>
            <c:strRef>
              <c:f>Sheet17!$B$2:$B$6</c:f>
              <c:strCache>
                <c:ptCount val="5"/>
                <c:pt idx="0">
                  <c:v>Ward 1</c:v>
                </c:pt>
                <c:pt idx="1">
                  <c:v>Ward 2</c:v>
                </c:pt>
                <c:pt idx="2">
                  <c:v>Ward 3</c:v>
                </c:pt>
                <c:pt idx="3">
                  <c:v>Ward 4</c:v>
                </c:pt>
                <c:pt idx="4">
                  <c:v>Ward 5</c:v>
                </c:pt>
              </c:strCache>
            </c:strRef>
          </c:cat>
          <c:val>
            <c:numRef>
              <c:f>Sheet17!$E$2:$E$6</c:f>
              <c:numCache>
                <c:formatCode>General</c:formatCode>
                <c:ptCount val="5"/>
                <c:pt idx="0">
                  <c:v>1</c:v>
                </c:pt>
                <c:pt idx="1">
                  <c:v>1</c:v>
                </c:pt>
                <c:pt idx="2">
                  <c:v>1</c:v>
                </c:pt>
                <c:pt idx="3">
                  <c:v>1</c:v>
                </c:pt>
                <c:pt idx="4">
                  <c:v>1</c:v>
                </c:pt>
              </c:numCache>
            </c:numRef>
          </c:val>
        </c:ser>
        <c:ser>
          <c:idx val="3"/>
          <c:order val="3"/>
          <c:tx>
            <c:strRef>
              <c:f>Sheet17!$F$1</c:f>
              <c:strCache>
                <c:ptCount val="1"/>
                <c:pt idx="0">
                  <c:v>Helpdesk/technical support center</c:v>
                </c:pt>
              </c:strCache>
            </c:strRef>
          </c:tx>
          <c:invertIfNegative val="0"/>
          <c:cat>
            <c:strRef>
              <c:f>Sheet17!$B$2:$B$6</c:f>
              <c:strCache>
                <c:ptCount val="5"/>
                <c:pt idx="0">
                  <c:v>Ward 1</c:v>
                </c:pt>
                <c:pt idx="1">
                  <c:v>Ward 2</c:v>
                </c:pt>
                <c:pt idx="2">
                  <c:v>Ward 3</c:v>
                </c:pt>
                <c:pt idx="3">
                  <c:v>Ward 4</c:v>
                </c:pt>
                <c:pt idx="4">
                  <c:v>Ward 5</c:v>
                </c:pt>
              </c:strCache>
            </c:strRef>
          </c:cat>
          <c:val>
            <c:numRef>
              <c:f>Sheet17!$F$2:$F$6</c:f>
              <c:numCache>
                <c:formatCode>General</c:formatCode>
                <c:ptCount val="5"/>
                <c:pt idx="0">
                  <c:v>0</c:v>
                </c:pt>
                <c:pt idx="1">
                  <c:v>1</c:v>
                </c:pt>
                <c:pt idx="2">
                  <c:v>1</c:v>
                </c:pt>
                <c:pt idx="3">
                  <c:v>0</c:v>
                </c:pt>
                <c:pt idx="4">
                  <c:v>1</c:v>
                </c:pt>
              </c:numCache>
            </c:numRef>
          </c:val>
        </c:ser>
        <c:ser>
          <c:idx val="4"/>
          <c:order val="4"/>
          <c:tx>
            <c:strRef>
              <c:f>Sheet17!$G$1</c:f>
              <c:strCache>
                <c:ptCount val="1"/>
                <c:pt idx="0">
                  <c:v>Reconstruction Coordination Committee</c:v>
                </c:pt>
              </c:strCache>
            </c:strRef>
          </c:tx>
          <c:invertIfNegative val="0"/>
          <c:cat>
            <c:strRef>
              <c:f>Sheet17!$B$2:$B$6</c:f>
              <c:strCache>
                <c:ptCount val="5"/>
                <c:pt idx="0">
                  <c:v>Ward 1</c:v>
                </c:pt>
                <c:pt idx="1">
                  <c:v>Ward 2</c:v>
                </c:pt>
                <c:pt idx="2">
                  <c:v>Ward 3</c:v>
                </c:pt>
                <c:pt idx="3">
                  <c:v>Ward 4</c:v>
                </c:pt>
                <c:pt idx="4">
                  <c:v>Ward 5</c:v>
                </c:pt>
              </c:strCache>
            </c:strRef>
          </c:cat>
          <c:val>
            <c:numRef>
              <c:f>Sheet17!$G$2:$G$6</c:f>
              <c:numCache>
                <c:formatCode>General</c:formatCode>
                <c:ptCount val="5"/>
                <c:pt idx="0">
                  <c:v>1</c:v>
                </c:pt>
                <c:pt idx="1">
                  <c:v>1</c:v>
                </c:pt>
                <c:pt idx="2">
                  <c:v>1</c:v>
                </c:pt>
                <c:pt idx="3">
                  <c:v>0</c:v>
                </c:pt>
                <c:pt idx="4">
                  <c:v>0</c:v>
                </c:pt>
              </c:numCache>
            </c:numRef>
          </c:val>
        </c:ser>
        <c:ser>
          <c:idx val="5"/>
          <c:order val="5"/>
          <c:tx>
            <c:strRef>
              <c:f>Sheet17!$H$1</c:f>
              <c:strCache>
                <c:ptCount val="1"/>
                <c:pt idx="0">
                  <c:v>Short training</c:v>
                </c:pt>
              </c:strCache>
            </c:strRef>
          </c:tx>
          <c:invertIfNegative val="0"/>
          <c:cat>
            <c:strRef>
              <c:f>Sheet17!$B$2:$B$6</c:f>
              <c:strCache>
                <c:ptCount val="5"/>
                <c:pt idx="0">
                  <c:v>Ward 1</c:v>
                </c:pt>
                <c:pt idx="1">
                  <c:v>Ward 2</c:v>
                </c:pt>
                <c:pt idx="2">
                  <c:v>Ward 3</c:v>
                </c:pt>
                <c:pt idx="3">
                  <c:v>Ward 4</c:v>
                </c:pt>
                <c:pt idx="4">
                  <c:v>Ward 5</c:v>
                </c:pt>
              </c:strCache>
            </c:strRef>
          </c:cat>
          <c:val>
            <c:numRef>
              <c:f>Sheet17!$H$2:$H$6</c:f>
              <c:numCache>
                <c:formatCode>General</c:formatCode>
                <c:ptCount val="5"/>
                <c:pt idx="0">
                  <c:v>1</c:v>
                </c:pt>
                <c:pt idx="1">
                  <c:v>1</c:v>
                </c:pt>
                <c:pt idx="2">
                  <c:v>1</c:v>
                </c:pt>
                <c:pt idx="3">
                  <c:v>1</c:v>
                </c:pt>
                <c:pt idx="4">
                  <c:v>1</c:v>
                </c:pt>
              </c:numCache>
            </c:numRef>
          </c:val>
        </c:ser>
        <c:ser>
          <c:idx val="6"/>
          <c:order val="6"/>
          <c:tx>
            <c:strRef>
              <c:f>Sheet17!$I$1</c:f>
              <c:strCache>
                <c:ptCount val="1"/>
                <c:pt idx="0">
                  <c:v>Vocational training</c:v>
                </c:pt>
              </c:strCache>
            </c:strRef>
          </c:tx>
          <c:invertIfNegative val="0"/>
          <c:cat>
            <c:strRef>
              <c:f>Sheet17!$B$2:$B$6</c:f>
              <c:strCache>
                <c:ptCount val="5"/>
                <c:pt idx="0">
                  <c:v>Ward 1</c:v>
                </c:pt>
                <c:pt idx="1">
                  <c:v>Ward 2</c:v>
                </c:pt>
                <c:pt idx="2">
                  <c:v>Ward 3</c:v>
                </c:pt>
                <c:pt idx="3">
                  <c:v>Ward 4</c:v>
                </c:pt>
                <c:pt idx="4">
                  <c:v>Ward 5</c:v>
                </c:pt>
              </c:strCache>
            </c:strRef>
          </c:cat>
          <c:val>
            <c:numRef>
              <c:f>Sheet17!$I$2:$I$6</c:f>
              <c:numCache>
                <c:formatCode>General</c:formatCode>
                <c:ptCount val="5"/>
                <c:pt idx="0">
                  <c:v>1</c:v>
                </c:pt>
                <c:pt idx="1">
                  <c:v>1</c:v>
                </c:pt>
                <c:pt idx="2">
                  <c:v>1</c:v>
                </c:pt>
                <c:pt idx="3">
                  <c:v>1</c:v>
                </c:pt>
                <c:pt idx="4">
                  <c:v>1</c:v>
                </c:pt>
              </c:numCache>
            </c:numRef>
          </c:val>
        </c:ser>
        <c:dLbls>
          <c:showLegendKey val="0"/>
          <c:showVal val="0"/>
          <c:showCatName val="0"/>
          <c:showSerName val="0"/>
          <c:showPercent val="0"/>
          <c:showBubbleSize val="0"/>
        </c:dLbls>
        <c:gapWidth val="150"/>
        <c:overlap val="100"/>
        <c:axId val="146316800"/>
        <c:axId val="48747008"/>
      </c:barChart>
      <c:catAx>
        <c:axId val="146316800"/>
        <c:scaling>
          <c:orientation val="minMax"/>
        </c:scaling>
        <c:delete val="0"/>
        <c:axPos val="b"/>
        <c:title>
          <c:tx>
            <c:rich>
              <a:bodyPr/>
              <a:lstStyle/>
              <a:p>
                <a:pPr>
                  <a:defRPr/>
                </a:pPr>
                <a:r>
                  <a:rPr lang="en-US"/>
                  <a:t>Uttargaya Rrural Municipality </a:t>
                </a:r>
              </a:p>
            </c:rich>
          </c:tx>
          <c:layout/>
          <c:overlay val="0"/>
        </c:title>
        <c:majorTickMark val="out"/>
        <c:minorTickMark val="none"/>
        <c:tickLblPos val="nextTo"/>
        <c:crossAx val="48747008"/>
        <c:crosses val="autoZero"/>
        <c:auto val="1"/>
        <c:lblAlgn val="ctr"/>
        <c:lblOffset val="100"/>
        <c:noMultiLvlLbl val="0"/>
      </c:catAx>
      <c:valAx>
        <c:axId val="48747008"/>
        <c:scaling>
          <c:orientation val="minMax"/>
        </c:scaling>
        <c:delete val="0"/>
        <c:axPos val="l"/>
        <c:title>
          <c:tx>
            <c:rich>
              <a:bodyPr rot="-5400000" vert="horz"/>
              <a:lstStyle/>
              <a:p>
                <a:pPr>
                  <a:defRPr/>
                </a:pPr>
                <a:r>
                  <a:rPr lang="en-US"/>
                  <a:t>Technical Assistance </a:t>
                </a:r>
              </a:p>
            </c:rich>
          </c:tx>
          <c:layout/>
          <c:overlay val="0"/>
        </c:title>
        <c:numFmt formatCode="General" sourceLinked="1"/>
        <c:majorTickMark val="out"/>
        <c:minorTickMark val="none"/>
        <c:tickLblPos val="nextTo"/>
        <c:crossAx val="146316800"/>
        <c:crosses val="autoZero"/>
        <c:crossBetween val="between"/>
      </c:valAx>
    </c:plotArea>
    <c:legend>
      <c:legendPos val="r"/>
      <c:layout>
        <c:manualLayout>
          <c:xMode val="edge"/>
          <c:yMode val="edge"/>
          <c:x val="0.66604227103191049"/>
          <c:y val="0.10417141822789394"/>
          <c:w val="0.3189201349831271"/>
          <c:h val="0.77422046942812084"/>
        </c:manualLayout>
      </c:layout>
      <c:overlay val="0"/>
    </c:legend>
    <c:plotVisOnly val="1"/>
    <c:dispBlanksAs val="gap"/>
    <c:showDLblsOverMax val="0"/>
  </c:chart>
  <c:txPr>
    <a:bodyPr/>
    <a:lstStyle/>
    <a:p>
      <a:pPr>
        <a:defRPr sz="1200"/>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20"/>
    </mc:Choice>
    <mc:Fallback>
      <c:style val="20"/>
    </mc:Fallback>
  </mc:AlternateContent>
  <c:clrMapOvr bg1="lt1" tx1="dk1" bg2="lt2" tx2="dk2" accent1="accent1" accent2="accent2" accent3="accent3" accent4="accent4" accent5="accent5" accent6="accent6" hlink="hlink" folHlink="folHlink"/>
  <c:chart>
    <c:title>
      <c:tx>
        <c:rich>
          <a:bodyPr/>
          <a:lstStyle/>
          <a:p>
            <a:pPr>
              <a:defRPr/>
            </a:pPr>
            <a:r>
              <a:rPr lang="en-US"/>
              <a:t>Nepal:Rasuwa :Coverage of Short  Mason   Training   </a:t>
            </a:r>
          </a:p>
        </c:rich>
      </c:tx>
      <c:layout>
        <c:manualLayout>
          <c:xMode val="edge"/>
          <c:yMode val="edge"/>
          <c:x val="1.2450638792102207E-2"/>
          <c:y val="1.6729399720157977E-2"/>
        </c:manualLayout>
      </c:layout>
      <c:overlay val="0"/>
    </c:title>
    <c:autoTitleDeleted val="0"/>
    <c:plotArea>
      <c:layout/>
      <c:barChart>
        <c:barDir val="col"/>
        <c:grouping val="stacked"/>
        <c:varyColors val="0"/>
        <c:ser>
          <c:idx val="0"/>
          <c:order val="0"/>
          <c:tx>
            <c:strRef>
              <c:f>Sheet5!$B$9</c:f>
              <c:strCache>
                <c:ptCount val="1"/>
                <c:pt idx="0">
                  <c:v>Sum of Total Reached</c:v>
                </c:pt>
              </c:strCache>
            </c:strRef>
          </c:tx>
          <c:invertIfNegative val="0"/>
          <c:cat>
            <c:strRef>
              <c:f>Sheet5!$A$10:$A$14</c:f>
              <c:strCache>
                <c:ptCount val="5"/>
                <c:pt idx="0">
                  <c:v>Gosaikunda</c:v>
                </c:pt>
                <c:pt idx="1">
                  <c:v>Kalika</c:v>
                </c:pt>
                <c:pt idx="2">
                  <c:v>Naukunda</c:v>
                </c:pt>
                <c:pt idx="3">
                  <c:v>Parbati Kunda</c:v>
                </c:pt>
                <c:pt idx="4">
                  <c:v>Uttargaya</c:v>
                </c:pt>
              </c:strCache>
            </c:strRef>
          </c:cat>
          <c:val>
            <c:numRef>
              <c:f>Sheet5!$B$10:$B$14</c:f>
              <c:numCache>
                <c:formatCode>General</c:formatCode>
                <c:ptCount val="5"/>
                <c:pt idx="0">
                  <c:v>136</c:v>
                </c:pt>
                <c:pt idx="1">
                  <c:v>258</c:v>
                </c:pt>
                <c:pt idx="2">
                  <c:v>272</c:v>
                </c:pt>
                <c:pt idx="3">
                  <c:v>225</c:v>
                </c:pt>
                <c:pt idx="4">
                  <c:v>589</c:v>
                </c:pt>
              </c:numCache>
            </c:numRef>
          </c:val>
        </c:ser>
        <c:dLbls>
          <c:dLblPos val="inEnd"/>
          <c:showLegendKey val="0"/>
          <c:showVal val="1"/>
          <c:showCatName val="0"/>
          <c:showSerName val="0"/>
          <c:showPercent val="0"/>
          <c:showBubbleSize val="0"/>
        </c:dLbls>
        <c:gapWidth val="150"/>
        <c:overlap val="100"/>
        <c:axId val="145323520"/>
        <c:axId val="53226880"/>
      </c:barChart>
      <c:catAx>
        <c:axId val="145323520"/>
        <c:scaling>
          <c:orientation val="minMax"/>
        </c:scaling>
        <c:delete val="0"/>
        <c:axPos val="b"/>
        <c:title>
          <c:tx>
            <c:rich>
              <a:bodyPr/>
              <a:lstStyle/>
              <a:p>
                <a:pPr>
                  <a:defRPr/>
                </a:pPr>
                <a:r>
                  <a:rPr lang="en-US"/>
                  <a:t>Rural Municipality </a:t>
                </a:r>
              </a:p>
            </c:rich>
          </c:tx>
          <c:layout/>
          <c:overlay val="0"/>
        </c:title>
        <c:majorTickMark val="out"/>
        <c:minorTickMark val="none"/>
        <c:tickLblPos val="nextTo"/>
        <c:crossAx val="53226880"/>
        <c:crosses val="autoZero"/>
        <c:auto val="1"/>
        <c:lblAlgn val="ctr"/>
        <c:lblOffset val="100"/>
        <c:noMultiLvlLbl val="0"/>
      </c:catAx>
      <c:valAx>
        <c:axId val="53226880"/>
        <c:scaling>
          <c:orientation val="minMax"/>
        </c:scaling>
        <c:delete val="0"/>
        <c:axPos val="l"/>
        <c:title>
          <c:tx>
            <c:rich>
              <a:bodyPr rot="-5400000" vert="horz"/>
              <a:lstStyle/>
              <a:p>
                <a:pPr>
                  <a:defRPr/>
                </a:pPr>
                <a:r>
                  <a:rPr lang="en-US"/>
                  <a:t>Number of Mason </a:t>
                </a:r>
              </a:p>
            </c:rich>
          </c:tx>
          <c:layout/>
          <c:overlay val="0"/>
        </c:title>
        <c:numFmt formatCode="General" sourceLinked="1"/>
        <c:majorTickMark val="out"/>
        <c:minorTickMark val="none"/>
        <c:tickLblPos val="nextTo"/>
        <c:crossAx val="145323520"/>
        <c:crosses val="autoZero"/>
        <c:crossBetween val="between"/>
      </c:valAx>
    </c:plotArea>
    <c:plotVisOnly val="1"/>
    <c:dispBlanksAs val="gap"/>
    <c:showDLblsOverMax val="0"/>
  </c:chart>
  <c:spPr>
    <a:ln>
      <a:solidFill>
        <a:sysClr val="windowText" lastClr="000000"/>
      </a:solidFill>
    </a:ln>
  </c:spPr>
  <c:txPr>
    <a:bodyPr/>
    <a:lstStyle/>
    <a:p>
      <a:pPr>
        <a:defRPr sz="1200"/>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3"/>
    </mc:Choice>
    <mc:Fallback>
      <c:style val="13"/>
    </mc:Fallback>
  </mc:AlternateContent>
  <c:clrMapOvr bg1="lt1" tx1="dk1" bg2="lt2" tx2="dk2" accent1="accent1" accent2="accent2" accent3="accent3" accent4="accent4" accent5="accent5" accent6="accent6" hlink="hlink" folHlink="folHlink"/>
  <c:pivotSource>
    <c:name>[Enrollment Update.xlsx]Sheet12!PivotTable6</c:name>
    <c:fmtId val="-1"/>
  </c:pivotSource>
  <c:chart>
    <c:title>
      <c:tx>
        <c:rich>
          <a:bodyPr/>
          <a:lstStyle/>
          <a:p>
            <a:pPr>
              <a:defRPr/>
            </a:pPr>
            <a:r>
              <a:rPr lang="en-US"/>
              <a:t>Nepal:Rasuwa:Coverage of Vocational training </a:t>
            </a:r>
          </a:p>
        </c:rich>
      </c:tx>
      <c:layout>
        <c:manualLayout>
          <c:xMode val="edge"/>
          <c:yMode val="edge"/>
          <c:x val="1.1936848802990523E-2"/>
          <c:y val="1.7084945306692155E-2"/>
        </c:manualLayout>
      </c:layout>
      <c:overlay val="0"/>
    </c:title>
    <c:autoTitleDeleted val="0"/>
    <c:pivotFmts>
      <c:pivotFmt>
        <c:idx val="0"/>
        <c:dLbl>
          <c:idx val="0"/>
          <c:dLblPos val="inEnd"/>
          <c:showLegendKey val="0"/>
          <c:showVal val="1"/>
          <c:showCatName val="0"/>
          <c:showSerName val="0"/>
          <c:showPercent val="0"/>
          <c:showBubbleSize val="0"/>
        </c:dLbl>
      </c:pivotFmt>
      <c:pivotFmt>
        <c:idx val="1"/>
        <c:marker>
          <c:symbol val="none"/>
        </c:marker>
        <c:dLbl>
          <c:idx val="0"/>
          <c:spPr/>
          <c:txPr>
            <a:bodyPr/>
            <a:lstStyle/>
            <a:p>
              <a:pPr>
                <a:defRPr/>
              </a:pPr>
              <a:endParaRPr lang="en-US"/>
            </a:p>
          </c:txPr>
          <c:dLblPos val="inEnd"/>
          <c:showLegendKey val="0"/>
          <c:showVal val="1"/>
          <c:showCatName val="0"/>
          <c:showSerName val="0"/>
          <c:showPercent val="0"/>
          <c:showBubbleSize val="0"/>
        </c:dLbl>
      </c:pivotFmt>
      <c:pivotFmt>
        <c:idx val="2"/>
        <c:marker>
          <c:symbol val="none"/>
        </c:marker>
        <c:dLbl>
          <c:idx val="0"/>
          <c:spPr/>
          <c:txPr>
            <a:bodyPr/>
            <a:lstStyle/>
            <a:p>
              <a:pPr>
                <a:defRPr/>
              </a:pPr>
              <a:endParaRPr lang="en-US"/>
            </a:p>
          </c:txPr>
          <c:dLblPos val="inEnd"/>
          <c:showLegendKey val="0"/>
          <c:showVal val="1"/>
          <c:showCatName val="0"/>
          <c:showSerName val="0"/>
          <c:showPercent val="0"/>
          <c:showBubbleSize val="0"/>
        </c:dLbl>
      </c:pivotFmt>
    </c:pivotFmts>
    <c:plotArea>
      <c:layout>
        <c:manualLayout>
          <c:layoutTarget val="inner"/>
          <c:xMode val="edge"/>
          <c:yMode val="edge"/>
          <c:x val="0.11557393177812404"/>
          <c:y val="0.14274452917360092"/>
          <c:w val="0.86830128052175293"/>
          <c:h val="0.68657321014063999"/>
        </c:manualLayout>
      </c:layout>
      <c:barChart>
        <c:barDir val="col"/>
        <c:grouping val="stacked"/>
        <c:varyColors val="0"/>
        <c:ser>
          <c:idx val="0"/>
          <c:order val="0"/>
          <c:tx>
            <c:strRef>
              <c:f>Sheet12!$B$3</c:f>
              <c:strCache>
                <c:ptCount val="1"/>
                <c:pt idx="0">
                  <c:v>Total</c:v>
                </c:pt>
              </c:strCache>
            </c:strRef>
          </c:tx>
          <c:invertIfNegative val="0"/>
          <c:cat>
            <c:strRef>
              <c:f>Sheet12!$A$4:$A$10</c:f>
              <c:strCache>
                <c:ptCount val="6"/>
                <c:pt idx="0">
                  <c:v>Gosaikunda</c:v>
                </c:pt>
                <c:pt idx="1">
                  <c:v>Kalika</c:v>
                </c:pt>
                <c:pt idx="2">
                  <c:v>Naukunda</c:v>
                </c:pt>
                <c:pt idx="3">
                  <c:v>Parbati Kunda</c:v>
                </c:pt>
                <c:pt idx="4">
                  <c:v>Uttargaya</c:v>
                </c:pt>
                <c:pt idx="5">
                  <c:v>(blank)</c:v>
                </c:pt>
              </c:strCache>
            </c:strRef>
          </c:cat>
          <c:val>
            <c:numRef>
              <c:f>Sheet12!$B$4:$B$10</c:f>
              <c:numCache>
                <c:formatCode>General</c:formatCode>
                <c:ptCount val="6"/>
                <c:pt idx="0">
                  <c:v>10</c:v>
                </c:pt>
                <c:pt idx="1">
                  <c:v>124</c:v>
                </c:pt>
                <c:pt idx="2">
                  <c:v>40</c:v>
                </c:pt>
                <c:pt idx="3">
                  <c:v>110</c:v>
                </c:pt>
                <c:pt idx="4">
                  <c:v>147</c:v>
                </c:pt>
              </c:numCache>
            </c:numRef>
          </c:val>
        </c:ser>
        <c:dLbls>
          <c:dLblPos val="inEnd"/>
          <c:showLegendKey val="0"/>
          <c:showVal val="1"/>
          <c:showCatName val="0"/>
          <c:showSerName val="0"/>
          <c:showPercent val="0"/>
          <c:showBubbleSize val="0"/>
        </c:dLbls>
        <c:gapWidth val="150"/>
        <c:overlap val="100"/>
        <c:axId val="145325056"/>
        <c:axId val="53225152"/>
      </c:barChart>
      <c:catAx>
        <c:axId val="145325056"/>
        <c:scaling>
          <c:orientation val="minMax"/>
        </c:scaling>
        <c:delete val="0"/>
        <c:axPos val="b"/>
        <c:title>
          <c:tx>
            <c:rich>
              <a:bodyPr/>
              <a:lstStyle/>
              <a:p>
                <a:pPr>
                  <a:defRPr/>
                </a:pPr>
                <a:r>
                  <a:rPr lang="en-US"/>
                  <a:t>Rrural Municipality</a:t>
                </a:r>
              </a:p>
            </c:rich>
          </c:tx>
          <c:layout/>
          <c:overlay val="0"/>
        </c:title>
        <c:majorTickMark val="out"/>
        <c:minorTickMark val="none"/>
        <c:tickLblPos val="nextTo"/>
        <c:crossAx val="53225152"/>
        <c:crosses val="autoZero"/>
        <c:auto val="1"/>
        <c:lblAlgn val="ctr"/>
        <c:lblOffset val="100"/>
        <c:noMultiLvlLbl val="0"/>
      </c:catAx>
      <c:valAx>
        <c:axId val="53225152"/>
        <c:scaling>
          <c:orientation val="minMax"/>
        </c:scaling>
        <c:delete val="0"/>
        <c:axPos val="l"/>
        <c:title>
          <c:tx>
            <c:rich>
              <a:bodyPr rot="-5400000" vert="horz"/>
              <a:lstStyle/>
              <a:p>
                <a:pPr>
                  <a:defRPr/>
                </a:pPr>
                <a:r>
                  <a:rPr lang="en-US"/>
                  <a:t>Number of mason Trained </a:t>
                </a:r>
              </a:p>
            </c:rich>
          </c:tx>
          <c:layout/>
          <c:overlay val="0"/>
        </c:title>
        <c:numFmt formatCode="General" sourceLinked="1"/>
        <c:majorTickMark val="out"/>
        <c:minorTickMark val="none"/>
        <c:tickLblPos val="nextTo"/>
        <c:crossAx val="145325056"/>
        <c:crosses val="autoZero"/>
        <c:crossBetween val="between"/>
      </c:valAx>
    </c:plotArea>
    <c:plotVisOnly val="1"/>
    <c:dispBlanksAs val="gap"/>
    <c:showDLblsOverMax val="0"/>
  </c:chart>
  <c:spPr>
    <a:ln>
      <a:solidFill>
        <a:sysClr val="windowText" lastClr="000000"/>
      </a:solidFill>
    </a:ln>
  </c:spPr>
  <c:txPr>
    <a:bodyPr/>
    <a:lstStyle/>
    <a:p>
      <a:pPr>
        <a:defRPr sz="1200"/>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72D090-D12D-45B7-AB42-D0C3179E026A}" type="datetimeFigureOut">
              <a:rPr lang="en-US" smtClean="0"/>
              <a:t>1/2/2018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026FBD-BA3A-4B38-832E-DA521A00FBA2}" type="slidenum">
              <a:rPr lang="en-US" smtClean="0"/>
              <a:t>‹#›</a:t>
            </a:fld>
            <a:endParaRPr lang="en-US"/>
          </a:p>
        </p:txBody>
      </p:sp>
    </p:spTree>
    <p:extLst>
      <p:ext uri="{BB962C8B-B14F-4D97-AF65-F5344CB8AC3E}">
        <p14:creationId xmlns:p14="http://schemas.microsoft.com/office/powerpoint/2010/main" val="2209203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DF01DF-AA2A-4663-97ED-1D4900288616}" type="datetimeFigureOut">
              <a:rPr lang="en-US" smtClean="0"/>
              <a:t>1/2/2018</a:t>
            </a:fld>
            <a:endParaRPr lang="en-US"/>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C0BC69-F121-432B-8CE8-45C4ACD01690}" type="slidenum">
              <a:rPr lang="en-US" smtClean="0"/>
              <a:t>‹#›</a:t>
            </a:fld>
            <a:endParaRPr lang="en-US"/>
          </a:p>
        </p:txBody>
      </p:sp>
    </p:spTree>
    <p:extLst>
      <p:ext uri="{BB962C8B-B14F-4D97-AF65-F5344CB8AC3E}">
        <p14:creationId xmlns:p14="http://schemas.microsoft.com/office/powerpoint/2010/main" val="1985413848"/>
      </p:ext>
    </p:extLst>
  </p:cSld>
  <p:clrMap bg1="lt1" tx1="dk1" bg2="lt2" tx2="dk2" accent1="accent1" accent2="accent2" accent3="accent3" accent4="accent4" accent5="accent5" accent6="accent6" hlink="hlink" folHlink="folHlink"/>
  <p:notesStyle>
    <a:lvl1pPr marL="0" algn="l" defTabSz="1042325" rtl="0" eaLnBrk="1" latinLnBrk="0" hangingPunct="1">
      <a:defRPr sz="1368" kern="1200">
        <a:solidFill>
          <a:schemeClr val="tx1"/>
        </a:solidFill>
        <a:latin typeface="+mn-lt"/>
        <a:ea typeface="+mn-ea"/>
        <a:cs typeface="+mn-cs"/>
      </a:defRPr>
    </a:lvl1pPr>
    <a:lvl2pPr marL="521162" algn="l" defTabSz="1042325" rtl="0" eaLnBrk="1" latinLnBrk="0" hangingPunct="1">
      <a:defRPr sz="1368" kern="1200">
        <a:solidFill>
          <a:schemeClr val="tx1"/>
        </a:solidFill>
        <a:latin typeface="+mn-lt"/>
        <a:ea typeface="+mn-ea"/>
        <a:cs typeface="+mn-cs"/>
      </a:defRPr>
    </a:lvl2pPr>
    <a:lvl3pPr marL="1042325" algn="l" defTabSz="1042325" rtl="0" eaLnBrk="1" latinLnBrk="0" hangingPunct="1">
      <a:defRPr sz="1368" kern="1200">
        <a:solidFill>
          <a:schemeClr val="tx1"/>
        </a:solidFill>
        <a:latin typeface="+mn-lt"/>
        <a:ea typeface="+mn-ea"/>
        <a:cs typeface="+mn-cs"/>
      </a:defRPr>
    </a:lvl3pPr>
    <a:lvl4pPr marL="1563487" algn="l" defTabSz="1042325" rtl="0" eaLnBrk="1" latinLnBrk="0" hangingPunct="1">
      <a:defRPr sz="1368" kern="1200">
        <a:solidFill>
          <a:schemeClr val="tx1"/>
        </a:solidFill>
        <a:latin typeface="+mn-lt"/>
        <a:ea typeface="+mn-ea"/>
        <a:cs typeface="+mn-cs"/>
      </a:defRPr>
    </a:lvl4pPr>
    <a:lvl5pPr marL="2084649" algn="l" defTabSz="1042325" rtl="0" eaLnBrk="1" latinLnBrk="0" hangingPunct="1">
      <a:defRPr sz="1368" kern="1200">
        <a:solidFill>
          <a:schemeClr val="tx1"/>
        </a:solidFill>
        <a:latin typeface="+mn-lt"/>
        <a:ea typeface="+mn-ea"/>
        <a:cs typeface="+mn-cs"/>
      </a:defRPr>
    </a:lvl5pPr>
    <a:lvl6pPr marL="2605811" algn="l" defTabSz="1042325" rtl="0" eaLnBrk="1" latinLnBrk="0" hangingPunct="1">
      <a:defRPr sz="1368" kern="1200">
        <a:solidFill>
          <a:schemeClr val="tx1"/>
        </a:solidFill>
        <a:latin typeface="+mn-lt"/>
        <a:ea typeface="+mn-ea"/>
        <a:cs typeface="+mn-cs"/>
      </a:defRPr>
    </a:lvl6pPr>
    <a:lvl7pPr marL="3126974" algn="l" defTabSz="1042325" rtl="0" eaLnBrk="1" latinLnBrk="0" hangingPunct="1">
      <a:defRPr sz="1368" kern="1200">
        <a:solidFill>
          <a:schemeClr val="tx1"/>
        </a:solidFill>
        <a:latin typeface="+mn-lt"/>
        <a:ea typeface="+mn-ea"/>
        <a:cs typeface="+mn-cs"/>
      </a:defRPr>
    </a:lvl7pPr>
    <a:lvl8pPr marL="3648136" algn="l" defTabSz="1042325" rtl="0" eaLnBrk="1" latinLnBrk="0" hangingPunct="1">
      <a:defRPr sz="1368" kern="1200">
        <a:solidFill>
          <a:schemeClr val="tx1"/>
        </a:solidFill>
        <a:latin typeface="+mn-lt"/>
        <a:ea typeface="+mn-ea"/>
        <a:cs typeface="+mn-cs"/>
      </a:defRPr>
    </a:lvl8pPr>
    <a:lvl9pPr marL="4169298" algn="l" defTabSz="1042325" rtl="0" eaLnBrk="1" latinLnBrk="0" hangingPunct="1">
      <a:defRPr sz="136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6188" y="1143000"/>
            <a:ext cx="4365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C0BC69-F121-432B-8CE8-45C4ACD01690}" type="slidenum">
              <a:rPr lang="en-US" smtClean="0"/>
              <a:t>1</a:t>
            </a:fld>
            <a:endParaRPr lang="en-US"/>
          </a:p>
        </p:txBody>
      </p:sp>
    </p:spTree>
    <p:extLst>
      <p:ext uri="{BB962C8B-B14F-4D97-AF65-F5344CB8AC3E}">
        <p14:creationId xmlns:p14="http://schemas.microsoft.com/office/powerpoint/2010/main" val="1216435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6188" y="1143000"/>
            <a:ext cx="4365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C0BC69-F121-432B-8CE8-45C4ACD01690}" type="slidenum">
              <a:rPr lang="en-US" smtClean="0"/>
              <a:t>3</a:t>
            </a:fld>
            <a:endParaRPr lang="en-US"/>
          </a:p>
        </p:txBody>
      </p:sp>
    </p:spTree>
    <p:extLst>
      <p:ext uri="{BB962C8B-B14F-4D97-AF65-F5344CB8AC3E}">
        <p14:creationId xmlns:p14="http://schemas.microsoft.com/office/powerpoint/2010/main" val="36068351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2787"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503853" y="835901"/>
            <a:ext cx="4276254" cy="3927729"/>
          </a:xfrm>
        </p:spPr>
        <p:txBody>
          <a:bodyPr anchor="b">
            <a:normAutofit/>
          </a:bodyPr>
          <a:lstStyle>
            <a:lvl1pPr algn="l">
              <a:lnSpc>
                <a:spcPct val="85000"/>
              </a:lnSpc>
              <a:defRPr sz="3965" spc="-42" baseline="0">
                <a:solidFill>
                  <a:srgbClr val="0F5AA5"/>
                </a:solidFill>
              </a:defRPr>
            </a:lvl1pPr>
          </a:lstStyle>
          <a:p>
            <a:r>
              <a:rPr lang="en-US"/>
              <a:t>Click to edit Master title style</a:t>
            </a:r>
            <a:endParaRPr lang="en-US" dirty="0"/>
          </a:p>
        </p:txBody>
      </p:sp>
      <p:sp>
        <p:nvSpPr>
          <p:cNvPr id="3" name="Subtitle 2"/>
          <p:cNvSpPr>
            <a:spLocks noGrp="1"/>
          </p:cNvSpPr>
          <p:nvPr>
            <p:ph type="subTitle" idx="1"/>
          </p:nvPr>
        </p:nvSpPr>
        <p:spPr>
          <a:xfrm>
            <a:off x="5506283" y="4907370"/>
            <a:ext cx="4276254" cy="1258888"/>
          </a:xfrm>
        </p:spPr>
        <p:txBody>
          <a:bodyPr lIns="91440" rIns="91440">
            <a:normAutofit/>
          </a:bodyPr>
          <a:lstStyle>
            <a:lvl1pPr marL="0" indent="0" algn="l">
              <a:buNone/>
              <a:defRPr sz="1983" cap="all" spc="165" baseline="0">
                <a:solidFill>
                  <a:schemeClr val="tx1"/>
                </a:solidFill>
                <a:latin typeface="+mj-lt"/>
              </a:defRPr>
            </a:lvl1pPr>
            <a:lvl2pPr marL="377661" indent="0" algn="ctr">
              <a:buNone/>
              <a:defRPr sz="1983"/>
            </a:lvl2pPr>
            <a:lvl3pPr marL="755321" indent="0" algn="ctr">
              <a:buNone/>
              <a:defRPr sz="1983"/>
            </a:lvl3pPr>
            <a:lvl4pPr marL="1132983" indent="0" algn="ctr">
              <a:buNone/>
              <a:defRPr sz="1652"/>
            </a:lvl4pPr>
            <a:lvl5pPr marL="1510643" indent="0" algn="ctr">
              <a:buNone/>
              <a:defRPr sz="1652"/>
            </a:lvl5pPr>
            <a:lvl6pPr marL="1888303" indent="0" algn="ctr">
              <a:buNone/>
              <a:defRPr sz="1652"/>
            </a:lvl6pPr>
            <a:lvl7pPr marL="2265963" indent="0" algn="ctr">
              <a:buNone/>
              <a:defRPr sz="1652"/>
            </a:lvl7pPr>
            <a:lvl8pPr marL="2643624" indent="0" algn="ctr">
              <a:buNone/>
              <a:defRPr sz="1652"/>
            </a:lvl8pPr>
            <a:lvl9pPr marL="3021286" indent="0" algn="ctr">
              <a:buNone/>
              <a:defRPr sz="1652"/>
            </a:lvl9pPr>
          </a:lstStyle>
          <a:p>
            <a:r>
              <a:rPr lang="en-US"/>
              <a:t>Click to edit Master subtitle style</a:t>
            </a:r>
            <a:endParaRPr lang="en-US" dirty="0"/>
          </a:p>
        </p:txBody>
      </p:sp>
      <p:sp>
        <p:nvSpPr>
          <p:cNvPr id="10" name="TextBox 9"/>
          <p:cNvSpPr txBox="1"/>
          <p:nvPr userDrawn="1"/>
        </p:nvSpPr>
        <p:spPr>
          <a:xfrm>
            <a:off x="2057962" y="7163268"/>
            <a:ext cx="1579367" cy="261738"/>
          </a:xfrm>
          <a:prstGeom prst="rect">
            <a:avLst/>
          </a:prstGeom>
          <a:noFill/>
        </p:spPr>
        <p:txBody>
          <a:bodyPr wrap="square" rtlCol="0">
            <a:spAutoFit/>
          </a:bodyPr>
          <a:lstStyle/>
          <a:p>
            <a:r>
              <a:rPr lang="en-US" sz="1101" b="1" dirty="0">
                <a:solidFill>
                  <a:schemeClr val="bg1"/>
                </a:solidFill>
              </a:rPr>
              <a:t>www.hrrpnepal.org</a:t>
            </a:r>
          </a:p>
        </p:txBody>
      </p:sp>
      <p:sp>
        <p:nvSpPr>
          <p:cNvPr id="14" name="TextBox 13"/>
          <p:cNvSpPr txBox="1"/>
          <p:nvPr userDrawn="1"/>
        </p:nvSpPr>
        <p:spPr>
          <a:xfrm>
            <a:off x="491499" y="5696938"/>
            <a:ext cx="4608603" cy="346570"/>
          </a:xfrm>
          <a:prstGeom prst="rect">
            <a:avLst/>
          </a:prstGeom>
          <a:noFill/>
        </p:spPr>
        <p:txBody>
          <a:bodyPr wrap="square" rtlCol="0">
            <a:spAutoFit/>
          </a:bodyPr>
          <a:lstStyle/>
          <a:p>
            <a:r>
              <a:rPr lang="en-US" sz="1652" b="1" dirty="0">
                <a:solidFill>
                  <a:srgbClr val="0F5AA5"/>
                </a:solidFill>
              </a:rPr>
              <a:t>Housing Recovery and Reconstruction Platform</a:t>
            </a:r>
          </a:p>
        </p:txBody>
      </p:sp>
      <p:cxnSp>
        <p:nvCxnSpPr>
          <p:cNvPr id="16" name="Straight Connector 15"/>
          <p:cNvCxnSpPr/>
          <p:nvPr userDrawn="1"/>
        </p:nvCxnSpPr>
        <p:spPr>
          <a:xfrm>
            <a:off x="5344319" y="835907"/>
            <a:ext cx="0" cy="5522420"/>
          </a:xfrm>
          <a:prstGeom prst="line">
            <a:avLst/>
          </a:prstGeom>
          <a:ln>
            <a:solidFill>
              <a:srgbClr val="0F5AA5"/>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3430" y="1638102"/>
            <a:ext cx="4766672" cy="3269268"/>
          </a:xfrm>
          <a:prstGeom prst="rect">
            <a:avLst/>
          </a:prstGeom>
        </p:spPr>
      </p:pic>
    </p:spTree>
    <p:extLst>
      <p:ext uri="{BB962C8B-B14F-4D97-AF65-F5344CB8AC3E}">
        <p14:creationId xmlns:p14="http://schemas.microsoft.com/office/powerpoint/2010/main" val="31862126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4453" y="247710"/>
            <a:ext cx="8818126" cy="717452"/>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99627" y="1762301"/>
            <a:ext cx="10021795" cy="5031936"/>
          </a:xfrm>
        </p:spPr>
        <p:txBody>
          <a:bodyPr>
            <a:normAutofit/>
          </a:bodyPr>
          <a:lstStyle>
            <a:lvl1pPr>
              <a:defRPr sz="2423"/>
            </a:lvl1pPr>
            <a:lvl2pPr>
              <a:defRPr sz="2423"/>
            </a:lvl2pPr>
            <a:lvl3pPr>
              <a:defRPr sz="2423"/>
            </a:lvl3pPr>
            <a:lvl4pPr>
              <a:defRPr sz="2423"/>
            </a:lvl4pPr>
            <a:lvl5pPr>
              <a:defRPr sz="242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cxnSp>
        <p:nvCxnSpPr>
          <p:cNvPr id="22" name="Straight Connector 21"/>
          <p:cNvCxnSpPr/>
          <p:nvPr userDrawn="1"/>
        </p:nvCxnSpPr>
        <p:spPr>
          <a:xfrm flipV="1">
            <a:off x="1393" y="1076178"/>
            <a:ext cx="10688638" cy="7033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143848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787"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1978" y="835901"/>
            <a:ext cx="8818126" cy="3927729"/>
          </a:xfrm>
        </p:spPr>
        <p:txBody>
          <a:bodyPr anchor="b" anchorCtr="0">
            <a:normAutofit/>
          </a:bodyPr>
          <a:lstStyle>
            <a:lvl1pPr>
              <a:lnSpc>
                <a:spcPct val="85000"/>
              </a:lnSpc>
              <a:defRPr sz="6608" b="0">
                <a:solidFill>
                  <a:srgbClr val="0F5AA5"/>
                </a:solidFill>
              </a:defRPr>
            </a:lvl1pPr>
          </a:lstStyle>
          <a:p>
            <a:r>
              <a:rPr lang="en-US"/>
              <a:t>Click to edit Master title style</a:t>
            </a:r>
            <a:endParaRPr lang="en-US" dirty="0"/>
          </a:p>
        </p:txBody>
      </p:sp>
      <p:sp>
        <p:nvSpPr>
          <p:cNvPr id="3" name="Text Placeholder 2"/>
          <p:cNvSpPr>
            <a:spLocks noGrp="1"/>
          </p:cNvSpPr>
          <p:nvPr>
            <p:ph type="body" idx="1"/>
          </p:nvPr>
        </p:nvSpPr>
        <p:spPr>
          <a:xfrm>
            <a:off x="961978" y="4904625"/>
            <a:ext cx="8818126" cy="1258888"/>
          </a:xfrm>
        </p:spPr>
        <p:txBody>
          <a:bodyPr lIns="91440" rIns="91440" anchor="t" anchorCtr="0">
            <a:normAutofit/>
          </a:bodyPr>
          <a:lstStyle>
            <a:lvl1pPr marL="0" indent="0">
              <a:buNone/>
              <a:defRPr sz="1983" cap="all" spc="165" baseline="0">
                <a:solidFill>
                  <a:schemeClr val="tx1"/>
                </a:solidFill>
                <a:latin typeface="+mj-lt"/>
              </a:defRPr>
            </a:lvl1pPr>
            <a:lvl2pPr marL="377661" indent="0">
              <a:buNone/>
              <a:defRPr sz="1487">
                <a:solidFill>
                  <a:schemeClr val="tx1">
                    <a:tint val="75000"/>
                  </a:schemeClr>
                </a:solidFill>
              </a:defRPr>
            </a:lvl2pPr>
            <a:lvl3pPr marL="755321" indent="0">
              <a:buNone/>
              <a:defRPr sz="1322">
                <a:solidFill>
                  <a:schemeClr val="tx1">
                    <a:tint val="75000"/>
                  </a:schemeClr>
                </a:solidFill>
              </a:defRPr>
            </a:lvl3pPr>
            <a:lvl4pPr marL="1132983" indent="0">
              <a:buNone/>
              <a:defRPr sz="1156">
                <a:solidFill>
                  <a:schemeClr val="tx1">
                    <a:tint val="75000"/>
                  </a:schemeClr>
                </a:solidFill>
              </a:defRPr>
            </a:lvl4pPr>
            <a:lvl5pPr marL="1510643" indent="0">
              <a:buNone/>
              <a:defRPr sz="1156">
                <a:solidFill>
                  <a:schemeClr val="tx1">
                    <a:tint val="75000"/>
                  </a:schemeClr>
                </a:solidFill>
              </a:defRPr>
            </a:lvl5pPr>
            <a:lvl6pPr marL="1888303" indent="0">
              <a:buNone/>
              <a:defRPr sz="1156">
                <a:solidFill>
                  <a:schemeClr val="tx1">
                    <a:tint val="75000"/>
                  </a:schemeClr>
                </a:solidFill>
              </a:defRPr>
            </a:lvl6pPr>
            <a:lvl7pPr marL="2265963" indent="0">
              <a:buNone/>
              <a:defRPr sz="1156">
                <a:solidFill>
                  <a:schemeClr val="tx1">
                    <a:tint val="75000"/>
                  </a:schemeClr>
                </a:solidFill>
              </a:defRPr>
            </a:lvl7pPr>
            <a:lvl8pPr marL="2643624" indent="0">
              <a:buNone/>
              <a:defRPr sz="1156">
                <a:solidFill>
                  <a:schemeClr val="tx1">
                    <a:tint val="75000"/>
                  </a:schemeClr>
                </a:solidFill>
              </a:defRPr>
            </a:lvl8pPr>
            <a:lvl9pPr marL="3021286" indent="0">
              <a:buNone/>
              <a:defRPr sz="1156">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
        <p:nvSpPr>
          <p:cNvPr id="10" name="TextBox 9"/>
          <p:cNvSpPr txBox="1"/>
          <p:nvPr userDrawn="1"/>
        </p:nvSpPr>
        <p:spPr>
          <a:xfrm>
            <a:off x="9225001" y="7163269"/>
            <a:ext cx="1463637" cy="244811"/>
          </a:xfrm>
          <a:prstGeom prst="rect">
            <a:avLst/>
          </a:prstGeom>
          <a:noFill/>
        </p:spPr>
        <p:txBody>
          <a:bodyPr wrap="square" rtlCol="0">
            <a:spAutoFit/>
          </a:bodyPr>
          <a:lstStyle/>
          <a:p>
            <a:r>
              <a:rPr lang="en-US" sz="991" b="1" dirty="0">
                <a:solidFill>
                  <a:schemeClr val="bg1"/>
                </a:solidFill>
              </a:rPr>
              <a:t>www.hrrpnepal.org</a:t>
            </a:r>
          </a:p>
        </p:txBody>
      </p:sp>
    </p:spTree>
    <p:extLst>
      <p:ext uri="{BB962C8B-B14F-4D97-AF65-F5344CB8AC3E}">
        <p14:creationId xmlns:p14="http://schemas.microsoft.com/office/powerpoint/2010/main" val="27341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75693" y="300631"/>
            <a:ext cx="8818126" cy="106662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71416" y="1521798"/>
            <a:ext cx="4529912" cy="52874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03474" y="1521798"/>
            <a:ext cx="4482055" cy="52874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D8F11-E02F-4D3E-85B4-F4AEDD07F0EA}" type="slidenum">
              <a:rPr lang="en-US" smtClean="0"/>
              <a:t>‹#›</a:t>
            </a:fld>
            <a:endParaRPr lang="en-US"/>
          </a:p>
        </p:txBody>
      </p:sp>
      <p:cxnSp>
        <p:nvCxnSpPr>
          <p:cNvPr id="9" name="Straight Connector 8"/>
          <p:cNvCxnSpPr/>
          <p:nvPr userDrawn="1"/>
        </p:nvCxnSpPr>
        <p:spPr>
          <a:xfrm>
            <a:off x="5436845" y="1521798"/>
            <a:ext cx="0" cy="52874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374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91941" y="315666"/>
            <a:ext cx="8818126" cy="15978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1941" y="2033221"/>
            <a:ext cx="4328898" cy="810933"/>
          </a:xfrm>
        </p:spPr>
        <p:txBody>
          <a:bodyPr lIns="91440" rIns="91440" anchor="ctr">
            <a:normAutofit/>
          </a:bodyPr>
          <a:lstStyle>
            <a:lvl1pPr marL="0" indent="0">
              <a:buNone/>
              <a:defRPr sz="1652" b="0" cap="all" baseline="0">
                <a:solidFill>
                  <a:schemeClr val="tx2"/>
                </a:solidFill>
              </a:defRPr>
            </a:lvl1pPr>
            <a:lvl2pPr marL="377661" indent="0">
              <a:buNone/>
              <a:defRPr sz="1652" b="1"/>
            </a:lvl2pPr>
            <a:lvl3pPr marL="755321" indent="0">
              <a:buNone/>
              <a:defRPr sz="1487" b="1"/>
            </a:lvl3pPr>
            <a:lvl4pPr marL="1132983" indent="0">
              <a:buNone/>
              <a:defRPr sz="1322" b="1"/>
            </a:lvl4pPr>
            <a:lvl5pPr marL="1510643" indent="0">
              <a:buNone/>
              <a:defRPr sz="1322" b="1"/>
            </a:lvl5pPr>
            <a:lvl6pPr marL="1888303" indent="0">
              <a:buNone/>
              <a:defRPr sz="1322" b="1"/>
            </a:lvl6pPr>
            <a:lvl7pPr marL="2265963" indent="0">
              <a:buNone/>
              <a:defRPr sz="1322" b="1"/>
            </a:lvl7pPr>
            <a:lvl8pPr marL="2643624" indent="0">
              <a:buNone/>
              <a:defRPr sz="1322" b="1"/>
            </a:lvl8pPr>
            <a:lvl9pPr marL="3021286" indent="0">
              <a:buNone/>
              <a:defRPr sz="1322" b="1"/>
            </a:lvl9pPr>
          </a:lstStyle>
          <a:p>
            <a:pPr lvl="0"/>
            <a:r>
              <a:rPr lang="en-US"/>
              <a:t>Edit Master text styles</a:t>
            </a:r>
          </a:p>
        </p:txBody>
      </p:sp>
      <p:sp>
        <p:nvSpPr>
          <p:cNvPr id="4" name="Content Placeholder 3"/>
          <p:cNvSpPr>
            <a:spLocks noGrp="1"/>
          </p:cNvSpPr>
          <p:nvPr>
            <p:ph sz="half" idx="2"/>
          </p:nvPr>
        </p:nvSpPr>
        <p:spPr>
          <a:xfrm>
            <a:off x="291941" y="2844154"/>
            <a:ext cx="4328898" cy="3720712"/>
          </a:xfr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1169" y="2033221"/>
            <a:ext cx="4328898" cy="810933"/>
          </a:xfrm>
        </p:spPr>
        <p:txBody>
          <a:bodyPr lIns="91440" rIns="91440" anchor="ctr">
            <a:normAutofit/>
          </a:bodyPr>
          <a:lstStyle>
            <a:lvl1pPr marL="0" indent="0">
              <a:buNone/>
              <a:defRPr sz="1652" b="0" cap="all" baseline="0">
                <a:solidFill>
                  <a:schemeClr val="tx2"/>
                </a:solidFill>
              </a:defRPr>
            </a:lvl1pPr>
            <a:lvl2pPr marL="377661" indent="0">
              <a:buNone/>
              <a:defRPr sz="1652" b="1"/>
            </a:lvl2pPr>
            <a:lvl3pPr marL="755321" indent="0">
              <a:buNone/>
              <a:defRPr sz="1487" b="1"/>
            </a:lvl3pPr>
            <a:lvl4pPr marL="1132983" indent="0">
              <a:buNone/>
              <a:defRPr sz="1322" b="1"/>
            </a:lvl4pPr>
            <a:lvl5pPr marL="1510643" indent="0">
              <a:buNone/>
              <a:defRPr sz="1322" b="1"/>
            </a:lvl5pPr>
            <a:lvl6pPr marL="1888303" indent="0">
              <a:buNone/>
              <a:defRPr sz="1322" b="1"/>
            </a:lvl6pPr>
            <a:lvl7pPr marL="2265963" indent="0">
              <a:buNone/>
              <a:defRPr sz="1322" b="1"/>
            </a:lvl7pPr>
            <a:lvl8pPr marL="2643624" indent="0">
              <a:buNone/>
              <a:defRPr sz="1322" b="1"/>
            </a:lvl8pPr>
            <a:lvl9pPr marL="3021286" indent="0">
              <a:buNone/>
              <a:defRPr sz="1322" b="1"/>
            </a:lvl9pPr>
          </a:lstStyle>
          <a:p>
            <a:pPr lvl="0"/>
            <a:r>
              <a:rPr lang="en-US"/>
              <a:t>Edit Master text styles</a:t>
            </a:r>
          </a:p>
        </p:txBody>
      </p:sp>
      <p:sp>
        <p:nvSpPr>
          <p:cNvPr id="6" name="Content Placeholder 5"/>
          <p:cNvSpPr>
            <a:spLocks noGrp="1"/>
          </p:cNvSpPr>
          <p:nvPr>
            <p:ph sz="quarter" idx="4"/>
          </p:nvPr>
        </p:nvSpPr>
        <p:spPr>
          <a:xfrm>
            <a:off x="4781169" y="2844154"/>
            <a:ext cx="4328898" cy="3720712"/>
          </a:xfr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429207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3907" y="255541"/>
            <a:ext cx="8818126" cy="1204819"/>
          </a:xfrm>
        </p:spPr>
        <p:txBody>
          <a:bodyPr/>
          <a:lstStyle/>
          <a:p>
            <a:r>
              <a:rPr lang="en-US" dirty="0"/>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343093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3907" y="255541"/>
            <a:ext cx="8818126" cy="1204819"/>
          </a:xfrm>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3603686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935256" y="3174257"/>
            <a:ext cx="8818126" cy="1204819"/>
          </a:xfrm>
        </p:spPr>
        <p:txBody>
          <a:bodyPr/>
          <a:lstStyle>
            <a:lvl1pPr algn="ct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2069932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787"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DED8F11-E02F-4D3E-85B4-F4AEDD07F0EA}" type="slidenum">
              <a:rPr lang="en-US" smtClean="0"/>
              <a:t>‹#›</a:t>
            </a:fld>
            <a:endParaRPr lang="en-US"/>
          </a:p>
        </p:txBody>
      </p:sp>
      <p:sp>
        <p:nvSpPr>
          <p:cNvPr id="11" name="TextBox 10"/>
          <p:cNvSpPr txBox="1"/>
          <p:nvPr userDrawn="1"/>
        </p:nvSpPr>
        <p:spPr>
          <a:xfrm>
            <a:off x="9225001" y="7163269"/>
            <a:ext cx="1463637" cy="244811"/>
          </a:xfrm>
          <a:prstGeom prst="rect">
            <a:avLst/>
          </a:prstGeom>
          <a:noFill/>
        </p:spPr>
        <p:txBody>
          <a:bodyPr wrap="square" rtlCol="0">
            <a:spAutoFit/>
          </a:bodyPr>
          <a:lstStyle/>
          <a:p>
            <a:r>
              <a:rPr lang="en-US" sz="991" b="1" dirty="0">
                <a:solidFill>
                  <a:schemeClr val="bg1"/>
                </a:solidFill>
              </a:rPr>
              <a:t>www.hrrpnepal.org</a:t>
            </a:r>
          </a:p>
        </p:txBody>
      </p:sp>
    </p:spTree>
    <p:extLst>
      <p:ext uri="{BB962C8B-B14F-4D97-AF65-F5344CB8AC3E}">
        <p14:creationId xmlns:p14="http://schemas.microsoft.com/office/powerpoint/2010/main" val="2173598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lvl1pPr>
              <a:defRPr>
                <a:solidFill>
                  <a:srgbClr val="0F5AA5"/>
                </a:solidFill>
              </a:defRPr>
            </a:lvl1pPr>
          </a:lstStyle>
          <a:p>
            <a:fld id="{4DED8F11-E02F-4D3E-85B4-F4AEDD07F0EA}" type="slidenum">
              <a:rPr lang="en-US" smtClean="0"/>
              <a:pPr/>
              <a:t>‹#›</a:t>
            </a:fld>
            <a:endParaRPr lang="en-US"/>
          </a:p>
        </p:txBody>
      </p:sp>
      <p:sp>
        <p:nvSpPr>
          <p:cNvPr id="11" name="TextBox 10"/>
          <p:cNvSpPr txBox="1"/>
          <p:nvPr userDrawn="1"/>
        </p:nvSpPr>
        <p:spPr>
          <a:xfrm>
            <a:off x="9109273" y="7163269"/>
            <a:ext cx="1579365" cy="244811"/>
          </a:xfrm>
          <a:prstGeom prst="rect">
            <a:avLst/>
          </a:prstGeom>
          <a:noFill/>
        </p:spPr>
        <p:txBody>
          <a:bodyPr wrap="square" rtlCol="0">
            <a:spAutoFit/>
          </a:bodyPr>
          <a:lstStyle/>
          <a:p>
            <a:r>
              <a:rPr lang="en-US" sz="991" b="1" dirty="0">
                <a:solidFill>
                  <a:srgbClr val="0F5AA5"/>
                </a:solidFill>
              </a:rPr>
              <a:t>www.hrrpnepal.org</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3118" y="256885"/>
            <a:ext cx="1798528" cy="1233538"/>
          </a:xfrm>
          <a:prstGeom prst="rect">
            <a:avLst/>
          </a:prstGeom>
        </p:spPr>
      </p:pic>
    </p:spTree>
    <p:extLst>
      <p:ext uri="{BB962C8B-B14F-4D97-AF65-F5344CB8AC3E}">
        <p14:creationId xmlns:p14="http://schemas.microsoft.com/office/powerpoint/2010/main" val="1402888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3551299" cy="755332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541901" y="0"/>
            <a:ext cx="56115" cy="7553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00824" y="654620"/>
            <a:ext cx="2805767" cy="2517775"/>
          </a:xfrm>
        </p:spPr>
        <p:txBody>
          <a:bodyPr anchor="b">
            <a:normAutofit/>
          </a:bodyPr>
          <a:lstStyle>
            <a:lvl1pPr>
              <a:defRPr sz="2974"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753984" y="805688"/>
            <a:ext cx="5433198" cy="57908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0824" y="3222752"/>
            <a:ext cx="2805767" cy="3721730"/>
          </a:xfrm>
        </p:spPr>
        <p:txBody>
          <a:bodyPr lIns="91440" rIns="91440">
            <a:normAutofit/>
          </a:bodyPr>
          <a:lstStyle>
            <a:lvl1pPr marL="0" indent="0">
              <a:buNone/>
              <a:defRPr sz="1239">
                <a:solidFill>
                  <a:srgbClr val="FFFFFF"/>
                </a:solidFill>
              </a:defRPr>
            </a:lvl1pPr>
            <a:lvl2pPr marL="377661" indent="0">
              <a:buNone/>
              <a:defRPr sz="991"/>
            </a:lvl2pPr>
            <a:lvl3pPr marL="755321" indent="0">
              <a:buNone/>
              <a:defRPr sz="826"/>
            </a:lvl3pPr>
            <a:lvl4pPr marL="1132983" indent="0">
              <a:buNone/>
              <a:defRPr sz="743"/>
            </a:lvl4pPr>
            <a:lvl5pPr marL="1510643" indent="0">
              <a:buNone/>
              <a:defRPr sz="743"/>
            </a:lvl5pPr>
            <a:lvl6pPr marL="1888303" indent="0">
              <a:buNone/>
              <a:defRPr sz="743"/>
            </a:lvl6pPr>
            <a:lvl7pPr marL="2265963" indent="0">
              <a:buNone/>
              <a:defRPr sz="743"/>
            </a:lvl7pPr>
            <a:lvl8pPr marL="2643624" indent="0">
              <a:buNone/>
              <a:defRPr sz="743"/>
            </a:lvl8pPr>
            <a:lvl9pPr marL="3021286" indent="0">
              <a:buNone/>
              <a:defRPr sz="743"/>
            </a:lvl9pPr>
          </a:lstStyle>
          <a:p>
            <a:pPr lvl="0"/>
            <a:r>
              <a:rPr lang="en-US"/>
              <a:t>Edit Master text styles</a:t>
            </a:r>
          </a:p>
        </p:txBody>
      </p:sp>
      <p:sp>
        <p:nvSpPr>
          <p:cNvPr id="6" name="Footer Placeholder 5"/>
          <p:cNvSpPr>
            <a:spLocks noGrp="1"/>
          </p:cNvSpPr>
          <p:nvPr>
            <p:ph type="ftr" sz="quarter" idx="11"/>
          </p:nvPr>
        </p:nvSpPr>
        <p:spPr>
          <a:xfrm>
            <a:off x="3753981" y="7114741"/>
            <a:ext cx="3923403" cy="40214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a:xfrm>
            <a:off x="8224992" y="7114741"/>
            <a:ext cx="1107441" cy="402145"/>
          </a:xfrm>
        </p:spPr>
        <p:txBody>
          <a:bodyPr/>
          <a:lstStyle>
            <a:lvl1pPr>
              <a:defRPr>
                <a:solidFill>
                  <a:schemeClr val="tx2"/>
                </a:solidFill>
              </a:defRPr>
            </a:lvl1pPr>
          </a:lstStyle>
          <a:p>
            <a:fld id="{4DED8F11-E02F-4D3E-85B4-F4AEDD07F0EA}" type="slidenum">
              <a:rPr lang="en-US" smtClean="0"/>
              <a:t>‹#›</a:t>
            </a:fld>
            <a:endParaRPr lang="en-US"/>
          </a:p>
        </p:txBody>
      </p:sp>
      <p:sp>
        <p:nvSpPr>
          <p:cNvPr id="11" name="TextBox 10"/>
          <p:cNvSpPr txBox="1"/>
          <p:nvPr userDrawn="1"/>
        </p:nvSpPr>
        <p:spPr>
          <a:xfrm>
            <a:off x="9332434" y="7163268"/>
            <a:ext cx="1356205" cy="244811"/>
          </a:xfrm>
          <a:prstGeom prst="rect">
            <a:avLst/>
          </a:prstGeom>
          <a:noFill/>
        </p:spPr>
        <p:txBody>
          <a:bodyPr wrap="square" rtlCol="0">
            <a:spAutoFit/>
          </a:bodyPr>
          <a:lstStyle/>
          <a:p>
            <a:r>
              <a:rPr lang="en-US" sz="991" b="1" dirty="0">
                <a:solidFill>
                  <a:srgbClr val="0F5AA5"/>
                </a:solidFill>
              </a:rPr>
              <a:t>www.hrrpnepal.org</a:t>
            </a: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3118" y="256885"/>
            <a:ext cx="1798528" cy="1233538"/>
          </a:xfrm>
          <a:prstGeom prst="rect">
            <a:avLst/>
          </a:prstGeom>
        </p:spPr>
      </p:pic>
    </p:spTree>
    <p:extLst>
      <p:ext uri="{BB962C8B-B14F-4D97-AF65-F5344CB8AC3E}">
        <p14:creationId xmlns:p14="http://schemas.microsoft.com/office/powerpoint/2010/main" val="349482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3" y="5455179"/>
            <a:ext cx="10685855" cy="2098146"/>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5413410"/>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61978" y="5589461"/>
            <a:ext cx="8866225" cy="906399"/>
          </a:xfrm>
        </p:spPr>
        <p:txBody>
          <a:bodyPr lIns="91440" tIns="0" rIns="91440" bIns="0" anchor="b">
            <a:noAutofit/>
          </a:bodyPr>
          <a:lstStyle>
            <a:lvl1pPr>
              <a:defRPr sz="2974"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0688625" cy="5413410"/>
          </a:xfrm>
          <a:blipFill>
            <a:blip r:embed="rId2"/>
            <a:stretch>
              <a:fillRect/>
            </a:stretch>
          </a:blipFill>
        </p:spPr>
        <p:txBody>
          <a:bodyPr lIns="457200" tIns="457200" anchor="t"/>
          <a:lstStyle>
            <a:lvl1pPr marL="0" indent="0">
              <a:buNone/>
              <a:defRPr sz="2643">
                <a:solidFill>
                  <a:schemeClr val="bg1"/>
                </a:solidFill>
              </a:defRPr>
            </a:lvl1pPr>
            <a:lvl2pPr marL="377661" indent="0">
              <a:buNone/>
              <a:defRPr sz="2313"/>
            </a:lvl2pPr>
            <a:lvl3pPr marL="755321" indent="0">
              <a:buNone/>
              <a:defRPr sz="1983"/>
            </a:lvl3pPr>
            <a:lvl4pPr marL="1132983" indent="0">
              <a:buNone/>
              <a:defRPr sz="1652"/>
            </a:lvl4pPr>
            <a:lvl5pPr marL="1510643" indent="0">
              <a:buNone/>
              <a:defRPr sz="1652"/>
            </a:lvl5pPr>
            <a:lvl6pPr marL="1888303" indent="0">
              <a:buNone/>
              <a:defRPr sz="1652"/>
            </a:lvl6pPr>
            <a:lvl7pPr marL="2265963" indent="0">
              <a:buNone/>
              <a:defRPr sz="1652"/>
            </a:lvl7pPr>
            <a:lvl8pPr marL="2643624" indent="0">
              <a:buNone/>
              <a:defRPr sz="1652"/>
            </a:lvl8pPr>
            <a:lvl9pPr marL="3021286" indent="0">
              <a:buNone/>
              <a:defRPr sz="1652"/>
            </a:lvl9pPr>
          </a:lstStyle>
          <a:p>
            <a:r>
              <a:rPr lang="en-US"/>
              <a:t>Click icon to add picture</a:t>
            </a:r>
            <a:endParaRPr lang="en-US" dirty="0"/>
          </a:p>
        </p:txBody>
      </p:sp>
      <p:sp>
        <p:nvSpPr>
          <p:cNvPr id="4" name="Text Placeholder 3"/>
          <p:cNvSpPr>
            <a:spLocks noGrp="1"/>
          </p:cNvSpPr>
          <p:nvPr>
            <p:ph type="body" sz="half" idx="2"/>
          </p:nvPr>
        </p:nvSpPr>
        <p:spPr>
          <a:xfrm>
            <a:off x="961978" y="6505929"/>
            <a:ext cx="8866225" cy="654622"/>
          </a:xfrm>
        </p:spPr>
        <p:txBody>
          <a:bodyPr lIns="91440" tIns="0" rIns="91440" bIns="0">
            <a:normAutofit/>
          </a:bodyPr>
          <a:lstStyle>
            <a:lvl1pPr marL="0" indent="0">
              <a:spcBef>
                <a:spcPts val="0"/>
              </a:spcBef>
              <a:spcAft>
                <a:spcPts val="496"/>
              </a:spcAft>
              <a:buNone/>
              <a:defRPr sz="1239">
                <a:solidFill>
                  <a:srgbClr val="FFFFFF"/>
                </a:solidFill>
              </a:defRPr>
            </a:lvl1pPr>
            <a:lvl2pPr marL="377661" indent="0">
              <a:buNone/>
              <a:defRPr sz="991"/>
            </a:lvl2pPr>
            <a:lvl3pPr marL="755321" indent="0">
              <a:buNone/>
              <a:defRPr sz="826"/>
            </a:lvl3pPr>
            <a:lvl4pPr marL="1132983" indent="0">
              <a:buNone/>
              <a:defRPr sz="743"/>
            </a:lvl4pPr>
            <a:lvl5pPr marL="1510643" indent="0">
              <a:buNone/>
              <a:defRPr sz="743"/>
            </a:lvl5pPr>
            <a:lvl6pPr marL="1888303" indent="0">
              <a:buNone/>
              <a:defRPr sz="743"/>
            </a:lvl6pPr>
            <a:lvl7pPr marL="2265963" indent="0">
              <a:buNone/>
              <a:defRPr sz="743"/>
            </a:lvl7pPr>
            <a:lvl8pPr marL="2643624" indent="0">
              <a:buNone/>
              <a:defRPr sz="743"/>
            </a:lvl8pPr>
            <a:lvl9pPr marL="3021286" indent="0">
              <a:buNone/>
              <a:defRPr sz="743"/>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D8F11-E02F-4D3E-85B4-F4AEDD07F0EA}" type="slidenum">
              <a:rPr lang="en-US" smtClean="0"/>
              <a:t>‹#›</a:t>
            </a:fld>
            <a:endParaRPr lang="en-US"/>
          </a:p>
        </p:txBody>
      </p:sp>
      <p:sp>
        <p:nvSpPr>
          <p:cNvPr id="10" name="TextBox 9"/>
          <p:cNvSpPr txBox="1"/>
          <p:nvPr userDrawn="1"/>
        </p:nvSpPr>
        <p:spPr>
          <a:xfrm>
            <a:off x="9225001" y="7163269"/>
            <a:ext cx="1463637" cy="244811"/>
          </a:xfrm>
          <a:prstGeom prst="rect">
            <a:avLst/>
          </a:prstGeom>
          <a:noFill/>
        </p:spPr>
        <p:txBody>
          <a:bodyPr wrap="square" rtlCol="0">
            <a:spAutoFit/>
          </a:bodyPr>
          <a:lstStyle/>
          <a:p>
            <a:r>
              <a:rPr lang="en-US" sz="991" b="1" dirty="0">
                <a:solidFill>
                  <a:schemeClr val="bg1"/>
                </a:solidFill>
              </a:rPr>
              <a:t>www.hrrpnepal.org</a:t>
            </a:r>
          </a:p>
        </p:txBody>
      </p:sp>
    </p:spTree>
    <p:extLst>
      <p:ext uri="{BB962C8B-B14F-4D97-AF65-F5344CB8AC3E}">
        <p14:creationId xmlns:p14="http://schemas.microsoft.com/office/powerpoint/2010/main" val="3268925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Tree>
    <p:extLst>
      <p:ext uri="{BB962C8B-B14F-4D97-AF65-F5344CB8AC3E}">
        <p14:creationId xmlns:p14="http://schemas.microsoft.com/office/powerpoint/2010/main" val="951961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787" y="7049770"/>
            <a:ext cx="10685855"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976545"/>
            <a:ext cx="10685855" cy="704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649058" y="456838"/>
            <a:ext cx="2304738" cy="63411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4847" y="456832"/>
            <a:ext cx="6780605" cy="6341161"/>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D8F11-E02F-4D3E-85B4-F4AEDD07F0EA}" type="slidenum">
              <a:rPr lang="en-US" smtClean="0"/>
              <a:t>‹#›</a:t>
            </a:fld>
            <a:endParaRPr lang="en-US"/>
          </a:p>
        </p:txBody>
      </p:sp>
      <p:sp>
        <p:nvSpPr>
          <p:cNvPr id="9" name="TextBox 8"/>
          <p:cNvSpPr txBox="1"/>
          <p:nvPr userDrawn="1"/>
        </p:nvSpPr>
        <p:spPr>
          <a:xfrm>
            <a:off x="9225001" y="7163269"/>
            <a:ext cx="1463637" cy="244811"/>
          </a:xfrm>
          <a:prstGeom prst="rect">
            <a:avLst/>
          </a:prstGeom>
          <a:noFill/>
        </p:spPr>
        <p:txBody>
          <a:bodyPr wrap="square" rtlCol="0">
            <a:spAutoFit/>
          </a:bodyPr>
          <a:lstStyle/>
          <a:p>
            <a:r>
              <a:rPr lang="en-US" sz="991" b="1" dirty="0">
                <a:solidFill>
                  <a:schemeClr val="bg1"/>
                </a:solidFill>
              </a:rPr>
              <a:t>www.hrrpnepal.org</a:t>
            </a:r>
          </a:p>
        </p:txBody>
      </p:sp>
    </p:spTree>
    <p:extLst>
      <p:ext uri="{BB962C8B-B14F-4D97-AF65-F5344CB8AC3E}">
        <p14:creationId xmlns:p14="http://schemas.microsoft.com/office/powerpoint/2010/main" val="278782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064802"/>
            <a:ext cx="10688638" cy="503555"/>
          </a:xfrm>
          <a:prstGeom prst="rect">
            <a:avLst/>
          </a:prstGeom>
          <a:solidFill>
            <a:srgbClr val="0F5AA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487" dirty="0"/>
          </a:p>
        </p:txBody>
      </p:sp>
      <p:sp>
        <p:nvSpPr>
          <p:cNvPr id="9" name="Rectangle 8"/>
          <p:cNvSpPr/>
          <p:nvPr/>
        </p:nvSpPr>
        <p:spPr>
          <a:xfrm>
            <a:off x="3" y="6976545"/>
            <a:ext cx="10688639" cy="726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03907" y="285604"/>
            <a:ext cx="8818126" cy="120481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9629" y="1762301"/>
            <a:ext cx="10122016" cy="5031936"/>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231654" y="7114741"/>
            <a:ext cx="4228117" cy="402145"/>
          </a:xfrm>
          <a:prstGeom prst="rect">
            <a:avLst/>
          </a:prstGeom>
        </p:spPr>
        <p:txBody>
          <a:bodyPr vert="horz" lIns="91440" tIns="45720" rIns="91440" bIns="45720" rtlCol="0" anchor="ctr"/>
          <a:lstStyle>
            <a:lvl1pPr algn="ctr">
              <a:defRPr sz="743"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316180" y="7114741"/>
            <a:ext cx="1150243" cy="402145"/>
          </a:xfrm>
          <a:prstGeom prst="rect">
            <a:avLst/>
          </a:prstGeom>
        </p:spPr>
        <p:txBody>
          <a:bodyPr vert="horz" lIns="91440" tIns="45720" rIns="91440" bIns="45720" rtlCol="0" anchor="ctr"/>
          <a:lstStyle>
            <a:lvl1pPr algn="l">
              <a:defRPr sz="991">
                <a:solidFill>
                  <a:srgbClr val="FFFFFF"/>
                </a:solidFill>
              </a:defRPr>
            </a:lvl1pPr>
          </a:lstStyle>
          <a:p>
            <a:fld id="{4DED8F11-E02F-4D3E-85B4-F4AEDD07F0EA}" type="slidenum">
              <a:rPr lang="en-US" smtClean="0"/>
              <a:pPr/>
              <a:t>‹#›</a:t>
            </a:fld>
            <a:endParaRPr lang="en-US" dirty="0"/>
          </a:p>
        </p:txBody>
      </p:sp>
      <p:sp>
        <p:nvSpPr>
          <p:cNvPr id="12" name="TextBox 11"/>
          <p:cNvSpPr txBox="1"/>
          <p:nvPr userDrawn="1"/>
        </p:nvSpPr>
        <p:spPr>
          <a:xfrm>
            <a:off x="8981647" y="7163268"/>
            <a:ext cx="1706991" cy="261738"/>
          </a:xfrm>
          <a:prstGeom prst="rect">
            <a:avLst/>
          </a:prstGeom>
          <a:noFill/>
        </p:spPr>
        <p:txBody>
          <a:bodyPr wrap="square" rtlCol="0">
            <a:spAutoFit/>
          </a:bodyPr>
          <a:lstStyle/>
          <a:p>
            <a:r>
              <a:rPr lang="en-US" sz="1101" b="1" dirty="0">
                <a:solidFill>
                  <a:schemeClr val="bg1"/>
                </a:solidFill>
              </a:rPr>
              <a:t>www.hrrpnepal.org</a:t>
            </a:r>
          </a:p>
        </p:txBody>
      </p:sp>
      <p:pic>
        <p:nvPicPr>
          <p:cNvPr id="10" name="Pictur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235195" y="65053"/>
            <a:ext cx="1199894" cy="822960"/>
          </a:xfrm>
          <a:prstGeom prst="rect">
            <a:avLst/>
          </a:prstGeom>
        </p:spPr>
      </p:pic>
    </p:spTree>
    <p:extLst>
      <p:ext uri="{BB962C8B-B14F-4D97-AF65-F5344CB8AC3E}">
        <p14:creationId xmlns:p14="http://schemas.microsoft.com/office/powerpoint/2010/main" val="278728404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82" r:id="rId8"/>
    <p:sldLayoutId id="2147483676" r:id="rId9"/>
    <p:sldLayoutId id="2147483681" r:id="rId10"/>
    <p:sldLayoutId id="2147483677" r:id="rId11"/>
    <p:sldLayoutId id="2147483678" r:id="rId12"/>
    <p:sldLayoutId id="2147483679" r:id="rId13"/>
    <p:sldLayoutId id="2147483680" r:id="rId14"/>
  </p:sldLayoutIdLst>
  <p:hf hdr="0" ftr="0" dt="0"/>
  <p:txStyles>
    <p:titleStyle>
      <a:lvl1pPr algn="l" defTabSz="755321" rtl="0" eaLnBrk="1" latinLnBrk="0" hangingPunct="1">
        <a:lnSpc>
          <a:spcPct val="85000"/>
        </a:lnSpc>
        <a:spcBef>
          <a:spcPct val="0"/>
        </a:spcBef>
        <a:buNone/>
        <a:defRPr sz="3965" b="0" kern="1200" spc="-42" baseline="0">
          <a:solidFill>
            <a:srgbClr val="0F5AA5"/>
          </a:solidFill>
          <a:latin typeface="Georgia" panose="02040502050405020303" pitchFamily="18" charset="0"/>
          <a:ea typeface="+mj-ea"/>
          <a:cs typeface="Helvetica" panose="020B0604020202020204" pitchFamily="34" charset="0"/>
        </a:defRPr>
      </a:lvl1pPr>
    </p:titleStyle>
    <p:bodyStyle>
      <a:lvl1pPr marL="281935" indent="-281935" algn="l" defTabSz="755321" rtl="0" eaLnBrk="1" latinLnBrk="0" hangingPunct="1">
        <a:lnSpc>
          <a:spcPct val="114000"/>
        </a:lnSpc>
        <a:spcBef>
          <a:spcPts val="991"/>
        </a:spcBef>
        <a:spcAft>
          <a:spcPts val="165"/>
        </a:spcAft>
        <a:buClr>
          <a:srgbClr val="0F5AA5"/>
        </a:buClr>
        <a:buSzPct val="100000"/>
        <a:buFont typeface="Wingdings" panose="05000000000000000000" pitchFamily="2" charset="2"/>
        <a:buChar char="§"/>
        <a:defRPr sz="2423" kern="1200">
          <a:solidFill>
            <a:schemeClr val="tx1"/>
          </a:solidFill>
          <a:latin typeface="+mn-lt"/>
          <a:ea typeface="+mn-ea"/>
          <a:cs typeface="+mn-cs"/>
        </a:defRPr>
      </a:lvl1pPr>
      <a:lvl2pPr marL="473388" indent="-191453" algn="l" defTabSz="755321" rtl="0" eaLnBrk="1" latinLnBrk="0" hangingPunct="1">
        <a:lnSpc>
          <a:spcPct val="114000"/>
        </a:lnSpc>
        <a:spcBef>
          <a:spcPts val="165"/>
        </a:spcBef>
        <a:spcAft>
          <a:spcPts val="330"/>
        </a:spcAft>
        <a:buClr>
          <a:srgbClr val="0F5AA5"/>
        </a:buClr>
        <a:buFont typeface="Calibri" pitchFamily="34" charset="0"/>
        <a:buChar char="◦"/>
        <a:defRPr sz="2423" kern="1200">
          <a:solidFill>
            <a:schemeClr val="tx1"/>
          </a:solidFill>
          <a:latin typeface="+mn-lt"/>
          <a:ea typeface="+mn-ea"/>
          <a:cs typeface="+mn-cs"/>
        </a:defRPr>
      </a:lvl2pPr>
      <a:lvl3pPr marL="468300" indent="-151064" algn="l" defTabSz="755321" rtl="0" eaLnBrk="1" latinLnBrk="0" hangingPunct="1">
        <a:lnSpc>
          <a:spcPct val="114000"/>
        </a:lnSpc>
        <a:spcBef>
          <a:spcPts val="165"/>
        </a:spcBef>
        <a:spcAft>
          <a:spcPts val="330"/>
        </a:spcAft>
        <a:buClr>
          <a:schemeClr val="accent1"/>
        </a:buClr>
        <a:buFont typeface="Calibri" pitchFamily="34" charset="0"/>
        <a:buChar char="◦"/>
        <a:defRPr sz="2423" kern="1200">
          <a:solidFill>
            <a:schemeClr val="tx1">
              <a:lumMod val="75000"/>
              <a:lumOff val="25000"/>
            </a:schemeClr>
          </a:solidFill>
          <a:latin typeface="+mn-lt"/>
          <a:ea typeface="+mn-ea"/>
          <a:cs typeface="+mn-cs"/>
        </a:defRPr>
      </a:lvl3pPr>
      <a:lvl4pPr marL="619363" indent="-151064" algn="l" defTabSz="755321" rtl="0" eaLnBrk="1" latinLnBrk="0" hangingPunct="1">
        <a:lnSpc>
          <a:spcPct val="114000"/>
        </a:lnSpc>
        <a:spcBef>
          <a:spcPts val="165"/>
        </a:spcBef>
        <a:spcAft>
          <a:spcPts val="330"/>
        </a:spcAft>
        <a:buClr>
          <a:schemeClr val="accent1"/>
        </a:buClr>
        <a:buFont typeface="Calibri" pitchFamily="34" charset="0"/>
        <a:buChar char="◦"/>
        <a:defRPr sz="2423" kern="1200">
          <a:solidFill>
            <a:schemeClr val="tx1">
              <a:lumMod val="75000"/>
              <a:lumOff val="25000"/>
            </a:schemeClr>
          </a:solidFill>
          <a:latin typeface="+mn-lt"/>
          <a:ea typeface="+mn-ea"/>
          <a:cs typeface="+mn-cs"/>
        </a:defRPr>
      </a:lvl4pPr>
      <a:lvl5pPr marL="770428" indent="-151064" algn="l" defTabSz="755321" rtl="0" eaLnBrk="1" latinLnBrk="0" hangingPunct="1">
        <a:lnSpc>
          <a:spcPct val="114000"/>
        </a:lnSpc>
        <a:spcBef>
          <a:spcPts val="165"/>
        </a:spcBef>
        <a:spcAft>
          <a:spcPts val="330"/>
        </a:spcAft>
        <a:buClr>
          <a:schemeClr val="accent1"/>
        </a:buClr>
        <a:buFont typeface="Calibri" pitchFamily="34" charset="0"/>
        <a:buChar char="◦"/>
        <a:defRPr sz="2423" kern="1200">
          <a:solidFill>
            <a:schemeClr val="tx1">
              <a:lumMod val="75000"/>
              <a:lumOff val="25000"/>
            </a:schemeClr>
          </a:solidFill>
          <a:latin typeface="+mn-lt"/>
          <a:ea typeface="+mn-ea"/>
          <a:cs typeface="+mn-cs"/>
        </a:defRPr>
      </a:lvl5pPr>
      <a:lvl6pPr marL="908633" indent="-188831" algn="l" defTabSz="755321" rtl="0" eaLnBrk="1" latinLnBrk="0" hangingPunct="1">
        <a:lnSpc>
          <a:spcPct val="90000"/>
        </a:lnSpc>
        <a:spcBef>
          <a:spcPts val="165"/>
        </a:spcBef>
        <a:spcAft>
          <a:spcPts val="330"/>
        </a:spcAft>
        <a:buClr>
          <a:schemeClr val="accent1"/>
        </a:buClr>
        <a:buFont typeface="Calibri" pitchFamily="34" charset="0"/>
        <a:buChar char="◦"/>
        <a:defRPr sz="1156" kern="1200">
          <a:solidFill>
            <a:schemeClr val="tx1">
              <a:lumMod val="75000"/>
              <a:lumOff val="25000"/>
            </a:schemeClr>
          </a:solidFill>
          <a:latin typeface="+mn-lt"/>
          <a:ea typeface="+mn-ea"/>
          <a:cs typeface="+mn-cs"/>
        </a:defRPr>
      </a:lvl6pPr>
      <a:lvl7pPr marL="1073839" indent="-188831" algn="l" defTabSz="755321" rtl="0" eaLnBrk="1" latinLnBrk="0" hangingPunct="1">
        <a:lnSpc>
          <a:spcPct val="90000"/>
        </a:lnSpc>
        <a:spcBef>
          <a:spcPts val="165"/>
        </a:spcBef>
        <a:spcAft>
          <a:spcPts val="330"/>
        </a:spcAft>
        <a:buClr>
          <a:schemeClr val="accent1"/>
        </a:buClr>
        <a:buFont typeface="Calibri" pitchFamily="34" charset="0"/>
        <a:buChar char="◦"/>
        <a:defRPr sz="1156" kern="1200">
          <a:solidFill>
            <a:schemeClr val="tx1">
              <a:lumMod val="75000"/>
              <a:lumOff val="25000"/>
            </a:schemeClr>
          </a:solidFill>
          <a:latin typeface="+mn-lt"/>
          <a:ea typeface="+mn-ea"/>
          <a:cs typeface="+mn-cs"/>
        </a:defRPr>
      </a:lvl7pPr>
      <a:lvl8pPr marL="1239044" indent="-188831" algn="l" defTabSz="755321" rtl="0" eaLnBrk="1" latinLnBrk="0" hangingPunct="1">
        <a:lnSpc>
          <a:spcPct val="90000"/>
        </a:lnSpc>
        <a:spcBef>
          <a:spcPts val="165"/>
        </a:spcBef>
        <a:spcAft>
          <a:spcPts val="330"/>
        </a:spcAft>
        <a:buClr>
          <a:schemeClr val="accent1"/>
        </a:buClr>
        <a:buFont typeface="Calibri" pitchFamily="34" charset="0"/>
        <a:buChar char="◦"/>
        <a:defRPr sz="1156" kern="1200">
          <a:solidFill>
            <a:schemeClr val="tx1">
              <a:lumMod val="75000"/>
              <a:lumOff val="25000"/>
            </a:schemeClr>
          </a:solidFill>
          <a:latin typeface="+mn-lt"/>
          <a:ea typeface="+mn-ea"/>
          <a:cs typeface="+mn-cs"/>
        </a:defRPr>
      </a:lvl8pPr>
      <a:lvl9pPr marL="1404251" indent="-188831" algn="l" defTabSz="755321" rtl="0" eaLnBrk="1" latinLnBrk="0" hangingPunct="1">
        <a:lnSpc>
          <a:spcPct val="90000"/>
        </a:lnSpc>
        <a:spcBef>
          <a:spcPts val="165"/>
        </a:spcBef>
        <a:spcAft>
          <a:spcPts val="330"/>
        </a:spcAft>
        <a:buClr>
          <a:schemeClr val="accent1"/>
        </a:buClr>
        <a:buFont typeface="Calibri" pitchFamily="34" charset="0"/>
        <a:buChar char="◦"/>
        <a:defRPr sz="1156" kern="1200">
          <a:solidFill>
            <a:schemeClr val="tx1">
              <a:lumMod val="75000"/>
              <a:lumOff val="25000"/>
            </a:schemeClr>
          </a:solidFill>
          <a:latin typeface="+mn-lt"/>
          <a:ea typeface="+mn-ea"/>
          <a:cs typeface="+mn-cs"/>
        </a:defRPr>
      </a:lvl9pPr>
    </p:bodyStyle>
    <p:otherStyle>
      <a:defPPr>
        <a:defRPr lang="en-US"/>
      </a:defPPr>
      <a:lvl1pPr marL="0" algn="l" defTabSz="755321" rtl="0" eaLnBrk="1" latinLnBrk="0" hangingPunct="1">
        <a:defRPr sz="1487" kern="1200">
          <a:solidFill>
            <a:schemeClr val="tx1"/>
          </a:solidFill>
          <a:latin typeface="+mn-lt"/>
          <a:ea typeface="+mn-ea"/>
          <a:cs typeface="+mn-cs"/>
        </a:defRPr>
      </a:lvl1pPr>
      <a:lvl2pPr marL="377661" algn="l" defTabSz="755321" rtl="0" eaLnBrk="1" latinLnBrk="0" hangingPunct="1">
        <a:defRPr sz="1487" kern="1200">
          <a:solidFill>
            <a:schemeClr val="tx1"/>
          </a:solidFill>
          <a:latin typeface="+mn-lt"/>
          <a:ea typeface="+mn-ea"/>
          <a:cs typeface="+mn-cs"/>
        </a:defRPr>
      </a:lvl2pPr>
      <a:lvl3pPr marL="755321" algn="l" defTabSz="755321" rtl="0" eaLnBrk="1" latinLnBrk="0" hangingPunct="1">
        <a:defRPr sz="1487" kern="1200">
          <a:solidFill>
            <a:schemeClr val="tx1"/>
          </a:solidFill>
          <a:latin typeface="+mn-lt"/>
          <a:ea typeface="+mn-ea"/>
          <a:cs typeface="+mn-cs"/>
        </a:defRPr>
      </a:lvl3pPr>
      <a:lvl4pPr marL="1132983" algn="l" defTabSz="755321" rtl="0" eaLnBrk="1" latinLnBrk="0" hangingPunct="1">
        <a:defRPr sz="1487" kern="1200">
          <a:solidFill>
            <a:schemeClr val="tx1"/>
          </a:solidFill>
          <a:latin typeface="+mn-lt"/>
          <a:ea typeface="+mn-ea"/>
          <a:cs typeface="+mn-cs"/>
        </a:defRPr>
      </a:lvl4pPr>
      <a:lvl5pPr marL="1510643" algn="l" defTabSz="755321" rtl="0" eaLnBrk="1" latinLnBrk="0" hangingPunct="1">
        <a:defRPr sz="1487" kern="1200">
          <a:solidFill>
            <a:schemeClr val="tx1"/>
          </a:solidFill>
          <a:latin typeface="+mn-lt"/>
          <a:ea typeface="+mn-ea"/>
          <a:cs typeface="+mn-cs"/>
        </a:defRPr>
      </a:lvl5pPr>
      <a:lvl6pPr marL="1888303" algn="l" defTabSz="755321" rtl="0" eaLnBrk="1" latinLnBrk="0" hangingPunct="1">
        <a:defRPr sz="1487" kern="1200">
          <a:solidFill>
            <a:schemeClr val="tx1"/>
          </a:solidFill>
          <a:latin typeface="+mn-lt"/>
          <a:ea typeface="+mn-ea"/>
          <a:cs typeface="+mn-cs"/>
        </a:defRPr>
      </a:lvl6pPr>
      <a:lvl7pPr marL="2265963" algn="l" defTabSz="755321" rtl="0" eaLnBrk="1" latinLnBrk="0" hangingPunct="1">
        <a:defRPr sz="1487" kern="1200">
          <a:solidFill>
            <a:schemeClr val="tx1"/>
          </a:solidFill>
          <a:latin typeface="+mn-lt"/>
          <a:ea typeface="+mn-ea"/>
          <a:cs typeface="+mn-cs"/>
        </a:defRPr>
      </a:lvl7pPr>
      <a:lvl8pPr marL="2643624" algn="l" defTabSz="755321" rtl="0" eaLnBrk="1" latinLnBrk="0" hangingPunct="1">
        <a:defRPr sz="1487" kern="1200">
          <a:solidFill>
            <a:schemeClr val="tx1"/>
          </a:solidFill>
          <a:latin typeface="+mn-lt"/>
          <a:ea typeface="+mn-ea"/>
          <a:cs typeface="+mn-cs"/>
        </a:defRPr>
      </a:lvl8pPr>
      <a:lvl9pPr marL="3021286" algn="l" defTabSz="755321" rtl="0" eaLnBrk="1" latinLnBrk="0" hangingPunct="1">
        <a:defRPr sz="1487"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379" userDrawn="1">
          <p15:clr>
            <a:srgbClr val="F26B43"/>
          </p15:clr>
        </p15:guide>
        <p15:guide id="2" pos="336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437298" y="5547469"/>
            <a:ext cx="5833492" cy="1428917"/>
          </a:xfrm>
          <a:prstGeom prst="rect">
            <a:avLst/>
          </a:prstGeom>
          <a:noFill/>
        </p:spPr>
        <p:txBody>
          <a:bodyPr wrap="square" rtlCol="0">
            <a:spAutoFit/>
          </a:bodyPr>
          <a:lstStyle/>
          <a:p>
            <a:r>
              <a:rPr lang="en-US" sz="1487" b="1" dirty="0">
                <a:latin typeface="Arial (Body)"/>
                <a:cs typeface="Arial" panose="020B0604020202020204" pitchFamily="34" charset="0"/>
              </a:rPr>
              <a:t>Organized by:</a:t>
            </a:r>
          </a:p>
          <a:p>
            <a:pPr>
              <a:spcBef>
                <a:spcPts val="496"/>
              </a:spcBef>
            </a:pPr>
            <a:r>
              <a:rPr lang="en-US" sz="1487" b="1" dirty="0">
                <a:solidFill>
                  <a:srgbClr val="002060"/>
                </a:solidFill>
                <a:cs typeface="Arial" panose="020B0604020202020204" pitchFamily="34" charset="0"/>
              </a:rPr>
              <a:t>National Reconstruction Authority(NRA</a:t>
            </a:r>
            <a:r>
              <a:rPr lang="en-US" sz="1487" b="1" dirty="0" smtClean="0">
                <a:solidFill>
                  <a:srgbClr val="002060"/>
                </a:solidFill>
                <a:cs typeface="Arial" panose="020B0604020202020204" pitchFamily="34" charset="0"/>
              </a:rPr>
              <a:t>)-Rasuwa</a:t>
            </a:r>
            <a:endParaRPr lang="en-US" sz="1487" b="1" dirty="0">
              <a:solidFill>
                <a:srgbClr val="002060"/>
              </a:solidFill>
              <a:cs typeface="Arial" panose="020B0604020202020204" pitchFamily="34" charset="0"/>
            </a:endParaRPr>
          </a:p>
          <a:p>
            <a:pPr>
              <a:spcBef>
                <a:spcPts val="496"/>
              </a:spcBef>
            </a:pPr>
            <a:r>
              <a:rPr lang="en-US" sz="1487" b="1" dirty="0">
                <a:solidFill>
                  <a:srgbClr val="002060"/>
                </a:solidFill>
                <a:cs typeface="Arial" panose="020B0604020202020204" pitchFamily="34" charset="0"/>
              </a:rPr>
              <a:t>MOUD/District Project Implementation Unit (DLPIU</a:t>
            </a:r>
            <a:r>
              <a:rPr lang="en-US" sz="1487" b="1" dirty="0" smtClean="0">
                <a:solidFill>
                  <a:srgbClr val="002060"/>
                </a:solidFill>
                <a:cs typeface="Arial" panose="020B0604020202020204" pitchFamily="34" charset="0"/>
              </a:rPr>
              <a:t>)-Rasuwa</a:t>
            </a:r>
            <a:endParaRPr lang="en-US" sz="1487" b="1" dirty="0">
              <a:solidFill>
                <a:srgbClr val="002060"/>
              </a:solidFill>
              <a:cs typeface="Arial" panose="020B0604020202020204" pitchFamily="34" charset="0"/>
            </a:endParaRPr>
          </a:p>
          <a:p>
            <a:pPr>
              <a:spcBef>
                <a:spcPts val="496"/>
              </a:spcBef>
            </a:pPr>
            <a:r>
              <a:rPr lang="en-US" sz="1487" b="1" dirty="0">
                <a:solidFill>
                  <a:srgbClr val="002060"/>
                </a:solidFill>
                <a:cs typeface="Arial" panose="020B0604020202020204" pitchFamily="34" charset="0"/>
              </a:rPr>
              <a:t>Housing Recovery and Reconstruction Platform-Nepal (HRRP</a:t>
            </a:r>
            <a:r>
              <a:rPr lang="en-US" sz="1487" dirty="0" smtClean="0">
                <a:solidFill>
                  <a:srgbClr val="002060"/>
                </a:solidFill>
                <a:cs typeface="Arial" panose="020B0604020202020204" pitchFamily="34" charset="0"/>
              </a:rPr>
              <a:t>)-</a:t>
            </a:r>
            <a:r>
              <a:rPr lang="en-US" sz="1487" b="1" dirty="0" smtClean="0">
                <a:solidFill>
                  <a:srgbClr val="002060"/>
                </a:solidFill>
                <a:cs typeface="Arial" panose="020B0604020202020204" pitchFamily="34" charset="0"/>
              </a:rPr>
              <a:t>Rasuwa</a:t>
            </a:r>
            <a:endParaRPr lang="en-US" sz="1487" b="1" dirty="0">
              <a:solidFill>
                <a:srgbClr val="002060"/>
              </a:solidFill>
              <a:cs typeface="Arial" panose="020B0604020202020204" pitchFamily="34" charset="0"/>
            </a:endParaRPr>
          </a:p>
          <a:p>
            <a:endParaRPr lang="en-US" sz="1487" dirty="0">
              <a:latin typeface="Arial (Body)"/>
              <a:cs typeface="Arial" panose="020B0604020202020204" pitchFamily="34" charset="0"/>
            </a:endParaRPr>
          </a:p>
        </p:txBody>
      </p:sp>
      <p:sp>
        <p:nvSpPr>
          <p:cNvPr id="2" name="Slide Number Placeholder 1"/>
          <p:cNvSpPr>
            <a:spLocks noGrp="1"/>
          </p:cNvSpPr>
          <p:nvPr>
            <p:ph type="sldNum" sz="quarter" idx="12"/>
          </p:nvPr>
        </p:nvSpPr>
        <p:spPr>
          <a:xfrm>
            <a:off x="36597" y="7110715"/>
            <a:ext cx="570084" cy="402145"/>
          </a:xfrm>
        </p:spPr>
        <p:txBody>
          <a:bodyPr/>
          <a:lstStyle/>
          <a:p>
            <a:fld id="{4DED8F11-E02F-4D3E-85B4-F4AEDD07F0EA}" type="slidenum">
              <a:rPr lang="en-US" sz="1800" smtClean="0"/>
              <a:t>1</a:t>
            </a:fld>
            <a:endParaRPr lang="en-US" sz="1800" dirty="0"/>
          </a:p>
        </p:txBody>
      </p:sp>
      <p:sp>
        <p:nvSpPr>
          <p:cNvPr id="3" name="TextBox 2"/>
          <p:cNvSpPr txBox="1"/>
          <p:nvPr/>
        </p:nvSpPr>
        <p:spPr>
          <a:xfrm>
            <a:off x="5081667" y="2540596"/>
            <a:ext cx="5366478" cy="1754326"/>
          </a:xfrm>
          <a:prstGeom prst="rect">
            <a:avLst/>
          </a:prstGeom>
          <a:noFill/>
        </p:spPr>
        <p:txBody>
          <a:bodyPr wrap="square" rtlCol="0">
            <a:spAutoFit/>
          </a:bodyPr>
          <a:lstStyle/>
          <a:p>
            <a:r>
              <a:rPr lang="en-US" sz="5400" b="1" dirty="0" smtClean="0">
                <a:solidFill>
                  <a:schemeClr val="tx2"/>
                </a:solidFill>
              </a:rPr>
              <a:t>Coordination Meeting  </a:t>
            </a:r>
            <a:endParaRPr lang="en-US" sz="5400" b="1" dirty="0">
              <a:solidFill>
                <a:schemeClr val="tx2"/>
              </a:solidFill>
            </a:endParaRPr>
          </a:p>
        </p:txBody>
      </p:sp>
      <p:cxnSp>
        <p:nvCxnSpPr>
          <p:cNvPr id="8" name="Straight Connector 7"/>
          <p:cNvCxnSpPr/>
          <p:nvPr/>
        </p:nvCxnSpPr>
        <p:spPr>
          <a:xfrm>
            <a:off x="4660066" y="630063"/>
            <a:ext cx="0" cy="4775171"/>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34911" y="1740377"/>
            <a:ext cx="4497049" cy="2554545"/>
          </a:xfrm>
          <a:prstGeom prst="rect">
            <a:avLst/>
          </a:prstGeom>
          <a:noFill/>
        </p:spPr>
        <p:txBody>
          <a:bodyPr wrap="square" rtlCol="0">
            <a:spAutoFit/>
          </a:bodyPr>
          <a:lstStyle/>
          <a:p>
            <a:pPr>
              <a:spcBef>
                <a:spcPts val="496"/>
              </a:spcBef>
            </a:pPr>
            <a:r>
              <a:rPr lang="en-US" sz="3200" b="1" dirty="0">
                <a:solidFill>
                  <a:srgbClr val="002060"/>
                </a:solidFill>
                <a:cs typeface="Arial" panose="020B0604020202020204" pitchFamily="34" charset="0"/>
              </a:rPr>
              <a:t>Housing Recovery and Reconstruction Platform-Nepal (HRRP</a:t>
            </a:r>
            <a:r>
              <a:rPr lang="en-US" sz="3200" dirty="0">
                <a:solidFill>
                  <a:srgbClr val="002060"/>
                </a:solidFill>
                <a:cs typeface="Arial" panose="020B0604020202020204" pitchFamily="34" charset="0"/>
              </a:rPr>
              <a:t>)-</a:t>
            </a:r>
            <a:r>
              <a:rPr lang="en-US" sz="3200" b="1" dirty="0">
                <a:solidFill>
                  <a:srgbClr val="002060"/>
                </a:solidFill>
                <a:cs typeface="Arial" panose="020B0604020202020204" pitchFamily="34" charset="0"/>
              </a:rPr>
              <a:t>Rasuwa</a:t>
            </a:r>
          </a:p>
          <a:p>
            <a:endParaRPr lang="en-US" sz="3200" dirty="0">
              <a:latin typeface="Arial (Body)"/>
              <a:cs typeface="Arial" panose="020B0604020202020204" pitchFamily="34" charset="0"/>
            </a:endParaRPr>
          </a:p>
          <a:p>
            <a:endParaRPr lang="en-US" sz="3200" b="1" dirty="0">
              <a:solidFill>
                <a:schemeClr val="tx2"/>
              </a:solidFill>
            </a:endParaRPr>
          </a:p>
        </p:txBody>
      </p:sp>
    </p:spTree>
    <p:extLst>
      <p:ext uri="{BB962C8B-B14F-4D97-AF65-F5344CB8AC3E}">
        <p14:creationId xmlns:p14="http://schemas.microsoft.com/office/powerpoint/2010/main" val="42653282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818126" cy="1204819"/>
          </a:xfrm>
        </p:spPr>
        <p:txBody>
          <a:bodyPr/>
          <a:lstStyle/>
          <a:p>
            <a:r>
              <a:rPr lang="en-US" dirty="0" smtClean="0"/>
              <a:t>Program Schedule </a:t>
            </a:r>
            <a:endParaRPr lang="en-US" dirty="0"/>
          </a:p>
        </p:txBody>
      </p:sp>
      <p:sp>
        <p:nvSpPr>
          <p:cNvPr id="3" name="Slide Number Placeholder 2"/>
          <p:cNvSpPr>
            <a:spLocks noGrp="1"/>
          </p:cNvSpPr>
          <p:nvPr>
            <p:ph type="sldNum" sz="quarter" idx="12"/>
          </p:nvPr>
        </p:nvSpPr>
        <p:spPr/>
        <p:txBody>
          <a:bodyPr/>
          <a:lstStyle/>
          <a:p>
            <a:fld id="{4DED8F11-E02F-4D3E-85B4-F4AEDD07F0EA}" type="slidenum">
              <a:rPr lang="en-US" smtClean="0"/>
              <a:t>2</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435" y="1168539"/>
            <a:ext cx="9200001" cy="5695238"/>
          </a:xfrm>
          <a:prstGeom prst="rect">
            <a:avLst/>
          </a:prstGeom>
        </p:spPr>
      </p:pic>
    </p:spTree>
    <p:extLst>
      <p:ext uri="{BB962C8B-B14F-4D97-AF65-F5344CB8AC3E}">
        <p14:creationId xmlns:p14="http://schemas.microsoft.com/office/powerpoint/2010/main" val="2000622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302" y="182880"/>
            <a:ext cx="8308658" cy="654014"/>
          </a:xfrm>
        </p:spPr>
        <p:txBody>
          <a:bodyPr/>
          <a:lstStyle/>
          <a:p>
            <a:pPr algn="ctr"/>
            <a:r>
              <a:rPr lang="en-US" dirty="0"/>
              <a:t>Agenda</a:t>
            </a:r>
          </a:p>
        </p:txBody>
      </p:sp>
      <p:sp>
        <p:nvSpPr>
          <p:cNvPr id="4" name="Slide Number Placeholder 3"/>
          <p:cNvSpPr>
            <a:spLocks noGrp="1"/>
          </p:cNvSpPr>
          <p:nvPr>
            <p:ph type="sldNum" sz="quarter" idx="12"/>
          </p:nvPr>
        </p:nvSpPr>
        <p:spPr/>
        <p:txBody>
          <a:bodyPr/>
          <a:lstStyle/>
          <a:p>
            <a:fld id="{4DED8F11-E02F-4D3E-85B4-F4AEDD07F0EA}" type="slidenum">
              <a:rPr lang="en-US" smtClean="0"/>
              <a:t>3</a:t>
            </a:fld>
            <a:endParaRPr lang="en-US" dirty="0"/>
          </a:p>
        </p:txBody>
      </p:sp>
      <p:sp>
        <p:nvSpPr>
          <p:cNvPr id="3" name="Content Placeholder 2"/>
          <p:cNvSpPr>
            <a:spLocks noGrp="1"/>
          </p:cNvSpPr>
          <p:nvPr>
            <p:ph idx="1"/>
          </p:nvPr>
        </p:nvSpPr>
        <p:spPr>
          <a:xfrm>
            <a:off x="264715" y="1477487"/>
            <a:ext cx="10021795" cy="5031936"/>
          </a:xfrm>
        </p:spPr>
        <p:txBody>
          <a:bodyPr>
            <a:noAutofit/>
          </a:bodyPr>
          <a:lstStyle/>
          <a:p>
            <a:pPr lvl="1">
              <a:buFont typeface="Wingdings" panose="05000000000000000000" pitchFamily="2" charset="2"/>
              <a:buChar char="v"/>
            </a:pPr>
            <a:r>
              <a:rPr lang="en-US" sz="2400" dirty="0">
                <a:solidFill>
                  <a:schemeClr val="tx2"/>
                </a:solidFill>
                <a:latin typeface="arial"/>
              </a:rPr>
              <a:t>Introduction and Welcome </a:t>
            </a:r>
          </a:p>
          <a:p>
            <a:pPr>
              <a:buFont typeface="Wingdings" panose="05000000000000000000" pitchFamily="2" charset="2"/>
              <a:buChar char="v"/>
            </a:pPr>
            <a:r>
              <a:rPr lang="en-US" sz="2400" dirty="0" smtClean="0">
                <a:solidFill>
                  <a:schemeClr val="tx2"/>
                </a:solidFill>
                <a:latin typeface="arial"/>
              </a:rPr>
              <a:t> Reconstruction </a:t>
            </a:r>
            <a:r>
              <a:rPr lang="en-US" sz="2400" dirty="0">
                <a:solidFill>
                  <a:schemeClr val="tx2"/>
                </a:solidFill>
                <a:latin typeface="arial"/>
              </a:rPr>
              <a:t>Update - HRRP </a:t>
            </a:r>
          </a:p>
          <a:p>
            <a:pPr>
              <a:buFont typeface="Wingdings" panose="05000000000000000000" pitchFamily="2" charset="2"/>
              <a:buChar char="v"/>
            </a:pPr>
            <a:r>
              <a:rPr lang="en-US" sz="2400" dirty="0" smtClean="0">
                <a:solidFill>
                  <a:schemeClr val="tx2"/>
                </a:solidFill>
                <a:latin typeface="arial"/>
              </a:rPr>
              <a:t>Partners </a:t>
            </a:r>
            <a:r>
              <a:rPr lang="en-US" sz="2400" dirty="0">
                <a:solidFill>
                  <a:schemeClr val="tx2"/>
                </a:solidFill>
                <a:latin typeface="arial"/>
              </a:rPr>
              <a:t>Update - Partners Organization (Presentation is most appreciated  if possible  ) </a:t>
            </a:r>
          </a:p>
          <a:p>
            <a:pPr>
              <a:buFont typeface="Wingdings" panose="05000000000000000000" pitchFamily="2" charset="2"/>
              <a:buChar char="v"/>
            </a:pPr>
            <a:r>
              <a:rPr lang="en-US" sz="2400" dirty="0" smtClean="0">
                <a:solidFill>
                  <a:schemeClr val="tx2"/>
                </a:solidFill>
                <a:latin typeface="arial"/>
              </a:rPr>
              <a:t>Remarks ,Update </a:t>
            </a:r>
            <a:r>
              <a:rPr lang="en-US" sz="2400" dirty="0">
                <a:solidFill>
                  <a:schemeClr val="tx2"/>
                </a:solidFill>
                <a:latin typeface="arial"/>
              </a:rPr>
              <a:t>from DLPIU .</a:t>
            </a:r>
          </a:p>
          <a:p>
            <a:pPr>
              <a:buFont typeface="Wingdings" panose="05000000000000000000" pitchFamily="2" charset="2"/>
              <a:buChar char="v"/>
            </a:pPr>
            <a:r>
              <a:rPr lang="en-US" sz="2400" dirty="0" smtClean="0">
                <a:solidFill>
                  <a:schemeClr val="tx2"/>
                </a:solidFill>
                <a:latin typeface="arial"/>
              </a:rPr>
              <a:t>Remarks ,Update </a:t>
            </a:r>
            <a:r>
              <a:rPr lang="en-US" sz="2400" dirty="0">
                <a:solidFill>
                  <a:schemeClr val="tx2"/>
                </a:solidFill>
                <a:latin typeface="arial"/>
              </a:rPr>
              <a:t>from NRA .</a:t>
            </a:r>
          </a:p>
          <a:p>
            <a:pPr>
              <a:buFont typeface="Wingdings" panose="05000000000000000000" pitchFamily="2" charset="2"/>
              <a:buChar char="v"/>
            </a:pPr>
            <a:r>
              <a:rPr lang="en-US" sz="2400" dirty="0" smtClean="0">
                <a:solidFill>
                  <a:schemeClr val="tx2"/>
                </a:solidFill>
                <a:latin typeface="arial"/>
              </a:rPr>
              <a:t>District </a:t>
            </a:r>
            <a:r>
              <a:rPr lang="en-US" sz="2400" dirty="0">
                <a:solidFill>
                  <a:schemeClr val="tx2"/>
                </a:solidFill>
                <a:latin typeface="arial"/>
              </a:rPr>
              <a:t>Issue </a:t>
            </a:r>
            <a:r>
              <a:rPr lang="en-US" sz="2400" dirty="0" smtClean="0">
                <a:solidFill>
                  <a:schemeClr val="tx2"/>
                </a:solidFill>
                <a:latin typeface="arial"/>
              </a:rPr>
              <a:t>,challenges and Way forward .</a:t>
            </a:r>
            <a:endParaRPr lang="en-US" sz="2400" dirty="0">
              <a:solidFill>
                <a:schemeClr val="tx2"/>
              </a:solidFill>
              <a:latin typeface="arial"/>
            </a:endParaRPr>
          </a:p>
          <a:p>
            <a:pPr>
              <a:buFont typeface="Wingdings" panose="05000000000000000000" pitchFamily="2" charset="2"/>
              <a:buChar char="v"/>
            </a:pPr>
            <a:r>
              <a:rPr lang="en-US" sz="2400" dirty="0" smtClean="0">
                <a:solidFill>
                  <a:schemeClr val="tx2"/>
                </a:solidFill>
                <a:latin typeface="arial"/>
              </a:rPr>
              <a:t>AOB</a:t>
            </a:r>
            <a:r>
              <a:rPr lang="en-US" sz="2400" dirty="0">
                <a:solidFill>
                  <a:schemeClr val="tx2"/>
                </a:solidFill>
                <a:latin typeface="arial"/>
              </a:rPr>
              <a:t>. </a:t>
            </a:r>
          </a:p>
          <a:p>
            <a:pPr marL="0" indent="0">
              <a:buNone/>
            </a:pPr>
            <a:r>
              <a:rPr lang="en-US" sz="2400" dirty="0">
                <a:solidFill>
                  <a:schemeClr val="tx2"/>
                </a:solidFill>
              </a:rPr>
              <a:t/>
            </a:r>
            <a:br>
              <a:rPr lang="en-US" sz="2400" dirty="0">
                <a:solidFill>
                  <a:schemeClr val="tx2"/>
                </a:solidFill>
              </a:rPr>
            </a:br>
            <a:endParaRPr lang="en-US" sz="2400" dirty="0">
              <a:solidFill>
                <a:schemeClr val="tx2"/>
              </a:solidFill>
            </a:endParaRPr>
          </a:p>
        </p:txBody>
      </p:sp>
    </p:spTree>
    <p:extLst>
      <p:ext uri="{BB962C8B-B14F-4D97-AF65-F5344CB8AC3E}">
        <p14:creationId xmlns:p14="http://schemas.microsoft.com/office/powerpoint/2010/main" val="22610329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4</a:t>
            </a:fld>
            <a:endParaRPr lang="en-US" dirty="0"/>
          </a:p>
        </p:txBody>
      </p:sp>
      <p:sp>
        <p:nvSpPr>
          <p:cNvPr id="5" name="Content Placeholder 4"/>
          <p:cNvSpPr>
            <a:spLocks noGrp="1"/>
          </p:cNvSpPr>
          <p:nvPr>
            <p:ph idx="1"/>
          </p:nvPr>
        </p:nvSpPr>
        <p:spPr/>
        <p:txBody>
          <a:bodyPr>
            <a:normAutofit/>
          </a:bodyPr>
          <a:lstStyle/>
          <a:p>
            <a:pPr marL="342900" marR="0" lvl="0" indent="-342900">
              <a:lnSpc>
                <a:spcPct val="113000"/>
              </a:lnSpc>
              <a:spcBef>
                <a:spcPts val="0"/>
              </a:spcBef>
              <a:spcAft>
                <a:spcPts val="200"/>
              </a:spcAft>
              <a:buFont typeface="Wingdings"/>
              <a:buChar char=""/>
              <a:tabLst>
                <a:tab pos="457200" algn="l"/>
              </a:tabLst>
            </a:pPr>
            <a:r>
              <a:rPr lang="en-US" sz="1800" dirty="0">
                <a:latin typeface="Arial" panose="020B0604020202020204" pitchFamily="34" charset="0"/>
                <a:cs typeface="Arial" panose="020B0604020202020204" pitchFamily="34" charset="0"/>
              </a:rPr>
              <a:t>Rasuwa is one of the 14 most earthquake affected districts which comprise of 5 Rural Municipality. More than 63% of the district’s territory is at an elevation of more than 3000 meters. Of the remaining territory, most parts are located at an elevation between 1000 – 3000 meters.</a:t>
            </a:r>
          </a:p>
          <a:p>
            <a:pPr marL="228600" marR="0">
              <a:lnSpc>
                <a:spcPct val="107000"/>
              </a:lnSpc>
              <a:spcBef>
                <a:spcPts val="0"/>
              </a:spcBef>
              <a:spcAft>
                <a:spcPts val="0"/>
              </a:spcAft>
            </a:pPr>
            <a:endParaRPr lang="en-US" sz="1800" dirty="0" smtClean="0">
              <a:solidFill>
                <a:srgbClr val="000000"/>
              </a:solidFill>
              <a:latin typeface="Arial Narrow"/>
              <a:ea typeface="Times New Roman"/>
              <a:cs typeface="Segoe UI Light"/>
            </a:endParaRPr>
          </a:p>
          <a:p>
            <a:pPr marL="228600" marR="0">
              <a:lnSpc>
                <a:spcPct val="107000"/>
              </a:lnSpc>
              <a:spcBef>
                <a:spcPts val="0"/>
              </a:spcBef>
              <a:spcAft>
                <a:spcPts val="0"/>
              </a:spcAft>
            </a:pPr>
            <a:r>
              <a:rPr lang="en-US" sz="2400" dirty="0" smtClean="0">
                <a:solidFill>
                  <a:srgbClr val="000000"/>
                </a:solidFill>
                <a:latin typeface="Arial Narrow"/>
                <a:ea typeface="Times New Roman"/>
                <a:cs typeface="Segoe UI Light"/>
              </a:rPr>
              <a:t>Total </a:t>
            </a:r>
            <a:r>
              <a:rPr lang="en-US" sz="2400" dirty="0">
                <a:solidFill>
                  <a:srgbClr val="000000"/>
                </a:solidFill>
                <a:latin typeface="Arial Narrow"/>
                <a:ea typeface="Times New Roman"/>
                <a:cs typeface="Segoe UI Light"/>
              </a:rPr>
              <a:t>Population: 43,385 </a:t>
            </a:r>
            <a:endParaRPr lang="en-US" sz="2400" dirty="0">
              <a:ea typeface="Calibri"/>
              <a:cs typeface="Mangal"/>
            </a:endParaRPr>
          </a:p>
          <a:p>
            <a:pPr marL="228600" marR="0">
              <a:lnSpc>
                <a:spcPct val="107000"/>
              </a:lnSpc>
              <a:spcBef>
                <a:spcPts val="0"/>
              </a:spcBef>
              <a:spcAft>
                <a:spcPts val="0"/>
              </a:spcAft>
            </a:pPr>
            <a:r>
              <a:rPr lang="en-US" sz="2400" dirty="0">
                <a:solidFill>
                  <a:srgbClr val="000000"/>
                </a:solidFill>
                <a:latin typeface="Arial Narrow"/>
                <a:ea typeface="Times New Roman"/>
                <a:cs typeface="Segoe UI Light"/>
              </a:rPr>
              <a:t>(Female: 21,825 and Male: 21,475)</a:t>
            </a:r>
            <a:endParaRPr lang="en-US" sz="2400" dirty="0">
              <a:ea typeface="Calibri"/>
              <a:cs typeface="Mangal"/>
            </a:endParaRPr>
          </a:p>
          <a:p>
            <a:pPr marL="228600" marR="0">
              <a:lnSpc>
                <a:spcPct val="107000"/>
              </a:lnSpc>
              <a:spcBef>
                <a:spcPts val="0"/>
              </a:spcBef>
              <a:spcAft>
                <a:spcPts val="0"/>
              </a:spcAft>
            </a:pPr>
            <a:r>
              <a:rPr lang="en-US" sz="2400" dirty="0">
                <a:solidFill>
                  <a:srgbClr val="000000"/>
                </a:solidFill>
                <a:latin typeface="Arial Narrow"/>
                <a:ea typeface="Times New Roman"/>
                <a:cs typeface="Segoe UI Light"/>
              </a:rPr>
              <a:t>Total Area: 1544 square km</a:t>
            </a:r>
            <a:endParaRPr lang="en-US" sz="2400" dirty="0">
              <a:ea typeface="Calibri"/>
              <a:cs typeface="Mangal"/>
            </a:endParaRPr>
          </a:p>
          <a:p>
            <a:pPr marL="228600" marR="0">
              <a:lnSpc>
                <a:spcPct val="107000"/>
              </a:lnSpc>
              <a:spcBef>
                <a:spcPts val="0"/>
              </a:spcBef>
              <a:spcAft>
                <a:spcPts val="0"/>
              </a:spcAft>
            </a:pPr>
            <a:r>
              <a:rPr lang="en-US" sz="2400" dirty="0">
                <a:solidFill>
                  <a:srgbClr val="333333"/>
                </a:solidFill>
                <a:latin typeface="Arial Narrow"/>
                <a:ea typeface="Times New Roman"/>
                <a:cs typeface="Segoe UI Light"/>
              </a:rPr>
              <a:t>Rural Municipality: 5</a:t>
            </a:r>
            <a:endParaRPr lang="en-US" sz="2400" dirty="0">
              <a:ea typeface="Calibri"/>
              <a:cs typeface="Mangal"/>
            </a:endParaRPr>
          </a:p>
          <a:p>
            <a:pPr marL="228600" marR="0">
              <a:lnSpc>
                <a:spcPct val="107000"/>
              </a:lnSpc>
              <a:spcBef>
                <a:spcPts val="0"/>
              </a:spcBef>
              <a:spcAft>
                <a:spcPts val="0"/>
              </a:spcAft>
            </a:pPr>
            <a:r>
              <a:rPr lang="en-US" sz="2400" dirty="0">
                <a:solidFill>
                  <a:srgbClr val="333333"/>
                </a:solidFill>
                <a:latin typeface="Arial Narrow"/>
                <a:ea typeface="Times New Roman"/>
                <a:cs typeface="Segoe UI Light"/>
              </a:rPr>
              <a:t>Total Wards: </a:t>
            </a:r>
            <a:r>
              <a:rPr lang="en-US" sz="2400" dirty="0" smtClean="0">
                <a:solidFill>
                  <a:srgbClr val="333333"/>
                </a:solidFill>
                <a:latin typeface="Arial Narrow"/>
                <a:ea typeface="Times New Roman"/>
                <a:cs typeface="Segoe UI Light"/>
              </a:rPr>
              <a:t>27</a:t>
            </a:r>
            <a:endParaRPr lang="en-US" sz="2400" dirty="0">
              <a:ea typeface="Calibri"/>
              <a:cs typeface="Mangal"/>
            </a:endParaRPr>
          </a:p>
        </p:txBody>
      </p:sp>
    </p:spTree>
    <p:extLst>
      <p:ext uri="{BB962C8B-B14F-4D97-AF65-F5344CB8AC3E}">
        <p14:creationId xmlns:p14="http://schemas.microsoft.com/office/powerpoint/2010/main" val="637811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Destruction by earthquake 25 April, 2017 </a:t>
            </a:r>
          </a:p>
        </p:txBody>
      </p:sp>
      <p:sp>
        <p:nvSpPr>
          <p:cNvPr id="3" name="Content Placeholder 2"/>
          <p:cNvSpPr>
            <a:spLocks noGrp="1"/>
          </p:cNvSpPr>
          <p:nvPr>
            <p:ph idx="1"/>
          </p:nvPr>
        </p:nvSpPr>
        <p:spPr>
          <a:xfrm>
            <a:off x="264715" y="1402537"/>
            <a:ext cx="10021795" cy="5031936"/>
          </a:xfrm>
        </p:spPr>
        <p:txBody>
          <a:bodyPr>
            <a:normAutofit/>
          </a:bodyPr>
          <a:lstStyle/>
          <a:p>
            <a:pPr marL="175265" marR="0" indent="-457200">
              <a:lnSpc>
                <a:spcPct val="107000"/>
              </a:lnSpc>
              <a:spcBef>
                <a:spcPts val="0"/>
              </a:spcBef>
              <a:spcAft>
                <a:spcPts val="0"/>
              </a:spcAft>
              <a:buFont typeface="Arial" panose="020B0604020202020204" pitchFamily="34" charset="0"/>
              <a:buChar char="•"/>
            </a:pPr>
            <a:endParaRPr lang="en-US" sz="2400" dirty="0" smtClean="0">
              <a:latin typeface="Arial Narrow"/>
              <a:ea typeface="Times New Roman"/>
              <a:cs typeface="Segoe UI Light"/>
            </a:endParaRPr>
          </a:p>
          <a:p>
            <a:pPr marL="175265" marR="0" indent="-457200">
              <a:lnSpc>
                <a:spcPct val="107000"/>
              </a:lnSpc>
              <a:spcBef>
                <a:spcPts val="0"/>
              </a:spcBef>
              <a:spcAft>
                <a:spcPts val="0"/>
              </a:spcAft>
              <a:buFont typeface="Arial" panose="020B0604020202020204" pitchFamily="34" charset="0"/>
              <a:buChar char="•"/>
            </a:pPr>
            <a:endParaRPr lang="en-US" sz="2400" dirty="0">
              <a:latin typeface="Arial Narrow"/>
              <a:ea typeface="Times New Roman"/>
              <a:cs typeface="Segoe UI Light"/>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of Death =656</a:t>
            </a:r>
            <a:endParaRPr lang="en-US" sz="2400" dirty="0">
              <a:ea typeface="Calibri"/>
              <a:cs typeface="Mangal"/>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of Injured People =694 </a:t>
            </a:r>
            <a:endParaRPr lang="en-US" sz="2400" dirty="0">
              <a:ea typeface="Calibri"/>
              <a:cs typeface="Mangal"/>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of Damaged Houses = 12,224 </a:t>
            </a:r>
            <a:endParaRPr lang="en-US" sz="2400" dirty="0">
              <a:ea typeface="Calibri"/>
              <a:cs typeface="Mangal"/>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of Partially Damaged Houses=620</a:t>
            </a:r>
            <a:endParaRPr lang="en-US" sz="2400" dirty="0">
              <a:ea typeface="Calibri"/>
              <a:cs typeface="Mangal"/>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Damaged Schools = 98 </a:t>
            </a:r>
            <a:endParaRPr lang="en-US" sz="2400" dirty="0">
              <a:ea typeface="Calibri"/>
              <a:cs typeface="Mangal"/>
            </a:endParaRPr>
          </a:p>
          <a:p>
            <a:pPr marL="175265" marR="0" indent="-457200">
              <a:lnSpc>
                <a:spcPct val="107000"/>
              </a:lnSpc>
              <a:spcBef>
                <a:spcPts val="0"/>
              </a:spcBef>
              <a:spcAft>
                <a:spcPts val="0"/>
              </a:spcAft>
              <a:buFont typeface="Arial" panose="020B0604020202020204" pitchFamily="34" charset="0"/>
              <a:buChar char="•"/>
            </a:pPr>
            <a:r>
              <a:rPr lang="en-US" sz="2400" dirty="0" smtClean="0">
                <a:latin typeface="Arial Narrow"/>
                <a:ea typeface="Times New Roman"/>
                <a:cs typeface="Segoe UI Light"/>
              </a:rPr>
              <a:t>Number </a:t>
            </a:r>
            <a:r>
              <a:rPr lang="en-US" sz="2400" dirty="0">
                <a:latin typeface="Arial Narrow"/>
                <a:ea typeface="Times New Roman"/>
                <a:cs typeface="Segoe UI Light"/>
              </a:rPr>
              <a:t>of Damaged Health center=16 </a:t>
            </a:r>
            <a:endParaRPr lang="en-US" sz="2400" dirty="0">
              <a:ea typeface="Calibri"/>
              <a:cs typeface="Mangal"/>
            </a:endParaRPr>
          </a:p>
          <a:p>
            <a:pPr>
              <a:buFont typeface="Arial" panose="020B0604020202020204" pitchFamily="34" charset="0"/>
              <a:buChar char="•"/>
            </a:pPr>
            <a:endParaRPr lang="en-US" sz="2400" dirty="0"/>
          </a:p>
        </p:txBody>
      </p:sp>
      <p:sp>
        <p:nvSpPr>
          <p:cNvPr id="4" name="Slide Number Placeholder 3"/>
          <p:cNvSpPr>
            <a:spLocks noGrp="1"/>
          </p:cNvSpPr>
          <p:nvPr>
            <p:ph type="sldNum" sz="quarter" idx="12"/>
          </p:nvPr>
        </p:nvSpPr>
        <p:spPr/>
        <p:txBody>
          <a:bodyPr/>
          <a:lstStyle/>
          <a:p>
            <a:fld id="{4DED8F11-E02F-4D3E-85B4-F4AEDD07F0EA}" type="slidenum">
              <a:rPr lang="en-US" smtClean="0"/>
              <a:t>5</a:t>
            </a:fld>
            <a:endParaRPr lang="en-US"/>
          </a:p>
        </p:txBody>
      </p:sp>
      <p:pic>
        <p:nvPicPr>
          <p:cNvPr id="5" name="Content Placeholder 1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539362" y="1831990"/>
            <a:ext cx="4928660" cy="2819100"/>
          </a:xfrm>
          <a:prstGeom prst="rect">
            <a:avLst/>
          </a:prstGeom>
        </p:spPr>
      </p:pic>
      <p:sp>
        <p:nvSpPr>
          <p:cNvPr id="6" name="TextBox 5"/>
          <p:cNvSpPr txBox="1"/>
          <p:nvPr/>
        </p:nvSpPr>
        <p:spPr>
          <a:xfrm>
            <a:off x="6300755" y="4805130"/>
            <a:ext cx="3822273" cy="369332"/>
          </a:xfrm>
          <a:prstGeom prst="rect">
            <a:avLst/>
          </a:prstGeom>
          <a:noFill/>
        </p:spPr>
        <p:txBody>
          <a:bodyPr wrap="square" rtlCol="0">
            <a:spAutoFit/>
          </a:bodyPr>
          <a:lstStyle/>
          <a:p>
            <a:r>
              <a:rPr lang="en-US" sz="1400" b="1" dirty="0" smtClean="0"/>
              <a:t>Photo: </a:t>
            </a:r>
            <a:r>
              <a:rPr lang="en-US" sz="1400" b="1" dirty="0" err="1" smtClean="0"/>
              <a:t>Gatlang</a:t>
            </a:r>
            <a:r>
              <a:rPr lang="en-US" sz="1400" b="1" dirty="0" smtClean="0"/>
              <a:t> Village after EQ </a:t>
            </a:r>
            <a:r>
              <a:rPr lang="en-US" dirty="0" smtClean="0"/>
              <a:t>(</a:t>
            </a:r>
            <a:r>
              <a:rPr lang="en-US" sz="1100" dirty="0" smtClean="0"/>
              <a:t>Black Village</a:t>
            </a:r>
            <a:r>
              <a:rPr lang="en-US" dirty="0" smtClean="0"/>
              <a:t>)</a:t>
            </a:r>
            <a:endParaRPr lang="en-US" dirty="0"/>
          </a:p>
        </p:txBody>
      </p:sp>
    </p:spTree>
    <p:extLst>
      <p:ext uri="{BB962C8B-B14F-4D97-AF65-F5344CB8AC3E}">
        <p14:creationId xmlns:p14="http://schemas.microsoft.com/office/powerpoint/2010/main" val="4283986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Achievement with in 2 years </a:t>
            </a:r>
            <a:endParaRPr lang="en-US" dirty="0"/>
          </a:p>
        </p:txBody>
      </p:sp>
      <p:sp>
        <p:nvSpPr>
          <p:cNvPr id="3" name="Content Placeholder 2"/>
          <p:cNvSpPr>
            <a:spLocks noGrp="1"/>
          </p:cNvSpPr>
          <p:nvPr>
            <p:ph idx="1"/>
          </p:nvPr>
        </p:nvSpPr>
        <p:spPr>
          <a:xfrm>
            <a:off x="204755" y="1357567"/>
            <a:ext cx="10021795" cy="5031936"/>
          </a:xfrm>
        </p:spPr>
        <p:txBody>
          <a:bodyPr>
            <a:normAutofit/>
          </a:bodyPr>
          <a:lstStyle/>
          <a:p>
            <a:r>
              <a:rPr lang="en-US" sz="1800" dirty="0">
                <a:latin typeface="Arial Narrow"/>
                <a:ea typeface="Calibri"/>
                <a:cs typeface="Mangal"/>
              </a:rPr>
              <a:t>As per CBS Survey, 12,024 houses are totally damaged and 620 are partially damaged </a:t>
            </a:r>
            <a:r>
              <a:rPr lang="en-US" sz="1800" dirty="0" smtClean="0">
                <a:latin typeface="Arial Narrow"/>
                <a:ea typeface="Calibri"/>
                <a:cs typeface="Mangal"/>
              </a:rPr>
              <a:t>( HRRP_ Rasuwa_ District Profile ). </a:t>
            </a:r>
            <a:r>
              <a:rPr lang="en-US" sz="1800" dirty="0">
                <a:latin typeface="Arial Narrow"/>
                <a:ea typeface="Calibri"/>
                <a:cs typeface="Mangal"/>
              </a:rPr>
              <a:t>11,629 HHs were listed as the eligible beneficiaries for the Enrolment. 11,629 HHs have been enrolled in which 10,078 HHs have received the first tranche, 2,517 HHs received second tranche and 1,440 HHs received 3</a:t>
            </a:r>
            <a:r>
              <a:rPr lang="en-US" sz="1800" baseline="30000" dirty="0">
                <a:latin typeface="Arial Narrow"/>
                <a:ea typeface="Calibri"/>
                <a:cs typeface="Mangal"/>
              </a:rPr>
              <a:t>rd</a:t>
            </a:r>
            <a:r>
              <a:rPr lang="en-US" sz="1800" dirty="0">
                <a:latin typeface="Arial Narrow"/>
                <a:ea typeface="Calibri"/>
                <a:cs typeface="Mangal"/>
              </a:rPr>
              <a:t> tranche.</a:t>
            </a:r>
            <a:r>
              <a:rPr lang="en-US" sz="1800" dirty="0">
                <a:ea typeface="Calibri"/>
                <a:cs typeface="Mangal"/>
              </a:rPr>
              <a:t> </a:t>
            </a:r>
            <a:endParaRPr lang="en-US" sz="1800" dirty="0"/>
          </a:p>
        </p:txBody>
      </p:sp>
      <p:sp>
        <p:nvSpPr>
          <p:cNvPr id="4" name="Slide Number Placeholder 3"/>
          <p:cNvSpPr>
            <a:spLocks noGrp="1"/>
          </p:cNvSpPr>
          <p:nvPr>
            <p:ph type="sldNum" sz="quarter" idx="12"/>
          </p:nvPr>
        </p:nvSpPr>
        <p:spPr/>
        <p:txBody>
          <a:bodyPr/>
          <a:lstStyle/>
          <a:p>
            <a:fld id="{4DED8F11-E02F-4D3E-85B4-F4AEDD07F0EA}" type="slidenum">
              <a:rPr lang="en-US" smtClean="0"/>
              <a:t>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017080971"/>
              </p:ext>
            </p:extLst>
          </p:nvPr>
        </p:nvGraphicFramePr>
        <p:xfrm>
          <a:off x="1588959" y="2532878"/>
          <a:ext cx="7192279" cy="3424016"/>
        </p:xfrm>
        <a:graphic>
          <a:graphicData uri="http://schemas.openxmlformats.org/drawingml/2006/table">
            <a:tbl>
              <a:tblPr firstRow="1" firstCol="1" bandRow="1">
                <a:tableStyleId>{F5AB1C69-6EDB-4FF4-983F-18BD219EF322}</a:tableStyleId>
              </a:tblPr>
              <a:tblGrid>
                <a:gridCol w="676081"/>
                <a:gridCol w="1646343"/>
                <a:gridCol w="1272803"/>
                <a:gridCol w="1092950"/>
                <a:gridCol w="1341978"/>
                <a:gridCol w="1162124"/>
              </a:tblGrid>
              <a:tr h="1086142">
                <a:tc>
                  <a:txBody>
                    <a:bodyPr/>
                    <a:lstStyle/>
                    <a:p>
                      <a:pPr marL="0" marR="0">
                        <a:lnSpc>
                          <a:spcPct val="107000"/>
                        </a:lnSpc>
                        <a:spcBef>
                          <a:spcPts val="0"/>
                        </a:spcBef>
                        <a:spcAft>
                          <a:spcPts val="0"/>
                        </a:spcAft>
                      </a:pPr>
                      <a:r>
                        <a:rPr lang="en-US" sz="1600" dirty="0">
                          <a:solidFill>
                            <a:schemeClr val="bg1"/>
                          </a:solidFill>
                          <a:effectLst/>
                        </a:rPr>
                        <a:t>SN</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dirty="0">
                          <a:solidFill>
                            <a:schemeClr val="bg1"/>
                          </a:solidFill>
                          <a:effectLst/>
                        </a:rPr>
                        <a:t>Rural Municipality </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dirty="0">
                          <a:solidFill>
                            <a:schemeClr val="bg1"/>
                          </a:solidFill>
                          <a:effectLst/>
                        </a:rPr>
                        <a:t>Eligible HH </a:t>
                      </a:r>
                      <a:endParaRPr lang="en-US" sz="1600" dirty="0">
                        <a:solidFill>
                          <a:schemeClr val="bg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solidFill>
                            <a:schemeClr val="bg1"/>
                          </a:solidFill>
                          <a:effectLst/>
                        </a:rPr>
                        <a:t>First </a:t>
                      </a:r>
                      <a:r>
                        <a:rPr lang="en-US" sz="1600" dirty="0" smtClean="0">
                          <a:solidFill>
                            <a:schemeClr val="bg1"/>
                          </a:solidFill>
                          <a:effectLst/>
                        </a:rPr>
                        <a:t>tranche Received</a:t>
                      </a:r>
                      <a:r>
                        <a:rPr lang="en-US" sz="1600" baseline="0" dirty="0" smtClean="0">
                          <a:solidFill>
                            <a:schemeClr val="bg1"/>
                          </a:solidFill>
                          <a:effectLst/>
                        </a:rPr>
                        <a:t> HHs </a:t>
                      </a:r>
                      <a:r>
                        <a:rPr lang="en-US" sz="1600" dirty="0" smtClean="0">
                          <a:solidFill>
                            <a:schemeClr val="bg1"/>
                          </a:solidFill>
                          <a:effectLst/>
                        </a:rPr>
                        <a:t> </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dirty="0" smtClean="0">
                          <a:solidFill>
                            <a:schemeClr val="bg1"/>
                          </a:solidFill>
                          <a:effectLst/>
                        </a:rPr>
                        <a:t>second Tranche Received HHs </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dirty="0">
                          <a:solidFill>
                            <a:schemeClr val="bg1"/>
                          </a:solidFill>
                          <a:effectLst/>
                        </a:rPr>
                        <a:t>Third </a:t>
                      </a:r>
                      <a:r>
                        <a:rPr lang="en-US" sz="1600" dirty="0" smtClean="0">
                          <a:solidFill>
                            <a:schemeClr val="bg1"/>
                          </a:solidFill>
                          <a:effectLst/>
                        </a:rPr>
                        <a:t>Tranche Received HHs  </a:t>
                      </a:r>
                      <a:endParaRPr lang="en-US" sz="1600" dirty="0">
                        <a:solidFill>
                          <a:schemeClr val="bg1"/>
                        </a:solidFill>
                        <a:effectLst/>
                        <a:latin typeface="Calibri"/>
                        <a:ea typeface="Calibri"/>
                        <a:cs typeface="Mangal"/>
                      </a:endParaRPr>
                    </a:p>
                  </a:txBody>
                  <a:tcPr marL="68580" marR="68580" marT="0" marB="0" anchor="b"/>
                </a:tc>
              </a:tr>
              <a:tr h="543071">
                <a:tc>
                  <a:txBody>
                    <a:bodyPr/>
                    <a:lstStyle/>
                    <a:p>
                      <a:pPr marL="0" marR="0" algn="r">
                        <a:lnSpc>
                          <a:spcPct val="107000"/>
                        </a:lnSpc>
                        <a:spcBef>
                          <a:spcPts val="0"/>
                        </a:spcBef>
                        <a:spcAft>
                          <a:spcPts val="0"/>
                        </a:spcAft>
                      </a:pPr>
                      <a:r>
                        <a:rPr lang="en-US" sz="1600" dirty="0">
                          <a:solidFill>
                            <a:schemeClr val="bg1"/>
                          </a:solidFill>
                          <a:effectLst/>
                        </a:rPr>
                        <a:t>1</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a:solidFill>
                            <a:schemeClr val="tx1"/>
                          </a:solidFill>
                          <a:effectLst/>
                        </a:rPr>
                        <a:t>Gosaikunda RM</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1772</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1568</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425</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110</a:t>
                      </a:r>
                      <a:endParaRPr lang="en-US" sz="1600">
                        <a:solidFill>
                          <a:schemeClr val="tx1"/>
                        </a:solidFill>
                        <a:effectLst/>
                        <a:latin typeface="Calibri"/>
                        <a:ea typeface="Calibri"/>
                        <a:cs typeface="Mangal"/>
                      </a:endParaRPr>
                    </a:p>
                  </a:txBody>
                  <a:tcPr marL="68580" marR="68580" marT="0" marB="0" anchor="b"/>
                </a:tc>
              </a:tr>
              <a:tr h="312933">
                <a:tc>
                  <a:txBody>
                    <a:bodyPr/>
                    <a:lstStyle/>
                    <a:p>
                      <a:pPr marL="0" marR="0" algn="r">
                        <a:lnSpc>
                          <a:spcPct val="107000"/>
                        </a:lnSpc>
                        <a:spcBef>
                          <a:spcPts val="0"/>
                        </a:spcBef>
                        <a:spcAft>
                          <a:spcPts val="0"/>
                        </a:spcAft>
                      </a:pPr>
                      <a:r>
                        <a:rPr lang="en-US" sz="1600" dirty="0">
                          <a:solidFill>
                            <a:schemeClr val="bg1"/>
                          </a:solidFill>
                          <a:effectLst/>
                        </a:rPr>
                        <a:t>2</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a:solidFill>
                            <a:schemeClr val="tx1"/>
                          </a:solidFill>
                          <a:effectLst/>
                        </a:rPr>
                        <a:t>Naukunda RM</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3228</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2732</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424</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314</a:t>
                      </a:r>
                      <a:endParaRPr lang="en-US" sz="1600">
                        <a:solidFill>
                          <a:schemeClr val="tx1"/>
                        </a:solidFill>
                        <a:effectLst/>
                        <a:latin typeface="Calibri"/>
                        <a:ea typeface="Calibri"/>
                        <a:cs typeface="Mangal"/>
                      </a:endParaRPr>
                    </a:p>
                  </a:txBody>
                  <a:tcPr marL="68580" marR="68580" marT="0" marB="0" anchor="b"/>
                </a:tc>
              </a:tr>
              <a:tr h="543071">
                <a:tc>
                  <a:txBody>
                    <a:bodyPr/>
                    <a:lstStyle/>
                    <a:p>
                      <a:pPr marL="0" marR="0" algn="r">
                        <a:lnSpc>
                          <a:spcPct val="107000"/>
                        </a:lnSpc>
                        <a:spcBef>
                          <a:spcPts val="0"/>
                        </a:spcBef>
                        <a:spcAft>
                          <a:spcPts val="0"/>
                        </a:spcAft>
                      </a:pPr>
                      <a:r>
                        <a:rPr lang="en-US" sz="1600" dirty="0">
                          <a:solidFill>
                            <a:schemeClr val="bg1"/>
                          </a:solidFill>
                          <a:effectLst/>
                        </a:rPr>
                        <a:t>3</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a:solidFill>
                            <a:schemeClr val="tx1"/>
                          </a:solidFill>
                          <a:effectLst/>
                        </a:rPr>
                        <a:t>Parbatikunda RM</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1779</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1599</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262</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184</a:t>
                      </a:r>
                      <a:endParaRPr lang="en-US" sz="1600">
                        <a:solidFill>
                          <a:schemeClr val="tx1"/>
                        </a:solidFill>
                        <a:effectLst/>
                        <a:latin typeface="Calibri"/>
                        <a:ea typeface="Calibri"/>
                        <a:cs typeface="Mangal"/>
                      </a:endParaRPr>
                    </a:p>
                  </a:txBody>
                  <a:tcPr marL="68580" marR="68580" marT="0" marB="0" anchor="b"/>
                </a:tc>
              </a:tr>
              <a:tr h="312933">
                <a:tc>
                  <a:txBody>
                    <a:bodyPr/>
                    <a:lstStyle/>
                    <a:p>
                      <a:pPr marL="0" marR="0" algn="r">
                        <a:lnSpc>
                          <a:spcPct val="107000"/>
                        </a:lnSpc>
                        <a:spcBef>
                          <a:spcPts val="0"/>
                        </a:spcBef>
                        <a:spcAft>
                          <a:spcPts val="0"/>
                        </a:spcAft>
                      </a:pPr>
                      <a:r>
                        <a:rPr lang="en-US" sz="1600" dirty="0">
                          <a:solidFill>
                            <a:schemeClr val="bg1"/>
                          </a:solidFill>
                          <a:effectLst/>
                        </a:rPr>
                        <a:t>4</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a:solidFill>
                            <a:schemeClr val="tx1"/>
                          </a:solidFill>
                          <a:effectLst/>
                        </a:rPr>
                        <a:t>Kalika RM</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2342</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2174</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679</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383</a:t>
                      </a:r>
                      <a:endParaRPr lang="en-US" sz="1600">
                        <a:solidFill>
                          <a:schemeClr val="tx1"/>
                        </a:solidFill>
                        <a:effectLst/>
                        <a:latin typeface="Calibri"/>
                        <a:ea typeface="Calibri"/>
                        <a:cs typeface="Mangal"/>
                      </a:endParaRPr>
                    </a:p>
                  </a:txBody>
                  <a:tcPr marL="68580" marR="68580" marT="0" marB="0" anchor="b"/>
                </a:tc>
              </a:tr>
              <a:tr h="312933">
                <a:tc>
                  <a:txBody>
                    <a:bodyPr/>
                    <a:lstStyle/>
                    <a:p>
                      <a:pPr marL="0" marR="0" algn="r">
                        <a:lnSpc>
                          <a:spcPct val="107000"/>
                        </a:lnSpc>
                        <a:spcBef>
                          <a:spcPts val="0"/>
                        </a:spcBef>
                        <a:spcAft>
                          <a:spcPts val="0"/>
                        </a:spcAft>
                      </a:pPr>
                      <a:r>
                        <a:rPr lang="en-US" sz="1600" dirty="0">
                          <a:solidFill>
                            <a:schemeClr val="bg1"/>
                          </a:solidFill>
                          <a:effectLst/>
                        </a:rPr>
                        <a:t>5</a:t>
                      </a:r>
                      <a:endParaRPr lang="en-US" sz="1600" dirty="0">
                        <a:solidFill>
                          <a:schemeClr val="bg1"/>
                        </a:solidFill>
                        <a:effectLst/>
                        <a:latin typeface="Calibri"/>
                        <a:ea typeface="Calibri"/>
                        <a:cs typeface="Mangal"/>
                      </a:endParaRPr>
                    </a:p>
                  </a:txBody>
                  <a:tcPr marL="68580" marR="68580" marT="0" marB="0" anchor="b"/>
                </a:tc>
                <a:tc>
                  <a:txBody>
                    <a:bodyPr/>
                    <a:lstStyle/>
                    <a:p>
                      <a:pPr marL="0" marR="0">
                        <a:lnSpc>
                          <a:spcPct val="107000"/>
                        </a:lnSpc>
                        <a:spcBef>
                          <a:spcPts val="0"/>
                        </a:spcBef>
                        <a:spcAft>
                          <a:spcPts val="0"/>
                        </a:spcAft>
                      </a:pPr>
                      <a:r>
                        <a:rPr lang="en-US" sz="1600">
                          <a:solidFill>
                            <a:schemeClr val="tx1"/>
                          </a:solidFill>
                          <a:effectLst/>
                        </a:rPr>
                        <a:t>Uttargaya RM</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2508</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2005</a:t>
                      </a:r>
                      <a:endParaRPr lang="en-US" sz="160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solidFill>
                            <a:schemeClr val="tx1"/>
                          </a:solidFill>
                          <a:effectLst/>
                        </a:rPr>
                        <a:t>727</a:t>
                      </a:r>
                      <a:endParaRPr lang="en-US" sz="1600" dirty="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solidFill>
                            <a:schemeClr val="tx1"/>
                          </a:solidFill>
                          <a:effectLst/>
                        </a:rPr>
                        <a:t>449</a:t>
                      </a:r>
                      <a:endParaRPr lang="en-US" sz="1600">
                        <a:solidFill>
                          <a:schemeClr val="tx1"/>
                        </a:solidFill>
                        <a:effectLst/>
                        <a:latin typeface="Calibri"/>
                        <a:ea typeface="Calibri"/>
                        <a:cs typeface="Mangal"/>
                      </a:endParaRPr>
                    </a:p>
                  </a:txBody>
                  <a:tcPr marL="68580" marR="68580" marT="0" marB="0" anchor="b"/>
                </a:tc>
              </a:tr>
              <a:tr h="312933">
                <a:tc>
                  <a:txBody>
                    <a:bodyPr/>
                    <a:lstStyle/>
                    <a:p>
                      <a:pPr>
                        <a:lnSpc>
                          <a:spcPct val="107000"/>
                        </a:lnSpc>
                      </a:pPr>
                      <a:endParaRPr lang="en-US" sz="1600" dirty="0">
                        <a:solidFill>
                          <a:schemeClr val="tx1"/>
                        </a:solidFill>
                        <a:effectLst/>
                        <a:latin typeface="Calibri"/>
                      </a:endParaRPr>
                    </a:p>
                  </a:txBody>
                  <a:tcPr marL="68580" marR="68580" marT="0" marB="0" anchor="b"/>
                </a:tc>
                <a:tc>
                  <a:txBody>
                    <a:bodyPr/>
                    <a:lstStyle/>
                    <a:p>
                      <a:pPr marL="0" marR="0">
                        <a:lnSpc>
                          <a:spcPct val="107000"/>
                        </a:lnSpc>
                        <a:spcBef>
                          <a:spcPts val="0"/>
                        </a:spcBef>
                        <a:spcAft>
                          <a:spcPts val="0"/>
                        </a:spcAft>
                      </a:pPr>
                      <a:r>
                        <a:rPr lang="en-US" sz="1600" b="1" dirty="0">
                          <a:solidFill>
                            <a:schemeClr val="tx1"/>
                          </a:solidFill>
                          <a:effectLst/>
                        </a:rPr>
                        <a:t>Total</a:t>
                      </a:r>
                      <a:endParaRPr lang="en-US" sz="1600" b="1" dirty="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b="1" dirty="0">
                          <a:solidFill>
                            <a:schemeClr val="tx1"/>
                          </a:solidFill>
                          <a:effectLst/>
                        </a:rPr>
                        <a:t>11,629</a:t>
                      </a:r>
                      <a:endParaRPr lang="en-US" sz="1600" b="1" dirty="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b="1" dirty="0">
                          <a:solidFill>
                            <a:schemeClr val="tx1"/>
                          </a:solidFill>
                          <a:effectLst/>
                        </a:rPr>
                        <a:t>10,078</a:t>
                      </a:r>
                      <a:endParaRPr lang="en-US" sz="1600" b="1" dirty="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b="1" dirty="0">
                          <a:solidFill>
                            <a:schemeClr val="tx1"/>
                          </a:solidFill>
                          <a:effectLst/>
                        </a:rPr>
                        <a:t>2,517</a:t>
                      </a:r>
                      <a:endParaRPr lang="en-US" sz="1600" b="1" dirty="0">
                        <a:solidFill>
                          <a:schemeClr val="tx1"/>
                        </a:solidFill>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b="1" dirty="0">
                          <a:solidFill>
                            <a:schemeClr val="tx1"/>
                          </a:solidFill>
                          <a:effectLst/>
                        </a:rPr>
                        <a:t>1,440</a:t>
                      </a:r>
                      <a:endParaRPr lang="en-US" sz="1600" b="1" dirty="0">
                        <a:solidFill>
                          <a:schemeClr val="tx1"/>
                        </a:solidFill>
                        <a:effectLst/>
                        <a:latin typeface="Calibri"/>
                        <a:ea typeface="Calibri"/>
                        <a:cs typeface="Mangal"/>
                      </a:endParaRPr>
                    </a:p>
                  </a:txBody>
                  <a:tcPr marL="68580" marR="68580" marT="0" marB="0" anchor="b"/>
                </a:tc>
              </a:tr>
            </a:tbl>
          </a:graphicData>
        </a:graphic>
      </p:graphicFrame>
      <p:sp>
        <p:nvSpPr>
          <p:cNvPr id="6" name="TextBox 5"/>
          <p:cNvSpPr txBox="1"/>
          <p:nvPr/>
        </p:nvSpPr>
        <p:spPr>
          <a:xfrm>
            <a:off x="1424065" y="5956894"/>
            <a:ext cx="8079699" cy="369332"/>
          </a:xfrm>
          <a:prstGeom prst="rect">
            <a:avLst/>
          </a:prstGeom>
          <a:noFill/>
        </p:spPr>
        <p:txBody>
          <a:bodyPr wrap="square" rtlCol="0">
            <a:spAutoFit/>
          </a:bodyPr>
          <a:lstStyle/>
          <a:p>
            <a:r>
              <a:rPr lang="en-US" sz="1800" dirty="0" smtClean="0"/>
              <a:t>Table : Housing Grant Update ,Rasuwa   </a:t>
            </a:r>
            <a:endParaRPr lang="en-US" sz="1800" dirty="0"/>
          </a:p>
        </p:txBody>
      </p:sp>
      <p:sp>
        <p:nvSpPr>
          <p:cNvPr id="7" name="TextBox 6"/>
          <p:cNvSpPr txBox="1"/>
          <p:nvPr/>
        </p:nvSpPr>
        <p:spPr>
          <a:xfrm>
            <a:off x="6280878" y="6326225"/>
            <a:ext cx="4182255" cy="307777"/>
          </a:xfrm>
          <a:prstGeom prst="rect">
            <a:avLst/>
          </a:prstGeom>
          <a:noFill/>
        </p:spPr>
        <p:txBody>
          <a:bodyPr wrap="square" rtlCol="0">
            <a:spAutoFit/>
          </a:bodyPr>
          <a:lstStyle/>
          <a:p>
            <a:r>
              <a:rPr lang="en-US" sz="1400" dirty="0" smtClean="0"/>
              <a:t>Data Source : EHRP Rasuwa (as  of  27</a:t>
            </a:r>
            <a:r>
              <a:rPr lang="en-US" sz="1400" baseline="30000" dirty="0" smtClean="0"/>
              <a:t>th</a:t>
            </a:r>
            <a:r>
              <a:rPr lang="en-US" sz="1400" dirty="0" smtClean="0"/>
              <a:t> Dec,2017)</a:t>
            </a:r>
            <a:endParaRPr lang="en-US" sz="1400" dirty="0"/>
          </a:p>
        </p:txBody>
      </p:sp>
    </p:spTree>
    <p:extLst>
      <p:ext uri="{BB962C8B-B14F-4D97-AF65-F5344CB8AC3E}">
        <p14:creationId xmlns:p14="http://schemas.microsoft.com/office/powerpoint/2010/main" val="172703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12" y="337651"/>
            <a:ext cx="8818126" cy="717452"/>
          </a:xfrm>
        </p:spPr>
        <p:txBody>
          <a:bodyPr>
            <a:noAutofit/>
          </a:bodyPr>
          <a:lstStyle/>
          <a:p>
            <a:r>
              <a:rPr lang="en-US" sz="2800" dirty="0" smtClean="0"/>
              <a:t/>
            </a:r>
            <a:br>
              <a:rPr lang="en-US" sz="2800" dirty="0" smtClean="0"/>
            </a:br>
            <a:r>
              <a:rPr lang="en-US" sz="2800" dirty="0"/>
              <a:t/>
            </a:r>
            <a:br>
              <a:rPr lang="en-US" sz="2800" dirty="0"/>
            </a:br>
            <a:r>
              <a:rPr lang="en-US" sz="2800" dirty="0" smtClean="0"/>
              <a:t>Partners </a:t>
            </a:r>
            <a:r>
              <a:rPr lang="en-US" sz="2800" dirty="0"/>
              <a:t>Support for Housing Grant </a:t>
            </a:r>
            <a:br>
              <a:rPr lang="en-US" sz="2800" dirty="0"/>
            </a:br>
            <a:endParaRPr lang="en-US" sz="2800" dirty="0"/>
          </a:p>
        </p:txBody>
      </p:sp>
      <p:sp>
        <p:nvSpPr>
          <p:cNvPr id="3" name="Content Placeholder 2"/>
          <p:cNvSpPr>
            <a:spLocks noGrp="1"/>
          </p:cNvSpPr>
          <p:nvPr>
            <p:ph idx="1"/>
          </p:nvPr>
        </p:nvSpPr>
        <p:spPr>
          <a:xfrm>
            <a:off x="129804" y="1297606"/>
            <a:ext cx="10021795" cy="5432978"/>
          </a:xfrm>
        </p:spPr>
        <p:txBody>
          <a:bodyPr>
            <a:normAutofit/>
          </a:bodyPr>
          <a:lstStyle/>
          <a:p>
            <a:pPr marL="0" marR="0">
              <a:lnSpc>
                <a:spcPct val="107000"/>
              </a:lnSpc>
              <a:spcBef>
                <a:spcPts val="0"/>
              </a:spcBef>
              <a:spcAft>
                <a:spcPts val="800"/>
              </a:spcAft>
            </a:pPr>
            <a:r>
              <a:rPr lang="en-US" sz="1600" dirty="0">
                <a:ea typeface="Calibri"/>
                <a:cs typeface="Mangal"/>
              </a:rPr>
              <a:t>Five Partners  Organization are supporting government for housing grant support on different Rural Municipality of district. 1078 HHs eligible HHs were planned to support by Po’s in which 1044 HHs received 1</a:t>
            </a:r>
            <a:r>
              <a:rPr lang="en-US" sz="1600" baseline="30000" dirty="0">
                <a:ea typeface="Calibri"/>
                <a:cs typeface="Mangal"/>
              </a:rPr>
              <a:t>st</a:t>
            </a:r>
            <a:r>
              <a:rPr lang="en-US" sz="1600" dirty="0">
                <a:ea typeface="Calibri"/>
                <a:cs typeface="Mangal"/>
              </a:rPr>
              <a:t> tranche, 754 HHs received 2</a:t>
            </a:r>
            <a:r>
              <a:rPr lang="en-US" sz="1600" baseline="30000" dirty="0">
                <a:ea typeface="Calibri"/>
                <a:cs typeface="Mangal"/>
              </a:rPr>
              <a:t>nd</a:t>
            </a:r>
            <a:r>
              <a:rPr lang="en-US" sz="1600" dirty="0">
                <a:ea typeface="Calibri"/>
                <a:cs typeface="Mangal"/>
              </a:rPr>
              <a:t> tranche and 588 HHs received 3</a:t>
            </a:r>
            <a:r>
              <a:rPr lang="en-US" sz="1600" baseline="30000" dirty="0">
                <a:ea typeface="Calibri"/>
                <a:cs typeface="Mangal"/>
              </a:rPr>
              <a:t>rd</a:t>
            </a:r>
            <a:r>
              <a:rPr lang="en-US" sz="1600" dirty="0">
                <a:ea typeface="Calibri"/>
                <a:cs typeface="Mangal"/>
              </a:rPr>
              <a:t> Tranche from five different partner’s organization. </a:t>
            </a:r>
          </a:p>
          <a:p>
            <a:endParaRPr lang="en-US" sz="1600" dirty="0"/>
          </a:p>
        </p:txBody>
      </p:sp>
      <p:sp>
        <p:nvSpPr>
          <p:cNvPr id="4" name="Slide Number Placeholder 3"/>
          <p:cNvSpPr>
            <a:spLocks noGrp="1"/>
          </p:cNvSpPr>
          <p:nvPr>
            <p:ph type="sldNum" sz="quarter" idx="12"/>
          </p:nvPr>
        </p:nvSpPr>
        <p:spPr/>
        <p:txBody>
          <a:bodyPr/>
          <a:lstStyle/>
          <a:p>
            <a:fld id="{4DED8F11-E02F-4D3E-85B4-F4AEDD07F0EA}" type="slidenum">
              <a:rPr lang="en-US" smtClean="0"/>
              <a:t>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275918087"/>
              </p:ext>
            </p:extLst>
          </p:nvPr>
        </p:nvGraphicFramePr>
        <p:xfrm>
          <a:off x="449705" y="2250577"/>
          <a:ext cx="8679304" cy="2986789"/>
        </p:xfrm>
        <a:graphic>
          <a:graphicData uri="http://schemas.openxmlformats.org/drawingml/2006/table">
            <a:tbl>
              <a:tblPr firstRow="1" firstCol="1" bandRow="1">
                <a:tableStyleId>{7DF18680-E054-41AD-8BC1-D1AEF772440D}</a:tableStyleId>
              </a:tblPr>
              <a:tblGrid>
                <a:gridCol w="466144"/>
                <a:gridCol w="1501686"/>
                <a:gridCol w="966372"/>
                <a:gridCol w="1208832"/>
                <a:gridCol w="1432507"/>
                <a:gridCol w="1389555"/>
                <a:gridCol w="1714208"/>
              </a:tblGrid>
              <a:tr h="521963">
                <a:tc>
                  <a:txBody>
                    <a:bodyPr/>
                    <a:lstStyle/>
                    <a:p>
                      <a:pPr marL="0" marR="0" algn="l">
                        <a:lnSpc>
                          <a:spcPct val="107000"/>
                        </a:lnSpc>
                        <a:spcBef>
                          <a:spcPts val="0"/>
                        </a:spcBef>
                        <a:spcAft>
                          <a:spcPts val="0"/>
                        </a:spcAft>
                      </a:pPr>
                      <a:r>
                        <a:rPr lang="en-US" sz="1600" dirty="0">
                          <a:effectLst/>
                        </a:rPr>
                        <a:t>SN</a:t>
                      </a:r>
                      <a:endParaRPr lang="en-US" sz="1600"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dirty="0">
                          <a:effectLst/>
                        </a:rPr>
                        <a:t>Partners Organization </a:t>
                      </a:r>
                      <a:endParaRPr lang="en-US" sz="1600"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Eligible HH </a:t>
                      </a:r>
                      <a:endParaRPr lang="en-US" sz="160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dirty="0">
                          <a:effectLst/>
                        </a:rPr>
                        <a:t>First tranche </a:t>
                      </a:r>
                      <a:r>
                        <a:rPr lang="en-US" sz="1600" dirty="0" smtClean="0">
                          <a:effectLst/>
                        </a:rPr>
                        <a:t> Received HHs</a:t>
                      </a:r>
                      <a:endParaRPr lang="en-US" sz="1600"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dirty="0">
                          <a:effectLst/>
                        </a:rPr>
                        <a:t>second Tranche </a:t>
                      </a:r>
                      <a:r>
                        <a:rPr lang="en-US" sz="1600" dirty="0" smtClean="0">
                          <a:effectLst/>
                        </a:rPr>
                        <a:t> Received</a:t>
                      </a:r>
                      <a:r>
                        <a:rPr lang="en-US" sz="1600" baseline="0" dirty="0" smtClean="0">
                          <a:effectLst/>
                        </a:rPr>
                        <a:t> HHs  </a:t>
                      </a:r>
                      <a:endParaRPr lang="en-US" sz="1600"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dirty="0">
                          <a:effectLst/>
                        </a:rPr>
                        <a:t>Third Tranche </a:t>
                      </a:r>
                      <a:r>
                        <a:rPr lang="en-US" sz="1600" dirty="0" smtClean="0">
                          <a:effectLst/>
                        </a:rPr>
                        <a:t>Received HHs </a:t>
                      </a:r>
                      <a:endParaRPr lang="en-US" sz="1600"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Construction Complete HH</a:t>
                      </a:r>
                      <a:endParaRPr lang="en-US" sz="1600">
                        <a:effectLst/>
                        <a:latin typeface="Calibri"/>
                        <a:ea typeface="Calibri"/>
                        <a:cs typeface="Mangal"/>
                      </a:endParaRPr>
                    </a:p>
                  </a:txBody>
                  <a:tcPr marL="68580" marR="68580" marT="0" marB="0" anchor="b"/>
                </a:tc>
              </a:tr>
              <a:tr h="495338">
                <a:tc>
                  <a:txBody>
                    <a:bodyPr/>
                    <a:lstStyle/>
                    <a:p>
                      <a:pPr marL="0" marR="0" algn="r">
                        <a:lnSpc>
                          <a:spcPct val="107000"/>
                        </a:lnSpc>
                        <a:spcBef>
                          <a:spcPts val="0"/>
                        </a:spcBef>
                        <a:spcAft>
                          <a:spcPts val="0"/>
                        </a:spcAft>
                      </a:pPr>
                      <a:r>
                        <a:rPr lang="en-US" sz="1600" dirty="0">
                          <a:effectLst/>
                        </a:rPr>
                        <a:t>1</a:t>
                      </a:r>
                      <a:endParaRPr lang="en-US" sz="1600" b="1"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Nepal Red Cross Society </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455</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435</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188</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135</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50</a:t>
                      </a:r>
                      <a:endParaRPr lang="en-US" sz="1600">
                        <a:effectLst/>
                        <a:latin typeface="Calibri"/>
                        <a:ea typeface="Calibri"/>
                        <a:cs typeface="Mangal"/>
                      </a:endParaRPr>
                    </a:p>
                  </a:txBody>
                  <a:tcPr marL="68580" marR="68580" marT="0" marB="0" anchor="b"/>
                </a:tc>
              </a:tr>
              <a:tr h="359377">
                <a:tc>
                  <a:txBody>
                    <a:bodyPr/>
                    <a:lstStyle/>
                    <a:p>
                      <a:pPr marL="0" marR="0" algn="r">
                        <a:lnSpc>
                          <a:spcPct val="107000"/>
                        </a:lnSpc>
                        <a:spcBef>
                          <a:spcPts val="0"/>
                        </a:spcBef>
                        <a:spcAft>
                          <a:spcPts val="0"/>
                        </a:spcAft>
                      </a:pPr>
                      <a:r>
                        <a:rPr lang="en-US" sz="1600" dirty="0">
                          <a:effectLst/>
                        </a:rPr>
                        <a:t>2</a:t>
                      </a:r>
                      <a:endParaRPr lang="en-US" sz="1600" b="1"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LWF/Manakor</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101</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101</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101</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91</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91</a:t>
                      </a:r>
                      <a:endParaRPr lang="en-US" sz="1600">
                        <a:effectLst/>
                        <a:latin typeface="Calibri"/>
                        <a:ea typeface="Calibri"/>
                        <a:cs typeface="Mangal"/>
                      </a:endParaRPr>
                    </a:p>
                  </a:txBody>
                  <a:tcPr marL="68580" marR="68580" marT="0" marB="0" anchor="b"/>
                </a:tc>
              </a:tr>
              <a:tr h="355367">
                <a:tc>
                  <a:txBody>
                    <a:bodyPr/>
                    <a:lstStyle/>
                    <a:p>
                      <a:pPr marL="0" marR="0" algn="r">
                        <a:lnSpc>
                          <a:spcPct val="107000"/>
                        </a:lnSpc>
                        <a:spcBef>
                          <a:spcPts val="0"/>
                        </a:spcBef>
                        <a:spcAft>
                          <a:spcPts val="0"/>
                        </a:spcAft>
                      </a:pPr>
                      <a:r>
                        <a:rPr lang="en-US" sz="1600" dirty="0">
                          <a:effectLst/>
                        </a:rPr>
                        <a:t>3</a:t>
                      </a:r>
                      <a:endParaRPr lang="en-US" sz="1600" b="1"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Lumanti/ Cordaid</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351</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349</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306</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215</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215</a:t>
                      </a:r>
                      <a:endParaRPr lang="en-US" sz="1600">
                        <a:effectLst/>
                        <a:latin typeface="Calibri"/>
                        <a:ea typeface="Calibri"/>
                        <a:cs typeface="Mangal"/>
                      </a:endParaRPr>
                    </a:p>
                  </a:txBody>
                  <a:tcPr marL="68580" marR="68580" marT="0" marB="0" anchor="b"/>
                </a:tc>
              </a:tr>
              <a:tr h="266987">
                <a:tc>
                  <a:txBody>
                    <a:bodyPr/>
                    <a:lstStyle/>
                    <a:p>
                      <a:pPr marL="0" marR="0" algn="r">
                        <a:lnSpc>
                          <a:spcPct val="107000"/>
                        </a:lnSpc>
                        <a:spcBef>
                          <a:spcPts val="0"/>
                        </a:spcBef>
                        <a:spcAft>
                          <a:spcPts val="0"/>
                        </a:spcAft>
                      </a:pPr>
                      <a:r>
                        <a:rPr lang="en-US" sz="1600" dirty="0">
                          <a:effectLst/>
                        </a:rPr>
                        <a:t>4</a:t>
                      </a:r>
                      <a:endParaRPr lang="en-US" sz="1600" b="1"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LWF/Batash</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152</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152</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152</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152</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152</a:t>
                      </a:r>
                      <a:endParaRPr lang="en-US" sz="1600">
                        <a:effectLst/>
                        <a:latin typeface="Calibri"/>
                        <a:ea typeface="Calibri"/>
                        <a:cs typeface="Mangal"/>
                      </a:endParaRPr>
                    </a:p>
                  </a:txBody>
                  <a:tcPr marL="68580" marR="68580" marT="0" marB="0" anchor="b"/>
                </a:tc>
              </a:tr>
              <a:tr h="266987">
                <a:tc>
                  <a:txBody>
                    <a:bodyPr/>
                    <a:lstStyle/>
                    <a:p>
                      <a:pPr marL="0" marR="0" algn="r">
                        <a:lnSpc>
                          <a:spcPct val="107000"/>
                        </a:lnSpc>
                        <a:spcBef>
                          <a:spcPts val="0"/>
                        </a:spcBef>
                        <a:spcAft>
                          <a:spcPts val="0"/>
                        </a:spcAft>
                      </a:pPr>
                      <a:r>
                        <a:rPr lang="en-US" sz="1600" dirty="0">
                          <a:effectLst/>
                        </a:rPr>
                        <a:t>5</a:t>
                      </a:r>
                      <a:endParaRPr lang="en-US" sz="1600" b="1" dirty="0">
                        <a:effectLst/>
                        <a:latin typeface="Calibri"/>
                        <a:ea typeface="Calibri"/>
                        <a:cs typeface="Mangal"/>
                      </a:endParaRPr>
                    </a:p>
                  </a:txBody>
                  <a:tcPr marL="68580" marR="68580" marT="0" marB="0" anchor="b"/>
                </a:tc>
                <a:tc>
                  <a:txBody>
                    <a:bodyPr/>
                    <a:lstStyle/>
                    <a:p>
                      <a:pPr marL="0" marR="0" algn="l">
                        <a:lnSpc>
                          <a:spcPct val="107000"/>
                        </a:lnSpc>
                        <a:spcBef>
                          <a:spcPts val="0"/>
                        </a:spcBef>
                        <a:spcAft>
                          <a:spcPts val="0"/>
                        </a:spcAft>
                      </a:pPr>
                      <a:r>
                        <a:rPr lang="en-US" sz="1600">
                          <a:effectLst/>
                        </a:rPr>
                        <a:t>SP</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19</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7</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7</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7</a:t>
                      </a:r>
                      <a:endParaRPr lang="en-US" sz="160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a:effectLst/>
                        </a:rPr>
                        <a:t>7</a:t>
                      </a:r>
                      <a:endParaRPr lang="en-US" sz="1600">
                        <a:effectLst/>
                        <a:latin typeface="Calibri"/>
                        <a:ea typeface="Calibri"/>
                        <a:cs typeface="Mangal"/>
                      </a:endParaRPr>
                    </a:p>
                  </a:txBody>
                  <a:tcPr marL="68580" marR="68580" marT="0" marB="0" anchor="b"/>
                </a:tc>
              </a:tr>
              <a:tr h="266987">
                <a:tc>
                  <a:txBody>
                    <a:bodyPr/>
                    <a:lstStyle/>
                    <a:p>
                      <a:pPr algn="l">
                        <a:lnSpc>
                          <a:spcPct val="107000"/>
                        </a:lnSpc>
                      </a:pPr>
                      <a:endParaRPr lang="en-US" sz="1600">
                        <a:effectLst/>
                        <a:latin typeface="Calibri"/>
                      </a:endParaRPr>
                    </a:p>
                  </a:txBody>
                  <a:tcPr marL="68580" marR="68580" marT="0" marB="0" anchor="b"/>
                </a:tc>
                <a:tc>
                  <a:txBody>
                    <a:bodyPr/>
                    <a:lstStyle/>
                    <a:p>
                      <a:pPr marL="0" marR="0" algn="l">
                        <a:lnSpc>
                          <a:spcPct val="107000"/>
                        </a:lnSpc>
                        <a:spcBef>
                          <a:spcPts val="0"/>
                        </a:spcBef>
                        <a:spcAft>
                          <a:spcPts val="0"/>
                        </a:spcAft>
                      </a:pPr>
                      <a:r>
                        <a:rPr lang="en-US" sz="1600" dirty="0">
                          <a:effectLst/>
                        </a:rPr>
                        <a:t>Total</a:t>
                      </a:r>
                      <a:endParaRPr lang="en-US" sz="1600" b="1" dirty="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effectLst/>
                        </a:rPr>
                        <a:t>1078</a:t>
                      </a:r>
                      <a:endParaRPr lang="en-US" sz="1600" b="1" dirty="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effectLst/>
                        </a:rPr>
                        <a:t>1044</a:t>
                      </a:r>
                      <a:endParaRPr lang="en-US" sz="1600" b="1" dirty="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effectLst/>
                        </a:rPr>
                        <a:t>754</a:t>
                      </a:r>
                      <a:endParaRPr lang="en-US" sz="1600" b="1" dirty="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effectLst/>
                        </a:rPr>
                        <a:t>588</a:t>
                      </a:r>
                      <a:endParaRPr lang="en-US" sz="1600" b="1" dirty="0">
                        <a:effectLst/>
                        <a:latin typeface="Calibri"/>
                        <a:ea typeface="Calibri"/>
                        <a:cs typeface="Mangal"/>
                      </a:endParaRPr>
                    </a:p>
                  </a:txBody>
                  <a:tcPr marL="68580" marR="68580" marT="0" marB="0" anchor="b"/>
                </a:tc>
                <a:tc>
                  <a:txBody>
                    <a:bodyPr/>
                    <a:lstStyle/>
                    <a:p>
                      <a:pPr marL="0" marR="0" algn="r">
                        <a:lnSpc>
                          <a:spcPct val="107000"/>
                        </a:lnSpc>
                        <a:spcBef>
                          <a:spcPts val="0"/>
                        </a:spcBef>
                        <a:spcAft>
                          <a:spcPts val="0"/>
                        </a:spcAft>
                      </a:pPr>
                      <a:r>
                        <a:rPr lang="en-US" sz="1600" dirty="0">
                          <a:effectLst/>
                        </a:rPr>
                        <a:t>515</a:t>
                      </a:r>
                      <a:endParaRPr lang="en-US" sz="1600" b="1" dirty="0">
                        <a:effectLst/>
                        <a:latin typeface="Calibri"/>
                        <a:ea typeface="Calibri"/>
                        <a:cs typeface="Mangal"/>
                      </a:endParaRPr>
                    </a:p>
                  </a:txBody>
                  <a:tcPr marL="68580" marR="68580" marT="0" marB="0" anchor="b"/>
                </a:tc>
              </a:tr>
            </a:tbl>
          </a:graphicData>
        </a:graphic>
      </p:graphicFrame>
      <p:sp>
        <p:nvSpPr>
          <p:cNvPr id="6" name="TextBox 5"/>
          <p:cNvSpPr txBox="1"/>
          <p:nvPr/>
        </p:nvSpPr>
        <p:spPr>
          <a:xfrm>
            <a:off x="314793" y="5192396"/>
            <a:ext cx="8079699" cy="369332"/>
          </a:xfrm>
          <a:prstGeom prst="rect">
            <a:avLst/>
          </a:prstGeom>
          <a:noFill/>
        </p:spPr>
        <p:txBody>
          <a:bodyPr wrap="square" rtlCol="0">
            <a:spAutoFit/>
          </a:bodyPr>
          <a:lstStyle/>
          <a:p>
            <a:r>
              <a:rPr lang="en-US" sz="1800" dirty="0" smtClean="0"/>
              <a:t>Table : Housing Grant support by Partners Organization  ,Rasuwa   </a:t>
            </a:r>
            <a:endParaRPr lang="en-US" sz="1800" dirty="0"/>
          </a:p>
        </p:txBody>
      </p:sp>
      <p:sp>
        <p:nvSpPr>
          <p:cNvPr id="7" name="TextBox 6"/>
          <p:cNvSpPr txBox="1"/>
          <p:nvPr/>
        </p:nvSpPr>
        <p:spPr>
          <a:xfrm>
            <a:off x="6071016" y="6018824"/>
            <a:ext cx="4182255" cy="307777"/>
          </a:xfrm>
          <a:prstGeom prst="rect">
            <a:avLst/>
          </a:prstGeom>
          <a:noFill/>
        </p:spPr>
        <p:txBody>
          <a:bodyPr wrap="square" rtlCol="0">
            <a:spAutoFit/>
          </a:bodyPr>
          <a:lstStyle/>
          <a:p>
            <a:r>
              <a:rPr lang="en-US" sz="1400" dirty="0" smtClean="0"/>
              <a:t>Data Source : EHRP Rasuwa (as  of  27</a:t>
            </a:r>
            <a:r>
              <a:rPr lang="en-US" sz="1400" baseline="30000" dirty="0" smtClean="0"/>
              <a:t>th</a:t>
            </a:r>
            <a:r>
              <a:rPr lang="en-US" sz="1400" dirty="0" smtClean="0"/>
              <a:t> Dec,2017)</a:t>
            </a:r>
            <a:endParaRPr lang="en-US" sz="1400" dirty="0"/>
          </a:p>
        </p:txBody>
      </p:sp>
    </p:spTree>
    <p:extLst>
      <p:ext uri="{BB962C8B-B14F-4D97-AF65-F5344CB8AC3E}">
        <p14:creationId xmlns:p14="http://schemas.microsoft.com/office/powerpoint/2010/main" val="1099227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Technical Assistances Status  </a:t>
            </a:r>
            <a:r>
              <a:rPr lang="en-US" sz="1600" dirty="0" smtClean="0"/>
              <a:t>(as of 25</a:t>
            </a:r>
            <a:r>
              <a:rPr lang="en-US" sz="1600" baseline="30000" dirty="0" smtClean="0"/>
              <a:t>th</a:t>
            </a:r>
            <a:r>
              <a:rPr lang="en-US" sz="1600" dirty="0" smtClean="0"/>
              <a:t> Dec ,2017 )</a:t>
            </a:r>
            <a:endParaRPr lang="en-US" sz="1600" dirty="0"/>
          </a:p>
        </p:txBody>
      </p:sp>
      <p:sp>
        <p:nvSpPr>
          <p:cNvPr id="3" name="Content Placeholder 2"/>
          <p:cNvSpPr>
            <a:spLocks noGrp="1"/>
          </p:cNvSpPr>
          <p:nvPr>
            <p:ph idx="1"/>
          </p:nvPr>
        </p:nvSpPr>
        <p:spPr>
          <a:xfrm>
            <a:off x="144794" y="1267626"/>
            <a:ext cx="10021795" cy="5031936"/>
          </a:xfrm>
        </p:spPr>
        <p:txBody>
          <a:bodyPr>
            <a:normAutofit/>
          </a:bodyPr>
          <a:lstStyle/>
          <a:p>
            <a:r>
              <a:rPr lang="en-US" sz="1400" dirty="0"/>
              <a:t>Technical Assistance for housing reconstruction has been highly stressed by NRA for reconstruction as ultimately it is the only way to achieve the targeted compliance for building back better and safer. The coverage of Technical Assistance (TA) is defined according to the presence (planned and on-going) of the following 6 activities and the table below shows the status of the activities in Rural Municipality level (Data source HRRP_Rasuwa_4W).</a:t>
            </a:r>
          </a:p>
          <a:p>
            <a:endParaRPr lang="en-US" sz="1800" dirty="0"/>
          </a:p>
        </p:txBody>
      </p:sp>
      <p:sp>
        <p:nvSpPr>
          <p:cNvPr id="4" name="Slide Number Placeholder 3"/>
          <p:cNvSpPr>
            <a:spLocks noGrp="1"/>
          </p:cNvSpPr>
          <p:nvPr>
            <p:ph type="sldNum" sz="quarter" idx="12"/>
          </p:nvPr>
        </p:nvSpPr>
        <p:spPr/>
        <p:txBody>
          <a:bodyPr/>
          <a:lstStyle/>
          <a:p>
            <a:fld id="{4DED8F11-E02F-4D3E-85B4-F4AEDD07F0EA}" type="slidenum">
              <a:rPr lang="en-US" smtClean="0"/>
              <a:t>8</a:t>
            </a:fld>
            <a:endParaRPr lang="en-US"/>
          </a:p>
        </p:txBody>
      </p:sp>
      <p:graphicFrame>
        <p:nvGraphicFramePr>
          <p:cNvPr id="7" name="Chart 6"/>
          <p:cNvGraphicFramePr/>
          <p:nvPr>
            <p:extLst>
              <p:ext uri="{D42A27DB-BD31-4B8C-83A1-F6EECF244321}">
                <p14:modId xmlns:p14="http://schemas.microsoft.com/office/powerpoint/2010/main" val="2448730582"/>
              </p:ext>
            </p:extLst>
          </p:nvPr>
        </p:nvGraphicFramePr>
        <p:xfrm>
          <a:off x="260326" y="2338467"/>
          <a:ext cx="4866310" cy="46469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p:nvPr>
            <p:extLst>
              <p:ext uri="{D42A27DB-BD31-4B8C-83A1-F6EECF244321}">
                <p14:modId xmlns:p14="http://schemas.microsoft.com/office/powerpoint/2010/main" val="4178749219"/>
              </p:ext>
            </p:extLst>
          </p:nvPr>
        </p:nvGraphicFramePr>
        <p:xfrm>
          <a:off x="5325023" y="2338466"/>
          <a:ext cx="5018190" cy="4646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36540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9</a:t>
            </a:fld>
            <a:endParaRPr 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542248552"/>
              </p:ext>
            </p:extLst>
          </p:nvPr>
        </p:nvGraphicFramePr>
        <p:xfrm>
          <a:off x="160207" y="1222479"/>
          <a:ext cx="4876487" cy="55081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extLst>
              <p:ext uri="{D42A27DB-BD31-4B8C-83A1-F6EECF244321}">
                <p14:modId xmlns:p14="http://schemas.microsoft.com/office/powerpoint/2010/main" val="2628879412"/>
              </p:ext>
            </p:extLst>
          </p:nvPr>
        </p:nvGraphicFramePr>
        <p:xfrm>
          <a:off x="5171607" y="1206552"/>
          <a:ext cx="4931764" cy="55690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536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10</a:t>
            </a:fld>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02397431"/>
              </p:ext>
            </p:extLst>
          </p:nvPr>
        </p:nvGraphicFramePr>
        <p:xfrm>
          <a:off x="759814" y="1402362"/>
          <a:ext cx="7694639" cy="45037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28593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Trainings </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11</a:t>
            </a:fld>
            <a:endParaRPr lang="en-US"/>
          </a:p>
        </p:txBody>
      </p:sp>
      <p:graphicFrame>
        <p:nvGraphicFramePr>
          <p:cNvPr id="6" name="Chart 5"/>
          <p:cNvGraphicFramePr/>
          <p:nvPr>
            <p:extLst>
              <p:ext uri="{D42A27DB-BD31-4B8C-83A1-F6EECF244321}">
                <p14:modId xmlns:p14="http://schemas.microsoft.com/office/powerpoint/2010/main" val="1162634665"/>
              </p:ext>
            </p:extLst>
          </p:nvPr>
        </p:nvGraphicFramePr>
        <p:xfrm>
          <a:off x="5381468" y="1528996"/>
          <a:ext cx="5307169" cy="46769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7"/>
          <p:cNvGraphicFramePr>
            <a:graphicFrameLocks noGrp="1"/>
          </p:cNvGraphicFramePr>
          <p:nvPr>
            <p:ph idx="1"/>
            <p:extLst>
              <p:ext uri="{D42A27DB-BD31-4B8C-83A1-F6EECF244321}">
                <p14:modId xmlns:p14="http://schemas.microsoft.com/office/powerpoint/2010/main" val="1817383016"/>
              </p:ext>
            </p:extLst>
          </p:nvPr>
        </p:nvGraphicFramePr>
        <p:xfrm>
          <a:off x="134911" y="1528997"/>
          <a:ext cx="5081666" cy="47069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27173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Constructed Houses  </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12</a:t>
            </a:fld>
            <a:endParaRPr lang="en-US"/>
          </a:p>
        </p:txBody>
      </p:sp>
      <p:pic>
        <p:nvPicPr>
          <p:cNvPr id="5" name="Content Placeholder 4"/>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29981" y="1863386"/>
            <a:ext cx="5531370" cy="3443132"/>
          </a:xfrm>
          <a:prstGeom prst="rect">
            <a:avLst/>
          </a:prstGeom>
        </p:spPr>
      </p:pic>
      <p:sp>
        <p:nvSpPr>
          <p:cNvPr id="8" name="TextBox 7"/>
          <p:cNvSpPr txBox="1"/>
          <p:nvPr/>
        </p:nvSpPr>
        <p:spPr>
          <a:xfrm>
            <a:off x="134912" y="5816184"/>
            <a:ext cx="5321508" cy="523220"/>
          </a:xfrm>
          <a:prstGeom prst="rect">
            <a:avLst/>
          </a:prstGeom>
          <a:noFill/>
        </p:spPr>
        <p:txBody>
          <a:bodyPr wrap="square" rtlCol="0">
            <a:spAutoFit/>
          </a:bodyPr>
          <a:lstStyle/>
          <a:p>
            <a:r>
              <a:rPr lang="en-US" sz="1400" b="1" dirty="0"/>
              <a:t>Caption: </a:t>
            </a:r>
            <a:r>
              <a:rPr lang="en-US" sz="1400" b="1" dirty="0" err="1"/>
              <a:t>Gosaikunda</a:t>
            </a:r>
            <a:r>
              <a:rPr lang="en-US" sz="1400" b="1" dirty="0"/>
              <a:t> </a:t>
            </a:r>
            <a:r>
              <a:rPr lang="en-US" sz="1400" b="1" dirty="0" err="1"/>
              <a:t>Gaupalika</a:t>
            </a:r>
            <a:r>
              <a:rPr lang="en-US" sz="1400" b="1" dirty="0"/>
              <a:t> ward no 4 ,Rasuwa .Received 1</a:t>
            </a:r>
            <a:r>
              <a:rPr lang="en-US" sz="1400" b="1" baseline="30000" dirty="0"/>
              <a:t>st</a:t>
            </a:r>
            <a:r>
              <a:rPr lang="en-US" sz="1400" b="1" dirty="0"/>
              <a:t> tranche from </a:t>
            </a:r>
            <a:r>
              <a:rPr lang="en-US" sz="1400" b="1" dirty="0" err="1"/>
              <a:t>GoN</a:t>
            </a:r>
            <a:r>
              <a:rPr lang="en-US" sz="1400" b="1" dirty="0"/>
              <a:t> housing support .</a:t>
            </a:r>
          </a:p>
        </p:txBody>
      </p:sp>
      <p:pic>
        <p:nvPicPr>
          <p:cNvPr id="9" name="Picture 8"/>
          <p:cNvPicPr/>
          <p:nvPr/>
        </p:nvPicPr>
        <p:blipFill>
          <a:blip r:embed="rId3" cstate="print">
            <a:extLst>
              <a:ext uri="{28A0092B-C50C-407E-A947-70E740481C1C}">
                <a14:useLocalDpi xmlns:a14="http://schemas.microsoft.com/office/drawing/2010/main" val="0"/>
              </a:ext>
            </a:extLst>
          </a:blip>
          <a:stretch>
            <a:fillRect/>
          </a:stretch>
        </p:blipFill>
        <p:spPr>
          <a:xfrm>
            <a:off x="5570806" y="1863386"/>
            <a:ext cx="4997260" cy="3443132"/>
          </a:xfrm>
          <a:prstGeom prst="rect">
            <a:avLst/>
          </a:prstGeom>
        </p:spPr>
      </p:pic>
      <p:sp>
        <p:nvSpPr>
          <p:cNvPr id="10" name="TextBox 9"/>
          <p:cNvSpPr txBox="1"/>
          <p:nvPr/>
        </p:nvSpPr>
        <p:spPr>
          <a:xfrm>
            <a:off x="5895862" y="5816184"/>
            <a:ext cx="4347148" cy="523220"/>
          </a:xfrm>
          <a:prstGeom prst="rect">
            <a:avLst/>
          </a:prstGeom>
          <a:noFill/>
        </p:spPr>
        <p:txBody>
          <a:bodyPr wrap="square" rtlCol="0">
            <a:spAutoFit/>
          </a:bodyPr>
          <a:lstStyle/>
          <a:p>
            <a:r>
              <a:rPr lang="en-US" sz="1400" b="1" dirty="0">
                <a:ea typeface="Times New Roman"/>
                <a:cs typeface="Calibri"/>
              </a:rPr>
              <a:t>Caption: </a:t>
            </a:r>
            <a:r>
              <a:rPr lang="en-US" sz="1400" b="1" dirty="0" err="1">
                <a:ea typeface="Times New Roman"/>
                <a:cs typeface="Calibri"/>
              </a:rPr>
              <a:t>Gosaikunda</a:t>
            </a:r>
            <a:r>
              <a:rPr lang="en-US" sz="1400" b="1" dirty="0">
                <a:ea typeface="Times New Roman"/>
                <a:cs typeface="Calibri"/>
              </a:rPr>
              <a:t> </a:t>
            </a:r>
            <a:r>
              <a:rPr lang="en-US" sz="1400" b="1" dirty="0" err="1">
                <a:ea typeface="Times New Roman"/>
                <a:cs typeface="Calibri"/>
              </a:rPr>
              <a:t>Gaupalika</a:t>
            </a:r>
            <a:r>
              <a:rPr lang="en-US" sz="1400" b="1" dirty="0">
                <a:ea typeface="Times New Roman"/>
                <a:cs typeface="Calibri"/>
              </a:rPr>
              <a:t> wards no 4, Rasuwa. Support by </a:t>
            </a:r>
            <a:r>
              <a:rPr lang="en-US" sz="1400" b="1" dirty="0" err="1">
                <a:ea typeface="Times New Roman"/>
                <a:cs typeface="Calibri"/>
              </a:rPr>
              <a:t>samaratan</a:t>
            </a:r>
            <a:r>
              <a:rPr lang="en-US" sz="1400" b="1" dirty="0">
                <a:ea typeface="Times New Roman"/>
                <a:cs typeface="Calibri"/>
              </a:rPr>
              <a:t> purse . </a:t>
            </a:r>
            <a:endParaRPr lang="en-US" sz="1400" b="1" dirty="0"/>
          </a:p>
        </p:txBody>
      </p:sp>
    </p:spTree>
    <p:extLst>
      <p:ext uri="{BB962C8B-B14F-4D97-AF65-F5344CB8AC3E}">
        <p14:creationId xmlns:p14="http://schemas.microsoft.com/office/powerpoint/2010/main" val="49501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Constructed Houses </a:t>
            </a:r>
            <a:r>
              <a:rPr lang="en-US" dirty="0" smtClean="0"/>
              <a:t>…..</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13</a:t>
            </a:fld>
            <a:endParaRPr lang="en-US"/>
          </a:p>
        </p:txBody>
      </p:sp>
      <p:pic>
        <p:nvPicPr>
          <p:cNvPr id="1026" name="Picture 2" descr="D:\Rasuwa\Information management\Information Management\Partner IM\Helvates\Photo\Singa Lama Waiba_Ramche-3 Grang.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1672183"/>
            <a:ext cx="5321508" cy="36803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0" y="5571001"/>
            <a:ext cx="5211850" cy="523220"/>
          </a:xfrm>
          <a:prstGeom prst="rect">
            <a:avLst/>
          </a:prstGeom>
          <a:noFill/>
        </p:spPr>
        <p:txBody>
          <a:bodyPr wrap="square" rtlCol="0">
            <a:spAutoFit/>
          </a:bodyPr>
          <a:lstStyle/>
          <a:p>
            <a:r>
              <a:rPr lang="en-US" sz="1400" b="1" dirty="0" err="1" smtClean="0">
                <a:ea typeface="Times New Roman"/>
                <a:cs typeface="Calibri"/>
              </a:rPr>
              <a:t>Caption:Kalika</a:t>
            </a:r>
            <a:r>
              <a:rPr lang="en-US" sz="1400" b="1" dirty="0" smtClean="0">
                <a:ea typeface="Times New Roman"/>
                <a:cs typeface="Calibri"/>
              </a:rPr>
              <a:t> </a:t>
            </a:r>
            <a:r>
              <a:rPr lang="en-US" sz="1400" b="1" dirty="0" err="1">
                <a:ea typeface="Times New Roman"/>
                <a:cs typeface="Calibri"/>
              </a:rPr>
              <a:t>Gaupalika</a:t>
            </a:r>
            <a:r>
              <a:rPr lang="en-US" sz="1400" b="1" dirty="0">
                <a:ea typeface="Times New Roman"/>
                <a:cs typeface="Calibri"/>
              </a:rPr>
              <a:t> </a:t>
            </a:r>
            <a:r>
              <a:rPr lang="en-US" sz="1400" b="1" dirty="0" smtClean="0">
                <a:ea typeface="Times New Roman"/>
                <a:cs typeface="Calibri"/>
              </a:rPr>
              <a:t> </a:t>
            </a:r>
            <a:r>
              <a:rPr lang="en-US" sz="1400" b="1" dirty="0" err="1" smtClean="0">
                <a:ea typeface="Times New Roman"/>
                <a:cs typeface="Calibri"/>
              </a:rPr>
              <a:t>Ramche</a:t>
            </a:r>
            <a:r>
              <a:rPr lang="en-US" sz="1400" b="1" dirty="0" smtClean="0">
                <a:ea typeface="Times New Roman"/>
                <a:cs typeface="Calibri"/>
              </a:rPr>
              <a:t> , </a:t>
            </a:r>
            <a:r>
              <a:rPr lang="en-US" sz="1400" b="1" dirty="0">
                <a:ea typeface="Times New Roman"/>
                <a:cs typeface="Calibri"/>
              </a:rPr>
              <a:t>Rasuwa. </a:t>
            </a:r>
            <a:r>
              <a:rPr lang="en-US" sz="1400" b="1" dirty="0" smtClean="0">
                <a:ea typeface="Times New Roman"/>
                <a:cs typeface="Calibri"/>
              </a:rPr>
              <a:t>Constructed during OJT</a:t>
            </a:r>
          </a:p>
          <a:p>
            <a:r>
              <a:rPr lang="en-US" sz="1400" b="1" dirty="0" smtClean="0">
                <a:ea typeface="Times New Roman"/>
                <a:cs typeface="Calibri"/>
              </a:rPr>
              <a:t>Training by </a:t>
            </a:r>
            <a:r>
              <a:rPr lang="en-US" sz="1400" b="1" dirty="0" err="1" smtClean="0">
                <a:ea typeface="Times New Roman"/>
                <a:cs typeface="Calibri"/>
              </a:rPr>
              <a:t>Helvetas</a:t>
            </a:r>
            <a:r>
              <a:rPr lang="en-US" sz="1400" b="1" dirty="0" smtClean="0">
                <a:ea typeface="Times New Roman"/>
                <a:cs typeface="Calibri"/>
              </a:rPr>
              <a:t>   </a:t>
            </a:r>
            <a:r>
              <a:rPr lang="en-US" sz="1400" b="1" dirty="0">
                <a:ea typeface="Times New Roman"/>
                <a:cs typeface="Calibri"/>
              </a:rPr>
              <a:t>. </a:t>
            </a:r>
            <a:endParaRPr lang="en-US" sz="1400" b="1" dirty="0"/>
          </a:p>
        </p:txBody>
      </p:sp>
      <p:pic>
        <p:nvPicPr>
          <p:cNvPr id="1027" name="Picture 3" descr="D:\Rasuwa\Information management\Information Management\Partner IM\Helvates\Photo\Dandagaun-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004" y="1367383"/>
            <a:ext cx="4541366" cy="399909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364250" y="5461791"/>
            <a:ext cx="5211850" cy="523220"/>
          </a:xfrm>
          <a:prstGeom prst="rect">
            <a:avLst/>
          </a:prstGeom>
          <a:noFill/>
        </p:spPr>
        <p:txBody>
          <a:bodyPr wrap="square" rtlCol="0">
            <a:spAutoFit/>
          </a:bodyPr>
          <a:lstStyle/>
          <a:p>
            <a:r>
              <a:rPr lang="en-US" sz="1400" b="1" dirty="0" err="1" smtClean="0">
                <a:ea typeface="Times New Roman"/>
                <a:cs typeface="Calibri"/>
              </a:rPr>
              <a:t>Caption:Kalika</a:t>
            </a:r>
            <a:r>
              <a:rPr lang="en-US" sz="1400" b="1" dirty="0" smtClean="0">
                <a:ea typeface="Times New Roman"/>
                <a:cs typeface="Calibri"/>
              </a:rPr>
              <a:t> </a:t>
            </a:r>
            <a:r>
              <a:rPr lang="en-US" sz="1400" b="1" dirty="0" err="1">
                <a:ea typeface="Times New Roman"/>
                <a:cs typeface="Calibri"/>
              </a:rPr>
              <a:t>Gaupalika</a:t>
            </a:r>
            <a:r>
              <a:rPr lang="en-US" sz="1400" b="1" dirty="0">
                <a:ea typeface="Times New Roman"/>
                <a:cs typeface="Calibri"/>
              </a:rPr>
              <a:t> </a:t>
            </a:r>
            <a:r>
              <a:rPr lang="en-US" sz="1400" b="1" dirty="0" smtClean="0">
                <a:ea typeface="Times New Roman"/>
                <a:cs typeface="Calibri"/>
              </a:rPr>
              <a:t> </a:t>
            </a:r>
            <a:r>
              <a:rPr lang="en-US" sz="1400" b="1" dirty="0" err="1" smtClean="0">
                <a:ea typeface="Times New Roman"/>
                <a:cs typeface="Calibri"/>
              </a:rPr>
              <a:t>Dhabung</a:t>
            </a:r>
            <a:r>
              <a:rPr lang="en-US" sz="1400" b="1" dirty="0" smtClean="0">
                <a:ea typeface="Times New Roman"/>
                <a:cs typeface="Calibri"/>
              </a:rPr>
              <a:t>  , </a:t>
            </a:r>
            <a:r>
              <a:rPr lang="en-US" sz="1400" b="1" dirty="0" err="1" smtClean="0">
                <a:ea typeface="Times New Roman"/>
                <a:cs typeface="Calibri"/>
              </a:rPr>
              <a:t>Rasuwa.During</a:t>
            </a:r>
            <a:r>
              <a:rPr lang="en-US" sz="1400" b="1" dirty="0" smtClean="0">
                <a:ea typeface="Times New Roman"/>
                <a:cs typeface="Calibri"/>
              </a:rPr>
              <a:t> OJT Training by </a:t>
            </a:r>
            <a:r>
              <a:rPr lang="en-US" sz="1400" b="1" dirty="0" err="1" smtClean="0">
                <a:ea typeface="Times New Roman"/>
                <a:cs typeface="Calibri"/>
              </a:rPr>
              <a:t>Helvetas</a:t>
            </a:r>
            <a:r>
              <a:rPr lang="en-US" sz="1400" b="1" dirty="0" smtClean="0">
                <a:ea typeface="Times New Roman"/>
                <a:cs typeface="Calibri"/>
              </a:rPr>
              <a:t>   </a:t>
            </a:r>
            <a:r>
              <a:rPr lang="en-US" sz="1400" b="1" dirty="0">
                <a:ea typeface="Times New Roman"/>
                <a:cs typeface="Calibri"/>
              </a:rPr>
              <a:t>. </a:t>
            </a:r>
            <a:endParaRPr lang="en-US" sz="1400" b="1" dirty="0"/>
          </a:p>
        </p:txBody>
      </p:sp>
    </p:spTree>
    <p:extLst>
      <p:ext uri="{BB962C8B-B14F-4D97-AF65-F5344CB8AC3E}">
        <p14:creationId xmlns:p14="http://schemas.microsoft.com/office/powerpoint/2010/main" val="2911349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Constructed Houses …..</a:t>
            </a:r>
          </a:p>
        </p:txBody>
      </p:sp>
      <p:sp>
        <p:nvSpPr>
          <p:cNvPr id="4" name="Slide Number Placeholder 3"/>
          <p:cNvSpPr>
            <a:spLocks noGrp="1"/>
          </p:cNvSpPr>
          <p:nvPr>
            <p:ph type="sldNum" sz="quarter" idx="12"/>
          </p:nvPr>
        </p:nvSpPr>
        <p:spPr/>
        <p:txBody>
          <a:bodyPr/>
          <a:lstStyle/>
          <a:p>
            <a:fld id="{4DED8F11-E02F-4D3E-85B4-F4AEDD07F0EA}" type="slidenum">
              <a:rPr lang="en-US" smtClean="0"/>
              <a:t>14</a:t>
            </a:fld>
            <a:endParaRPr lang="en-US"/>
          </a:p>
        </p:txBody>
      </p:sp>
      <p:pic>
        <p:nvPicPr>
          <p:cNvPr id="2050" name="Picture 2" descr="F:\New folder\IMG_904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497" y="1346540"/>
            <a:ext cx="5282913" cy="38957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0" y="5571001"/>
            <a:ext cx="5211850" cy="523220"/>
          </a:xfrm>
          <a:prstGeom prst="rect">
            <a:avLst/>
          </a:prstGeom>
          <a:noFill/>
        </p:spPr>
        <p:txBody>
          <a:bodyPr wrap="square" rtlCol="0">
            <a:spAutoFit/>
          </a:bodyPr>
          <a:lstStyle/>
          <a:p>
            <a:r>
              <a:rPr lang="en-US" sz="1400" b="1" dirty="0" err="1" smtClean="0">
                <a:ea typeface="Times New Roman"/>
                <a:cs typeface="Calibri"/>
              </a:rPr>
              <a:t>Caption:Kalika</a:t>
            </a:r>
            <a:r>
              <a:rPr lang="en-US" sz="1400" b="1" dirty="0" smtClean="0">
                <a:ea typeface="Times New Roman"/>
                <a:cs typeface="Calibri"/>
              </a:rPr>
              <a:t> </a:t>
            </a:r>
            <a:r>
              <a:rPr lang="en-US" sz="1400" b="1" dirty="0" err="1">
                <a:ea typeface="Times New Roman"/>
                <a:cs typeface="Calibri"/>
              </a:rPr>
              <a:t>Gaupalika</a:t>
            </a:r>
            <a:r>
              <a:rPr lang="en-US" sz="1400" b="1" dirty="0">
                <a:ea typeface="Times New Roman"/>
                <a:cs typeface="Calibri"/>
              </a:rPr>
              <a:t> </a:t>
            </a:r>
            <a:r>
              <a:rPr lang="en-US" sz="1400" b="1" dirty="0" smtClean="0">
                <a:ea typeface="Times New Roman"/>
                <a:cs typeface="Calibri"/>
              </a:rPr>
              <a:t> </a:t>
            </a:r>
            <a:r>
              <a:rPr lang="en-US" sz="1400" b="1" dirty="0" err="1" smtClean="0">
                <a:ea typeface="Times New Roman"/>
                <a:cs typeface="Calibri"/>
              </a:rPr>
              <a:t>Dhaibung</a:t>
            </a:r>
            <a:r>
              <a:rPr lang="en-US" sz="1400" b="1" dirty="0" smtClean="0">
                <a:ea typeface="Times New Roman"/>
                <a:cs typeface="Calibri"/>
              </a:rPr>
              <a:t>  , </a:t>
            </a:r>
            <a:r>
              <a:rPr lang="en-US" sz="1400" b="1" dirty="0">
                <a:ea typeface="Times New Roman"/>
                <a:cs typeface="Calibri"/>
              </a:rPr>
              <a:t>Rasuwa. </a:t>
            </a:r>
            <a:r>
              <a:rPr lang="en-US" sz="1400" b="1" dirty="0" smtClean="0">
                <a:ea typeface="Times New Roman"/>
                <a:cs typeface="Calibri"/>
              </a:rPr>
              <a:t>Support by </a:t>
            </a:r>
            <a:r>
              <a:rPr lang="en-US" sz="1400" b="1" dirty="0" err="1" smtClean="0">
                <a:ea typeface="Times New Roman"/>
                <a:cs typeface="Calibri"/>
              </a:rPr>
              <a:t>Lumanti</a:t>
            </a:r>
            <a:r>
              <a:rPr lang="en-US" sz="1400" b="1" dirty="0" smtClean="0">
                <a:ea typeface="Times New Roman"/>
                <a:cs typeface="Calibri"/>
              </a:rPr>
              <a:t> /</a:t>
            </a:r>
            <a:r>
              <a:rPr lang="en-US" sz="1400" b="1" dirty="0" err="1" smtClean="0">
                <a:ea typeface="Times New Roman"/>
                <a:cs typeface="Calibri"/>
              </a:rPr>
              <a:t>Cordaid</a:t>
            </a:r>
            <a:r>
              <a:rPr lang="en-US" sz="1400" b="1" dirty="0" smtClean="0">
                <a:ea typeface="Times New Roman"/>
                <a:cs typeface="Calibri"/>
              </a:rPr>
              <a:t> .</a:t>
            </a:r>
            <a:r>
              <a:rPr lang="en-US" sz="1400" b="1" dirty="0" err="1" smtClean="0">
                <a:ea typeface="Times New Roman"/>
                <a:cs typeface="Calibri"/>
              </a:rPr>
              <a:t>Recived</a:t>
            </a:r>
            <a:r>
              <a:rPr lang="en-US" sz="1400" b="1" dirty="0" smtClean="0">
                <a:ea typeface="Times New Roman"/>
                <a:cs typeface="Calibri"/>
              </a:rPr>
              <a:t> all three grant .</a:t>
            </a:r>
            <a:endParaRPr lang="en-US" sz="1400" b="1" dirty="0"/>
          </a:p>
        </p:txBody>
      </p:sp>
      <p:pic>
        <p:nvPicPr>
          <p:cNvPr id="2051" name="Picture 3" descr="F:\DDc visite in Shelter\IMG_530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1251" y="1346540"/>
            <a:ext cx="4977387" cy="38957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471410" y="5443959"/>
            <a:ext cx="5211850" cy="523220"/>
          </a:xfrm>
          <a:prstGeom prst="rect">
            <a:avLst/>
          </a:prstGeom>
          <a:noFill/>
        </p:spPr>
        <p:txBody>
          <a:bodyPr wrap="square" rtlCol="0">
            <a:spAutoFit/>
          </a:bodyPr>
          <a:lstStyle/>
          <a:p>
            <a:r>
              <a:rPr lang="en-US" sz="1400" b="1" dirty="0" err="1" smtClean="0">
                <a:ea typeface="Times New Roman"/>
                <a:cs typeface="Calibri"/>
              </a:rPr>
              <a:t>Caption:Kalika</a:t>
            </a:r>
            <a:r>
              <a:rPr lang="en-US" sz="1400" b="1" dirty="0" smtClean="0">
                <a:ea typeface="Times New Roman"/>
                <a:cs typeface="Calibri"/>
              </a:rPr>
              <a:t> </a:t>
            </a:r>
            <a:r>
              <a:rPr lang="en-US" sz="1400" b="1" dirty="0" err="1">
                <a:ea typeface="Times New Roman"/>
                <a:cs typeface="Calibri"/>
              </a:rPr>
              <a:t>Gaupalika</a:t>
            </a:r>
            <a:r>
              <a:rPr lang="en-US" sz="1400" b="1" dirty="0">
                <a:ea typeface="Times New Roman"/>
                <a:cs typeface="Calibri"/>
              </a:rPr>
              <a:t> </a:t>
            </a:r>
            <a:r>
              <a:rPr lang="en-US" sz="1400" b="1" dirty="0" smtClean="0">
                <a:ea typeface="Times New Roman"/>
                <a:cs typeface="Calibri"/>
              </a:rPr>
              <a:t> </a:t>
            </a:r>
            <a:r>
              <a:rPr lang="en-US" sz="1400" b="1" dirty="0" err="1" smtClean="0">
                <a:ea typeface="Times New Roman"/>
                <a:cs typeface="Calibri"/>
              </a:rPr>
              <a:t>Dhaibung</a:t>
            </a:r>
            <a:r>
              <a:rPr lang="en-US" sz="1400" b="1" dirty="0" smtClean="0">
                <a:ea typeface="Times New Roman"/>
                <a:cs typeface="Calibri"/>
              </a:rPr>
              <a:t>  , </a:t>
            </a:r>
            <a:r>
              <a:rPr lang="en-US" sz="1400" b="1" dirty="0">
                <a:ea typeface="Times New Roman"/>
                <a:cs typeface="Calibri"/>
              </a:rPr>
              <a:t>Rasuwa. </a:t>
            </a:r>
            <a:r>
              <a:rPr lang="en-US" sz="1400" b="1" dirty="0" smtClean="0">
                <a:ea typeface="Times New Roman"/>
                <a:cs typeface="Calibri"/>
              </a:rPr>
              <a:t>Support by </a:t>
            </a:r>
            <a:r>
              <a:rPr lang="en-US" sz="1400" b="1" dirty="0" err="1" smtClean="0">
                <a:ea typeface="Times New Roman"/>
                <a:cs typeface="Calibri"/>
              </a:rPr>
              <a:t>Lumanti</a:t>
            </a:r>
            <a:r>
              <a:rPr lang="en-US" sz="1400" b="1" dirty="0" smtClean="0">
                <a:ea typeface="Times New Roman"/>
                <a:cs typeface="Calibri"/>
              </a:rPr>
              <a:t> /</a:t>
            </a:r>
            <a:r>
              <a:rPr lang="en-US" sz="1400" b="1" dirty="0" err="1" smtClean="0">
                <a:ea typeface="Times New Roman"/>
                <a:cs typeface="Calibri"/>
              </a:rPr>
              <a:t>Cordaid</a:t>
            </a:r>
            <a:r>
              <a:rPr lang="en-US" sz="1400" b="1" dirty="0" smtClean="0">
                <a:ea typeface="Times New Roman"/>
                <a:cs typeface="Calibri"/>
              </a:rPr>
              <a:t> .</a:t>
            </a:r>
            <a:r>
              <a:rPr lang="en-US" sz="1400" b="1" dirty="0" err="1" smtClean="0">
                <a:ea typeface="Times New Roman"/>
                <a:cs typeface="Calibri"/>
              </a:rPr>
              <a:t>Recived</a:t>
            </a:r>
            <a:r>
              <a:rPr lang="en-US" sz="1400" b="1" dirty="0" smtClean="0">
                <a:ea typeface="Times New Roman"/>
                <a:cs typeface="Calibri"/>
              </a:rPr>
              <a:t> all three grant .Monitoring visit by DCC team .</a:t>
            </a:r>
            <a:endParaRPr lang="en-US" sz="1400" b="1" dirty="0"/>
          </a:p>
        </p:txBody>
      </p:sp>
    </p:spTree>
    <p:extLst>
      <p:ext uri="{BB962C8B-B14F-4D97-AF65-F5344CB8AC3E}">
        <p14:creationId xmlns:p14="http://schemas.microsoft.com/office/powerpoint/2010/main" val="125503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Compliance Issue </a:t>
            </a:r>
            <a:endParaRPr lang="en-US" dirty="0"/>
          </a:p>
        </p:txBody>
      </p:sp>
      <p:sp>
        <p:nvSpPr>
          <p:cNvPr id="3" name="Content Placeholder 2"/>
          <p:cNvSpPr>
            <a:spLocks noGrp="1"/>
          </p:cNvSpPr>
          <p:nvPr>
            <p:ph idx="1"/>
          </p:nvPr>
        </p:nvSpPr>
        <p:spPr>
          <a:xfrm>
            <a:off x="114814" y="1237645"/>
            <a:ext cx="10021795" cy="5031936"/>
          </a:xfrm>
        </p:spPr>
        <p:txBody>
          <a:bodyPr>
            <a:normAutofit/>
          </a:bodyPr>
          <a:lstStyle/>
          <a:p>
            <a:pPr marL="0" indent="0">
              <a:buNone/>
            </a:pPr>
            <a:r>
              <a:rPr lang="en-IE" sz="1400" b="1" u="sng" dirty="0"/>
              <a:t>Name:</a:t>
            </a:r>
            <a:r>
              <a:rPr lang="en-IE" sz="1400" b="1" dirty="0"/>
              <a:t> </a:t>
            </a:r>
            <a:r>
              <a:rPr lang="en-IE" sz="1400" b="1" dirty="0" err="1"/>
              <a:t>Gyan</a:t>
            </a:r>
            <a:r>
              <a:rPr lang="en-IE" sz="1400" b="1" dirty="0"/>
              <a:t> Bahadur </a:t>
            </a:r>
            <a:r>
              <a:rPr lang="en-IE" sz="1400" b="1" dirty="0" err="1"/>
              <a:t>Bulun</a:t>
            </a:r>
            <a:r>
              <a:rPr lang="en-IE" sz="1400" b="1" dirty="0"/>
              <a:t> </a:t>
            </a:r>
            <a:r>
              <a:rPr lang="en-IE" sz="1400" b="1" dirty="0" smtClean="0"/>
              <a:t>                                                                       </a:t>
            </a:r>
            <a:r>
              <a:rPr lang="en-IE" sz="1400" b="1" u="sng" dirty="0" err="1" smtClean="0"/>
              <a:t>GoN</a:t>
            </a:r>
            <a:r>
              <a:rPr lang="en-IE" sz="1400" b="1" u="sng" dirty="0" smtClean="0"/>
              <a:t> </a:t>
            </a:r>
            <a:r>
              <a:rPr lang="en-IE" sz="1400" b="1" u="sng" dirty="0"/>
              <a:t>Housing Reconstruction Programme ID No:</a:t>
            </a:r>
            <a:r>
              <a:rPr lang="en-IE" sz="1400" b="1" dirty="0"/>
              <a:t> 29-10-7-0-1</a:t>
            </a:r>
            <a:endParaRPr lang="en-US" sz="1400" dirty="0"/>
          </a:p>
          <a:p>
            <a:pPr marL="0" indent="0">
              <a:buNone/>
            </a:pPr>
            <a:r>
              <a:rPr lang="en-IE" sz="1400" dirty="0"/>
              <a:t>Load bearing hybrid structure (stone and mud mortar masonry and timber); foundation = 3’-0’’ deep; absence of seismic bands; Room size=21’-0’’ X 19’-0’’ (Compliance requirements=145ft sq.) Height= 14’-6’’ (7’-6’’ up to first floor and 7’-0’’ up to roof) Cost of construction: 4 lakh </a:t>
            </a:r>
            <a:endParaRPr lang="en-US" sz="1400" dirty="0"/>
          </a:p>
          <a:p>
            <a:endParaRPr lang="en-US" sz="1400" dirty="0"/>
          </a:p>
        </p:txBody>
      </p:sp>
      <p:sp>
        <p:nvSpPr>
          <p:cNvPr id="4" name="Slide Number Placeholder 3"/>
          <p:cNvSpPr>
            <a:spLocks noGrp="1"/>
          </p:cNvSpPr>
          <p:nvPr>
            <p:ph type="sldNum" sz="quarter" idx="12"/>
          </p:nvPr>
        </p:nvSpPr>
        <p:spPr/>
        <p:txBody>
          <a:bodyPr/>
          <a:lstStyle/>
          <a:p>
            <a:fld id="{4DED8F11-E02F-4D3E-85B4-F4AEDD07F0EA}" type="slidenum">
              <a:rPr lang="en-US" smtClean="0"/>
              <a:t>15</a:t>
            </a:fld>
            <a:endParaRPr lang="en-US"/>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53740" y="2473377"/>
            <a:ext cx="4942916" cy="4247916"/>
          </a:xfrm>
          <a:prstGeom prst="rect">
            <a:avLst/>
          </a:prstGeom>
        </p:spPr>
      </p:pic>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5344319" y="2473377"/>
            <a:ext cx="4474238" cy="4247916"/>
          </a:xfrm>
          <a:prstGeom prst="rect">
            <a:avLst/>
          </a:prstGeom>
        </p:spPr>
      </p:pic>
      <p:sp>
        <p:nvSpPr>
          <p:cNvPr id="8" name="TextBox 7"/>
          <p:cNvSpPr txBox="1"/>
          <p:nvPr/>
        </p:nvSpPr>
        <p:spPr>
          <a:xfrm>
            <a:off x="6625653" y="6517230"/>
            <a:ext cx="3942413" cy="408125"/>
          </a:xfrm>
          <a:prstGeom prst="rect">
            <a:avLst/>
          </a:prstGeom>
          <a:noFill/>
        </p:spPr>
        <p:txBody>
          <a:bodyPr wrap="square" rtlCol="0">
            <a:spAutoFit/>
          </a:bodyPr>
          <a:lstStyle/>
          <a:p>
            <a:r>
              <a:rPr lang="en-US" dirty="0" smtClean="0"/>
              <a:t>Source :District Support Engineer </a:t>
            </a:r>
            <a:endParaRPr lang="en-US" dirty="0"/>
          </a:p>
        </p:txBody>
      </p:sp>
    </p:spTree>
    <p:extLst>
      <p:ext uri="{BB962C8B-B14F-4D97-AF65-F5344CB8AC3E}">
        <p14:creationId xmlns:p14="http://schemas.microsoft.com/office/powerpoint/2010/main" val="824971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Compliance Issue </a:t>
            </a:r>
          </a:p>
        </p:txBody>
      </p:sp>
      <p:sp>
        <p:nvSpPr>
          <p:cNvPr id="3" name="Content Placeholder 2"/>
          <p:cNvSpPr>
            <a:spLocks noGrp="1"/>
          </p:cNvSpPr>
          <p:nvPr>
            <p:ph idx="1"/>
          </p:nvPr>
        </p:nvSpPr>
        <p:spPr>
          <a:xfrm>
            <a:off x="134911" y="1132713"/>
            <a:ext cx="10388184" cy="5507929"/>
          </a:xfrm>
        </p:spPr>
        <p:txBody>
          <a:bodyPr>
            <a:normAutofit/>
          </a:bodyPr>
          <a:lstStyle/>
          <a:p>
            <a:pPr marL="0" marR="0" indent="0">
              <a:lnSpc>
                <a:spcPct val="115000"/>
              </a:lnSpc>
              <a:spcBef>
                <a:spcPts val="0"/>
              </a:spcBef>
              <a:spcAft>
                <a:spcPts val="1000"/>
              </a:spcAft>
              <a:buNone/>
            </a:pPr>
            <a:r>
              <a:rPr lang="en-IE" sz="1400" b="1" u="sng" dirty="0">
                <a:solidFill>
                  <a:srgbClr val="44546A"/>
                </a:solidFill>
                <a:ea typeface="Calibri"/>
                <a:cs typeface="Mangal"/>
              </a:rPr>
              <a:t>Name :</a:t>
            </a:r>
            <a:r>
              <a:rPr lang="en-IE" sz="1400" b="1" u="sng" dirty="0" err="1">
                <a:solidFill>
                  <a:srgbClr val="44546A"/>
                </a:solidFill>
                <a:ea typeface="Calibri"/>
                <a:cs typeface="Mangal"/>
              </a:rPr>
              <a:t>DhanBahadur</a:t>
            </a:r>
            <a:r>
              <a:rPr lang="en-IE" sz="1400" b="1" u="sng" dirty="0">
                <a:solidFill>
                  <a:srgbClr val="44546A"/>
                </a:solidFill>
                <a:ea typeface="Calibri"/>
                <a:cs typeface="Mangal"/>
              </a:rPr>
              <a:t> lo </a:t>
            </a:r>
            <a:r>
              <a:rPr lang="en-IE" sz="1400" b="1" u="sng" dirty="0" smtClean="0">
                <a:solidFill>
                  <a:srgbClr val="44546A"/>
                </a:solidFill>
                <a:ea typeface="Calibri"/>
                <a:cs typeface="Mangal"/>
              </a:rPr>
              <a:t> / </a:t>
            </a:r>
            <a:r>
              <a:rPr lang="en-IE" sz="1400" b="1" u="sng" dirty="0" err="1" smtClean="0">
                <a:solidFill>
                  <a:srgbClr val="44546A"/>
                </a:solidFill>
                <a:ea typeface="Calibri"/>
                <a:cs typeface="Mangal"/>
              </a:rPr>
              <a:t>GoN</a:t>
            </a:r>
            <a:r>
              <a:rPr lang="en-IE" sz="1400" b="1" u="sng" dirty="0" smtClean="0">
                <a:solidFill>
                  <a:srgbClr val="44546A"/>
                </a:solidFill>
                <a:ea typeface="Calibri"/>
                <a:cs typeface="Mangal"/>
              </a:rPr>
              <a:t> </a:t>
            </a:r>
            <a:r>
              <a:rPr lang="en-IE" sz="1400" b="1" u="sng" dirty="0">
                <a:solidFill>
                  <a:srgbClr val="44546A"/>
                </a:solidFill>
                <a:ea typeface="Calibri"/>
                <a:cs typeface="Mangal"/>
              </a:rPr>
              <a:t>Housing Reconstruction Programme ID No :</a:t>
            </a:r>
            <a:r>
              <a:rPr lang="en-IE" sz="1400" b="1" u="sng" dirty="0" smtClean="0">
                <a:solidFill>
                  <a:srgbClr val="44546A"/>
                </a:solidFill>
                <a:ea typeface="Calibri"/>
                <a:cs typeface="Mangal"/>
              </a:rPr>
              <a:t>29-10-7-0-67/ </a:t>
            </a:r>
            <a:r>
              <a:rPr lang="en-IE" sz="1400" b="1" dirty="0" smtClean="0">
                <a:ea typeface="Calibri"/>
                <a:cs typeface="Mangal"/>
              </a:rPr>
              <a:t>SMM </a:t>
            </a:r>
            <a:r>
              <a:rPr lang="en-IE" sz="1400" b="1" dirty="0">
                <a:ea typeface="Calibri"/>
                <a:cs typeface="Mangal"/>
              </a:rPr>
              <a:t>(Hybrid structure)</a:t>
            </a:r>
            <a:endParaRPr lang="en-US" sz="1400" dirty="0">
              <a:ea typeface="Calibri"/>
              <a:cs typeface="Mangal"/>
            </a:endParaRPr>
          </a:p>
          <a:p>
            <a:pPr marL="0" marR="0" indent="0">
              <a:lnSpc>
                <a:spcPct val="107000"/>
              </a:lnSpc>
              <a:spcBef>
                <a:spcPts val="0"/>
              </a:spcBef>
              <a:spcAft>
                <a:spcPts val="800"/>
              </a:spcAft>
              <a:buNone/>
            </a:pPr>
            <a:r>
              <a:rPr lang="en-IE" sz="1400" dirty="0">
                <a:ea typeface="Calibri"/>
                <a:cs typeface="Mangal"/>
              </a:rPr>
              <a:t>Foundation= 3’-0’’ deep, Absence of seismic bands, Room size=23’-0’’ X19’;Height= 14’-6’’ (7’-6’’ up to first floor and 7’-0’’ up to </a:t>
            </a:r>
            <a:r>
              <a:rPr lang="en-IE" sz="1400" dirty="0" smtClean="0">
                <a:ea typeface="Calibri"/>
                <a:cs typeface="Mangal"/>
              </a:rPr>
              <a:t>roof)Cost </a:t>
            </a:r>
            <a:r>
              <a:rPr lang="en-IE" sz="1400" dirty="0">
                <a:ea typeface="Calibri"/>
                <a:cs typeface="Mangal"/>
              </a:rPr>
              <a:t>Of Construction =4 lakh 50 thousand </a:t>
            </a:r>
            <a:endParaRPr lang="en-US" sz="1400" dirty="0"/>
          </a:p>
        </p:txBody>
      </p:sp>
      <p:sp>
        <p:nvSpPr>
          <p:cNvPr id="4" name="Slide Number Placeholder 3"/>
          <p:cNvSpPr>
            <a:spLocks noGrp="1"/>
          </p:cNvSpPr>
          <p:nvPr>
            <p:ph type="sldNum" sz="quarter" idx="12"/>
          </p:nvPr>
        </p:nvSpPr>
        <p:spPr/>
        <p:txBody>
          <a:bodyPr/>
          <a:lstStyle/>
          <a:p>
            <a:fld id="{4DED8F11-E02F-4D3E-85B4-F4AEDD07F0EA}" type="slidenum">
              <a:rPr lang="en-US" smtClean="0"/>
              <a:t>16</a:t>
            </a:fld>
            <a:endParaRPr lang="en-US"/>
          </a:p>
        </p:txBody>
      </p:sp>
      <p:pic>
        <p:nvPicPr>
          <p:cNvPr id="5" name="Picture 4" descr="H:\already constructed house Uttargaya 4\Dhan bahadur lo\IMG_0295.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533" y="2205345"/>
            <a:ext cx="4838700" cy="3800475"/>
          </a:xfrm>
          <a:prstGeom prst="rect">
            <a:avLst/>
          </a:prstGeom>
          <a:noFill/>
          <a:ln>
            <a:noFill/>
          </a:ln>
        </p:spPr>
      </p:pic>
      <p:pic>
        <p:nvPicPr>
          <p:cNvPr id="6" name="Picture 5" descr="G:\DCIM\122___06\IMG_0328.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4929" y="2146246"/>
            <a:ext cx="4095750" cy="3800475"/>
          </a:xfrm>
          <a:prstGeom prst="rect">
            <a:avLst/>
          </a:prstGeom>
          <a:noFill/>
          <a:ln>
            <a:noFill/>
          </a:ln>
        </p:spPr>
      </p:pic>
      <p:sp>
        <p:nvSpPr>
          <p:cNvPr id="7" name="TextBox 6"/>
          <p:cNvSpPr txBox="1"/>
          <p:nvPr/>
        </p:nvSpPr>
        <p:spPr>
          <a:xfrm>
            <a:off x="6071017" y="6316658"/>
            <a:ext cx="3942413" cy="408125"/>
          </a:xfrm>
          <a:prstGeom prst="rect">
            <a:avLst/>
          </a:prstGeom>
          <a:noFill/>
        </p:spPr>
        <p:txBody>
          <a:bodyPr wrap="square" rtlCol="0">
            <a:spAutoFit/>
          </a:bodyPr>
          <a:lstStyle/>
          <a:p>
            <a:r>
              <a:rPr lang="en-US" dirty="0" smtClean="0"/>
              <a:t>Source :District Support Engineer </a:t>
            </a:r>
            <a:endParaRPr lang="en-US" dirty="0"/>
          </a:p>
        </p:txBody>
      </p:sp>
    </p:spTree>
    <p:extLst>
      <p:ext uri="{BB962C8B-B14F-4D97-AF65-F5344CB8AC3E}">
        <p14:creationId xmlns:p14="http://schemas.microsoft.com/office/powerpoint/2010/main" val="3865872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Compliance Issue </a:t>
            </a:r>
          </a:p>
        </p:txBody>
      </p:sp>
      <p:sp>
        <p:nvSpPr>
          <p:cNvPr id="3" name="Content Placeholder 2"/>
          <p:cNvSpPr>
            <a:spLocks noGrp="1"/>
          </p:cNvSpPr>
          <p:nvPr>
            <p:ph idx="1"/>
          </p:nvPr>
        </p:nvSpPr>
        <p:spPr>
          <a:xfrm>
            <a:off x="134913" y="1252636"/>
            <a:ext cx="10271520" cy="5031936"/>
          </a:xfrm>
        </p:spPr>
        <p:txBody>
          <a:bodyPr/>
          <a:lstStyle/>
          <a:p>
            <a:r>
              <a:rPr lang="en-IE" sz="1200" b="1" u="sng" dirty="0"/>
              <a:t>Name :</a:t>
            </a:r>
            <a:r>
              <a:rPr lang="en-IE" sz="1200" b="1" u="sng" dirty="0" err="1"/>
              <a:t>Bishnu</a:t>
            </a:r>
            <a:r>
              <a:rPr lang="en-IE" sz="1200" b="1" u="sng" dirty="0"/>
              <a:t> Prasad </a:t>
            </a:r>
            <a:r>
              <a:rPr lang="en-IE" sz="1200" b="1" u="sng" dirty="0" err="1" smtClean="0"/>
              <a:t>Neupane</a:t>
            </a:r>
            <a:r>
              <a:rPr lang="en-IE" sz="1200" b="1" u="sng" dirty="0" smtClean="0"/>
              <a:t> / </a:t>
            </a:r>
            <a:r>
              <a:rPr lang="en-IE" sz="1200" b="1" u="sng" dirty="0" err="1" smtClean="0"/>
              <a:t>GoN</a:t>
            </a:r>
            <a:r>
              <a:rPr lang="en-IE" sz="1200" b="1" u="sng" dirty="0" smtClean="0"/>
              <a:t> </a:t>
            </a:r>
            <a:r>
              <a:rPr lang="en-IE" sz="1200" b="1" u="sng" dirty="0"/>
              <a:t>Housing Reconstruction Programme ID No :</a:t>
            </a:r>
            <a:r>
              <a:rPr lang="en-IE" sz="1200" b="1" u="sng" dirty="0" smtClean="0"/>
              <a:t>29-10-7-0-84</a:t>
            </a:r>
          </a:p>
          <a:p>
            <a:pPr marL="0" indent="0">
              <a:buNone/>
            </a:pPr>
            <a:r>
              <a:rPr lang="en-IE" sz="1200" dirty="0" smtClean="0"/>
              <a:t>Load </a:t>
            </a:r>
            <a:r>
              <a:rPr lang="en-IE" sz="1200" dirty="0"/>
              <a:t>bearing structure (stone with mud mortar); Foundation= 3’-0’’ deep; No any seismic band; Room size=39’-0’’ X 14’ (with additional room on side 14’-0’’X14’-0’’), Height= 15’-0’’ (7’-0’’ up to first floor and 5’-0’’ attic and gable part=3’-0’’ with light STR); Cost of Construction =5 lakh </a:t>
            </a:r>
            <a:endParaRPr lang="en-US" sz="1200" dirty="0"/>
          </a:p>
          <a:p>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17</a:t>
            </a:fld>
            <a:endParaRPr lang="en-US"/>
          </a:p>
        </p:txBody>
      </p:sp>
      <p:pic>
        <p:nvPicPr>
          <p:cNvPr id="5" name="Picture 4" descr="H:\already constructed house Uttargaya 4\Bishnu pd neup\IMG_0350.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189" y="2297007"/>
            <a:ext cx="4594624" cy="4038600"/>
          </a:xfrm>
          <a:prstGeom prst="rect">
            <a:avLst/>
          </a:prstGeom>
          <a:noFill/>
          <a:ln>
            <a:noFill/>
          </a:ln>
        </p:spPr>
      </p:pic>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5061535" y="2297007"/>
            <a:ext cx="5071815" cy="4038600"/>
          </a:xfrm>
          <a:prstGeom prst="rect">
            <a:avLst/>
          </a:prstGeom>
        </p:spPr>
      </p:pic>
      <p:sp>
        <p:nvSpPr>
          <p:cNvPr id="7" name="TextBox 6"/>
          <p:cNvSpPr txBox="1"/>
          <p:nvPr/>
        </p:nvSpPr>
        <p:spPr>
          <a:xfrm>
            <a:off x="6190938" y="6490741"/>
            <a:ext cx="3942413" cy="408125"/>
          </a:xfrm>
          <a:prstGeom prst="rect">
            <a:avLst/>
          </a:prstGeom>
          <a:noFill/>
        </p:spPr>
        <p:txBody>
          <a:bodyPr wrap="square" rtlCol="0">
            <a:spAutoFit/>
          </a:bodyPr>
          <a:lstStyle/>
          <a:p>
            <a:r>
              <a:rPr lang="en-US" dirty="0" smtClean="0"/>
              <a:t>Source :District Support Engineer </a:t>
            </a:r>
            <a:endParaRPr lang="en-US" dirty="0"/>
          </a:p>
        </p:txBody>
      </p:sp>
    </p:spTree>
    <p:extLst>
      <p:ext uri="{BB962C8B-B14F-4D97-AF65-F5344CB8AC3E}">
        <p14:creationId xmlns:p14="http://schemas.microsoft.com/office/powerpoint/2010/main" val="1762064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Partners Update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LWF /</a:t>
            </a:r>
            <a:r>
              <a:rPr lang="en-US" dirty="0" err="1" smtClean="0"/>
              <a:t>Manakor</a:t>
            </a:r>
            <a:endParaRPr lang="en-US" dirty="0" smtClean="0"/>
          </a:p>
          <a:p>
            <a:r>
              <a:rPr lang="en-US" dirty="0" err="1" smtClean="0"/>
              <a:t>Lumanti</a:t>
            </a:r>
            <a:r>
              <a:rPr lang="en-US" dirty="0" smtClean="0"/>
              <a:t> /</a:t>
            </a:r>
            <a:r>
              <a:rPr lang="en-US" dirty="0" err="1" smtClean="0"/>
              <a:t>Cordaid</a:t>
            </a:r>
            <a:r>
              <a:rPr lang="en-US" dirty="0" smtClean="0"/>
              <a:t> </a:t>
            </a:r>
          </a:p>
          <a:p>
            <a:r>
              <a:rPr lang="en-US" dirty="0" smtClean="0"/>
              <a:t>Nepal Red cross society (NRCS)</a:t>
            </a:r>
          </a:p>
          <a:p>
            <a:r>
              <a:rPr lang="en-US" dirty="0" smtClean="0"/>
              <a:t>OM Nepal </a:t>
            </a:r>
          </a:p>
          <a:p>
            <a:r>
              <a:rPr lang="en-US" dirty="0" smtClean="0"/>
              <a:t>SP</a:t>
            </a:r>
          </a:p>
          <a:p>
            <a:r>
              <a:rPr lang="en-US" dirty="0" err="1" smtClean="0"/>
              <a:t>Helvetas</a:t>
            </a:r>
            <a:r>
              <a:rPr lang="en-US" dirty="0" smtClean="0"/>
              <a:t> </a:t>
            </a:r>
          </a:p>
          <a:p>
            <a:r>
              <a:rPr lang="en-US" dirty="0" err="1" smtClean="0"/>
              <a:t>Paurakhi</a:t>
            </a:r>
            <a:r>
              <a:rPr lang="en-US" dirty="0" smtClean="0"/>
              <a:t> Nepal /ASF </a:t>
            </a:r>
          </a:p>
          <a:p>
            <a:r>
              <a:rPr lang="en-US" dirty="0" err="1" smtClean="0"/>
              <a:t>Batash</a:t>
            </a:r>
            <a:r>
              <a:rPr lang="en-US" dirty="0" smtClean="0"/>
              <a:t> Foundation </a:t>
            </a:r>
          </a:p>
          <a:p>
            <a:r>
              <a:rPr lang="en-US" dirty="0" err="1" smtClean="0"/>
              <a:t>Pratical</a:t>
            </a:r>
            <a:r>
              <a:rPr lang="en-US" dirty="0" smtClean="0"/>
              <a:t> Action / JJMS </a:t>
            </a:r>
          </a:p>
          <a:p>
            <a:r>
              <a:rPr lang="en-US" dirty="0" smtClean="0"/>
              <a:t>GIZ  </a:t>
            </a:r>
            <a:endParaRPr lang="en-US" dirty="0"/>
          </a:p>
        </p:txBody>
      </p:sp>
      <p:sp>
        <p:nvSpPr>
          <p:cNvPr id="4" name="Slide Number Placeholder 3"/>
          <p:cNvSpPr>
            <a:spLocks noGrp="1"/>
          </p:cNvSpPr>
          <p:nvPr>
            <p:ph type="sldNum" sz="quarter" idx="12"/>
          </p:nvPr>
        </p:nvSpPr>
        <p:spPr/>
        <p:txBody>
          <a:bodyPr/>
          <a:lstStyle/>
          <a:p>
            <a:fld id="{4DED8F11-E02F-4D3E-85B4-F4AEDD07F0EA}" type="slidenum">
              <a:rPr lang="en-US" smtClean="0"/>
              <a:t>18</a:t>
            </a:fld>
            <a:endParaRPr lang="en-US"/>
          </a:p>
        </p:txBody>
      </p:sp>
    </p:spTree>
    <p:extLst>
      <p:ext uri="{BB962C8B-B14F-4D97-AF65-F5344CB8AC3E}">
        <p14:creationId xmlns:p14="http://schemas.microsoft.com/office/powerpoint/2010/main" val="1033684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600" b="1" dirty="0" smtClean="0">
                <a:solidFill>
                  <a:schemeClr val="tx2"/>
                </a:solidFill>
              </a:rPr>
              <a:t>                                  Thank You </a:t>
            </a:r>
          </a:p>
        </p:txBody>
      </p:sp>
      <p:sp>
        <p:nvSpPr>
          <p:cNvPr id="4" name="Slide Number Placeholder 3"/>
          <p:cNvSpPr>
            <a:spLocks noGrp="1"/>
          </p:cNvSpPr>
          <p:nvPr>
            <p:ph type="sldNum" sz="quarter" idx="12"/>
          </p:nvPr>
        </p:nvSpPr>
        <p:spPr/>
        <p:txBody>
          <a:bodyPr/>
          <a:lstStyle/>
          <a:p>
            <a:fld id="{4DED8F11-E02F-4D3E-85B4-F4AEDD07F0EA}" type="slidenum">
              <a:rPr lang="en-US" smtClean="0"/>
              <a:t>19</a:t>
            </a:fld>
            <a:endParaRPr lang="en-US"/>
          </a:p>
        </p:txBody>
      </p:sp>
    </p:spTree>
    <p:extLst>
      <p:ext uri="{BB962C8B-B14F-4D97-AF65-F5344CB8AC3E}">
        <p14:creationId xmlns:p14="http://schemas.microsoft.com/office/powerpoint/2010/main" val="2233037107"/>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HRRP Presentation Template V2 - Standard" id="{5D10A035-F335-4340-85D3-77CDC7CBA9FD}" vid="{73EC8021-56FA-464E-BB9E-B263993F6D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2937</TotalTime>
  <Words>1048</Words>
  <Application>Microsoft Office PowerPoint</Application>
  <PresentationFormat>Custom</PresentationFormat>
  <Paragraphs>212</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Retrospect</vt:lpstr>
      <vt:lpstr>PowerPoint Presentation</vt:lpstr>
      <vt:lpstr>Program Schedule </vt:lpstr>
      <vt:lpstr>Agenda</vt:lpstr>
      <vt:lpstr>Background </vt:lpstr>
      <vt:lpstr>Destruction by earthquake 25 April, 2017 </vt:lpstr>
      <vt:lpstr>Achievement with in 2 years </vt:lpstr>
      <vt:lpstr>  Partners Support for Housing Grant  </vt:lpstr>
      <vt:lpstr>Technical Assistances Status  (as of 25th Dec ,2017 )</vt:lpstr>
      <vt:lpstr>Tech…..</vt:lpstr>
      <vt:lpstr>Tech….</vt:lpstr>
      <vt:lpstr>Trainings </vt:lpstr>
      <vt:lpstr>Constructed Houses  </vt:lpstr>
      <vt:lpstr>Constructed Houses …..</vt:lpstr>
      <vt:lpstr>Constructed Houses …..</vt:lpstr>
      <vt:lpstr>Non Compliance Issue </vt:lpstr>
      <vt:lpstr>Non Compliance Issue </vt:lpstr>
      <vt:lpstr>Non Compliance Issue </vt:lpstr>
      <vt:lpstr>Partners Update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Gupta</dc:creator>
  <cp:lastModifiedBy>Rijan Gajurel</cp:lastModifiedBy>
  <cp:revision>256</cp:revision>
  <dcterms:created xsi:type="dcterms:W3CDTF">2017-06-13T04:10:50Z</dcterms:created>
  <dcterms:modified xsi:type="dcterms:W3CDTF">2018-01-02T10:52:30Z</dcterms:modified>
</cp:coreProperties>
</file>