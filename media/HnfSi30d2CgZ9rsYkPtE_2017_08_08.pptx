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notesMasterIdLst>
    <p:notesMasterId r:id="rId62"/>
  </p:notesMasterIdLst>
  <p:sldIdLst>
    <p:sldId id="256" r:id="rId2"/>
    <p:sldId id="364" r:id="rId3"/>
    <p:sldId id="365" r:id="rId4"/>
    <p:sldId id="366" r:id="rId5"/>
    <p:sldId id="367" r:id="rId6"/>
    <p:sldId id="369" r:id="rId7"/>
    <p:sldId id="368" r:id="rId8"/>
    <p:sldId id="353" r:id="rId9"/>
    <p:sldId id="374" r:id="rId10"/>
    <p:sldId id="355" r:id="rId11"/>
    <p:sldId id="362" r:id="rId12"/>
    <p:sldId id="360" r:id="rId13"/>
    <p:sldId id="363" r:id="rId14"/>
    <p:sldId id="356" r:id="rId15"/>
    <p:sldId id="361" r:id="rId16"/>
    <p:sldId id="370" r:id="rId17"/>
    <p:sldId id="373" r:id="rId18"/>
    <p:sldId id="371" r:id="rId19"/>
    <p:sldId id="375" r:id="rId20"/>
    <p:sldId id="376" r:id="rId21"/>
    <p:sldId id="377" r:id="rId22"/>
    <p:sldId id="378" r:id="rId23"/>
    <p:sldId id="379" r:id="rId24"/>
    <p:sldId id="380" r:id="rId25"/>
    <p:sldId id="381" r:id="rId26"/>
    <p:sldId id="382" r:id="rId27"/>
    <p:sldId id="383" r:id="rId28"/>
    <p:sldId id="384" r:id="rId29"/>
    <p:sldId id="385" r:id="rId30"/>
    <p:sldId id="387" r:id="rId31"/>
    <p:sldId id="390" r:id="rId32"/>
    <p:sldId id="391" r:id="rId33"/>
    <p:sldId id="386" r:id="rId34"/>
    <p:sldId id="392" r:id="rId35"/>
    <p:sldId id="393" r:id="rId36"/>
    <p:sldId id="394" r:id="rId37"/>
    <p:sldId id="395" r:id="rId38"/>
    <p:sldId id="396" r:id="rId39"/>
    <p:sldId id="397" r:id="rId40"/>
    <p:sldId id="424" r:id="rId41"/>
    <p:sldId id="401" r:id="rId42"/>
    <p:sldId id="399" r:id="rId43"/>
    <p:sldId id="400" r:id="rId44"/>
    <p:sldId id="402" r:id="rId45"/>
    <p:sldId id="403" r:id="rId46"/>
    <p:sldId id="404" r:id="rId47"/>
    <p:sldId id="405" r:id="rId48"/>
    <p:sldId id="406" r:id="rId49"/>
    <p:sldId id="425" r:id="rId50"/>
    <p:sldId id="421" r:id="rId51"/>
    <p:sldId id="415" r:id="rId52"/>
    <p:sldId id="418" r:id="rId53"/>
    <p:sldId id="410" r:id="rId54"/>
    <p:sldId id="419" r:id="rId55"/>
    <p:sldId id="420" r:id="rId56"/>
    <p:sldId id="422" r:id="rId57"/>
    <p:sldId id="423" r:id="rId58"/>
    <p:sldId id="427" r:id="rId59"/>
    <p:sldId id="430" r:id="rId60"/>
    <p:sldId id="426" r:id="rId61"/>
  </p:sldIdLst>
  <p:sldSz cx="10688638" cy="755332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xmi Prasad Bhatta" initials="LPB" lastIdx="1" clrIdx="0">
    <p:extLst>
      <p:ext uri="{19B8F6BF-5375-455C-9EA6-DF929625EA0E}">
        <p15:presenceInfo xmlns:p15="http://schemas.microsoft.com/office/powerpoint/2012/main" userId="Laxmi Prasad Bhatt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F5A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21" autoAdjust="0"/>
    <p:restoredTop sz="94434" autoAdjust="0"/>
  </p:normalViewPr>
  <p:slideViewPr>
    <p:cSldViewPr snapToGrid="0">
      <p:cViewPr varScale="1">
        <p:scale>
          <a:sx n="64" d="100"/>
          <a:sy n="64" d="100"/>
        </p:scale>
        <p:origin x="1068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EF17B4-35B3-4E4A-B2B9-059C8C1DC6EA}" type="doc">
      <dgm:prSet loTypeId="urn:microsoft.com/office/officeart/2005/8/layout/hierarchy1" loCatId="hierarchy" qsTypeId="urn:microsoft.com/office/officeart/2005/8/quickstyle/simple1" qsCatId="simple" csTypeId="urn:microsoft.com/office/officeart/2005/8/colors/accent5_3" csCatId="accent5" phldr="1"/>
      <dgm:spPr/>
      <dgm:t>
        <a:bodyPr/>
        <a:lstStyle/>
        <a:p>
          <a:endParaRPr lang="en-US"/>
        </a:p>
      </dgm:t>
    </dgm:pt>
    <dgm:pt modelId="{2B98CD1C-C7E3-4712-8C18-1A648C77B218}">
      <dgm:prSet phldrT="[Text]" custT="1"/>
      <dgm:spPr/>
      <dgm:t>
        <a:bodyPr/>
        <a:lstStyle/>
        <a:p>
          <a:r>
            <a:rPr lang="en-US" sz="3200" b="1" smtClean="0">
              <a:latin typeface="+mn-lt"/>
              <a:cs typeface="Arial" panose="020B0604020202020204" pitchFamily="34" charset="0"/>
            </a:rPr>
            <a:t>Confined Masonry</a:t>
          </a:r>
          <a:endParaRPr lang="en-US" sz="3200" b="1" dirty="0">
            <a:latin typeface="+mn-lt"/>
            <a:cs typeface="Arial" panose="020B0604020202020204" pitchFamily="34" charset="0"/>
          </a:endParaRPr>
        </a:p>
      </dgm:t>
    </dgm:pt>
    <dgm:pt modelId="{90C93144-1CC2-4FA8-83BA-95A4DAD7DA81}" type="parTrans" cxnId="{AF0CB642-2D2F-4887-9EB2-FE85E298AF25}">
      <dgm:prSet/>
      <dgm:spPr/>
      <dgm:t>
        <a:bodyPr/>
        <a:lstStyle/>
        <a:p>
          <a:endParaRPr lang="en-US"/>
        </a:p>
      </dgm:t>
    </dgm:pt>
    <dgm:pt modelId="{19478FDA-0675-4ACE-8DDA-8496BD4A1865}" type="sibTrans" cxnId="{AF0CB642-2D2F-4887-9EB2-FE85E298AF25}">
      <dgm:prSet/>
      <dgm:spPr/>
      <dgm:t>
        <a:bodyPr/>
        <a:lstStyle/>
        <a:p>
          <a:endParaRPr lang="en-US"/>
        </a:p>
      </dgm:t>
    </dgm:pt>
    <dgm:pt modelId="{0E32D37C-83E9-4283-AD9B-78B7243B773D}">
      <dgm:prSet phldrT="[Text]" custT="1"/>
      <dgm:spPr>
        <a:solidFill>
          <a:srgbClr val="FF0000">
            <a:alpha val="90000"/>
          </a:srgbClr>
        </a:solidFill>
      </dgm:spPr>
      <dgm:t>
        <a:bodyPr/>
        <a:lstStyle/>
        <a:p>
          <a:r>
            <a:rPr lang="en-US" sz="2000" b="1" dirty="0" smtClean="0">
              <a:latin typeface="+mn-lt"/>
              <a:cs typeface="Arial" panose="020B0604020202020204" pitchFamily="34" charset="0"/>
            </a:rPr>
            <a:t>Masonry wall</a:t>
          </a:r>
          <a:endParaRPr lang="en-US" sz="2000" b="1" dirty="0">
            <a:latin typeface="+mn-lt"/>
            <a:cs typeface="Arial" panose="020B0604020202020204" pitchFamily="34" charset="0"/>
          </a:endParaRPr>
        </a:p>
      </dgm:t>
    </dgm:pt>
    <dgm:pt modelId="{BEBCD978-38F4-439F-A653-FEA24E32126A}" type="parTrans" cxnId="{25829E4B-5EF6-4198-B8CD-3CC6663127BD}">
      <dgm:prSet/>
      <dgm:spPr/>
      <dgm:t>
        <a:bodyPr/>
        <a:lstStyle/>
        <a:p>
          <a:endParaRPr lang="en-US"/>
        </a:p>
      </dgm:t>
    </dgm:pt>
    <dgm:pt modelId="{70D61C99-7F41-458C-97C7-BF9148380908}" type="sibTrans" cxnId="{25829E4B-5EF6-4198-B8CD-3CC6663127BD}">
      <dgm:prSet/>
      <dgm:spPr/>
      <dgm:t>
        <a:bodyPr/>
        <a:lstStyle/>
        <a:p>
          <a:endParaRPr lang="en-US"/>
        </a:p>
      </dgm:t>
    </dgm:pt>
    <dgm:pt modelId="{25740EDA-F4FF-4046-8C53-58544AF54162}">
      <dgm:prSet phldrT="[Text]" custT="1"/>
      <dgm:spPr>
        <a:solidFill>
          <a:srgbClr val="FF0000">
            <a:alpha val="90000"/>
          </a:srgbClr>
        </a:solidFill>
      </dgm:spPr>
      <dgm:t>
        <a:bodyPr/>
        <a:lstStyle/>
        <a:p>
          <a:r>
            <a:rPr lang="en-US" sz="2000" b="1" dirty="0" smtClean="0">
              <a:latin typeface="+mn-lt"/>
              <a:cs typeface="Arial" panose="020B0604020202020204" pitchFamily="34" charset="0"/>
            </a:rPr>
            <a:t>Confining Elements</a:t>
          </a:r>
        </a:p>
        <a:p>
          <a:r>
            <a:rPr lang="en-US" sz="2000" b="1" dirty="0" smtClean="0">
              <a:latin typeface="+mn-lt"/>
              <a:cs typeface="Arial" panose="020B0604020202020204" pitchFamily="34" charset="0"/>
            </a:rPr>
            <a:t>(RC-Columns &amp; RC-Tie beams</a:t>
          </a:r>
          <a:endParaRPr lang="en-US" sz="2000" b="1" dirty="0">
            <a:latin typeface="+mn-lt"/>
            <a:cs typeface="Arial" panose="020B0604020202020204" pitchFamily="34" charset="0"/>
          </a:endParaRPr>
        </a:p>
      </dgm:t>
    </dgm:pt>
    <dgm:pt modelId="{2C1A4ED4-6196-4687-936D-3E01D7DF2F05}" type="parTrans" cxnId="{340B4EF3-1855-4669-9AC1-1E44F4CCCB3D}">
      <dgm:prSet/>
      <dgm:spPr/>
      <dgm:t>
        <a:bodyPr/>
        <a:lstStyle/>
        <a:p>
          <a:endParaRPr lang="en-US"/>
        </a:p>
      </dgm:t>
    </dgm:pt>
    <dgm:pt modelId="{AF713DF7-A4C9-437E-9BC9-15AFB3A5D94D}" type="sibTrans" cxnId="{340B4EF3-1855-4669-9AC1-1E44F4CCCB3D}">
      <dgm:prSet/>
      <dgm:spPr/>
      <dgm:t>
        <a:bodyPr/>
        <a:lstStyle/>
        <a:p>
          <a:endParaRPr lang="en-US"/>
        </a:p>
      </dgm:t>
    </dgm:pt>
    <dgm:pt modelId="{A034736B-5624-4DAA-9D07-993892810177}">
      <dgm:prSet phldrT="[Text]" custT="1"/>
      <dgm:spPr/>
      <dgm:t>
        <a:bodyPr/>
        <a:lstStyle/>
        <a:p>
          <a:r>
            <a:rPr lang="en-US" sz="2000" b="1" smtClean="0">
              <a:latin typeface="+mn-lt"/>
              <a:cs typeface="Arial" panose="020B0604020202020204" pitchFamily="34" charset="0"/>
            </a:rPr>
            <a:t>Plinth Band</a:t>
          </a:r>
          <a:endParaRPr lang="en-US" sz="2000" b="1" dirty="0">
            <a:latin typeface="+mn-lt"/>
            <a:cs typeface="Arial" panose="020B0604020202020204" pitchFamily="34" charset="0"/>
          </a:endParaRPr>
        </a:p>
      </dgm:t>
    </dgm:pt>
    <dgm:pt modelId="{40E3653E-E201-4BC7-BBE4-A6DCE2495F25}" type="parTrans" cxnId="{AE1E7D4D-BB69-49F9-8AE9-9FD817DCCD06}">
      <dgm:prSet/>
      <dgm:spPr/>
      <dgm:t>
        <a:bodyPr/>
        <a:lstStyle/>
        <a:p>
          <a:endParaRPr lang="en-US"/>
        </a:p>
      </dgm:t>
    </dgm:pt>
    <dgm:pt modelId="{F55731B6-8CAB-4E3F-B7D0-6F8C7A5935F3}" type="sibTrans" cxnId="{AE1E7D4D-BB69-49F9-8AE9-9FD817DCCD06}">
      <dgm:prSet/>
      <dgm:spPr/>
      <dgm:t>
        <a:bodyPr/>
        <a:lstStyle/>
        <a:p>
          <a:endParaRPr lang="en-US"/>
        </a:p>
      </dgm:t>
    </dgm:pt>
    <dgm:pt modelId="{D0C8C25B-5F55-4F02-ABE0-F1D08EFF48BD}">
      <dgm:prSet phldrT="[Text]" custT="1"/>
      <dgm:spPr/>
      <dgm:t>
        <a:bodyPr/>
        <a:lstStyle/>
        <a:p>
          <a:r>
            <a:rPr lang="en-US" sz="2000" b="1" dirty="0" smtClean="0">
              <a:latin typeface="+mn-lt"/>
              <a:cs typeface="Arial" panose="020B0604020202020204" pitchFamily="34" charset="0"/>
            </a:rPr>
            <a:t>Floor and Roof</a:t>
          </a:r>
        </a:p>
        <a:p>
          <a:r>
            <a:rPr lang="en-US" sz="2000" b="1" dirty="0" smtClean="0">
              <a:latin typeface="+mn-lt"/>
              <a:cs typeface="Arial" panose="020B0604020202020204" pitchFamily="34" charset="0"/>
            </a:rPr>
            <a:t>Slabs</a:t>
          </a:r>
          <a:endParaRPr lang="en-US" sz="2000" b="1" dirty="0">
            <a:latin typeface="+mn-lt"/>
            <a:cs typeface="Arial" panose="020B0604020202020204" pitchFamily="34" charset="0"/>
          </a:endParaRPr>
        </a:p>
      </dgm:t>
    </dgm:pt>
    <dgm:pt modelId="{9FEFBFA1-0565-4E78-9DE1-6E0022A58AFE}" type="parTrans" cxnId="{93EEBC14-2A83-43F2-A966-21B7A133AB0D}">
      <dgm:prSet/>
      <dgm:spPr/>
      <dgm:t>
        <a:bodyPr/>
        <a:lstStyle/>
        <a:p>
          <a:endParaRPr lang="en-US"/>
        </a:p>
      </dgm:t>
    </dgm:pt>
    <dgm:pt modelId="{699DF52B-1FE7-43F5-8FF0-D65A5065FBB2}" type="sibTrans" cxnId="{93EEBC14-2A83-43F2-A966-21B7A133AB0D}">
      <dgm:prSet/>
      <dgm:spPr/>
      <dgm:t>
        <a:bodyPr/>
        <a:lstStyle/>
        <a:p>
          <a:endParaRPr lang="en-US"/>
        </a:p>
      </dgm:t>
    </dgm:pt>
    <dgm:pt modelId="{03F656C7-A2F6-4488-908A-629D8F76BAD1}">
      <dgm:prSet phldrT="[Text]" custT="1"/>
      <dgm:spPr/>
      <dgm:t>
        <a:bodyPr/>
        <a:lstStyle/>
        <a:p>
          <a:r>
            <a:rPr lang="en-US" sz="2000" b="1" dirty="0" smtClean="0">
              <a:latin typeface="+mn-lt"/>
              <a:cs typeface="Arial" panose="020B0604020202020204" pitchFamily="34" charset="0"/>
            </a:rPr>
            <a:t>Foundation</a:t>
          </a:r>
          <a:endParaRPr lang="en-US" sz="2000" b="1" dirty="0">
            <a:latin typeface="+mn-lt"/>
            <a:cs typeface="Arial" panose="020B0604020202020204" pitchFamily="34" charset="0"/>
          </a:endParaRPr>
        </a:p>
      </dgm:t>
    </dgm:pt>
    <dgm:pt modelId="{A9BE2357-B444-4CDE-986E-03DA2E1605C4}" type="parTrans" cxnId="{A84CE8C4-E636-4076-8D94-A12230FBD871}">
      <dgm:prSet/>
      <dgm:spPr/>
      <dgm:t>
        <a:bodyPr/>
        <a:lstStyle/>
        <a:p>
          <a:endParaRPr lang="en-US"/>
        </a:p>
      </dgm:t>
    </dgm:pt>
    <dgm:pt modelId="{AED79109-4FAC-4EEA-9EFF-D6E12AAB3FCD}" type="sibTrans" cxnId="{A84CE8C4-E636-4076-8D94-A12230FBD871}">
      <dgm:prSet/>
      <dgm:spPr/>
      <dgm:t>
        <a:bodyPr/>
        <a:lstStyle/>
        <a:p>
          <a:endParaRPr lang="en-US"/>
        </a:p>
      </dgm:t>
    </dgm:pt>
    <dgm:pt modelId="{5FA6E934-7F64-479F-ADEA-0AA95AB47553}" type="pres">
      <dgm:prSet presAssocID="{32EF17B4-35B3-4E4A-B2B9-059C8C1DC6E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6B425B4A-97FD-4A28-AC22-A018394B7233}" type="pres">
      <dgm:prSet presAssocID="{2B98CD1C-C7E3-4712-8C18-1A648C77B218}" presName="hierRoot1" presStyleCnt="0"/>
      <dgm:spPr/>
    </dgm:pt>
    <dgm:pt modelId="{4163B64C-6E7C-49D8-B84B-112562159532}" type="pres">
      <dgm:prSet presAssocID="{2B98CD1C-C7E3-4712-8C18-1A648C77B218}" presName="composite" presStyleCnt="0"/>
      <dgm:spPr/>
    </dgm:pt>
    <dgm:pt modelId="{9FB24E68-9CB9-44BC-B84B-BBE47CFDEE2C}" type="pres">
      <dgm:prSet presAssocID="{2B98CD1C-C7E3-4712-8C18-1A648C77B218}" presName="background" presStyleLbl="node0" presStyleIdx="0" presStyleCnt="1"/>
      <dgm:spPr/>
    </dgm:pt>
    <dgm:pt modelId="{CA4CBA69-2C4F-4F54-8A2D-D137D0272E65}" type="pres">
      <dgm:prSet presAssocID="{2B98CD1C-C7E3-4712-8C18-1A648C77B218}" presName="text" presStyleLbl="fgAcc0" presStyleIdx="0" presStyleCnt="1" custScaleX="251199" custLinFactNeighborX="-4716" custLinFactNeighborY="-6644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6F498CE-3BDC-4D7C-BD34-F8F1FC8F1A3C}" type="pres">
      <dgm:prSet presAssocID="{2B98CD1C-C7E3-4712-8C18-1A648C77B218}" presName="hierChild2" presStyleCnt="0"/>
      <dgm:spPr/>
    </dgm:pt>
    <dgm:pt modelId="{07C74362-BDF8-4315-A6F2-1C71B74F2190}" type="pres">
      <dgm:prSet presAssocID="{BEBCD978-38F4-439F-A653-FEA24E32126A}" presName="Name10" presStyleLbl="parChTrans1D2" presStyleIdx="0" presStyleCnt="5"/>
      <dgm:spPr/>
      <dgm:t>
        <a:bodyPr/>
        <a:lstStyle/>
        <a:p>
          <a:endParaRPr lang="en-US"/>
        </a:p>
      </dgm:t>
    </dgm:pt>
    <dgm:pt modelId="{A4D58383-4CD0-44CF-AB9B-F7A9645ED338}" type="pres">
      <dgm:prSet presAssocID="{0E32D37C-83E9-4283-AD9B-78B7243B773D}" presName="hierRoot2" presStyleCnt="0"/>
      <dgm:spPr/>
    </dgm:pt>
    <dgm:pt modelId="{5CBE1D62-55D7-4C33-AF97-5B86602C709C}" type="pres">
      <dgm:prSet presAssocID="{0E32D37C-83E9-4283-AD9B-78B7243B773D}" presName="composite2" presStyleCnt="0"/>
      <dgm:spPr/>
    </dgm:pt>
    <dgm:pt modelId="{93C99DC4-E0C4-427D-8F26-410A361A23D8}" type="pres">
      <dgm:prSet presAssocID="{0E32D37C-83E9-4283-AD9B-78B7243B773D}" presName="background2" presStyleLbl="node2" presStyleIdx="0" presStyleCnt="5"/>
      <dgm:spPr/>
    </dgm:pt>
    <dgm:pt modelId="{BB418523-5B45-4D66-A3C4-C9CB088D163A}" type="pres">
      <dgm:prSet presAssocID="{0E32D37C-83E9-4283-AD9B-78B7243B773D}" presName="text2" presStyleLbl="fgAcc2" presStyleIdx="0" presStyleCnt="5" custScaleX="145797" custScaleY="12202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041DF0B8-4047-497E-9363-025229FC9965}" type="pres">
      <dgm:prSet presAssocID="{0E32D37C-83E9-4283-AD9B-78B7243B773D}" presName="hierChild3" presStyleCnt="0"/>
      <dgm:spPr/>
    </dgm:pt>
    <dgm:pt modelId="{7C15389C-3CDD-4BC6-8584-E6CC4999B0F2}" type="pres">
      <dgm:prSet presAssocID="{2C1A4ED4-6196-4687-936D-3E01D7DF2F05}" presName="Name10" presStyleLbl="parChTrans1D2" presStyleIdx="1" presStyleCnt="5"/>
      <dgm:spPr/>
      <dgm:t>
        <a:bodyPr/>
        <a:lstStyle/>
        <a:p>
          <a:endParaRPr lang="en-US"/>
        </a:p>
      </dgm:t>
    </dgm:pt>
    <dgm:pt modelId="{D125DB87-C6E5-4639-BC61-AD0EB849BD82}" type="pres">
      <dgm:prSet presAssocID="{25740EDA-F4FF-4046-8C53-58544AF54162}" presName="hierRoot2" presStyleCnt="0"/>
      <dgm:spPr/>
    </dgm:pt>
    <dgm:pt modelId="{E7DBF06D-BDC5-4BDD-9128-3E8053C71AB1}" type="pres">
      <dgm:prSet presAssocID="{25740EDA-F4FF-4046-8C53-58544AF54162}" presName="composite2" presStyleCnt="0"/>
      <dgm:spPr/>
    </dgm:pt>
    <dgm:pt modelId="{CDBDE479-18FA-4B59-91C3-6003DE786CB2}" type="pres">
      <dgm:prSet presAssocID="{25740EDA-F4FF-4046-8C53-58544AF54162}" presName="background2" presStyleLbl="node2" presStyleIdx="1" presStyleCnt="5"/>
      <dgm:spPr/>
    </dgm:pt>
    <dgm:pt modelId="{8F8FE87D-521A-45F4-AE01-261332E49160}" type="pres">
      <dgm:prSet presAssocID="{25740EDA-F4FF-4046-8C53-58544AF54162}" presName="text2" presStyleLbl="fgAcc2" presStyleIdx="1" presStyleCnt="5" custScaleX="161964" custScaleY="13378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D27AE44-94A1-4A78-ACA1-7E1042279704}" type="pres">
      <dgm:prSet presAssocID="{25740EDA-F4FF-4046-8C53-58544AF54162}" presName="hierChild3" presStyleCnt="0"/>
      <dgm:spPr/>
    </dgm:pt>
    <dgm:pt modelId="{5A6F35F2-5655-4308-9065-2F945B281C74}" type="pres">
      <dgm:prSet presAssocID="{9FEFBFA1-0565-4E78-9DE1-6E0022A58AFE}" presName="Name10" presStyleLbl="parChTrans1D2" presStyleIdx="2" presStyleCnt="5"/>
      <dgm:spPr/>
      <dgm:t>
        <a:bodyPr/>
        <a:lstStyle/>
        <a:p>
          <a:endParaRPr lang="en-US"/>
        </a:p>
      </dgm:t>
    </dgm:pt>
    <dgm:pt modelId="{14EBA81D-DDD3-4025-96E8-452D381ABF36}" type="pres">
      <dgm:prSet presAssocID="{D0C8C25B-5F55-4F02-ABE0-F1D08EFF48BD}" presName="hierRoot2" presStyleCnt="0"/>
      <dgm:spPr/>
    </dgm:pt>
    <dgm:pt modelId="{DAB52624-9A3F-4AAE-B669-76067166D019}" type="pres">
      <dgm:prSet presAssocID="{D0C8C25B-5F55-4F02-ABE0-F1D08EFF48BD}" presName="composite2" presStyleCnt="0"/>
      <dgm:spPr/>
    </dgm:pt>
    <dgm:pt modelId="{0961A402-2B82-4968-83FD-EAC02A13751D}" type="pres">
      <dgm:prSet presAssocID="{D0C8C25B-5F55-4F02-ABE0-F1D08EFF48BD}" presName="background2" presStyleLbl="node2" presStyleIdx="2" presStyleCnt="5"/>
      <dgm:spPr/>
    </dgm:pt>
    <dgm:pt modelId="{06810AB9-4831-413A-963D-DFC3529A5599}" type="pres">
      <dgm:prSet presAssocID="{D0C8C25B-5F55-4F02-ABE0-F1D08EFF48BD}" presName="text2" presStyleLbl="fgAcc2" presStyleIdx="2" presStyleCnt="5" custScaleX="12841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1F65844D-4B0E-4F3F-A38B-F672893C201A}" type="pres">
      <dgm:prSet presAssocID="{D0C8C25B-5F55-4F02-ABE0-F1D08EFF48BD}" presName="hierChild3" presStyleCnt="0"/>
      <dgm:spPr/>
    </dgm:pt>
    <dgm:pt modelId="{D4D3D9A5-B7A7-4F71-AE3C-275359B2CDCC}" type="pres">
      <dgm:prSet presAssocID="{40E3653E-E201-4BC7-BBE4-A6DCE2495F25}" presName="Name10" presStyleLbl="parChTrans1D2" presStyleIdx="3" presStyleCnt="5"/>
      <dgm:spPr/>
      <dgm:t>
        <a:bodyPr/>
        <a:lstStyle/>
        <a:p>
          <a:endParaRPr lang="en-US"/>
        </a:p>
      </dgm:t>
    </dgm:pt>
    <dgm:pt modelId="{C8CEBF0A-D5C7-4D69-AA87-121062A7FA3E}" type="pres">
      <dgm:prSet presAssocID="{A034736B-5624-4DAA-9D07-993892810177}" presName="hierRoot2" presStyleCnt="0"/>
      <dgm:spPr/>
    </dgm:pt>
    <dgm:pt modelId="{5AF34EC4-CFF0-4902-8131-A139E9037C81}" type="pres">
      <dgm:prSet presAssocID="{A034736B-5624-4DAA-9D07-993892810177}" presName="composite2" presStyleCnt="0"/>
      <dgm:spPr/>
    </dgm:pt>
    <dgm:pt modelId="{50A7B1BF-EC60-4DA4-A328-AC8C8FABAA65}" type="pres">
      <dgm:prSet presAssocID="{A034736B-5624-4DAA-9D07-993892810177}" presName="background2" presStyleLbl="node2" presStyleIdx="3" presStyleCnt="5"/>
      <dgm:spPr/>
    </dgm:pt>
    <dgm:pt modelId="{E3203048-9A4C-4531-B23A-DA1B90082290}" type="pres">
      <dgm:prSet presAssocID="{A034736B-5624-4DAA-9D07-993892810177}" presName="text2" presStyleLbl="fgAcc2" presStyleIdx="3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7EC3820-6D1C-4318-8E9F-381F172AA3ED}" type="pres">
      <dgm:prSet presAssocID="{A034736B-5624-4DAA-9D07-993892810177}" presName="hierChild3" presStyleCnt="0"/>
      <dgm:spPr/>
    </dgm:pt>
    <dgm:pt modelId="{B9CBDADB-6878-4FBC-A31A-81963B206E0F}" type="pres">
      <dgm:prSet presAssocID="{A9BE2357-B444-4CDE-986E-03DA2E1605C4}" presName="Name10" presStyleLbl="parChTrans1D2" presStyleIdx="4" presStyleCnt="5"/>
      <dgm:spPr/>
      <dgm:t>
        <a:bodyPr/>
        <a:lstStyle/>
        <a:p>
          <a:endParaRPr lang="en-US"/>
        </a:p>
      </dgm:t>
    </dgm:pt>
    <dgm:pt modelId="{398B8993-0447-4F27-A0FC-5CF1C4EA1B18}" type="pres">
      <dgm:prSet presAssocID="{03F656C7-A2F6-4488-908A-629D8F76BAD1}" presName="hierRoot2" presStyleCnt="0"/>
      <dgm:spPr/>
    </dgm:pt>
    <dgm:pt modelId="{3A0C79E2-FE92-465D-B23C-A6A4556684E4}" type="pres">
      <dgm:prSet presAssocID="{03F656C7-A2F6-4488-908A-629D8F76BAD1}" presName="composite2" presStyleCnt="0"/>
      <dgm:spPr/>
    </dgm:pt>
    <dgm:pt modelId="{20B63A11-B35C-4415-926F-01D57EEBBD58}" type="pres">
      <dgm:prSet presAssocID="{03F656C7-A2F6-4488-908A-629D8F76BAD1}" presName="background2" presStyleLbl="node2" presStyleIdx="4" presStyleCnt="5"/>
      <dgm:spPr/>
    </dgm:pt>
    <dgm:pt modelId="{A5B14EF7-1961-443C-A98B-41A176E4E21E}" type="pres">
      <dgm:prSet presAssocID="{03F656C7-A2F6-4488-908A-629D8F76BAD1}" presName="text2" presStyleLbl="fgAcc2" presStyleIdx="4" presStyleCnt="5" custScaleX="10403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8272051-E5A3-4E5F-A93C-23FD6C8B8A9C}" type="pres">
      <dgm:prSet presAssocID="{03F656C7-A2F6-4488-908A-629D8F76BAD1}" presName="hierChild3" presStyleCnt="0"/>
      <dgm:spPr/>
    </dgm:pt>
  </dgm:ptLst>
  <dgm:cxnLst>
    <dgm:cxn modelId="{EF336877-6835-4FD7-9D16-A6A35FAE03A0}" type="presOf" srcId="{03F656C7-A2F6-4488-908A-629D8F76BAD1}" destId="{A5B14EF7-1961-443C-A98B-41A176E4E21E}" srcOrd="0" destOrd="0" presId="urn:microsoft.com/office/officeart/2005/8/layout/hierarchy1"/>
    <dgm:cxn modelId="{C0D59D98-DB65-421E-BE8E-AA39293489B4}" type="presOf" srcId="{BEBCD978-38F4-439F-A653-FEA24E32126A}" destId="{07C74362-BDF8-4315-A6F2-1C71B74F2190}" srcOrd="0" destOrd="0" presId="urn:microsoft.com/office/officeart/2005/8/layout/hierarchy1"/>
    <dgm:cxn modelId="{DE710660-F50A-4F2D-AF9E-73694974B846}" type="presOf" srcId="{D0C8C25B-5F55-4F02-ABE0-F1D08EFF48BD}" destId="{06810AB9-4831-413A-963D-DFC3529A5599}" srcOrd="0" destOrd="0" presId="urn:microsoft.com/office/officeart/2005/8/layout/hierarchy1"/>
    <dgm:cxn modelId="{AE1E7D4D-BB69-49F9-8AE9-9FD817DCCD06}" srcId="{2B98CD1C-C7E3-4712-8C18-1A648C77B218}" destId="{A034736B-5624-4DAA-9D07-993892810177}" srcOrd="3" destOrd="0" parTransId="{40E3653E-E201-4BC7-BBE4-A6DCE2495F25}" sibTransId="{F55731B6-8CAB-4E3F-B7D0-6F8C7A5935F3}"/>
    <dgm:cxn modelId="{93EEBC14-2A83-43F2-A966-21B7A133AB0D}" srcId="{2B98CD1C-C7E3-4712-8C18-1A648C77B218}" destId="{D0C8C25B-5F55-4F02-ABE0-F1D08EFF48BD}" srcOrd="2" destOrd="0" parTransId="{9FEFBFA1-0565-4E78-9DE1-6E0022A58AFE}" sibTransId="{699DF52B-1FE7-43F5-8FF0-D65A5065FBB2}"/>
    <dgm:cxn modelId="{09A37018-FD1E-441F-990C-E0B93DAAD36F}" type="presOf" srcId="{25740EDA-F4FF-4046-8C53-58544AF54162}" destId="{8F8FE87D-521A-45F4-AE01-261332E49160}" srcOrd="0" destOrd="0" presId="urn:microsoft.com/office/officeart/2005/8/layout/hierarchy1"/>
    <dgm:cxn modelId="{E5310293-6F32-4D71-AE82-665EE9BC444C}" type="presOf" srcId="{A9BE2357-B444-4CDE-986E-03DA2E1605C4}" destId="{B9CBDADB-6878-4FBC-A31A-81963B206E0F}" srcOrd="0" destOrd="0" presId="urn:microsoft.com/office/officeart/2005/8/layout/hierarchy1"/>
    <dgm:cxn modelId="{25829E4B-5EF6-4198-B8CD-3CC6663127BD}" srcId="{2B98CD1C-C7E3-4712-8C18-1A648C77B218}" destId="{0E32D37C-83E9-4283-AD9B-78B7243B773D}" srcOrd="0" destOrd="0" parTransId="{BEBCD978-38F4-439F-A653-FEA24E32126A}" sibTransId="{70D61C99-7F41-458C-97C7-BF9148380908}"/>
    <dgm:cxn modelId="{340B4EF3-1855-4669-9AC1-1E44F4CCCB3D}" srcId="{2B98CD1C-C7E3-4712-8C18-1A648C77B218}" destId="{25740EDA-F4FF-4046-8C53-58544AF54162}" srcOrd="1" destOrd="0" parTransId="{2C1A4ED4-6196-4687-936D-3E01D7DF2F05}" sibTransId="{AF713DF7-A4C9-437E-9BC9-15AFB3A5D94D}"/>
    <dgm:cxn modelId="{AF0CB642-2D2F-4887-9EB2-FE85E298AF25}" srcId="{32EF17B4-35B3-4E4A-B2B9-059C8C1DC6EA}" destId="{2B98CD1C-C7E3-4712-8C18-1A648C77B218}" srcOrd="0" destOrd="0" parTransId="{90C93144-1CC2-4FA8-83BA-95A4DAD7DA81}" sibTransId="{19478FDA-0675-4ACE-8DDA-8496BD4A1865}"/>
    <dgm:cxn modelId="{A84CE8C4-E636-4076-8D94-A12230FBD871}" srcId="{2B98CD1C-C7E3-4712-8C18-1A648C77B218}" destId="{03F656C7-A2F6-4488-908A-629D8F76BAD1}" srcOrd="4" destOrd="0" parTransId="{A9BE2357-B444-4CDE-986E-03DA2E1605C4}" sibTransId="{AED79109-4FAC-4EEA-9EFF-D6E12AAB3FCD}"/>
    <dgm:cxn modelId="{FEB45934-CF3C-4754-BE66-F6E1FB2577B2}" type="presOf" srcId="{32EF17B4-35B3-4E4A-B2B9-059C8C1DC6EA}" destId="{5FA6E934-7F64-479F-ADEA-0AA95AB47553}" srcOrd="0" destOrd="0" presId="urn:microsoft.com/office/officeart/2005/8/layout/hierarchy1"/>
    <dgm:cxn modelId="{5E9F4FF2-5ACA-40B2-BF1F-13F67903F26E}" type="presOf" srcId="{0E32D37C-83E9-4283-AD9B-78B7243B773D}" destId="{BB418523-5B45-4D66-A3C4-C9CB088D163A}" srcOrd="0" destOrd="0" presId="urn:microsoft.com/office/officeart/2005/8/layout/hierarchy1"/>
    <dgm:cxn modelId="{DC8E634D-397E-4A35-8C79-EA3A0EB64C8C}" type="presOf" srcId="{9FEFBFA1-0565-4E78-9DE1-6E0022A58AFE}" destId="{5A6F35F2-5655-4308-9065-2F945B281C74}" srcOrd="0" destOrd="0" presId="urn:microsoft.com/office/officeart/2005/8/layout/hierarchy1"/>
    <dgm:cxn modelId="{AA7174CE-F9F0-40C8-A2AD-E6508DB702A1}" type="presOf" srcId="{40E3653E-E201-4BC7-BBE4-A6DCE2495F25}" destId="{D4D3D9A5-B7A7-4F71-AE3C-275359B2CDCC}" srcOrd="0" destOrd="0" presId="urn:microsoft.com/office/officeart/2005/8/layout/hierarchy1"/>
    <dgm:cxn modelId="{DA4DB392-1703-4786-BFC5-87EBF6196799}" type="presOf" srcId="{A034736B-5624-4DAA-9D07-993892810177}" destId="{E3203048-9A4C-4531-B23A-DA1B90082290}" srcOrd="0" destOrd="0" presId="urn:microsoft.com/office/officeart/2005/8/layout/hierarchy1"/>
    <dgm:cxn modelId="{F6E3F6EE-B844-451C-B02A-325ABAB6EE83}" type="presOf" srcId="{2C1A4ED4-6196-4687-936D-3E01D7DF2F05}" destId="{7C15389C-3CDD-4BC6-8584-E6CC4999B0F2}" srcOrd="0" destOrd="0" presId="urn:microsoft.com/office/officeart/2005/8/layout/hierarchy1"/>
    <dgm:cxn modelId="{A1675761-AC51-4ACC-815A-86F6A9FCA7CF}" type="presOf" srcId="{2B98CD1C-C7E3-4712-8C18-1A648C77B218}" destId="{CA4CBA69-2C4F-4F54-8A2D-D137D0272E65}" srcOrd="0" destOrd="0" presId="urn:microsoft.com/office/officeart/2005/8/layout/hierarchy1"/>
    <dgm:cxn modelId="{EF5546E7-2D52-45C3-BC10-73CAECAA1078}" type="presParOf" srcId="{5FA6E934-7F64-479F-ADEA-0AA95AB47553}" destId="{6B425B4A-97FD-4A28-AC22-A018394B7233}" srcOrd="0" destOrd="0" presId="urn:microsoft.com/office/officeart/2005/8/layout/hierarchy1"/>
    <dgm:cxn modelId="{6F1DFC12-D897-48F9-8B0F-7CCDD26C39C3}" type="presParOf" srcId="{6B425B4A-97FD-4A28-AC22-A018394B7233}" destId="{4163B64C-6E7C-49D8-B84B-112562159532}" srcOrd="0" destOrd="0" presId="urn:microsoft.com/office/officeart/2005/8/layout/hierarchy1"/>
    <dgm:cxn modelId="{D35076E5-088E-450E-9B94-26C41617CE40}" type="presParOf" srcId="{4163B64C-6E7C-49D8-B84B-112562159532}" destId="{9FB24E68-9CB9-44BC-B84B-BBE47CFDEE2C}" srcOrd="0" destOrd="0" presId="urn:microsoft.com/office/officeart/2005/8/layout/hierarchy1"/>
    <dgm:cxn modelId="{0F15DCE5-4B55-4C03-BA2F-F8BD62A29A2B}" type="presParOf" srcId="{4163B64C-6E7C-49D8-B84B-112562159532}" destId="{CA4CBA69-2C4F-4F54-8A2D-D137D0272E65}" srcOrd="1" destOrd="0" presId="urn:microsoft.com/office/officeart/2005/8/layout/hierarchy1"/>
    <dgm:cxn modelId="{B1F3D020-9C6A-449A-ADBF-C53FCD9FB9A7}" type="presParOf" srcId="{6B425B4A-97FD-4A28-AC22-A018394B7233}" destId="{66F498CE-3BDC-4D7C-BD34-F8F1FC8F1A3C}" srcOrd="1" destOrd="0" presId="urn:microsoft.com/office/officeart/2005/8/layout/hierarchy1"/>
    <dgm:cxn modelId="{41689C56-9781-4965-8CCE-843C18866AB8}" type="presParOf" srcId="{66F498CE-3BDC-4D7C-BD34-F8F1FC8F1A3C}" destId="{07C74362-BDF8-4315-A6F2-1C71B74F2190}" srcOrd="0" destOrd="0" presId="urn:microsoft.com/office/officeart/2005/8/layout/hierarchy1"/>
    <dgm:cxn modelId="{07E7FB83-26A7-45AC-928A-B92B4B2EFF63}" type="presParOf" srcId="{66F498CE-3BDC-4D7C-BD34-F8F1FC8F1A3C}" destId="{A4D58383-4CD0-44CF-AB9B-F7A9645ED338}" srcOrd="1" destOrd="0" presId="urn:microsoft.com/office/officeart/2005/8/layout/hierarchy1"/>
    <dgm:cxn modelId="{51EF2E97-6C45-4BA1-9961-5806A92197C5}" type="presParOf" srcId="{A4D58383-4CD0-44CF-AB9B-F7A9645ED338}" destId="{5CBE1D62-55D7-4C33-AF97-5B86602C709C}" srcOrd="0" destOrd="0" presId="urn:microsoft.com/office/officeart/2005/8/layout/hierarchy1"/>
    <dgm:cxn modelId="{ACF2D4FD-6D61-409B-85EE-44F84591E616}" type="presParOf" srcId="{5CBE1D62-55D7-4C33-AF97-5B86602C709C}" destId="{93C99DC4-E0C4-427D-8F26-410A361A23D8}" srcOrd="0" destOrd="0" presId="urn:microsoft.com/office/officeart/2005/8/layout/hierarchy1"/>
    <dgm:cxn modelId="{1F92C153-EAD1-4F19-8987-853E2977716A}" type="presParOf" srcId="{5CBE1D62-55D7-4C33-AF97-5B86602C709C}" destId="{BB418523-5B45-4D66-A3C4-C9CB088D163A}" srcOrd="1" destOrd="0" presId="urn:microsoft.com/office/officeart/2005/8/layout/hierarchy1"/>
    <dgm:cxn modelId="{C4E87B6C-C82D-4F04-B515-5F250ACB0115}" type="presParOf" srcId="{A4D58383-4CD0-44CF-AB9B-F7A9645ED338}" destId="{041DF0B8-4047-497E-9363-025229FC9965}" srcOrd="1" destOrd="0" presId="urn:microsoft.com/office/officeart/2005/8/layout/hierarchy1"/>
    <dgm:cxn modelId="{8708A1FF-40CB-4388-9882-12A2466D49FE}" type="presParOf" srcId="{66F498CE-3BDC-4D7C-BD34-F8F1FC8F1A3C}" destId="{7C15389C-3CDD-4BC6-8584-E6CC4999B0F2}" srcOrd="2" destOrd="0" presId="urn:microsoft.com/office/officeart/2005/8/layout/hierarchy1"/>
    <dgm:cxn modelId="{97676E4C-BD68-436F-AA02-E26C7D09C18C}" type="presParOf" srcId="{66F498CE-3BDC-4D7C-BD34-F8F1FC8F1A3C}" destId="{D125DB87-C6E5-4639-BC61-AD0EB849BD82}" srcOrd="3" destOrd="0" presId="urn:microsoft.com/office/officeart/2005/8/layout/hierarchy1"/>
    <dgm:cxn modelId="{175978AC-E4AA-4C62-8D7B-690639489555}" type="presParOf" srcId="{D125DB87-C6E5-4639-BC61-AD0EB849BD82}" destId="{E7DBF06D-BDC5-4BDD-9128-3E8053C71AB1}" srcOrd="0" destOrd="0" presId="urn:microsoft.com/office/officeart/2005/8/layout/hierarchy1"/>
    <dgm:cxn modelId="{A6D3811F-EAD4-4041-AD99-B869A91D65F8}" type="presParOf" srcId="{E7DBF06D-BDC5-4BDD-9128-3E8053C71AB1}" destId="{CDBDE479-18FA-4B59-91C3-6003DE786CB2}" srcOrd="0" destOrd="0" presId="urn:microsoft.com/office/officeart/2005/8/layout/hierarchy1"/>
    <dgm:cxn modelId="{33247520-F506-4CB9-904C-57C4CAF209AF}" type="presParOf" srcId="{E7DBF06D-BDC5-4BDD-9128-3E8053C71AB1}" destId="{8F8FE87D-521A-45F4-AE01-261332E49160}" srcOrd="1" destOrd="0" presId="urn:microsoft.com/office/officeart/2005/8/layout/hierarchy1"/>
    <dgm:cxn modelId="{A4297BE2-F911-4DB8-96B9-4E7BD851098F}" type="presParOf" srcId="{D125DB87-C6E5-4639-BC61-AD0EB849BD82}" destId="{3D27AE44-94A1-4A78-ACA1-7E1042279704}" srcOrd="1" destOrd="0" presId="urn:microsoft.com/office/officeart/2005/8/layout/hierarchy1"/>
    <dgm:cxn modelId="{9AD2320A-A969-4E28-A55A-57AD8B55F8CB}" type="presParOf" srcId="{66F498CE-3BDC-4D7C-BD34-F8F1FC8F1A3C}" destId="{5A6F35F2-5655-4308-9065-2F945B281C74}" srcOrd="4" destOrd="0" presId="urn:microsoft.com/office/officeart/2005/8/layout/hierarchy1"/>
    <dgm:cxn modelId="{1D92F140-F1E8-40E5-A2D9-9CD57AC66320}" type="presParOf" srcId="{66F498CE-3BDC-4D7C-BD34-F8F1FC8F1A3C}" destId="{14EBA81D-DDD3-4025-96E8-452D381ABF36}" srcOrd="5" destOrd="0" presId="urn:microsoft.com/office/officeart/2005/8/layout/hierarchy1"/>
    <dgm:cxn modelId="{15CC6D47-FE3B-4FFD-AB8F-A423C671FCA4}" type="presParOf" srcId="{14EBA81D-DDD3-4025-96E8-452D381ABF36}" destId="{DAB52624-9A3F-4AAE-B669-76067166D019}" srcOrd="0" destOrd="0" presId="urn:microsoft.com/office/officeart/2005/8/layout/hierarchy1"/>
    <dgm:cxn modelId="{2E973AD2-A9F0-43B3-BFAC-80B91127644B}" type="presParOf" srcId="{DAB52624-9A3F-4AAE-B669-76067166D019}" destId="{0961A402-2B82-4968-83FD-EAC02A13751D}" srcOrd="0" destOrd="0" presId="urn:microsoft.com/office/officeart/2005/8/layout/hierarchy1"/>
    <dgm:cxn modelId="{0C8C6DD9-CE54-443C-81C6-1F63EDAD2595}" type="presParOf" srcId="{DAB52624-9A3F-4AAE-B669-76067166D019}" destId="{06810AB9-4831-413A-963D-DFC3529A5599}" srcOrd="1" destOrd="0" presId="urn:microsoft.com/office/officeart/2005/8/layout/hierarchy1"/>
    <dgm:cxn modelId="{D1BDE7E8-3B81-4B64-AEC7-A23ED91F9D71}" type="presParOf" srcId="{14EBA81D-DDD3-4025-96E8-452D381ABF36}" destId="{1F65844D-4B0E-4F3F-A38B-F672893C201A}" srcOrd="1" destOrd="0" presId="urn:microsoft.com/office/officeart/2005/8/layout/hierarchy1"/>
    <dgm:cxn modelId="{74937BA5-CF60-4B2B-856F-941F38D784BA}" type="presParOf" srcId="{66F498CE-3BDC-4D7C-BD34-F8F1FC8F1A3C}" destId="{D4D3D9A5-B7A7-4F71-AE3C-275359B2CDCC}" srcOrd="6" destOrd="0" presId="urn:microsoft.com/office/officeart/2005/8/layout/hierarchy1"/>
    <dgm:cxn modelId="{C8843BD1-5301-40B8-A81C-CBD6E32F35E8}" type="presParOf" srcId="{66F498CE-3BDC-4D7C-BD34-F8F1FC8F1A3C}" destId="{C8CEBF0A-D5C7-4D69-AA87-121062A7FA3E}" srcOrd="7" destOrd="0" presId="urn:microsoft.com/office/officeart/2005/8/layout/hierarchy1"/>
    <dgm:cxn modelId="{B9E0CB71-0182-4A67-B3D8-38386EB7F53A}" type="presParOf" srcId="{C8CEBF0A-D5C7-4D69-AA87-121062A7FA3E}" destId="{5AF34EC4-CFF0-4902-8131-A139E9037C81}" srcOrd="0" destOrd="0" presId="urn:microsoft.com/office/officeart/2005/8/layout/hierarchy1"/>
    <dgm:cxn modelId="{7CEF70E0-CCF0-45E4-A910-47A4F07C8D67}" type="presParOf" srcId="{5AF34EC4-CFF0-4902-8131-A139E9037C81}" destId="{50A7B1BF-EC60-4DA4-A328-AC8C8FABAA65}" srcOrd="0" destOrd="0" presId="urn:microsoft.com/office/officeart/2005/8/layout/hierarchy1"/>
    <dgm:cxn modelId="{853367C2-9521-43F6-8DD0-79CB5BA0E4CB}" type="presParOf" srcId="{5AF34EC4-CFF0-4902-8131-A139E9037C81}" destId="{E3203048-9A4C-4531-B23A-DA1B90082290}" srcOrd="1" destOrd="0" presId="urn:microsoft.com/office/officeart/2005/8/layout/hierarchy1"/>
    <dgm:cxn modelId="{79386237-274B-4B23-B55E-5EC4AA8D9B46}" type="presParOf" srcId="{C8CEBF0A-D5C7-4D69-AA87-121062A7FA3E}" destId="{87EC3820-6D1C-4318-8E9F-381F172AA3ED}" srcOrd="1" destOrd="0" presId="urn:microsoft.com/office/officeart/2005/8/layout/hierarchy1"/>
    <dgm:cxn modelId="{422D00B7-0AD6-4049-82FC-8044CE25EF7D}" type="presParOf" srcId="{66F498CE-3BDC-4D7C-BD34-F8F1FC8F1A3C}" destId="{B9CBDADB-6878-4FBC-A31A-81963B206E0F}" srcOrd="8" destOrd="0" presId="urn:microsoft.com/office/officeart/2005/8/layout/hierarchy1"/>
    <dgm:cxn modelId="{60340CCB-CA1A-4D72-B9C8-253AC1FE8A79}" type="presParOf" srcId="{66F498CE-3BDC-4D7C-BD34-F8F1FC8F1A3C}" destId="{398B8993-0447-4F27-A0FC-5CF1C4EA1B18}" srcOrd="9" destOrd="0" presId="urn:microsoft.com/office/officeart/2005/8/layout/hierarchy1"/>
    <dgm:cxn modelId="{80522F4F-2D44-49D7-AFE5-BB03FC6D8D81}" type="presParOf" srcId="{398B8993-0447-4F27-A0FC-5CF1C4EA1B18}" destId="{3A0C79E2-FE92-465D-B23C-A6A4556684E4}" srcOrd="0" destOrd="0" presId="urn:microsoft.com/office/officeart/2005/8/layout/hierarchy1"/>
    <dgm:cxn modelId="{ACEC2034-AC26-4C2F-A575-0904C64FEA72}" type="presParOf" srcId="{3A0C79E2-FE92-465D-B23C-A6A4556684E4}" destId="{20B63A11-B35C-4415-926F-01D57EEBBD58}" srcOrd="0" destOrd="0" presId="urn:microsoft.com/office/officeart/2005/8/layout/hierarchy1"/>
    <dgm:cxn modelId="{B2FEABE4-A2C9-49E9-80D1-4ADEB583D45C}" type="presParOf" srcId="{3A0C79E2-FE92-465D-B23C-A6A4556684E4}" destId="{A5B14EF7-1961-443C-A98B-41A176E4E21E}" srcOrd="1" destOrd="0" presId="urn:microsoft.com/office/officeart/2005/8/layout/hierarchy1"/>
    <dgm:cxn modelId="{F4ACE353-645C-4EC5-A0F7-FC73B425C08C}" type="presParOf" srcId="{398B8993-0447-4F27-A0FC-5CF1C4EA1B18}" destId="{68272051-E5A3-4E5F-A93C-23FD6C8B8A9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CBDADB-6878-4FBC-A31A-81963B206E0F}">
      <dsp:nvSpPr>
        <dsp:cNvPr id="0" name=""/>
        <dsp:cNvSpPr/>
      </dsp:nvSpPr>
      <dsp:spPr>
        <a:xfrm>
          <a:off x="5078402" y="1780434"/>
          <a:ext cx="4471082" cy="10044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3930"/>
              </a:lnTo>
              <a:lnTo>
                <a:pt x="4471082" y="873930"/>
              </a:lnTo>
              <a:lnTo>
                <a:pt x="4471082" y="1004490"/>
              </a:lnTo>
            </a:path>
          </a:pathLst>
        </a:custGeom>
        <a:noFill/>
        <a:ln w="15875" cap="flat" cmpd="sng" algn="ctr">
          <a:solidFill>
            <a:schemeClr val="accent5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4D3D9A5-B7A7-4F71-AE3C-275359B2CDCC}">
      <dsp:nvSpPr>
        <dsp:cNvPr id="0" name=""/>
        <dsp:cNvSpPr/>
      </dsp:nvSpPr>
      <dsp:spPr>
        <a:xfrm>
          <a:off x="5078402" y="1780434"/>
          <a:ext cx="2720120" cy="10044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3930"/>
              </a:lnTo>
              <a:lnTo>
                <a:pt x="2720120" y="873930"/>
              </a:lnTo>
              <a:lnTo>
                <a:pt x="2720120" y="1004490"/>
              </a:lnTo>
            </a:path>
          </a:pathLst>
        </a:custGeom>
        <a:noFill/>
        <a:ln w="15875" cap="flat" cmpd="sng" algn="ctr">
          <a:solidFill>
            <a:schemeClr val="accent5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6F35F2-5655-4308-9065-2F945B281C74}">
      <dsp:nvSpPr>
        <dsp:cNvPr id="0" name=""/>
        <dsp:cNvSpPr/>
      </dsp:nvSpPr>
      <dsp:spPr>
        <a:xfrm>
          <a:off x="5078402" y="1780434"/>
          <a:ext cx="797381" cy="10044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73930"/>
              </a:lnTo>
              <a:lnTo>
                <a:pt x="797381" y="873930"/>
              </a:lnTo>
              <a:lnTo>
                <a:pt x="797381" y="1004490"/>
              </a:lnTo>
            </a:path>
          </a:pathLst>
        </a:custGeom>
        <a:noFill/>
        <a:ln w="15875" cap="flat" cmpd="sng" algn="ctr">
          <a:solidFill>
            <a:schemeClr val="accent5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15389C-3CDD-4BC6-8584-E6CC4999B0F2}">
      <dsp:nvSpPr>
        <dsp:cNvPr id="0" name=""/>
        <dsp:cNvSpPr/>
      </dsp:nvSpPr>
      <dsp:spPr>
        <a:xfrm>
          <a:off x="3516404" y="1780434"/>
          <a:ext cx="1561998" cy="1004490"/>
        </a:xfrm>
        <a:custGeom>
          <a:avLst/>
          <a:gdLst/>
          <a:ahLst/>
          <a:cxnLst/>
          <a:rect l="0" t="0" r="0" b="0"/>
          <a:pathLst>
            <a:path>
              <a:moveTo>
                <a:pt x="1561998" y="0"/>
              </a:moveTo>
              <a:lnTo>
                <a:pt x="1561998" y="873930"/>
              </a:lnTo>
              <a:lnTo>
                <a:pt x="0" y="873930"/>
              </a:lnTo>
              <a:lnTo>
                <a:pt x="0" y="1004490"/>
              </a:lnTo>
            </a:path>
          </a:pathLst>
        </a:custGeom>
        <a:noFill/>
        <a:ln w="15875" cap="flat" cmpd="sng" algn="ctr">
          <a:solidFill>
            <a:schemeClr val="accent5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C74362-BDF8-4315-A6F2-1C71B74F2190}">
      <dsp:nvSpPr>
        <dsp:cNvPr id="0" name=""/>
        <dsp:cNvSpPr/>
      </dsp:nvSpPr>
      <dsp:spPr>
        <a:xfrm>
          <a:off x="1034525" y="1780434"/>
          <a:ext cx="4043877" cy="1004490"/>
        </a:xfrm>
        <a:custGeom>
          <a:avLst/>
          <a:gdLst/>
          <a:ahLst/>
          <a:cxnLst/>
          <a:rect l="0" t="0" r="0" b="0"/>
          <a:pathLst>
            <a:path>
              <a:moveTo>
                <a:pt x="4043877" y="0"/>
              </a:moveTo>
              <a:lnTo>
                <a:pt x="4043877" y="873930"/>
              </a:lnTo>
              <a:lnTo>
                <a:pt x="0" y="873930"/>
              </a:lnTo>
              <a:lnTo>
                <a:pt x="0" y="1004490"/>
              </a:lnTo>
            </a:path>
          </a:pathLst>
        </a:custGeom>
        <a:noFill/>
        <a:ln w="15875" cap="flat" cmpd="sng" algn="ctr">
          <a:solidFill>
            <a:schemeClr val="accent5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B24E68-9CB9-44BC-B84B-BBE47CFDEE2C}">
      <dsp:nvSpPr>
        <dsp:cNvPr id="0" name=""/>
        <dsp:cNvSpPr/>
      </dsp:nvSpPr>
      <dsp:spPr>
        <a:xfrm>
          <a:off x="3308283" y="885506"/>
          <a:ext cx="3540237" cy="894928"/>
        </a:xfrm>
        <a:prstGeom prst="roundRect">
          <a:avLst>
            <a:gd name="adj" fmla="val 10000"/>
          </a:avLst>
        </a:prstGeom>
        <a:solidFill>
          <a:schemeClr val="accent5">
            <a:shade val="8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4CBA69-2C4F-4F54-8A2D-D137D0272E65}">
      <dsp:nvSpPr>
        <dsp:cNvPr id="0" name=""/>
        <dsp:cNvSpPr/>
      </dsp:nvSpPr>
      <dsp:spPr>
        <a:xfrm>
          <a:off x="3464876" y="1034269"/>
          <a:ext cx="3540237" cy="8949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smtClean="0">
              <a:latin typeface="+mn-lt"/>
              <a:cs typeface="Arial" panose="020B0604020202020204" pitchFamily="34" charset="0"/>
            </a:rPr>
            <a:t>Confined Masonry</a:t>
          </a:r>
          <a:endParaRPr lang="en-US" sz="3200" b="1" kern="1200" dirty="0">
            <a:latin typeface="+mn-lt"/>
            <a:cs typeface="Arial" panose="020B0604020202020204" pitchFamily="34" charset="0"/>
          </a:endParaRPr>
        </a:p>
      </dsp:txBody>
      <dsp:txXfrm>
        <a:off x="3491088" y="1060481"/>
        <a:ext cx="3487813" cy="842504"/>
      </dsp:txXfrm>
    </dsp:sp>
    <dsp:sp modelId="{93C99DC4-E0C4-427D-8F26-410A361A23D8}">
      <dsp:nvSpPr>
        <dsp:cNvPr id="0" name=""/>
        <dsp:cNvSpPr/>
      </dsp:nvSpPr>
      <dsp:spPr>
        <a:xfrm>
          <a:off x="7140" y="2784924"/>
          <a:ext cx="2054769" cy="1091991"/>
        </a:xfrm>
        <a:prstGeom prst="roundRect">
          <a:avLst>
            <a:gd name="adj" fmla="val 10000"/>
          </a:avLst>
        </a:prstGeom>
        <a:solidFill>
          <a:schemeClr val="accent5">
            <a:tint val="99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418523-5B45-4D66-A3C4-C9CB088D163A}">
      <dsp:nvSpPr>
        <dsp:cNvPr id="0" name=""/>
        <dsp:cNvSpPr/>
      </dsp:nvSpPr>
      <dsp:spPr>
        <a:xfrm>
          <a:off x="163733" y="2933687"/>
          <a:ext cx="2054769" cy="1091991"/>
        </a:xfrm>
        <a:prstGeom prst="roundRect">
          <a:avLst>
            <a:gd name="adj" fmla="val 10000"/>
          </a:avLst>
        </a:prstGeom>
        <a:solidFill>
          <a:srgbClr val="FF0000">
            <a:alpha val="90000"/>
          </a:srgbClr>
        </a:solidFill>
        <a:ln w="15875" cap="flat" cmpd="sng" algn="ctr">
          <a:solidFill>
            <a:schemeClr val="accent5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latin typeface="+mn-lt"/>
              <a:cs typeface="Arial" panose="020B0604020202020204" pitchFamily="34" charset="0"/>
            </a:rPr>
            <a:t>Masonry wall</a:t>
          </a:r>
          <a:endParaRPr lang="en-US" sz="2000" b="1" kern="1200" dirty="0">
            <a:latin typeface="+mn-lt"/>
            <a:cs typeface="Arial" panose="020B0604020202020204" pitchFamily="34" charset="0"/>
          </a:endParaRPr>
        </a:p>
      </dsp:txBody>
      <dsp:txXfrm>
        <a:off x="195716" y="2965670"/>
        <a:ext cx="1990803" cy="1028025"/>
      </dsp:txXfrm>
    </dsp:sp>
    <dsp:sp modelId="{CDBDE479-18FA-4B59-91C3-6003DE786CB2}">
      <dsp:nvSpPr>
        <dsp:cNvPr id="0" name=""/>
        <dsp:cNvSpPr/>
      </dsp:nvSpPr>
      <dsp:spPr>
        <a:xfrm>
          <a:off x="2375095" y="2784924"/>
          <a:ext cx="2282616" cy="1197288"/>
        </a:xfrm>
        <a:prstGeom prst="roundRect">
          <a:avLst>
            <a:gd name="adj" fmla="val 10000"/>
          </a:avLst>
        </a:prstGeom>
        <a:solidFill>
          <a:schemeClr val="accent5">
            <a:tint val="99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8FE87D-521A-45F4-AE01-261332E49160}">
      <dsp:nvSpPr>
        <dsp:cNvPr id="0" name=""/>
        <dsp:cNvSpPr/>
      </dsp:nvSpPr>
      <dsp:spPr>
        <a:xfrm>
          <a:off x="2531688" y="2933687"/>
          <a:ext cx="2282616" cy="1197288"/>
        </a:xfrm>
        <a:prstGeom prst="roundRect">
          <a:avLst>
            <a:gd name="adj" fmla="val 10000"/>
          </a:avLst>
        </a:prstGeom>
        <a:solidFill>
          <a:srgbClr val="FF0000">
            <a:alpha val="90000"/>
          </a:srgbClr>
        </a:solidFill>
        <a:ln w="15875" cap="flat" cmpd="sng" algn="ctr">
          <a:solidFill>
            <a:schemeClr val="accent5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latin typeface="+mn-lt"/>
              <a:cs typeface="Arial" panose="020B0604020202020204" pitchFamily="34" charset="0"/>
            </a:rPr>
            <a:t>Confining Elements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latin typeface="+mn-lt"/>
              <a:cs typeface="Arial" panose="020B0604020202020204" pitchFamily="34" charset="0"/>
            </a:rPr>
            <a:t>(RC-Columns &amp; RC-Tie beams</a:t>
          </a:r>
          <a:endParaRPr lang="en-US" sz="2000" b="1" kern="1200" dirty="0">
            <a:latin typeface="+mn-lt"/>
            <a:cs typeface="Arial" panose="020B0604020202020204" pitchFamily="34" charset="0"/>
          </a:endParaRPr>
        </a:p>
      </dsp:txBody>
      <dsp:txXfrm>
        <a:off x="2566755" y="2968754"/>
        <a:ext cx="2212482" cy="1127154"/>
      </dsp:txXfrm>
    </dsp:sp>
    <dsp:sp modelId="{0961A402-2B82-4968-83FD-EAC02A13751D}">
      <dsp:nvSpPr>
        <dsp:cNvPr id="0" name=""/>
        <dsp:cNvSpPr/>
      </dsp:nvSpPr>
      <dsp:spPr>
        <a:xfrm>
          <a:off x="4970898" y="2784924"/>
          <a:ext cx="1809770" cy="894928"/>
        </a:xfrm>
        <a:prstGeom prst="roundRect">
          <a:avLst>
            <a:gd name="adj" fmla="val 10000"/>
          </a:avLst>
        </a:prstGeom>
        <a:solidFill>
          <a:schemeClr val="accent5">
            <a:tint val="99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810AB9-4831-413A-963D-DFC3529A5599}">
      <dsp:nvSpPr>
        <dsp:cNvPr id="0" name=""/>
        <dsp:cNvSpPr/>
      </dsp:nvSpPr>
      <dsp:spPr>
        <a:xfrm>
          <a:off x="5127491" y="2933687"/>
          <a:ext cx="1809770" cy="8949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latin typeface="+mn-lt"/>
              <a:cs typeface="Arial" panose="020B0604020202020204" pitchFamily="34" charset="0"/>
            </a:rPr>
            <a:t>Floor and Roof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latin typeface="+mn-lt"/>
              <a:cs typeface="Arial" panose="020B0604020202020204" pitchFamily="34" charset="0"/>
            </a:rPr>
            <a:t>Slabs</a:t>
          </a:r>
          <a:endParaRPr lang="en-US" sz="2000" b="1" kern="1200" dirty="0">
            <a:latin typeface="+mn-lt"/>
            <a:cs typeface="Arial" panose="020B0604020202020204" pitchFamily="34" charset="0"/>
          </a:endParaRPr>
        </a:p>
      </dsp:txBody>
      <dsp:txXfrm>
        <a:off x="5153703" y="2959899"/>
        <a:ext cx="1757346" cy="842504"/>
      </dsp:txXfrm>
    </dsp:sp>
    <dsp:sp modelId="{50A7B1BF-EC60-4DA4-A328-AC8C8FABAA65}">
      <dsp:nvSpPr>
        <dsp:cNvPr id="0" name=""/>
        <dsp:cNvSpPr/>
      </dsp:nvSpPr>
      <dsp:spPr>
        <a:xfrm>
          <a:off x="7093855" y="2784924"/>
          <a:ext cx="1409336" cy="894928"/>
        </a:xfrm>
        <a:prstGeom prst="roundRect">
          <a:avLst>
            <a:gd name="adj" fmla="val 10000"/>
          </a:avLst>
        </a:prstGeom>
        <a:solidFill>
          <a:schemeClr val="accent5">
            <a:tint val="99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203048-9A4C-4531-B23A-DA1B90082290}">
      <dsp:nvSpPr>
        <dsp:cNvPr id="0" name=""/>
        <dsp:cNvSpPr/>
      </dsp:nvSpPr>
      <dsp:spPr>
        <a:xfrm>
          <a:off x="7250447" y="2933687"/>
          <a:ext cx="1409336" cy="8949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smtClean="0">
              <a:latin typeface="+mn-lt"/>
              <a:cs typeface="Arial" panose="020B0604020202020204" pitchFamily="34" charset="0"/>
            </a:rPr>
            <a:t>Plinth Band</a:t>
          </a:r>
          <a:endParaRPr lang="en-US" sz="2000" b="1" kern="1200" dirty="0">
            <a:latin typeface="+mn-lt"/>
            <a:cs typeface="Arial" panose="020B0604020202020204" pitchFamily="34" charset="0"/>
          </a:endParaRPr>
        </a:p>
      </dsp:txBody>
      <dsp:txXfrm>
        <a:off x="7276659" y="2959899"/>
        <a:ext cx="1356912" cy="842504"/>
      </dsp:txXfrm>
    </dsp:sp>
    <dsp:sp modelId="{20B63A11-B35C-4415-926F-01D57EEBBD58}">
      <dsp:nvSpPr>
        <dsp:cNvPr id="0" name=""/>
        <dsp:cNvSpPr/>
      </dsp:nvSpPr>
      <dsp:spPr>
        <a:xfrm>
          <a:off x="8816376" y="2784924"/>
          <a:ext cx="1466216" cy="894928"/>
        </a:xfrm>
        <a:prstGeom prst="roundRect">
          <a:avLst>
            <a:gd name="adj" fmla="val 10000"/>
          </a:avLst>
        </a:prstGeom>
        <a:solidFill>
          <a:schemeClr val="accent5">
            <a:tint val="99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B14EF7-1961-443C-A98B-41A176E4E21E}">
      <dsp:nvSpPr>
        <dsp:cNvPr id="0" name=""/>
        <dsp:cNvSpPr/>
      </dsp:nvSpPr>
      <dsp:spPr>
        <a:xfrm>
          <a:off x="8972969" y="2933687"/>
          <a:ext cx="1466216" cy="8949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latin typeface="+mn-lt"/>
              <a:cs typeface="Arial" panose="020B0604020202020204" pitchFamily="34" charset="0"/>
            </a:rPr>
            <a:t>Foundation</a:t>
          </a:r>
          <a:endParaRPr lang="en-US" sz="2000" b="1" kern="1200" dirty="0">
            <a:latin typeface="+mn-lt"/>
            <a:cs typeface="Arial" panose="020B0604020202020204" pitchFamily="34" charset="0"/>
          </a:endParaRPr>
        </a:p>
      </dsp:txBody>
      <dsp:txXfrm>
        <a:off x="8999181" y="2959899"/>
        <a:ext cx="1413792" cy="8425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DF01DF-AA2A-4663-97ED-1D4900288616}" type="datetimeFigureOut">
              <a:rPr lang="en-US" smtClean="0"/>
              <a:t>8/2/2017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C0BC69-F121-432B-8CE8-45C4ACD016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413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C0BC69-F121-432B-8CE8-45C4ACD0169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161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2B0B6-317C-4A0B-AE4B-EE27EA936C7A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9196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C0BC69-F121-432B-8CE8-45C4ACD0169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5140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C0BC69-F121-432B-8CE8-45C4ACD0169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283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C0BC69-F121-432B-8CE8-45C4ACD0169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3106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C0BC69-F121-432B-8CE8-45C4ACD01690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098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C0BC69-F121-432B-8CE8-45C4ACD01690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522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02B0B6-317C-4A0B-AE4B-EE27EA936C7A}" type="slidenum">
              <a:rPr lang="en-US" altLang="en-US" smtClean="0"/>
              <a:pPr/>
              <a:t>59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5625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785" y="7049770"/>
            <a:ext cx="10685855" cy="503555"/>
          </a:xfrm>
          <a:prstGeom prst="rect">
            <a:avLst/>
          </a:prstGeom>
          <a:solidFill>
            <a:srgbClr val="0F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976545"/>
            <a:ext cx="10685855" cy="704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03852" y="835901"/>
            <a:ext cx="4276253" cy="3927729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208" spc="-44" baseline="0">
                <a:solidFill>
                  <a:srgbClr val="0F5AA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06281" y="4907370"/>
            <a:ext cx="4276253" cy="1258888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104" cap="all" spc="175" baseline="0">
                <a:solidFill>
                  <a:schemeClr val="tx1"/>
                </a:solidFill>
                <a:latin typeface="+mj-lt"/>
              </a:defRPr>
            </a:lvl1pPr>
            <a:lvl2pPr marL="400827" indent="0" algn="ctr">
              <a:buNone/>
              <a:defRPr sz="2104"/>
            </a:lvl2pPr>
            <a:lvl3pPr marL="801654" indent="0" algn="ctr">
              <a:buNone/>
              <a:defRPr sz="2104"/>
            </a:lvl3pPr>
            <a:lvl4pPr marL="1202482" indent="0" algn="ctr">
              <a:buNone/>
              <a:defRPr sz="1753"/>
            </a:lvl4pPr>
            <a:lvl5pPr marL="1603309" indent="0" algn="ctr">
              <a:buNone/>
              <a:defRPr sz="1753"/>
            </a:lvl5pPr>
            <a:lvl6pPr marL="2004136" indent="0" algn="ctr">
              <a:buNone/>
              <a:defRPr sz="1753"/>
            </a:lvl6pPr>
            <a:lvl7pPr marL="2404963" indent="0" algn="ctr">
              <a:buNone/>
              <a:defRPr sz="1753"/>
            </a:lvl7pPr>
            <a:lvl8pPr marL="2805791" indent="0" algn="ctr">
              <a:buNone/>
              <a:defRPr sz="1753"/>
            </a:lvl8pPr>
            <a:lvl9pPr marL="3206618" indent="0" algn="ctr">
              <a:buNone/>
              <a:defRPr sz="17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2141717" y="7163266"/>
            <a:ext cx="19941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smtClean="0">
                <a:solidFill>
                  <a:schemeClr val="bg1"/>
                </a:solidFill>
              </a:rPr>
              <a:t>www.hrrpnepal.org</a:t>
            </a:r>
            <a:endParaRPr lang="en-US" sz="1800" b="1" dirty="0">
              <a:solidFill>
                <a:schemeClr val="bg1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06" y="1360037"/>
            <a:ext cx="4726382" cy="4322180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491497" y="5696937"/>
            <a:ext cx="46086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F5AA5"/>
                </a:solidFill>
              </a:rPr>
              <a:t>Housing Recovery and Reconstruction Platform</a:t>
            </a: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5344319" y="835903"/>
            <a:ext cx="0" cy="5522420"/>
          </a:xfrm>
          <a:prstGeom prst="line">
            <a:avLst/>
          </a:prstGeom>
          <a:ln>
            <a:solidFill>
              <a:srgbClr val="0F5A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2126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907" y="255536"/>
            <a:ext cx="8818126" cy="1204819"/>
          </a:xfrm>
        </p:spPr>
        <p:txBody>
          <a:bodyPr/>
          <a:lstStyle>
            <a:lvl1pPr marL="0">
              <a:defRPr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9629" y="1762300"/>
            <a:ext cx="10021795" cy="5031936"/>
          </a:xfrm>
        </p:spPr>
        <p:txBody>
          <a:bodyPr/>
          <a:lstStyle>
            <a:lvl1pPr>
              <a:defRPr sz="2279">
                <a:latin typeface="+mn-lt"/>
              </a:defRPr>
            </a:lvl1pPr>
            <a:lvl2pPr>
              <a:defRPr sz="2279">
                <a:latin typeface="+mn-lt"/>
              </a:defRPr>
            </a:lvl2pPr>
            <a:lvl3pPr>
              <a:defRPr sz="2279">
                <a:latin typeface="+mn-lt"/>
              </a:defRPr>
            </a:lvl3pPr>
            <a:lvl4pPr>
              <a:defRPr sz="2279">
                <a:latin typeface="+mn-lt"/>
              </a:defRPr>
            </a:lvl4pPr>
            <a:lvl5pPr>
              <a:defRPr sz="2279">
                <a:latin typeface="+mn-lt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438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785" y="7049770"/>
            <a:ext cx="10685855" cy="503555"/>
          </a:xfrm>
          <a:prstGeom prst="rect">
            <a:avLst/>
          </a:prstGeom>
          <a:solidFill>
            <a:srgbClr val="0F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976545"/>
            <a:ext cx="10685855" cy="704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978" y="835901"/>
            <a:ext cx="8818126" cy="3927729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7014" b="0">
                <a:solidFill>
                  <a:srgbClr val="0F5AA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1978" y="4904625"/>
            <a:ext cx="8818126" cy="1258888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104" cap="all" spc="175" baseline="0">
                <a:solidFill>
                  <a:schemeClr val="tx1"/>
                </a:solidFill>
                <a:latin typeface="+mj-lt"/>
              </a:defRPr>
            </a:lvl1pPr>
            <a:lvl2pPr marL="400827" indent="0">
              <a:buNone/>
              <a:defRPr sz="1578">
                <a:solidFill>
                  <a:schemeClr val="tx1">
                    <a:tint val="75000"/>
                  </a:schemeClr>
                </a:solidFill>
              </a:defRPr>
            </a:lvl2pPr>
            <a:lvl3pPr marL="801654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3pPr>
            <a:lvl4pPr marL="1202482" indent="0">
              <a:buNone/>
              <a:defRPr sz="1227">
                <a:solidFill>
                  <a:schemeClr val="tx1">
                    <a:tint val="75000"/>
                  </a:schemeClr>
                </a:solidFill>
              </a:defRPr>
            </a:lvl4pPr>
            <a:lvl5pPr marL="1603309" indent="0">
              <a:buNone/>
              <a:defRPr sz="1227">
                <a:solidFill>
                  <a:schemeClr val="tx1">
                    <a:tint val="75000"/>
                  </a:schemeClr>
                </a:solidFill>
              </a:defRPr>
            </a:lvl5pPr>
            <a:lvl6pPr marL="2004136" indent="0">
              <a:buNone/>
              <a:defRPr sz="1227">
                <a:solidFill>
                  <a:schemeClr val="tx1">
                    <a:tint val="75000"/>
                  </a:schemeClr>
                </a:solidFill>
              </a:defRPr>
            </a:lvl6pPr>
            <a:lvl7pPr marL="2404963" indent="0">
              <a:buNone/>
              <a:defRPr sz="1227">
                <a:solidFill>
                  <a:schemeClr val="tx1">
                    <a:tint val="75000"/>
                  </a:schemeClr>
                </a:solidFill>
              </a:defRPr>
            </a:lvl7pPr>
            <a:lvl8pPr marL="2805791" indent="0">
              <a:buNone/>
              <a:defRPr sz="1227">
                <a:solidFill>
                  <a:schemeClr val="tx1">
                    <a:tint val="75000"/>
                  </a:schemeClr>
                </a:solidFill>
              </a:defRPr>
            </a:lvl8pPr>
            <a:lvl9pPr marL="3206618" indent="0">
              <a:buNone/>
              <a:defRPr sz="122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9380478" y="7163266"/>
            <a:ext cx="1308161" cy="254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2" b="1" dirty="0">
                <a:solidFill>
                  <a:schemeClr val="bg1"/>
                </a:solidFill>
              </a:rPr>
              <a:t>www.hrrpnepal.org</a:t>
            </a:r>
          </a:p>
        </p:txBody>
      </p:sp>
    </p:spTree>
    <p:extLst>
      <p:ext uri="{BB962C8B-B14F-4D97-AF65-F5344CB8AC3E}">
        <p14:creationId xmlns:p14="http://schemas.microsoft.com/office/powerpoint/2010/main" val="273415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75694" y="300631"/>
            <a:ext cx="8818126" cy="10666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14" y="1521798"/>
            <a:ext cx="4328898" cy="528746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73378" y="1521799"/>
            <a:ext cx="4328898" cy="528746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5436845" y="1521798"/>
            <a:ext cx="0" cy="52874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742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91941" y="315663"/>
            <a:ext cx="8818126" cy="15978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1942" y="2033221"/>
            <a:ext cx="4328898" cy="81093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753" b="0" cap="all" baseline="0">
                <a:solidFill>
                  <a:schemeClr val="tx2"/>
                </a:solidFill>
              </a:defRPr>
            </a:lvl1pPr>
            <a:lvl2pPr marL="400827" indent="0">
              <a:buNone/>
              <a:defRPr sz="1753" b="1"/>
            </a:lvl2pPr>
            <a:lvl3pPr marL="801654" indent="0">
              <a:buNone/>
              <a:defRPr sz="1578" b="1"/>
            </a:lvl3pPr>
            <a:lvl4pPr marL="1202482" indent="0">
              <a:buNone/>
              <a:defRPr sz="1403" b="1"/>
            </a:lvl4pPr>
            <a:lvl5pPr marL="1603309" indent="0">
              <a:buNone/>
              <a:defRPr sz="1403" b="1"/>
            </a:lvl5pPr>
            <a:lvl6pPr marL="2004136" indent="0">
              <a:buNone/>
              <a:defRPr sz="1403" b="1"/>
            </a:lvl6pPr>
            <a:lvl7pPr marL="2404963" indent="0">
              <a:buNone/>
              <a:defRPr sz="1403" b="1"/>
            </a:lvl7pPr>
            <a:lvl8pPr marL="2805791" indent="0">
              <a:buNone/>
              <a:defRPr sz="1403" b="1"/>
            </a:lvl8pPr>
            <a:lvl9pPr marL="3206618" indent="0">
              <a:buNone/>
              <a:defRPr sz="140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1942" y="2844154"/>
            <a:ext cx="4328898" cy="3720712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81169" y="2033221"/>
            <a:ext cx="4328898" cy="81093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753" b="0" cap="all" baseline="0">
                <a:solidFill>
                  <a:schemeClr val="tx2"/>
                </a:solidFill>
              </a:defRPr>
            </a:lvl1pPr>
            <a:lvl2pPr marL="400827" indent="0">
              <a:buNone/>
              <a:defRPr sz="1753" b="1"/>
            </a:lvl2pPr>
            <a:lvl3pPr marL="801654" indent="0">
              <a:buNone/>
              <a:defRPr sz="1578" b="1"/>
            </a:lvl3pPr>
            <a:lvl4pPr marL="1202482" indent="0">
              <a:buNone/>
              <a:defRPr sz="1403" b="1"/>
            </a:lvl4pPr>
            <a:lvl5pPr marL="1603309" indent="0">
              <a:buNone/>
              <a:defRPr sz="1403" b="1"/>
            </a:lvl5pPr>
            <a:lvl6pPr marL="2004136" indent="0">
              <a:buNone/>
              <a:defRPr sz="1403" b="1"/>
            </a:lvl6pPr>
            <a:lvl7pPr marL="2404963" indent="0">
              <a:buNone/>
              <a:defRPr sz="1403" b="1"/>
            </a:lvl7pPr>
            <a:lvl8pPr marL="2805791" indent="0">
              <a:buNone/>
              <a:defRPr sz="1403" b="1"/>
            </a:lvl8pPr>
            <a:lvl9pPr marL="3206618" indent="0">
              <a:buNone/>
              <a:defRPr sz="140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81169" y="2844154"/>
            <a:ext cx="4328898" cy="3720712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076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907" y="255536"/>
            <a:ext cx="8818126" cy="1204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9352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256" y="3338297"/>
            <a:ext cx="8818126" cy="87673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5123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785" y="7049770"/>
            <a:ext cx="10685855" cy="503555"/>
          </a:xfrm>
          <a:prstGeom prst="rect">
            <a:avLst/>
          </a:prstGeom>
          <a:solidFill>
            <a:srgbClr val="0F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4" y="6976545"/>
            <a:ext cx="10685855" cy="704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9380478" y="7163266"/>
            <a:ext cx="1308161" cy="254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2" b="1" dirty="0">
                <a:solidFill>
                  <a:schemeClr val="bg1"/>
                </a:solidFill>
              </a:rPr>
              <a:t>www.hrrpnepal.org</a:t>
            </a:r>
          </a:p>
        </p:txBody>
      </p:sp>
    </p:spTree>
    <p:extLst>
      <p:ext uri="{BB962C8B-B14F-4D97-AF65-F5344CB8AC3E}">
        <p14:creationId xmlns:p14="http://schemas.microsoft.com/office/powerpoint/2010/main" val="21735982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4DED8F11-E02F-4D3E-85B4-F4AEDD07F0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9380478" y="7163266"/>
            <a:ext cx="1308161" cy="254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2" b="1" dirty="0">
                <a:solidFill>
                  <a:srgbClr val="0070C0"/>
                </a:solidFill>
              </a:rPr>
              <a:t>www.hrrpnepal.org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3883" y="321915"/>
            <a:ext cx="1192040" cy="1090096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03907" y="255536"/>
            <a:ext cx="8818126" cy="1204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7173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3551299" cy="7553325"/>
          </a:xfrm>
          <a:prstGeom prst="rect">
            <a:avLst/>
          </a:prstGeom>
          <a:solidFill>
            <a:srgbClr val="0F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541902" y="0"/>
            <a:ext cx="56115" cy="7553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825" y="654620"/>
            <a:ext cx="2805767" cy="2517775"/>
          </a:xfrm>
        </p:spPr>
        <p:txBody>
          <a:bodyPr anchor="b">
            <a:normAutofit/>
          </a:bodyPr>
          <a:lstStyle>
            <a:lvl1pPr>
              <a:defRPr sz="3156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3981" y="805688"/>
            <a:ext cx="5433198" cy="57908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0825" y="3222752"/>
            <a:ext cx="2805767" cy="3721730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315">
                <a:solidFill>
                  <a:srgbClr val="FFFFFF"/>
                </a:solidFill>
              </a:defRPr>
            </a:lvl1pPr>
            <a:lvl2pPr marL="400827" indent="0">
              <a:buNone/>
              <a:defRPr sz="1052"/>
            </a:lvl2pPr>
            <a:lvl3pPr marL="801654" indent="0">
              <a:buNone/>
              <a:defRPr sz="877"/>
            </a:lvl3pPr>
            <a:lvl4pPr marL="1202482" indent="0">
              <a:buNone/>
              <a:defRPr sz="789"/>
            </a:lvl4pPr>
            <a:lvl5pPr marL="1603309" indent="0">
              <a:buNone/>
              <a:defRPr sz="789"/>
            </a:lvl5pPr>
            <a:lvl6pPr marL="2004136" indent="0">
              <a:buNone/>
              <a:defRPr sz="789"/>
            </a:lvl6pPr>
            <a:lvl7pPr marL="2404963" indent="0">
              <a:buNone/>
              <a:defRPr sz="789"/>
            </a:lvl7pPr>
            <a:lvl8pPr marL="2805791" indent="0">
              <a:buNone/>
              <a:defRPr sz="789"/>
            </a:lvl8pPr>
            <a:lvl9pPr marL="3206618" indent="0">
              <a:buNone/>
              <a:defRPr sz="789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753982" y="7114737"/>
            <a:ext cx="3923403" cy="40214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24990" y="7114737"/>
            <a:ext cx="1107440" cy="40214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3883" y="321915"/>
            <a:ext cx="1192040" cy="1090096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9380478" y="7163266"/>
            <a:ext cx="13081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F5AA5"/>
                </a:solidFill>
              </a:rPr>
              <a:t>www.hrrpnepal.org</a:t>
            </a:r>
          </a:p>
        </p:txBody>
      </p:sp>
    </p:spTree>
    <p:extLst>
      <p:ext uri="{BB962C8B-B14F-4D97-AF65-F5344CB8AC3E}">
        <p14:creationId xmlns:p14="http://schemas.microsoft.com/office/powerpoint/2010/main" val="3494828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5455179"/>
            <a:ext cx="10685855" cy="2098146"/>
          </a:xfrm>
          <a:prstGeom prst="rect">
            <a:avLst/>
          </a:prstGeom>
          <a:solidFill>
            <a:srgbClr val="0F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4" y="5413410"/>
            <a:ext cx="10685855" cy="704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1979" y="5589461"/>
            <a:ext cx="8866225" cy="906399"/>
          </a:xfrm>
        </p:spPr>
        <p:txBody>
          <a:bodyPr lIns="91440" tIns="0" rIns="91440" bIns="0" anchor="b">
            <a:noAutofit/>
          </a:bodyPr>
          <a:lstStyle>
            <a:lvl1pPr>
              <a:defRPr sz="3156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0688625" cy="5413410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805">
                <a:solidFill>
                  <a:schemeClr val="bg1"/>
                </a:solidFill>
              </a:defRPr>
            </a:lvl1pPr>
            <a:lvl2pPr marL="400827" indent="0">
              <a:buNone/>
              <a:defRPr sz="2455"/>
            </a:lvl2pPr>
            <a:lvl3pPr marL="801654" indent="0">
              <a:buNone/>
              <a:defRPr sz="2104"/>
            </a:lvl3pPr>
            <a:lvl4pPr marL="1202482" indent="0">
              <a:buNone/>
              <a:defRPr sz="1753"/>
            </a:lvl4pPr>
            <a:lvl5pPr marL="1603309" indent="0">
              <a:buNone/>
              <a:defRPr sz="1753"/>
            </a:lvl5pPr>
            <a:lvl6pPr marL="2004136" indent="0">
              <a:buNone/>
              <a:defRPr sz="1753"/>
            </a:lvl6pPr>
            <a:lvl7pPr marL="2404963" indent="0">
              <a:buNone/>
              <a:defRPr sz="1753"/>
            </a:lvl7pPr>
            <a:lvl8pPr marL="2805791" indent="0">
              <a:buNone/>
              <a:defRPr sz="1753"/>
            </a:lvl8pPr>
            <a:lvl9pPr marL="3206618" indent="0">
              <a:buNone/>
              <a:defRPr sz="1753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1979" y="6505929"/>
            <a:ext cx="8866225" cy="65462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526"/>
              </a:spcAft>
              <a:buNone/>
              <a:defRPr sz="1315">
                <a:solidFill>
                  <a:srgbClr val="FFFFFF"/>
                </a:solidFill>
              </a:defRPr>
            </a:lvl1pPr>
            <a:lvl2pPr marL="400827" indent="0">
              <a:buNone/>
              <a:defRPr sz="1052"/>
            </a:lvl2pPr>
            <a:lvl3pPr marL="801654" indent="0">
              <a:buNone/>
              <a:defRPr sz="877"/>
            </a:lvl3pPr>
            <a:lvl4pPr marL="1202482" indent="0">
              <a:buNone/>
              <a:defRPr sz="789"/>
            </a:lvl4pPr>
            <a:lvl5pPr marL="1603309" indent="0">
              <a:buNone/>
              <a:defRPr sz="789"/>
            </a:lvl5pPr>
            <a:lvl6pPr marL="2004136" indent="0">
              <a:buNone/>
              <a:defRPr sz="789"/>
            </a:lvl6pPr>
            <a:lvl7pPr marL="2404963" indent="0">
              <a:buNone/>
              <a:defRPr sz="789"/>
            </a:lvl7pPr>
            <a:lvl8pPr marL="2805791" indent="0">
              <a:buNone/>
              <a:defRPr sz="789"/>
            </a:lvl8pPr>
            <a:lvl9pPr marL="3206618" indent="0">
              <a:buNone/>
              <a:defRPr sz="789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300"/>
            </a:lvl1pPr>
          </a:lstStyle>
          <a:p>
            <a:fld id="{4DED8F11-E02F-4D3E-85B4-F4AEDD07F0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8918918" y="7163266"/>
            <a:ext cx="17697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www.hrrpnepal.org</a:t>
            </a:r>
          </a:p>
        </p:txBody>
      </p:sp>
    </p:spTree>
    <p:extLst>
      <p:ext uri="{BB962C8B-B14F-4D97-AF65-F5344CB8AC3E}">
        <p14:creationId xmlns:p14="http://schemas.microsoft.com/office/powerpoint/2010/main" val="32689257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9611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785" y="7049770"/>
            <a:ext cx="10685855" cy="503555"/>
          </a:xfrm>
          <a:prstGeom prst="rect">
            <a:avLst/>
          </a:prstGeom>
          <a:solidFill>
            <a:srgbClr val="0F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4" y="6976545"/>
            <a:ext cx="10685855" cy="704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49056" y="456833"/>
            <a:ext cx="2304738" cy="63411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4845" y="456832"/>
            <a:ext cx="6780605" cy="6341161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9380478" y="7163266"/>
            <a:ext cx="1308161" cy="254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2" b="1" dirty="0">
                <a:solidFill>
                  <a:schemeClr val="bg1"/>
                </a:solidFill>
              </a:rPr>
              <a:t>www.hrrpnepal.org</a:t>
            </a:r>
          </a:p>
        </p:txBody>
      </p:sp>
    </p:spTree>
    <p:extLst>
      <p:ext uri="{BB962C8B-B14F-4D97-AF65-F5344CB8AC3E}">
        <p14:creationId xmlns:p14="http://schemas.microsoft.com/office/powerpoint/2010/main" val="2787826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432" y="1227056"/>
            <a:ext cx="9280499" cy="87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065313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432" y="1227056"/>
            <a:ext cx="9280499" cy="87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7863311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432" y="1227056"/>
            <a:ext cx="9280499" cy="87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243907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064802"/>
            <a:ext cx="10688638" cy="503555"/>
          </a:xfrm>
          <a:prstGeom prst="rect">
            <a:avLst/>
          </a:prstGeom>
          <a:solidFill>
            <a:srgbClr val="0F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578" dirty="0"/>
          </a:p>
        </p:txBody>
      </p:sp>
      <p:sp>
        <p:nvSpPr>
          <p:cNvPr id="9" name="Rectangle 8"/>
          <p:cNvSpPr/>
          <p:nvPr/>
        </p:nvSpPr>
        <p:spPr>
          <a:xfrm>
            <a:off x="0" y="6976545"/>
            <a:ext cx="10688639" cy="726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3907" y="285600"/>
            <a:ext cx="8818126" cy="12048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9627" y="1762300"/>
            <a:ext cx="10122016" cy="503193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1652" y="7114737"/>
            <a:ext cx="4228117" cy="4021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9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6178" y="7114737"/>
            <a:ext cx="1150243" cy="4021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2">
                <a:solidFill>
                  <a:srgbClr val="FFFFFF"/>
                </a:solidFill>
              </a:defRPr>
            </a:lvl1pPr>
          </a:lstStyle>
          <a:p>
            <a:fld id="{4DED8F11-E02F-4D3E-85B4-F4AEDD07F0E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9603" y="36002"/>
            <a:ext cx="1192040" cy="1090096"/>
          </a:xfrm>
          <a:prstGeom prst="rect">
            <a:avLst/>
          </a:prstGeom>
        </p:spPr>
      </p:pic>
      <p:sp>
        <p:nvSpPr>
          <p:cNvPr id="12" name="TextBox 11"/>
          <p:cNvSpPr txBox="1"/>
          <p:nvPr userDrawn="1"/>
        </p:nvSpPr>
        <p:spPr>
          <a:xfrm>
            <a:off x="9380478" y="7163266"/>
            <a:ext cx="1308161" cy="254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2" b="1" dirty="0">
                <a:solidFill>
                  <a:schemeClr val="bg1"/>
                </a:solidFill>
              </a:rPr>
              <a:t>www.hrrpnepal.org</a:t>
            </a:r>
          </a:p>
        </p:txBody>
      </p:sp>
    </p:spTree>
    <p:extLst>
      <p:ext uri="{BB962C8B-B14F-4D97-AF65-F5344CB8AC3E}">
        <p14:creationId xmlns:p14="http://schemas.microsoft.com/office/powerpoint/2010/main" val="2787284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81" r:id="rId7"/>
    <p:sldLayoutId id="2147483676" r:id="rId8"/>
    <p:sldLayoutId id="2147483682" r:id="rId9"/>
    <p:sldLayoutId id="2147483677" r:id="rId10"/>
    <p:sldLayoutId id="2147483678" r:id="rId11"/>
    <p:sldLayoutId id="2147483679" r:id="rId12"/>
    <p:sldLayoutId id="2147483680" r:id="rId13"/>
    <p:sldLayoutId id="2147483683" r:id="rId14"/>
    <p:sldLayoutId id="2147483684" r:id="rId15"/>
    <p:sldLayoutId id="2147483685" r:id="rId16"/>
  </p:sldLayoutIdLst>
  <p:hf hdr="0" ftr="0" dt="0"/>
  <p:txStyles>
    <p:titleStyle>
      <a:lvl1pPr algn="l" defTabSz="801654" rtl="0" eaLnBrk="1" latinLnBrk="0" hangingPunct="1">
        <a:lnSpc>
          <a:spcPct val="85000"/>
        </a:lnSpc>
        <a:spcBef>
          <a:spcPct val="0"/>
        </a:spcBef>
        <a:buNone/>
        <a:defRPr sz="4208" b="0" kern="1200" spc="-44" baseline="0">
          <a:solidFill>
            <a:srgbClr val="0F5AA5"/>
          </a:solidFill>
          <a:latin typeface="Georgia" panose="02040502050405020303" pitchFamily="18" charset="0"/>
          <a:ea typeface="+mj-ea"/>
          <a:cs typeface="Helvetica" panose="020B0604020202020204" pitchFamily="34" charset="0"/>
        </a:defRPr>
      </a:lvl1pPr>
    </p:titleStyle>
    <p:bodyStyle>
      <a:lvl1pPr marL="299229" indent="-299229" algn="l" defTabSz="801654" rtl="0" eaLnBrk="1" latinLnBrk="0" hangingPunct="1">
        <a:lnSpc>
          <a:spcPct val="114000"/>
        </a:lnSpc>
        <a:spcBef>
          <a:spcPts val="1052"/>
        </a:spcBef>
        <a:spcAft>
          <a:spcPts val="175"/>
        </a:spcAft>
        <a:buClr>
          <a:srgbClr val="0F5AA5"/>
        </a:buClr>
        <a:buSzPct val="100000"/>
        <a:buFont typeface="Wingdings" panose="05000000000000000000" pitchFamily="2" charset="2"/>
        <a:buChar char="§"/>
        <a:defRPr sz="2104" kern="1200">
          <a:solidFill>
            <a:schemeClr val="tx1"/>
          </a:solidFill>
          <a:latin typeface="+mn-lt"/>
          <a:ea typeface="+mn-ea"/>
          <a:cs typeface="+mn-cs"/>
        </a:defRPr>
      </a:lvl1pPr>
      <a:lvl2pPr marL="502426" indent="-203197" algn="l" defTabSz="801654" rtl="0" eaLnBrk="1" latinLnBrk="0" hangingPunct="1">
        <a:lnSpc>
          <a:spcPct val="114000"/>
        </a:lnSpc>
        <a:spcBef>
          <a:spcPts val="175"/>
        </a:spcBef>
        <a:spcAft>
          <a:spcPts val="351"/>
        </a:spcAft>
        <a:buClr>
          <a:srgbClr val="0F5AA5"/>
        </a:buClr>
        <a:buFont typeface="Calibri" pitchFamily="34" charset="0"/>
        <a:buChar char="◦"/>
        <a:defRPr sz="2104" kern="1200">
          <a:solidFill>
            <a:schemeClr val="tx1"/>
          </a:solidFill>
          <a:latin typeface="+mn-lt"/>
          <a:ea typeface="+mn-ea"/>
          <a:cs typeface="+mn-cs"/>
        </a:defRPr>
      </a:lvl2pPr>
      <a:lvl3pPr marL="497026" indent="-160331" algn="l" defTabSz="801654" rtl="0" eaLnBrk="1" latinLnBrk="0" hangingPunct="1">
        <a:lnSpc>
          <a:spcPct val="114000"/>
        </a:lnSpc>
        <a:spcBef>
          <a:spcPts val="175"/>
        </a:spcBef>
        <a:spcAft>
          <a:spcPts val="351"/>
        </a:spcAft>
        <a:buClr>
          <a:schemeClr val="accent1"/>
        </a:buClr>
        <a:buFont typeface="Calibri" pitchFamily="34" charset="0"/>
        <a:buChar char="◦"/>
        <a:defRPr sz="210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657357" indent="-160331" algn="l" defTabSz="801654" rtl="0" eaLnBrk="1" latinLnBrk="0" hangingPunct="1">
        <a:lnSpc>
          <a:spcPct val="114000"/>
        </a:lnSpc>
        <a:spcBef>
          <a:spcPts val="175"/>
        </a:spcBef>
        <a:spcAft>
          <a:spcPts val="351"/>
        </a:spcAft>
        <a:buClr>
          <a:schemeClr val="accent1"/>
        </a:buClr>
        <a:buFont typeface="Calibri" pitchFamily="34" charset="0"/>
        <a:buChar char="◦"/>
        <a:defRPr sz="210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817688" indent="-160331" algn="l" defTabSz="801654" rtl="0" eaLnBrk="1" latinLnBrk="0" hangingPunct="1">
        <a:lnSpc>
          <a:spcPct val="114000"/>
        </a:lnSpc>
        <a:spcBef>
          <a:spcPts val="175"/>
        </a:spcBef>
        <a:spcAft>
          <a:spcPts val="351"/>
        </a:spcAft>
        <a:buClr>
          <a:schemeClr val="accent1"/>
        </a:buClr>
        <a:buFont typeface="Calibri" pitchFamily="34" charset="0"/>
        <a:buChar char="◦"/>
        <a:defRPr sz="2104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964370" indent="-200414" algn="l" defTabSz="801654" rtl="0" eaLnBrk="1" latinLnBrk="0" hangingPunct="1">
        <a:lnSpc>
          <a:spcPct val="90000"/>
        </a:lnSpc>
        <a:spcBef>
          <a:spcPts val="175"/>
        </a:spcBef>
        <a:spcAft>
          <a:spcPts val="351"/>
        </a:spcAft>
        <a:buClr>
          <a:schemeClr val="accent1"/>
        </a:buClr>
        <a:buFont typeface="Calibri" pitchFamily="34" charset="0"/>
        <a:buChar char="◦"/>
        <a:defRPr sz="122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139710" indent="-200414" algn="l" defTabSz="801654" rtl="0" eaLnBrk="1" latinLnBrk="0" hangingPunct="1">
        <a:lnSpc>
          <a:spcPct val="90000"/>
        </a:lnSpc>
        <a:spcBef>
          <a:spcPts val="175"/>
        </a:spcBef>
        <a:spcAft>
          <a:spcPts val="351"/>
        </a:spcAft>
        <a:buClr>
          <a:schemeClr val="accent1"/>
        </a:buClr>
        <a:buFont typeface="Calibri" pitchFamily="34" charset="0"/>
        <a:buChar char="◦"/>
        <a:defRPr sz="122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315050" indent="-200414" algn="l" defTabSz="801654" rtl="0" eaLnBrk="1" latinLnBrk="0" hangingPunct="1">
        <a:lnSpc>
          <a:spcPct val="90000"/>
        </a:lnSpc>
        <a:spcBef>
          <a:spcPts val="175"/>
        </a:spcBef>
        <a:spcAft>
          <a:spcPts val="351"/>
        </a:spcAft>
        <a:buClr>
          <a:schemeClr val="accent1"/>
        </a:buClr>
        <a:buFont typeface="Calibri" pitchFamily="34" charset="0"/>
        <a:buChar char="◦"/>
        <a:defRPr sz="122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490390" indent="-200414" algn="l" defTabSz="801654" rtl="0" eaLnBrk="1" latinLnBrk="0" hangingPunct="1">
        <a:lnSpc>
          <a:spcPct val="90000"/>
        </a:lnSpc>
        <a:spcBef>
          <a:spcPts val="175"/>
        </a:spcBef>
        <a:spcAft>
          <a:spcPts val="351"/>
        </a:spcAft>
        <a:buClr>
          <a:schemeClr val="accent1"/>
        </a:buClr>
        <a:buFont typeface="Calibri" pitchFamily="34" charset="0"/>
        <a:buChar char="◦"/>
        <a:defRPr sz="122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1654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1pPr>
      <a:lvl2pPr marL="400827" algn="l" defTabSz="801654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2pPr>
      <a:lvl3pPr marL="801654" algn="l" defTabSz="801654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3pPr>
      <a:lvl4pPr marL="1202482" algn="l" defTabSz="801654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4pPr>
      <a:lvl5pPr marL="1603309" algn="l" defTabSz="801654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5pPr>
      <a:lvl6pPr marL="2004136" algn="l" defTabSz="801654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6pPr>
      <a:lvl7pPr marL="2404963" algn="l" defTabSz="801654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7pPr>
      <a:lvl8pPr marL="2805791" algn="l" defTabSz="801654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8pPr>
      <a:lvl9pPr marL="3206618" algn="l" defTabSz="801654" rtl="0" eaLnBrk="1" latinLnBrk="0" hangingPunct="1">
        <a:defRPr sz="15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379" userDrawn="1">
          <p15:clr>
            <a:srgbClr val="F26B43"/>
          </p15:clr>
        </p15:guide>
        <p15:guide id="2" pos="336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12" Type="http://schemas.openxmlformats.org/officeDocument/2006/relationships/image" Target="../media/image2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6.jpeg"/><Relationship Id="rId11" Type="http://schemas.openxmlformats.org/officeDocument/2006/relationships/image" Target="../media/image21.jpeg"/><Relationship Id="rId5" Type="http://schemas.openxmlformats.org/officeDocument/2006/relationships/image" Target="../media/image15.jpeg"/><Relationship Id="rId10" Type="http://schemas.openxmlformats.org/officeDocument/2006/relationships/image" Target="../media/image20.jpeg"/><Relationship Id="rId4" Type="http://schemas.openxmlformats.org/officeDocument/2006/relationships/image" Target="../media/image14.jpeg"/><Relationship Id="rId9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tmp"/><Relationship Id="rId2" Type="http://schemas.openxmlformats.org/officeDocument/2006/relationships/image" Target="../media/image36.tmp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9.tmp"/><Relationship Id="rId4" Type="http://schemas.openxmlformats.org/officeDocument/2006/relationships/image" Target="../media/image38.tmp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tmp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tmp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tmp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0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tmp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8.em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tmp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0.wmf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12" Type="http://schemas.openxmlformats.org/officeDocument/2006/relationships/image" Target="../media/image2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6.jpeg"/><Relationship Id="rId11" Type="http://schemas.openxmlformats.org/officeDocument/2006/relationships/image" Target="../media/image21.jpeg"/><Relationship Id="rId5" Type="http://schemas.openxmlformats.org/officeDocument/2006/relationships/image" Target="../media/image15.jpeg"/><Relationship Id="rId10" Type="http://schemas.openxmlformats.org/officeDocument/2006/relationships/image" Target="../media/image20.jpeg"/><Relationship Id="rId4" Type="http://schemas.openxmlformats.org/officeDocument/2006/relationships/image" Target="../media/image14.jpeg"/><Relationship Id="rId9" Type="http://schemas.openxmlformats.org/officeDocument/2006/relationships/image" Target="../media/image19.jpe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7825" y="4975864"/>
            <a:ext cx="6191189" cy="1669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(Body)"/>
                <a:cs typeface="Arial" panose="020B0604020202020204" pitchFamily="34" charset="0"/>
              </a:rPr>
              <a:t>Organized by:</a:t>
            </a:r>
          </a:p>
          <a:p>
            <a:pPr>
              <a:spcBef>
                <a:spcPts val="526"/>
              </a:spcBef>
            </a:pPr>
            <a:r>
              <a:rPr lang="en-US" b="1" dirty="0">
                <a:solidFill>
                  <a:srgbClr val="002060"/>
                </a:solidFill>
                <a:cs typeface="Arial" panose="020B0604020202020204" pitchFamily="34" charset="0"/>
              </a:rPr>
              <a:t>National Reconstruction Authority(NRA)</a:t>
            </a:r>
          </a:p>
          <a:p>
            <a:pPr>
              <a:spcBef>
                <a:spcPts val="526"/>
              </a:spcBef>
            </a:pPr>
            <a:r>
              <a:rPr lang="en-US" b="1" dirty="0">
                <a:solidFill>
                  <a:srgbClr val="002060"/>
                </a:solidFill>
                <a:cs typeface="Arial" panose="020B0604020202020204" pitchFamily="34" charset="0"/>
              </a:rPr>
              <a:t>MOUD/District Project Implementation Unit (DLPIU)</a:t>
            </a:r>
          </a:p>
          <a:p>
            <a:pPr>
              <a:spcBef>
                <a:spcPts val="526"/>
              </a:spcBef>
            </a:pPr>
            <a:r>
              <a:rPr lang="en-US" b="1" dirty="0">
                <a:solidFill>
                  <a:srgbClr val="002060"/>
                </a:solidFill>
                <a:cs typeface="Arial" panose="020B0604020202020204" pitchFamily="34" charset="0"/>
              </a:rPr>
              <a:t>Housing Recovery and Reconstruction Platform-Nepal (HRRP</a:t>
            </a:r>
            <a:r>
              <a:rPr lang="en-US" dirty="0">
                <a:solidFill>
                  <a:srgbClr val="002060"/>
                </a:solidFill>
                <a:cs typeface="Arial" panose="020B0604020202020204" pitchFamily="34" charset="0"/>
              </a:rPr>
              <a:t>)</a:t>
            </a:r>
          </a:p>
          <a:p>
            <a:endParaRPr lang="en-US" dirty="0">
              <a:latin typeface="Arial (Body)"/>
              <a:cs typeface="Arial" panose="020B0604020202020204" pitchFamily="34" charset="0"/>
            </a:endParaRPr>
          </a:p>
        </p:txBody>
      </p:sp>
      <p:sp>
        <p:nvSpPr>
          <p:cNvPr id="5" name="Titolo 1"/>
          <p:cNvSpPr txBox="1">
            <a:spLocks/>
          </p:cNvSpPr>
          <p:nvPr/>
        </p:nvSpPr>
        <p:spPr>
          <a:xfrm>
            <a:off x="206486" y="1875786"/>
            <a:ext cx="10214936" cy="2975813"/>
          </a:xfrm>
          <a:prstGeom prst="rect">
            <a:avLst/>
          </a:prstGeom>
        </p:spPr>
        <p:txBody>
          <a:bodyPr vert="horz" lIns="80165" tIns="40082" rIns="80165" bIns="40082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b="0" kern="1200" spc="-50" baseline="0">
                <a:solidFill>
                  <a:srgbClr val="0F5AA5"/>
                </a:solidFill>
                <a:latin typeface="Georgia" panose="02040502050405020303" pitchFamily="18" charset="0"/>
                <a:ea typeface="+mj-ea"/>
                <a:cs typeface="Helvetica" panose="020B0604020202020204" pitchFamily="34" charset="0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Housing Recovery and Reconstruction Platform-Nepal (HRRP)</a:t>
            </a:r>
            <a:b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200" b="1" dirty="0">
                <a:solidFill>
                  <a:srgbClr val="000000"/>
                </a:solidFill>
                <a:cs typeface="Arial" panose="020B0604020202020204" pitchFamily="34" charset="0"/>
              </a:rPr>
              <a:t>Orientation Program </a:t>
            </a:r>
            <a:r>
              <a:rPr lang="en-US" sz="22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US" sz="22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Partner </a:t>
            </a:r>
            <a:r>
              <a:rPr lang="en-US" sz="2200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organizations</a:t>
            </a:r>
          </a:p>
          <a:p>
            <a:pPr algn="ctr">
              <a:lnSpc>
                <a:spcPct val="150000"/>
              </a:lnSpc>
            </a:pPr>
            <a:r>
              <a:rPr lang="en-US" sz="2200" i="1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</a:t>
            </a:r>
            <a:endParaRPr lang="en-US" sz="2200" dirty="0" smtClean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400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Confined </a:t>
            </a:r>
            <a:r>
              <a:rPr lang="en-US" sz="4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Masonry Construction</a:t>
            </a:r>
            <a:endParaRPr lang="en-GB" sz="4000" b="1" dirty="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86" y="252366"/>
            <a:ext cx="1074208" cy="983355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432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134912"/>
            <a:ext cx="8818126" cy="665877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Why Confined Masonry ?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2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16178" y="1439056"/>
            <a:ext cx="10251887" cy="3103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  <a:defRPr/>
            </a:pPr>
            <a:r>
              <a:rPr lang="en-CA" altLang="en-US" sz="2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Poor performance of unreinforced masonry and </a:t>
            </a:r>
            <a:r>
              <a:rPr lang="en-CA" altLang="en-US" sz="25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 ductile </a:t>
            </a:r>
            <a:r>
              <a:rPr lang="en-CA" altLang="en-US" sz="2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reinforced concrete (RC) frame construction caused unacceptably high human and economic losses in past earthquakes 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SzPct val="140000"/>
              <a:buFont typeface="Arial" panose="020B0604020202020204" pitchFamily="34" charset="0"/>
              <a:buChar char="•"/>
              <a:defRPr/>
            </a:pPr>
            <a:r>
              <a:rPr lang="en-CA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This prompted a need for developing and/or promoting alternative building technologies  </a:t>
            </a:r>
            <a:endParaRPr lang="en-US" alt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316178" y="4976734"/>
            <a:ext cx="9997055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C00000"/>
                </a:solidFill>
                <a:effectLst/>
                <a:latin typeface="Tahoma" panose="020B0604030504040204" pitchFamily="34" charset="0"/>
              </a:rPr>
              <a:t>The goal is to achieve enhanced seismic performance using technologies which require similar (preferably lower) level of construction skills and are economically viable </a:t>
            </a:r>
          </a:p>
        </p:txBody>
      </p:sp>
    </p:spTree>
    <p:extLst>
      <p:ext uri="{BB962C8B-B14F-4D97-AF65-F5344CB8AC3E}">
        <p14:creationId xmlns:p14="http://schemas.microsoft.com/office/powerpoint/2010/main" val="556302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0"/>
            <a:ext cx="8818126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  <a:t>Why Confined Masonry </a:t>
            </a:r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 in Nepal?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3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81267" y="2457949"/>
            <a:ext cx="1010198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CA" altLang="en-US" sz="30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</a:t>
            </a:r>
            <a:r>
              <a:rPr lang="en-CA" altLang="en-US" sz="3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opportunity for improved seismic performance both for unreinforced masonry and reinforced concrete frame construction in low- and medium-rise buildings</a:t>
            </a:r>
            <a:endParaRPr lang="en-US" sz="3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890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730178"/>
            <a:ext cx="9534302" cy="1670217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dirty="0" smtClean="0">
                <a:solidFill>
                  <a:schemeClr val="tx1"/>
                </a:solidFill>
                <a:latin typeface="Arial Black" panose="020B0A04020102020204" pitchFamily="34" charset="0"/>
                <a:cs typeface="Tahoma" panose="020B0604030504040204" pitchFamily="34" charset="0"/>
              </a:rPr>
              <a:t>An </a:t>
            </a:r>
            <a:r>
              <a:rPr lang="en-US" altLang="en-US" sz="3200" dirty="0">
                <a:solidFill>
                  <a:schemeClr val="tx1"/>
                </a:solidFill>
                <a:latin typeface="Arial Black" panose="020B0A04020102020204" pitchFamily="34" charset="0"/>
                <a:cs typeface="Tahoma" panose="020B0604030504040204" pitchFamily="34" charset="0"/>
              </a:rPr>
              <a:t>A</a:t>
            </a:r>
            <a:r>
              <a:rPr lang="en-US" altLang="en-US" sz="3200" dirty="0" smtClean="0">
                <a:solidFill>
                  <a:schemeClr val="tx1"/>
                </a:solidFill>
                <a:latin typeface="Arial Black" panose="020B0A04020102020204" pitchFamily="34" charset="0"/>
                <a:cs typeface="Tahoma" panose="020B0604030504040204" pitchFamily="34" charset="0"/>
              </a:rPr>
              <a:t>lternative </a:t>
            </a:r>
            <a:r>
              <a:rPr lang="en-US" altLang="en-US" sz="3200" dirty="0">
                <a:solidFill>
                  <a:schemeClr val="tx1"/>
                </a:solidFill>
                <a:latin typeface="Arial Black" panose="020B0A04020102020204" pitchFamily="34" charset="0"/>
                <a:cs typeface="Tahoma" panose="020B0604030504040204" pitchFamily="34" charset="0"/>
              </a:rPr>
              <a:t>to </a:t>
            </a:r>
            <a:r>
              <a:rPr lang="en-US" altLang="en-US" sz="3200" dirty="0">
                <a:solidFill>
                  <a:schemeClr val="tx1"/>
                </a:solidFill>
                <a:latin typeface="Arial Black" panose="020B0A04020102020204" pitchFamily="34" charset="0"/>
              </a:rPr>
              <a:t>RC F</a:t>
            </a:r>
            <a:r>
              <a:rPr lang="en-US" altLang="en-US" sz="32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rame Construction</a:t>
            </a:r>
            <a:endParaRPr lang="en-US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4</a:t>
            </a:fld>
            <a:endParaRPr lang="en-US"/>
          </a:p>
        </p:txBody>
      </p:sp>
      <p:pic>
        <p:nvPicPr>
          <p:cNvPr id="4" name="Picture 8" descr="6-storey conf SantiagoDSCN248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582" y="2126663"/>
            <a:ext cx="3657883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9" descr="j 8 con chack DSCN356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51" t="17448"/>
          <a:stretch>
            <a:fillRect/>
          </a:stretch>
        </p:blipFill>
        <p:spPr bwMode="auto">
          <a:xfrm>
            <a:off x="5372724" y="2126663"/>
            <a:ext cx="4411588" cy="4663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8560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961" y="-771138"/>
            <a:ext cx="9592320" cy="1865089"/>
          </a:xfrm>
        </p:spPr>
        <p:txBody>
          <a:bodyPr>
            <a:normAutofit/>
          </a:bodyPr>
          <a:lstStyle/>
          <a:p>
            <a:pPr algn="ctr"/>
            <a:r>
              <a:rPr lang="en-US" altLang="en-US" sz="3000" dirty="0" smtClean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An </a:t>
            </a:r>
            <a:r>
              <a:rPr lang="en-US" altLang="en-US" sz="30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Alternative to Unreinforced Masonry Construction</a:t>
            </a:r>
            <a:endParaRPr lang="en-US" sz="3000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5</a:t>
            </a:fld>
            <a:endParaRPr lang="en-US"/>
          </a:p>
        </p:txBody>
      </p:sp>
      <p:pic>
        <p:nvPicPr>
          <p:cNvPr id="4" name="Picture 6" descr="101607EQS_5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421" y="1843125"/>
            <a:ext cx="7797499" cy="5068724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0276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42965" y="-168210"/>
            <a:ext cx="9686768" cy="1237841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30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Confined Masonry and RC </a:t>
            </a:r>
            <a:r>
              <a:rPr lang="en-US" altLang="en-US" sz="3000" dirty="0" smtClean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Frame Construction</a:t>
            </a:r>
            <a:r>
              <a:rPr lang="en-US" altLang="en-US" sz="32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3200" dirty="0" smtClean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/>
            </a:r>
            <a:br>
              <a:rPr lang="en-US" altLang="en-US" sz="3200" dirty="0" smtClean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altLang="en-US" sz="32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 </a:t>
            </a:r>
            <a: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Recent Earthquakes</a:t>
            </a:r>
            <a:endParaRPr lang="en-US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6</a:t>
            </a:fld>
            <a:endParaRPr lang="en-US"/>
          </a:p>
        </p:txBody>
      </p:sp>
      <p:pic>
        <p:nvPicPr>
          <p:cNvPr id="4" name="Picture 2" descr="IMG_349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178" y="1504559"/>
            <a:ext cx="4419600" cy="323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J 9 con 2 DSCN3760 (2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785" y="1380734"/>
            <a:ext cx="4679428" cy="335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316178" y="4739884"/>
            <a:ext cx="4419600" cy="1562100"/>
          </a:xfrm>
          <a:prstGeom prst="rect">
            <a:avLst/>
          </a:prstGeom>
          <a:solidFill>
            <a:srgbClr val="FFFF99"/>
          </a:solidFill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CA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charset="0"/>
              </a:rPr>
              <a:t>January 2010, Haiti </a:t>
            </a:r>
          </a:p>
          <a:p>
            <a:pPr algn="ctr">
              <a:spcBef>
                <a:spcPct val="50000"/>
              </a:spcBef>
              <a:defRPr/>
            </a:pPr>
            <a:r>
              <a:rPr lang="en-CA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charset="0"/>
              </a:rPr>
              <a:t>M 7.0</a:t>
            </a:r>
          </a:p>
          <a:p>
            <a:pPr algn="ctr">
              <a:spcBef>
                <a:spcPct val="50000"/>
              </a:spcBef>
              <a:defRPr/>
            </a:pPr>
            <a:r>
              <a:rPr lang="en-CA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charset="0"/>
              </a:rPr>
              <a:t>300,000 deaths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5663785" y="4739884"/>
            <a:ext cx="4679428" cy="1939925"/>
          </a:xfrm>
          <a:prstGeom prst="rect">
            <a:avLst/>
          </a:prstGeom>
          <a:solidFill>
            <a:srgbClr val="FFFF99"/>
          </a:solidFill>
          <a:ln w="9525">
            <a:solidFill>
              <a:schemeClr val="accent3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chemeClr val="hlink"/>
                </a:solidFill>
                <a:latin typeface="Tahoma" pitchFamily="34" charset="0"/>
              </a:defRPr>
            </a:lvl1pPr>
            <a:lvl2pPr marL="742950" indent="-285750" eaLnBrk="0" hangingPunct="0">
              <a:defRPr sz="3200">
                <a:solidFill>
                  <a:schemeClr val="hlink"/>
                </a:solidFill>
                <a:latin typeface="Tahoma" pitchFamily="34" charset="0"/>
              </a:defRPr>
            </a:lvl2pPr>
            <a:lvl3pPr marL="1143000" indent="-228600" eaLnBrk="0" hangingPunct="0">
              <a:defRPr sz="3200">
                <a:solidFill>
                  <a:schemeClr val="hlink"/>
                </a:solidFill>
                <a:latin typeface="Tahoma" pitchFamily="34" charset="0"/>
              </a:defRPr>
            </a:lvl3pPr>
            <a:lvl4pPr marL="1600200" indent="-228600" eaLnBrk="0" hangingPunct="0">
              <a:defRPr sz="3200">
                <a:solidFill>
                  <a:schemeClr val="hlink"/>
                </a:solidFill>
                <a:latin typeface="Tahoma" pitchFamily="34" charset="0"/>
              </a:defRPr>
            </a:lvl4pPr>
            <a:lvl5pPr marL="2057400" indent="-228600" eaLnBrk="0" hangingPunct="0">
              <a:defRPr sz="3200">
                <a:solidFill>
                  <a:schemeClr val="hlink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hlink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hlink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hlink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hlink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CA" altLang="en-US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February 2010, Chile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en-CA" altLang="en-US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M 8.8  521 deaths </a:t>
            </a:r>
          </a:p>
          <a:p>
            <a:pPr algn="ctr" eaLnBrk="1" hangingPunct="1">
              <a:spcBef>
                <a:spcPct val="50000"/>
              </a:spcBef>
              <a:defRPr/>
            </a:pPr>
            <a:r>
              <a:rPr lang="en-CA" altLang="en-US" sz="2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(10 due to confined masonry construction)</a:t>
            </a:r>
          </a:p>
        </p:txBody>
      </p:sp>
    </p:spTree>
    <p:extLst>
      <p:ext uri="{BB962C8B-B14F-4D97-AF65-F5344CB8AC3E}">
        <p14:creationId xmlns:p14="http://schemas.microsoft.com/office/powerpoint/2010/main" val="3022022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404775"/>
            <a:ext cx="8818126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Beginnings 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7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16178" y="1229193"/>
            <a:ext cx="10206917" cy="38133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5000"/>
              </a:lnSpc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r>
              <a:rPr lang="en-CA" altLang="en-US" sz="2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Evolved though an informal process based on its satisfactory performance in past earthquakes</a:t>
            </a:r>
          </a:p>
          <a:p>
            <a:pPr marL="285750" indent="-285750">
              <a:lnSpc>
                <a:spcPct val="155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CA" alt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The first reported use in the reconstruction after the 1908 Messina, Italy earthquake (M 7.2) - death toll 70,000</a:t>
            </a:r>
          </a:p>
          <a:p>
            <a:pPr marL="285750" indent="-285750">
              <a:lnSpc>
                <a:spcPct val="155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CA" altLang="en-US" sz="2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Practiced in Chile and  Columbia since 1930’s and in Mexico since 1940’s</a:t>
            </a:r>
          </a:p>
        </p:txBody>
      </p:sp>
      <p:sp>
        <p:nvSpPr>
          <p:cNvPr id="5" name="Text Box 10"/>
          <p:cNvSpPr txBox="1">
            <a:spLocks noChangeArrowheads="1"/>
          </p:cNvSpPr>
          <p:nvPr/>
        </p:nvSpPr>
        <p:spPr bwMode="auto">
          <a:xfrm>
            <a:off x="434715" y="5252407"/>
            <a:ext cx="9683646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C00000"/>
                </a:solidFill>
                <a:effectLst/>
                <a:latin typeface="Tahoma" panose="020B0604030504040204" pitchFamily="34" charset="0"/>
              </a:rPr>
              <a:t>Currently practiced in several countries/regions with high seismic risk, including  Latin America, Mediterranean Europe, Middle East (Iran), South Asia (Indonesia), and the Far East (China). </a:t>
            </a:r>
          </a:p>
        </p:txBody>
      </p:sp>
    </p:spTree>
    <p:extLst>
      <p:ext uri="{BB962C8B-B14F-4D97-AF65-F5344CB8AC3E}">
        <p14:creationId xmlns:p14="http://schemas.microsoft.com/office/powerpoint/2010/main" val="2919836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-1"/>
            <a:ext cx="9296400" cy="1080677"/>
          </a:xfrm>
        </p:spPr>
        <p:txBody>
          <a:bodyPr>
            <a:normAutofit/>
          </a:bodyPr>
          <a:lstStyle/>
          <a:p>
            <a:pPr algn="ctr"/>
            <a:r>
              <a:rPr lang="en-US" sz="3500" b="1" dirty="0" smtClean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Confined Masonry</a:t>
            </a:r>
            <a:br>
              <a:rPr lang="en-US" sz="3500" b="1" dirty="0" smtClean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US" sz="3500" b="1" dirty="0" smtClean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 (CM) Construction)</a:t>
            </a:r>
            <a:endParaRPr lang="en-US" sz="3500" b="1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16178" y="1364567"/>
            <a:ext cx="9967304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1043367">
              <a:defRPr/>
            </a:pPr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It consists 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of masonry walls and  horizontal and vertical RC confining members built on all four sides of a masonry wall panel</a:t>
            </a:r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 defTabSz="1043367">
              <a:defRPr/>
            </a:pP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1043367">
              <a:defRPr/>
            </a:pPr>
            <a:endParaRPr lang="en-US" sz="2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1043367">
              <a:defRPr/>
            </a:pP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1043367">
              <a:defRPr/>
            </a:pPr>
            <a:endParaRPr lang="en-US" sz="2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1043367">
              <a:defRPr/>
            </a:pP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1043367">
              <a:defRPr/>
            </a:pPr>
            <a:endParaRPr lang="en-US" sz="2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1043367">
              <a:defRPr/>
            </a:pP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1043367">
              <a:defRPr/>
            </a:pPr>
            <a:endParaRPr lang="en-US" sz="2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defTabSz="1043367">
              <a:defRPr/>
            </a:pP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Fig 1 R3 colour copy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5" r="4871"/>
          <a:stretch/>
        </p:blipFill>
        <p:spPr bwMode="auto">
          <a:xfrm>
            <a:off x="5706670" y="2959373"/>
            <a:ext cx="4576812" cy="3657853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52" y="2959373"/>
            <a:ext cx="4051598" cy="387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62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89963" y="6881813"/>
            <a:ext cx="2098675" cy="50323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1pPr>
            <a:lvl2pPr marL="818285" indent="-314725" eaLnBrk="0" hangingPunct="0"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2pPr>
            <a:lvl3pPr marL="1258900" indent="-251780" eaLnBrk="0" hangingPunct="0"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3pPr>
            <a:lvl4pPr marL="1762460" indent="-251780" eaLnBrk="0" hangingPunct="0"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4pPr>
            <a:lvl5pPr marL="2266020" indent="-251780" eaLnBrk="0" hangingPunct="0"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5pPr>
            <a:lvl6pPr marL="2769580" indent="-251780" eaLnBrk="0" fontAlgn="base" hangingPunct="0">
              <a:spcBef>
                <a:spcPct val="0"/>
              </a:spcBef>
              <a:spcAft>
                <a:spcPct val="0"/>
              </a:spcAft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6pPr>
            <a:lvl7pPr marL="3273141" indent="-251780" eaLnBrk="0" fontAlgn="base" hangingPunct="0">
              <a:spcBef>
                <a:spcPct val="0"/>
              </a:spcBef>
              <a:spcAft>
                <a:spcPct val="0"/>
              </a:spcAft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7pPr>
            <a:lvl8pPr marL="3776701" indent="-251780" eaLnBrk="0" fontAlgn="base" hangingPunct="0">
              <a:spcBef>
                <a:spcPct val="0"/>
              </a:spcBef>
              <a:spcAft>
                <a:spcPct val="0"/>
              </a:spcAft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8pPr>
            <a:lvl9pPr marL="4280261" indent="-251780" eaLnBrk="0" fontAlgn="base" hangingPunct="0">
              <a:spcBef>
                <a:spcPct val="0"/>
              </a:spcBef>
              <a:spcAft>
                <a:spcPct val="0"/>
              </a:spcAft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B5ECD94-BD1D-4D1F-9195-CF112F6243D1}" type="slidenum">
              <a:rPr lang="en-US" altLang="en-US" sz="1542">
                <a:solidFill>
                  <a:schemeClr val="tx1"/>
                </a:solidFill>
                <a:latin typeface="Times New Roman" panose="02020603050405020304" pitchFamily="18" charset="0"/>
              </a:rPr>
              <a:pPr eaLnBrk="1" hangingPunct="1"/>
              <a:t>9</a:t>
            </a:fld>
            <a:endParaRPr lang="en-US" altLang="en-US" sz="1542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8" name="Picture 17" descr="Image 1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39" y="-1"/>
            <a:ext cx="9777360" cy="755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 descr="Image 1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39" y="-1"/>
            <a:ext cx="9777360" cy="755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19" descr="Image 13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39" y="-1"/>
            <a:ext cx="9777360" cy="755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0" descr="Image 14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39" y="-1"/>
            <a:ext cx="9777360" cy="755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1" descr="Image 15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39" y="-1"/>
            <a:ext cx="9777360" cy="755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22" descr="Image 16.jp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39" y="-1"/>
            <a:ext cx="9777360" cy="755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3" descr="Image 17.jp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39" y="-1"/>
            <a:ext cx="9777360" cy="755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4" descr="Image 18.jp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39" y="-1"/>
            <a:ext cx="9777360" cy="755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25" descr="Image 19.jp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39" y="0"/>
            <a:ext cx="9540768" cy="737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26" descr="Image 20.jpg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45" y="-1"/>
            <a:ext cx="10612993" cy="7277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9" name="Rectangle 12"/>
          <p:cNvSpPr>
            <a:spLocks noChangeArrowheads="1"/>
          </p:cNvSpPr>
          <p:nvPr/>
        </p:nvSpPr>
        <p:spPr bwMode="auto">
          <a:xfrm>
            <a:off x="21170" y="6955056"/>
            <a:ext cx="5323149" cy="51709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000" b="1" dirty="0">
                <a:latin typeface="+mn-lt"/>
              </a:rPr>
              <a:t>Confined Masonry Construction</a:t>
            </a:r>
          </a:p>
        </p:txBody>
      </p:sp>
    </p:spTree>
    <p:extLst>
      <p:ext uri="{BB962C8B-B14F-4D97-AF65-F5344CB8AC3E}">
        <p14:creationId xmlns:p14="http://schemas.microsoft.com/office/powerpoint/2010/main" val="317395315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6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9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-235530"/>
            <a:ext cx="8818126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Components of CM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3391141770"/>
              </p:ext>
            </p:extLst>
          </p:nvPr>
        </p:nvGraphicFramePr>
        <p:xfrm>
          <a:off x="124691" y="1122218"/>
          <a:ext cx="10446327" cy="56110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5951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11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-149902" y="2248525"/>
            <a:ext cx="10838539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dirty="0" smtClean="0">
                <a:latin typeface="Arial Black" panose="020B0A04020102020204" pitchFamily="34" charset="0"/>
              </a:rPr>
              <a:t>Key features </a:t>
            </a:r>
          </a:p>
          <a:p>
            <a:pPr algn="ctr"/>
            <a:r>
              <a:rPr lang="en-US" sz="4500" dirty="0" smtClean="0">
                <a:latin typeface="Arial Black" panose="020B0A04020102020204" pitchFamily="34" charset="0"/>
              </a:rPr>
              <a:t>of </a:t>
            </a:r>
          </a:p>
          <a:p>
            <a:pPr algn="ctr"/>
            <a:r>
              <a:rPr lang="en-US" sz="4500" dirty="0" smtClean="0">
                <a:latin typeface="Arial Black" panose="020B0A04020102020204" pitchFamily="34" charset="0"/>
              </a:rPr>
              <a:t>Structural Component</a:t>
            </a:r>
            <a:endParaRPr lang="en-US" sz="45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263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227" y="-119218"/>
            <a:ext cx="8852210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  <a:t>Confining elements </a:t>
            </a:r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/>
            </a:r>
            <a:b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(</a:t>
            </a:r>
            <a: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  <a:t>RC tie-columns and RC tie-beams)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12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1346" y="1085601"/>
            <a:ext cx="6984032" cy="6632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endParaRPr lang="en-US" sz="2500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endParaRPr lang="en-US" sz="2500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Horizontal(tie-beams) &amp; Vertical(tie-columns) RC confining members built in all four side of wall</a:t>
            </a: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endParaRPr lang="en-US" sz="2500" dirty="0" smtClean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 restraint to masonry walls and protect them from complete disintegration even in major earthquakes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endParaRPr lang="en-US" sz="2500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endParaRPr lang="en-US" sz="2500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Enhance </a:t>
            </a:r>
            <a:r>
              <a:rPr lang="en-US" sz="2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stability and integrity of masonry walls for in-plane &amp; out- of- plane  earthquake loads.</a:t>
            </a: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endParaRPr lang="en-US" sz="2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378" y="1451173"/>
            <a:ext cx="3682303" cy="295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561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153513"/>
            <a:ext cx="8846772" cy="101714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/>
            </a:r>
            <a:br>
              <a:rPr lang="en-US" sz="4400" dirty="0" smtClean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4400" dirty="0">
                <a:solidFill>
                  <a:schemeClr val="tx1"/>
                </a:solidFill>
                <a:latin typeface="Arial Black" panose="020B0A04020102020204" pitchFamily="34" charset="0"/>
              </a:rPr>
              <a:t/>
            </a:r>
            <a:br>
              <a:rPr lang="en-US" sz="44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44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/>
            </a:r>
            <a:br>
              <a:rPr lang="en-US" sz="4400" dirty="0" smtClean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4400" dirty="0">
                <a:solidFill>
                  <a:schemeClr val="tx1"/>
                </a:solidFill>
                <a:latin typeface="Arial Black" panose="020B0A04020102020204" pitchFamily="34" charset="0"/>
              </a:rPr>
              <a:t/>
            </a:r>
            <a:br>
              <a:rPr lang="en-US" sz="44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39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/>
            </a:r>
            <a:br>
              <a:rPr lang="en-US" sz="3900" dirty="0" smtClean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39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Confining </a:t>
            </a:r>
            <a:r>
              <a:rPr lang="en-US" sz="3900" dirty="0">
                <a:solidFill>
                  <a:schemeClr val="tx1"/>
                </a:solidFill>
                <a:latin typeface="Arial Black" panose="020B0A04020102020204" pitchFamily="34" charset="0"/>
              </a:rPr>
              <a:t>elements </a:t>
            </a:r>
            <a:br>
              <a:rPr lang="en-US" sz="39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3900" dirty="0">
                <a:solidFill>
                  <a:schemeClr val="tx1"/>
                </a:solidFill>
                <a:latin typeface="Arial Black" panose="020B0A04020102020204" pitchFamily="34" charset="0"/>
              </a:rPr>
              <a:t>(RC tie-columns and RC tie-beams)</a:t>
            </a:r>
            <a:endParaRPr lang="en-US" sz="39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13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4991" y="2188564"/>
            <a:ext cx="7270230" cy="3062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Enhance the strength(resistance) of masonry wall under lateral earthquake loads</a:t>
            </a: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endParaRPr lang="en-US" sz="2500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Reduce </a:t>
            </a:r>
            <a:r>
              <a:rPr lang="en-US" sz="2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brittleness of masonry walls under earthquake hence improving their earthquake performance 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335" y="1481154"/>
            <a:ext cx="3682303" cy="295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672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-437191"/>
            <a:ext cx="8818126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Masonry Wall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14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26237" y="1786746"/>
            <a:ext cx="699902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5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Made </a:t>
            </a:r>
            <a:r>
              <a:rPr lang="en-US" sz="2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solid clay bricks, hollow clay tiles, or concrete </a:t>
            </a:r>
            <a:r>
              <a:rPr lang="en-US" sz="25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blocks</a:t>
            </a: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endParaRPr lang="en-US" sz="25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Confined by tie-columns &amp; tie-beams</a:t>
            </a:r>
          </a:p>
          <a:p>
            <a:pPr marL="285750" indent="-285750">
              <a:buClr>
                <a:schemeClr val="tx1"/>
              </a:buClr>
              <a:buSzPct val="140000"/>
              <a:buFont typeface="Arial" panose="020B0604020202020204" pitchFamily="34" charset="0"/>
              <a:buChar char="•"/>
            </a:pPr>
            <a:endParaRPr lang="en-US" sz="2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SzPct val="140000"/>
              <a:buFont typeface="Arial" panose="020B0604020202020204" pitchFamily="34" charset="0"/>
              <a:buChar char="•"/>
            </a:pPr>
            <a:endParaRPr lang="en-US" sz="2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Transmit </a:t>
            </a:r>
            <a:r>
              <a:rPr lang="en-US" sz="25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gravity load from the slab(s) above down to the foundation</a:t>
            </a:r>
          </a:p>
          <a:p>
            <a:pPr marL="285750" indent="-285750">
              <a:buClr>
                <a:schemeClr val="tx1"/>
              </a:buClr>
              <a:buSzPct val="140000"/>
              <a:buFont typeface="Arial" panose="020B0604020202020204" pitchFamily="34" charset="0"/>
              <a:buChar char="•"/>
            </a:pPr>
            <a:endParaRPr lang="en-US" sz="2800" dirty="0" smtClean="0">
              <a:latin typeface="Century Gothic" panose="020B0502020202020204" pitchFamily="34" charset="0"/>
            </a:endParaRPr>
          </a:p>
          <a:p>
            <a:pPr marL="285750" indent="-285750">
              <a:buClr>
                <a:schemeClr val="tx1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Century Gothic" panose="020B0502020202020204" pitchFamily="34" charset="0"/>
              </a:rPr>
              <a:t>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Act as bracing panels, which resist horizontal </a:t>
            </a: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earthquake </a:t>
            </a:r>
            <a:r>
              <a:rPr lang="en-US" sz="2500" dirty="0">
                <a:latin typeface="Arial" panose="020B0604020202020204" pitchFamily="34" charset="0"/>
                <a:cs typeface="Arial" panose="020B0604020202020204" pitchFamily="34" charset="0"/>
              </a:rPr>
              <a:t>forces</a:t>
            </a:r>
          </a:p>
          <a:p>
            <a:pPr>
              <a:buClr>
                <a:schemeClr val="tx1"/>
              </a:buClr>
              <a:buSzPct val="140000"/>
            </a:pPr>
            <a:endParaRPr lang="en-US" sz="2500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SzPct val="140000"/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 descr="Fig 1 R3 colour copy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5" r="4871"/>
          <a:stretch/>
        </p:blipFill>
        <p:spPr bwMode="auto">
          <a:xfrm>
            <a:off x="7027446" y="2000002"/>
            <a:ext cx="3661192" cy="292608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5113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111" y="-372534"/>
            <a:ext cx="4585062" cy="1018628"/>
          </a:xfrm>
        </p:spPr>
        <p:txBody>
          <a:bodyPr>
            <a:noAutofit/>
          </a:bodyPr>
          <a:lstStyle/>
          <a:p>
            <a:pPr algn="ctr"/>
            <a:r>
              <a:rPr lang="en-US" sz="3000" b="1" u="sng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Floor &amp; roof Slabs</a:t>
            </a:r>
            <a:endParaRPr lang="en-US" sz="3000" b="1" u="sng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 descr="Fig 1 R3 colour copy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5" r="4871"/>
          <a:stretch/>
        </p:blipFill>
        <p:spPr bwMode="auto">
          <a:xfrm>
            <a:off x="5725928" y="986384"/>
            <a:ext cx="4201367" cy="3357796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4111" y="907261"/>
            <a:ext cx="6539150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Transmit both gravity &amp; lateral loads to the wall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5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In  Earthquake slab behave lake a horizontal beam &amp; Called diaphragm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4111" y="3494201"/>
            <a:ext cx="67672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spc="-44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  </a:t>
            </a:r>
            <a:r>
              <a:rPr lang="en-US" sz="3000" b="1" u="sng" spc="-44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Plinth band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500" spc="-44" dirty="0" smtClean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pPr marL="457200" indent="-457200">
              <a:buSzPct val="140000"/>
              <a:buFont typeface="Arial" panose="020B0604020202020204" pitchFamily="34" charset="0"/>
              <a:buChar char="•"/>
            </a:pPr>
            <a:r>
              <a:rPr lang="en-US" sz="2500" spc="-44" dirty="0" smtClean="0">
                <a:solidFill>
                  <a:srgbClr val="00206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Transmit the load from wall to the foundation</a:t>
            </a:r>
            <a:endParaRPr lang="en-US" sz="2500" spc="-44" dirty="0">
              <a:solidFill>
                <a:srgbClr val="002060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4656" y="5111646"/>
            <a:ext cx="251834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u="sng" spc="-44" dirty="0"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10" y="5996066"/>
            <a:ext cx="794061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sz="2500" spc="-44" dirty="0">
                <a:solidFill>
                  <a:srgbClr val="00206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Transmit</a:t>
            </a:r>
            <a:r>
              <a:rPr lang="en-US" sz="25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load from the structure to the  ground</a:t>
            </a:r>
            <a:endParaRPr lang="en-US" sz="25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657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94872"/>
            <a:ext cx="9713625" cy="1025639"/>
          </a:xfrm>
        </p:spPr>
        <p:txBody>
          <a:bodyPr>
            <a:normAutofit/>
          </a:bodyPr>
          <a:lstStyle/>
          <a:p>
            <a:pPr algn="ctr"/>
            <a:r>
              <a:rPr lang="en-US" altLang="en-US" sz="3500" dirty="0">
                <a:solidFill>
                  <a:schemeClr val="tx1"/>
                </a:solidFill>
                <a:latin typeface="Arial Black" panose="020B0A04020102020204" pitchFamily="34" charset="0"/>
                <a:cs typeface="Tahoma" panose="020B0604030504040204" pitchFamily="34" charset="0"/>
              </a:rPr>
              <a:t>Confined Masonry </a:t>
            </a:r>
            <a:r>
              <a:rPr lang="en-US" altLang="en-US" sz="3500" dirty="0" smtClean="0">
                <a:solidFill>
                  <a:schemeClr val="tx1"/>
                </a:solidFill>
                <a:latin typeface="Arial Black" panose="020B0A04020102020204" pitchFamily="34" charset="0"/>
                <a:cs typeface="Tahoma" panose="020B0604030504040204" pitchFamily="34" charset="0"/>
              </a:rPr>
              <a:t>versus Reinforced Masonry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16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0169" y="5409343"/>
            <a:ext cx="4726984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sz="2000" dirty="0"/>
              <a:t> </a:t>
            </a:r>
            <a:r>
              <a:rPr lang="en-US" sz="2000" b="1" dirty="0" smtClean="0">
                <a:solidFill>
                  <a:srgbClr val="7030A0"/>
                </a:solidFill>
              </a:rPr>
              <a:t>Vertical </a:t>
            </a:r>
            <a:r>
              <a:rPr lang="en-US" sz="2000" b="1" dirty="0">
                <a:solidFill>
                  <a:srgbClr val="7030A0"/>
                </a:solidFill>
              </a:rPr>
              <a:t>and horizontal reinforcing bars are provided to enhance the strength and ductility </a:t>
            </a:r>
            <a:r>
              <a:rPr lang="en-US" sz="2000" b="1" dirty="0" smtClean="0">
                <a:solidFill>
                  <a:srgbClr val="7030A0"/>
                </a:solidFill>
              </a:rPr>
              <a:t>of </a:t>
            </a:r>
            <a:r>
              <a:rPr lang="en-US" sz="2000" b="1" dirty="0">
                <a:solidFill>
                  <a:srgbClr val="7030A0"/>
                </a:solidFill>
              </a:rPr>
              <a:t>masonry walls</a:t>
            </a:r>
            <a:endParaRPr lang="en-CA" sz="2000" b="1" dirty="0">
              <a:solidFill>
                <a:srgbClr val="7030A0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2589" y="1371166"/>
            <a:ext cx="4323579" cy="3657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46" y="1394687"/>
            <a:ext cx="3471895" cy="3840480"/>
          </a:xfrm>
          <a:prstGeom prst="rect">
            <a:avLst/>
          </a:prstGeom>
        </p:spPr>
      </p:pic>
      <p:sp>
        <p:nvSpPr>
          <p:cNvPr id="20" name="Right Arrow 19"/>
          <p:cNvSpPr/>
          <p:nvPr/>
        </p:nvSpPr>
        <p:spPr>
          <a:xfrm>
            <a:off x="4385431" y="2495638"/>
            <a:ext cx="721453" cy="5536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TextBox 27"/>
          <p:cNvSpPr txBox="1"/>
          <p:nvPr/>
        </p:nvSpPr>
        <p:spPr>
          <a:xfrm>
            <a:off x="5357221" y="5235166"/>
            <a:ext cx="5331417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2000" b="1" dirty="0">
                <a:solidFill>
                  <a:srgbClr val="7030A0"/>
                </a:solidFill>
              </a:rPr>
              <a:t>Reinforcement is concentrated in vertical and horizontal RC confining elements whereas the masonry walls are usually free of reinforcement</a:t>
            </a:r>
          </a:p>
        </p:txBody>
      </p:sp>
    </p:spTree>
    <p:extLst>
      <p:ext uri="{BB962C8B-B14F-4D97-AF65-F5344CB8AC3E}">
        <p14:creationId xmlns:p14="http://schemas.microsoft.com/office/powerpoint/2010/main" val="3226981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89963" y="6881813"/>
            <a:ext cx="2098675" cy="50323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1pPr>
            <a:lvl2pPr marL="818285" indent="-314725" eaLnBrk="0" hangingPunct="0"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2pPr>
            <a:lvl3pPr marL="1258900" indent="-251780" eaLnBrk="0" hangingPunct="0"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3pPr>
            <a:lvl4pPr marL="1762460" indent="-251780" eaLnBrk="0" hangingPunct="0"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4pPr>
            <a:lvl5pPr marL="2266020" indent="-251780" eaLnBrk="0" hangingPunct="0"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5pPr>
            <a:lvl6pPr marL="2769580" indent="-251780" eaLnBrk="0" fontAlgn="base" hangingPunct="0">
              <a:spcBef>
                <a:spcPct val="0"/>
              </a:spcBef>
              <a:spcAft>
                <a:spcPct val="0"/>
              </a:spcAft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6pPr>
            <a:lvl7pPr marL="3273141" indent="-251780" eaLnBrk="0" fontAlgn="base" hangingPunct="0">
              <a:spcBef>
                <a:spcPct val="0"/>
              </a:spcBef>
              <a:spcAft>
                <a:spcPct val="0"/>
              </a:spcAft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7pPr>
            <a:lvl8pPr marL="3776701" indent="-251780" eaLnBrk="0" fontAlgn="base" hangingPunct="0">
              <a:spcBef>
                <a:spcPct val="0"/>
              </a:spcBef>
              <a:spcAft>
                <a:spcPct val="0"/>
              </a:spcAft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8pPr>
            <a:lvl9pPr marL="4280261" indent="-251780" eaLnBrk="0" fontAlgn="base" hangingPunct="0">
              <a:spcBef>
                <a:spcPct val="0"/>
              </a:spcBef>
              <a:spcAft>
                <a:spcPct val="0"/>
              </a:spcAft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2C2BCE0-E031-4C49-BC62-8F192588A459}" type="slidenum">
              <a:rPr lang="en-US" altLang="en-US" sz="1542">
                <a:solidFill>
                  <a:schemeClr val="tx1"/>
                </a:solidFill>
                <a:latin typeface="Times New Roman" panose="02020603050405020304" pitchFamily="18" charset="0"/>
              </a:rPr>
              <a:pPr eaLnBrk="1" hangingPunct="1"/>
              <a:t>17</a:t>
            </a:fld>
            <a:endParaRPr lang="en-US" altLang="en-US" sz="1542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3" name="Picture 12" descr="Image 1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407" y="-1"/>
            <a:ext cx="9815826" cy="755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 descr="Image 12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407" y="-1"/>
            <a:ext cx="9815826" cy="755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4" descr="Image 13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407" y="-1"/>
            <a:ext cx="9815826" cy="755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6" descr="Image 14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688638" cy="7592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1" descr="Image 15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02" y="452850"/>
            <a:ext cx="8600650" cy="6617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7"/>
          <p:cNvSpPr txBox="1">
            <a:spLocks noChangeArrowheads="1"/>
          </p:cNvSpPr>
          <p:nvPr/>
        </p:nvSpPr>
        <p:spPr>
          <a:xfrm>
            <a:off x="0" y="7060260"/>
            <a:ext cx="6327135" cy="50355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altLang="en-US" sz="3000" b="1" dirty="0"/>
              <a:t>Reinforced Concrete Frame Construction</a:t>
            </a:r>
          </a:p>
        </p:txBody>
      </p:sp>
    </p:spTree>
    <p:extLst>
      <p:ext uri="{BB962C8B-B14F-4D97-AF65-F5344CB8AC3E}">
        <p14:creationId xmlns:p14="http://schemas.microsoft.com/office/powerpoint/2010/main" val="49688509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512" y="139609"/>
            <a:ext cx="9691528" cy="1432548"/>
          </a:xfrm>
        </p:spPr>
        <p:txBody>
          <a:bodyPr>
            <a:noAutofit/>
          </a:bodyPr>
          <a:lstStyle/>
          <a:p>
            <a:pPr algn="ctr"/>
            <a:r>
              <a:rPr lang="en-US" altLang="en-US" sz="3200" dirty="0">
                <a:solidFill>
                  <a:schemeClr val="tx1"/>
                </a:solidFill>
                <a:latin typeface="Arial Black" panose="020B0A04020102020204" pitchFamily="34" charset="0"/>
                <a:cs typeface="Tahoma" panose="020B0604030504040204" pitchFamily="34" charset="0"/>
              </a:rPr>
              <a:t>Confined Masonry versus Infilled RC frames:</a:t>
            </a:r>
            <a:r>
              <a:rPr lang="en-US" altLang="en-US" sz="3200" dirty="0">
                <a:solidFill>
                  <a:schemeClr val="tx1"/>
                </a:solidFill>
                <a:latin typeface="Arial Black" panose="020B0A04020102020204" pitchFamily="34" charset="0"/>
              </a:rPr>
              <a:t/>
            </a:r>
            <a:br>
              <a:rPr lang="en-US" altLang="en-US" sz="32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endParaRPr lang="en-US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18</a:t>
            </a:fld>
            <a:endParaRPr 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728420" y="2370209"/>
            <a:ext cx="3790774" cy="427939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99229" indent="-299229" algn="l" defTabSz="801654" rtl="0" eaLnBrk="1" latinLnBrk="0" hangingPunct="1">
              <a:lnSpc>
                <a:spcPct val="114000"/>
              </a:lnSpc>
              <a:spcBef>
                <a:spcPts val="1052"/>
              </a:spcBef>
              <a:spcAft>
                <a:spcPts val="175"/>
              </a:spcAft>
              <a:buClr>
                <a:srgbClr val="0F5AA5"/>
              </a:buClr>
              <a:buSzPct val="100000"/>
              <a:buFont typeface="Wingdings" panose="05000000000000000000" pitchFamily="2" charset="2"/>
              <a:buChar char="§"/>
              <a:defRPr sz="21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426" indent="-203197" algn="l" defTabSz="801654" rtl="0" eaLnBrk="1" latinLnBrk="0" hangingPunct="1">
              <a:lnSpc>
                <a:spcPct val="114000"/>
              </a:lnSpc>
              <a:spcBef>
                <a:spcPts val="175"/>
              </a:spcBef>
              <a:spcAft>
                <a:spcPts val="351"/>
              </a:spcAft>
              <a:buClr>
                <a:srgbClr val="0F5AA5"/>
              </a:buClr>
              <a:buFont typeface="Calibri" pitchFamily="34" charset="0"/>
              <a:buChar char="◦"/>
              <a:defRPr sz="21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7026" indent="-160331" algn="l" defTabSz="801654" rtl="0" eaLnBrk="1" latinLnBrk="0" hangingPunct="1">
              <a:lnSpc>
                <a:spcPct val="114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210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57357" indent="-160331" algn="l" defTabSz="801654" rtl="0" eaLnBrk="1" latinLnBrk="0" hangingPunct="1">
              <a:lnSpc>
                <a:spcPct val="114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210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17688" indent="-160331" algn="l" defTabSz="801654" rtl="0" eaLnBrk="1" latinLnBrk="0" hangingPunct="1">
              <a:lnSpc>
                <a:spcPct val="114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210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964370" indent="-200414" algn="l" defTabSz="801654" rtl="0" eaLnBrk="1" latinLnBrk="0" hangingPunct="1">
              <a:lnSpc>
                <a:spcPct val="90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122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139710" indent="-200414" algn="l" defTabSz="801654" rtl="0" eaLnBrk="1" latinLnBrk="0" hangingPunct="1">
              <a:lnSpc>
                <a:spcPct val="90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122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315050" indent="-200414" algn="l" defTabSz="801654" rtl="0" eaLnBrk="1" latinLnBrk="0" hangingPunct="1">
              <a:lnSpc>
                <a:spcPct val="90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122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490390" indent="-200414" algn="l" defTabSz="801654" rtl="0" eaLnBrk="1" latinLnBrk="0" hangingPunct="1">
              <a:lnSpc>
                <a:spcPct val="90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122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24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Confined Masonry</a:t>
            </a:r>
          </a:p>
          <a:p>
            <a:pPr lvl="1"/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Walls first</a:t>
            </a:r>
          </a:p>
          <a:p>
            <a:pPr lvl="1"/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Concrete later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5133934" y="2340245"/>
            <a:ext cx="5532895" cy="407852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99229" indent="-299229" algn="l" defTabSz="801654" rtl="0" eaLnBrk="1" latinLnBrk="0" hangingPunct="1">
              <a:lnSpc>
                <a:spcPct val="114000"/>
              </a:lnSpc>
              <a:spcBef>
                <a:spcPts val="1052"/>
              </a:spcBef>
              <a:spcAft>
                <a:spcPts val="175"/>
              </a:spcAft>
              <a:buClr>
                <a:srgbClr val="0F5AA5"/>
              </a:buClr>
              <a:buSzPct val="100000"/>
              <a:buFont typeface="Wingdings" panose="05000000000000000000" pitchFamily="2" charset="2"/>
              <a:buChar char="§"/>
              <a:defRPr sz="21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426" indent="-203197" algn="l" defTabSz="801654" rtl="0" eaLnBrk="1" latinLnBrk="0" hangingPunct="1">
              <a:lnSpc>
                <a:spcPct val="114000"/>
              </a:lnSpc>
              <a:spcBef>
                <a:spcPts val="175"/>
              </a:spcBef>
              <a:spcAft>
                <a:spcPts val="351"/>
              </a:spcAft>
              <a:buClr>
                <a:srgbClr val="0F5AA5"/>
              </a:buClr>
              <a:buFont typeface="Calibri" pitchFamily="34" charset="0"/>
              <a:buChar char="◦"/>
              <a:defRPr sz="210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7026" indent="-160331" algn="l" defTabSz="801654" rtl="0" eaLnBrk="1" latinLnBrk="0" hangingPunct="1">
              <a:lnSpc>
                <a:spcPct val="114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210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57357" indent="-160331" algn="l" defTabSz="801654" rtl="0" eaLnBrk="1" latinLnBrk="0" hangingPunct="1">
              <a:lnSpc>
                <a:spcPct val="114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210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17688" indent="-160331" algn="l" defTabSz="801654" rtl="0" eaLnBrk="1" latinLnBrk="0" hangingPunct="1">
              <a:lnSpc>
                <a:spcPct val="114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2104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964370" indent="-200414" algn="l" defTabSz="801654" rtl="0" eaLnBrk="1" latinLnBrk="0" hangingPunct="1">
              <a:lnSpc>
                <a:spcPct val="90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122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139710" indent="-200414" algn="l" defTabSz="801654" rtl="0" eaLnBrk="1" latinLnBrk="0" hangingPunct="1">
              <a:lnSpc>
                <a:spcPct val="90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122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315050" indent="-200414" algn="l" defTabSz="801654" rtl="0" eaLnBrk="1" latinLnBrk="0" hangingPunct="1">
              <a:lnSpc>
                <a:spcPct val="90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122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490390" indent="-200414" algn="l" defTabSz="801654" rtl="0" eaLnBrk="1" latinLnBrk="0" hangingPunct="1">
              <a:lnSpc>
                <a:spcPct val="90000"/>
              </a:lnSpc>
              <a:spcBef>
                <a:spcPts val="175"/>
              </a:spcBef>
              <a:spcAft>
                <a:spcPts val="351"/>
              </a:spcAft>
              <a:buClr>
                <a:schemeClr val="accent1"/>
              </a:buClr>
              <a:buFont typeface="Calibri" pitchFamily="34" charset="0"/>
              <a:buChar char="◦"/>
              <a:defRPr sz="1227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24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Reinforced Concrete Infilled Frame</a:t>
            </a:r>
          </a:p>
          <a:p>
            <a:pPr lvl="1"/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Concrete first</a:t>
            </a:r>
          </a:p>
          <a:p>
            <a:pPr lvl="1"/>
            <a:r>
              <a:rPr lang="en-US" alt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Walls later</a:t>
            </a:r>
          </a:p>
        </p:txBody>
      </p:sp>
      <p:pic>
        <p:nvPicPr>
          <p:cNvPr id="6" name="Picture 6" descr="G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3260" y="3936349"/>
            <a:ext cx="3886200" cy="28956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466421" y="1337540"/>
            <a:ext cx="6433960" cy="923925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 smtClean="0">
                <a:solidFill>
                  <a:srgbClr val="000000"/>
                </a:solidFill>
                <a:effectLst/>
                <a:latin typeface="Tahoma" panose="020B0604030504040204" pitchFamily="34" charset="0"/>
              </a:rPr>
              <a:t>- </a:t>
            </a:r>
            <a:r>
              <a:rPr lang="en-US" altLang="en-US" sz="2600" dirty="0" smtClean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construction </a:t>
            </a:r>
            <a:r>
              <a:rPr lang="en-US" altLang="en-US" sz="260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sequence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60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altLang="en-US" sz="2600" dirty="0" smtClean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integrity </a:t>
            </a:r>
            <a:r>
              <a:rPr lang="en-US" altLang="en-US" sz="2600" dirty="0">
                <a:solidFill>
                  <a:srgbClr val="C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between masonry and fr</a:t>
            </a:r>
            <a:r>
              <a:rPr lang="en-US" altLang="en-US" sz="2600" dirty="0">
                <a:solidFill>
                  <a:srgbClr val="C00000"/>
                </a:solidFill>
                <a:effectLst/>
                <a:latin typeface="Tahoma" panose="020B0604030504040204" pitchFamily="34" charset="0"/>
              </a:rPr>
              <a:t>ame</a:t>
            </a:r>
          </a:p>
        </p:txBody>
      </p:sp>
      <p:pic>
        <p:nvPicPr>
          <p:cNvPr id="8" name="Picture 5" descr="Ge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49"/>
          <a:stretch>
            <a:fillRect/>
          </a:stretch>
        </p:blipFill>
        <p:spPr bwMode="auto">
          <a:xfrm>
            <a:off x="187601" y="4127855"/>
            <a:ext cx="4495800" cy="28781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1456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896" y="-303100"/>
            <a:ext cx="8818126" cy="1204819"/>
          </a:xfrm>
        </p:spPr>
        <p:txBody>
          <a:bodyPr>
            <a:normAutofit/>
          </a:bodyPr>
          <a:lstStyle/>
          <a:p>
            <a:pPr algn="ctr"/>
            <a:r>
              <a:rPr lang="en-US" altLang="en-US" sz="3000" dirty="0">
                <a:solidFill>
                  <a:schemeClr val="tx1"/>
                </a:solidFill>
                <a:latin typeface="Arial Black" panose="020B0A04020102020204" pitchFamily="34" charset="0"/>
                <a:cs typeface="Tahoma" panose="020B0604030504040204" pitchFamily="34" charset="0"/>
              </a:rPr>
              <a:t>Confined Masonry vs RC Frames with Infills – Key Differences</a:t>
            </a:r>
            <a:endParaRPr lang="en-US" sz="30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3" t="11395" r="61811" b="2263"/>
          <a:stretch/>
        </p:blipFill>
        <p:spPr>
          <a:xfrm>
            <a:off x="840382" y="1328173"/>
            <a:ext cx="2468880" cy="5603402"/>
          </a:xfrm>
          <a:prstGeom prst="rect">
            <a:avLst/>
          </a:prstGeom>
          <a:ln>
            <a:solidFill>
              <a:srgbClr val="0F5AA5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61" t="12992" r="25996" b="1755"/>
          <a:stretch/>
        </p:blipFill>
        <p:spPr>
          <a:xfrm>
            <a:off x="6191198" y="1084881"/>
            <a:ext cx="2987039" cy="5846694"/>
          </a:xfrm>
          <a:prstGeom prst="rect">
            <a:avLst/>
          </a:prstGeom>
          <a:ln>
            <a:solidFill>
              <a:srgbClr val="0F5AA5"/>
            </a:solidFill>
          </a:ln>
        </p:spPr>
      </p:pic>
      <p:sp>
        <p:nvSpPr>
          <p:cNvPr id="7" name="Right Arrow 6"/>
          <p:cNvSpPr/>
          <p:nvPr/>
        </p:nvSpPr>
        <p:spPr>
          <a:xfrm>
            <a:off x="3847641" y="3078330"/>
            <a:ext cx="1483776" cy="619932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612463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20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29587" y="2173574"/>
            <a:ext cx="94587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latin typeface="Arial Black" panose="020B0A04020102020204" pitchFamily="34" charset="0"/>
              </a:rPr>
              <a:t>Seismic Forces vs Confined Masonry wall</a:t>
            </a:r>
            <a:endParaRPr lang="en-US" sz="4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212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11" y="60452"/>
            <a:ext cx="9530706" cy="120481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 </a:t>
            </a:r>
            <a: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  <a:t>M</a:t>
            </a:r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onolithic </a:t>
            </a:r>
            <a: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  <a:t>action of a masonry </a:t>
            </a:r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wall </a:t>
            </a:r>
            <a:b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&amp; RC </a:t>
            </a:r>
            <a: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  <a:t>confining elements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9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3" t="12455" r="6126" b="9080"/>
          <a:stretch/>
        </p:blipFill>
        <p:spPr bwMode="auto">
          <a:xfrm>
            <a:off x="292856" y="1691093"/>
            <a:ext cx="448540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5046" y="2720918"/>
            <a:ext cx="4630023" cy="301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175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0"/>
            <a:ext cx="9067665" cy="1251100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Arial Black" panose="020B0A04020102020204" pitchFamily="34" charset="0"/>
              </a:rPr>
              <a:t>Mechanism of shear </a:t>
            </a:r>
            <a:r>
              <a:rPr lang="en-US" sz="32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resistance</a:t>
            </a:r>
            <a:r>
              <a:rPr lang="en-US" sz="3200" dirty="0">
                <a:solidFill>
                  <a:schemeClr val="tx1"/>
                </a:solidFill>
                <a:latin typeface="Arial Black" panose="020B0A04020102020204" pitchFamily="34" charset="0"/>
              </a:rPr>
              <a:t/>
            </a:r>
            <a:br>
              <a:rPr lang="en-US" sz="3200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endParaRPr lang="en-US" sz="3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22</a:t>
            </a:fld>
            <a:endParaRPr lang="en-US"/>
          </a:p>
        </p:txBody>
      </p:sp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3" y="1597092"/>
            <a:ext cx="3477110" cy="2524477"/>
          </a:xfrm>
          <a:prstGeom prst="rect">
            <a:avLst/>
          </a:prstGeom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759" y="1498648"/>
            <a:ext cx="3505689" cy="2562583"/>
          </a:xfrm>
          <a:prstGeom prst="rect">
            <a:avLst/>
          </a:prstGeom>
        </p:spPr>
      </p:pic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651" y="1451017"/>
            <a:ext cx="3600953" cy="2610214"/>
          </a:xfrm>
          <a:prstGeom prst="rect">
            <a:avLst/>
          </a:prstGeom>
        </p:spPr>
      </p:pic>
      <p:pic>
        <p:nvPicPr>
          <p:cNvPr id="10" name="Picture 9" descr="Screen Clippin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3" t="4905" r="8192"/>
          <a:stretch/>
        </p:blipFill>
        <p:spPr>
          <a:xfrm>
            <a:off x="3483048" y="4422943"/>
            <a:ext cx="3790603" cy="3130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77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587" y="-94314"/>
            <a:ext cx="8818126" cy="880063"/>
          </a:xfrm>
        </p:spPr>
        <p:txBody>
          <a:bodyPr>
            <a:normAutofit/>
          </a:bodyPr>
          <a:lstStyle/>
          <a:p>
            <a:pPr algn="ctr"/>
            <a: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  <a:t>Mechanism of shear resistance</a:t>
            </a:r>
            <a:endParaRPr lang="en-US" sz="35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23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650463" y="1547445"/>
            <a:ext cx="6224953" cy="424731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CA" sz="32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 stages:</a:t>
            </a:r>
          </a:p>
          <a:p>
            <a:pPr marL="514350" indent="-514350" eaLnBrk="1" hangingPunct="1">
              <a:buFont typeface="+mj-lt"/>
              <a:buAutoNum type="arabicPeriod"/>
              <a:defRPr/>
            </a:pPr>
            <a:endParaRPr lang="en-CA" sz="3000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CA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Onset </a:t>
            </a:r>
            <a:r>
              <a:rPr lang="en-CA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of diagonal cracking </a:t>
            </a:r>
          </a:p>
          <a:p>
            <a:pPr marL="514350" indent="-514350" eaLnBrk="1" hangingPunct="1">
              <a:buFont typeface="+mj-lt"/>
              <a:buAutoNum type="arabicPeriod"/>
              <a:defRPr/>
            </a:pPr>
            <a:endParaRPr lang="en-CA" sz="3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CA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Cracking propagated  through RC </a:t>
            </a:r>
            <a:r>
              <a:rPr lang="en-CA" sz="3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tie-columns</a:t>
            </a:r>
          </a:p>
          <a:p>
            <a:pPr marL="514350" indent="-514350" eaLnBrk="1" hangingPunct="1">
              <a:buFont typeface="+mj-lt"/>
              <a:buAutoNum type="arabicPeriod"/>
              <a:defRPr/>
            </a:pPr>
            <a:endParaRPr lang="en-CA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eaLnBrk="1" hangingPunct="1">
              <a:buFont typeface="+mj-lt"/>
              <a:buAutoNum type="arabicPeriod"/>
              <a:defRPr/>
            </a:pPr>
            <a:endParaRPr lang="en-CA" sz="30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eaLnBrk="1" hangingPunct="1">
              <a:buFont typeface="+mj-lt"/>
              <a:buAutoNum type="arabicPeriod"/>
              <a:defRPr/>
            </a:pPr>
            <a:r>
              <a:rPr lang="en-CA" sz="30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Failure </a:t>
            </a:r>
            <a:endParaRPr lang="en-CA" sz="3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23" t="4905" r="8192"/>
          <a:stretch/>
        </p:blipFill>
        <p:spPr>
          <a:xfrm>
            <a:off x="0" y="1750864"/>
            <a:ext cx="4650463" cy="384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582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24</a:t>
            </a:fld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907" y="1780532"/>
            <a:ext cx="9135750" cy="34009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5637972"/>
            <a:ext cx="9402253" cy="7694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algn="just" defTabSz="1043367">
              <a:defRPr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Confined Masonry Building : Vertical Truss Model (left) and Collapse at the Ground Floor Level (right</a:t>
            </a:r>
            <a:r>
              <a:rPr lang="en-US" sz="2200" dirty="0" smtClean="0"/>
              <a:t>)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17015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592" y="-361540"/>
            <a:ext cx="8818126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Critical Region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25</a:t>
            </a:fld>
            <a:endParaRPr lang="en-US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2" t="2935" r="6556"/>
          <a:stretch/>
        </p:blipFill>
        <p:spPr>
          <a:xfrm>
            <a:off x="0" y="1590066"/>
            <a:ext cx="10229310" cy="539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856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134910"/>
            <a:ext cx="8812734" cy="1674383"/>
          </a:xfrm>
        </p:spPr>
        <p:txBody>
          <a:bodyPr>
            <a:normAutofit fontScale="90000"/>
          </a:bodyPr>
          <a:lstStyle/>
          <a:p>
            <a:pPr algn="ctr"/>
            <a:r>
              <a:rPr lang="en-NZ" sz="3500" b="1" dirty="0">
                <a:solidFill>
                  <a:schemeClr val="tx1"/>
                </a:solidFill>
                <a:latin typeface="Arial Black" pitchFamily="34" charset="0"/>
              </a:rPr>
              <a:t>Failure modes of </a:t>
            </a:r>
            <a:r>
              <a:rPr lang="en-NZ" sz="3500" b="1" dirty="0" smtClean="0">
                <a:solidFill>
                  <a:schemeClr val="tx1"/>
                </a:solidFill>
                <a:latin typeface="Arial Black" pitchFamily="34" charset="0"/>
              </a:rPr>
              <a:t>Confined Masonry </a:t>
            </a:r>
            <a:r>
              <a:rPr lang="en-NZ" sz="3500" b="1" dirty="0" smtClean="0">
                <a:solidFill>
                  <a:schemeClr val="tx1"/>
                </a:solidFill>
                <a:latin typeface="Arial Black" pitchFamily="34" charset="0"/>
              </a:rPr>
              <a:t>buildings (not well designed or constructed)</a:t>
            </a:r>
            <a:r>
              <a:rPr lang="en-US" sz="3500" b="1" dirty="0">
                <a:solidFill>
                  <a:schemeClr val="tx1"/>
                </a:solidFill>
                <a:latin typeface="Arial Black" pitchFamily="34" charset="0"/>
              </a:rPr>
              <a:t/>
            </a:r>
            <a:br>
              <a:rPr lang="en-US" sz="3500" b="1" dirty="0">
                <a:solidFill>
                  <a:schemeClr val="tx1"/>
                </a:solidFill>
                <a:latin typeface="Arial Black" pitchFamily="34" charset="0"/>
              </a:rPr>
            </a:br>
            <a:endParaRPr lang="en-US" sz="3500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26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1981201"/>
            <a:ext cx="966893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r>
              <a:rPr lang="en-CA" altLang="en-U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Masonry damage (in- and out-of-plane)</a:t>
            </a:r>
          </a:p>
          <a:p>
            <a:pPr marL="457200" indent="-45720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endParaRPr lang="en-CA" alt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CA" alt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RC </a:t>
            </a:r>
            <a:r>
              <a:rPr lang="en-CA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tie-columns </a:t>
            </a:r>
          </a:p>
          <a:p>
            <a:pPr marL="457200" indent="-45720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endParaRPr lang="en-CA" altLang="en-US" sz="2800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CA" altLang="en-US" sz="28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Tie-beam-to-tie-column </a:t>
            </a:r>
            <a:r>
              <a:rPr lang="en-CA" altLang="en-U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joints</a:t>
            </a:r>
          </a:p>
          <a:p>
            <a:pPr marL="457200" indent="-45720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endParaRPr lang="en-CA" alt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SzPct val="140000"/>
              <a:buFont typeface="Arial" panose="020B0604020202020204" pitchFamily="34" charset="0"/>
              <a:buChar char="•"/>
            </a:pPr>
            <a:r>
              <a:rPr lang="en-CA" alt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Confining elements around openings</a:t>
            </a:r>
            <a:endParaRPr lang="en-CA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buSzPct val="140000"/>
            </a:pPr>
            <a:endParaRPr lang="en-CA" altLang="en-US" sz="2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096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93689" y="-88588"/>
            <a:ext cx="9155112" cy="1204819"/>
          </a:xfrm>
        </p:spPr>
        <p:txBody>
          <a:bodyPr>
            <a:normAutofit fontScale="90000"/>
          </a:bodyPr>
          <a:lstStyle/>
          <a:p>
            <a:pPr algn="ctr"/>
            <a:r>
              <a:rPr lang="en-NZ" sz="4400" dirty="0">
                <a:solidFill>
                  <a:schemeClr val="tx1"/>
                </a:solidFill>
                <a:latin typeface="Arial Black" panose="020B0A04020102020204" pitchFamily="34" charset="0"/>
                <a:ea typeface="Tahoma" pitchFamily="34" charset="0"/>
                <a:cs typeface="Tahoma" pitchFamily="34" charset="0"/>
              </a:rPr>
              <a:t>In-plane shear failure of </a:t>
            </a:r>
            <a:r>
              <a:rPr lang="en-NZ" sz="4400" dirty="0" smtClean="0">
                <a:solidFill>
                  <a:schemeClr val="tx1"/>
                </a:solidFill>
                <a:latin typeface="Arial Black" panose="020B0A04020102020204" pitchFamily="34" charset="0"/>
                <a:ea typeface="Tahoma" pitchFamily="34" charset="0"/>
                <a:cs typeface="Tahoma" pitchFamily="34" charset="0"/>
              </a:rPr>
              <a:t>masonry wall</a:t>
            </a:r>
            <a:endParaRPr lang="en-US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2" descr="P7084447"/>
          <p:cNvPicPr>
            <a:picLocks noChangeAspect="1" noChangeArrowheads="1"/>
          </p:cNvPicPr>
          <p:nvPr/>
        </p:nvPicPr>
        <p:blipFill>
          <a:blip r:embed="rId2">
            <a:lum bright="-6000" contrast="-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977" y="1284849"/>
            <a:ext cx="8408824" cy="5212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1039977" y="6496930"/>
            <a:ext cx="8256423" cy="38472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900" dirty="0"/>
              <a:t>Earthquake ground shaking in the direction parallel with the longitudinal wall axis</a:t>
            </a:r>
          </a:p>
        </p:txBody>
      </p:sp>
    </p:spTree>
    <p:extLst>
      <p:ext uri="{BB962C8B-B14F-4D97-AF65-F5344CB8AC3E}">
        <p14:creationId xmlns:p14="http://schemas.microsoft.com/office/powerpoint/2010/main" val="1659177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399" y="152400"/>
            <a:ext cx="8817233" cy="796356"/>
          </a:xfrm>
        </p:spPr>
        <p:txBody>
          <a:bodyPr>
            <a:normAutofit/>
          </a:bodyPr>
          <a:lstStyle/>
          <a:p>
            <a:pPr algn="ctr"/>
            <a:r>
              <a:rPr lang="en-CA" altLang="en-US" sz="3500" dirty="0">
                <a:solidFill>
                  <a:schemeClr val="tx1"/>
                </a:solidFill>
                <a:latin typeface="Arial Black" panose="020B0A04020102020204" pitchFamily="34" charset="0"/>
                <a:cs typeface="Tahoma" panose="020B0604030504040204" pitchFamily="34" charset="0"/>
              </a:rPr>
              <a:t>Out-of-Plane Wall Damage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28</a:t>
            </a:fld>
            <a:endParaRPr lang="en-US"/>
          </a:p>
        </p:txBody>
      </p:sp>
      <p:pic>
        <p:nvPicPr>
          <p:cNvPr id="4" name="Picture 1" descr="P708447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67" y="1641977"/>
            <a:ext cx="3886200" cy="529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4712970" y="1733332"/>
            <a:ext cx="5181600" cy="3820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altLang="en-US" sz="2600" dirty="0" smtClean="0">
                <a:solidFill>
                  <a:srgbClr val="002060"/>
                </a:solidFill>
                <a:latin typeface="Arial "/>
                <a:cs typeface="Tahoma" panose="020B0604030504040204" pitchFamily="34" charset="0"/>
              </a:rPr>
              <a:t>An example of out-of-plane damage observed in a three-storey building</a:t>
            </a:r>
          </a:p>
          <a:p>
            <a:r>
              <a:rPr lang="en-CA" altLang="en-US" sz="2600" dirty="0" smtClean="0">
                <a:latin typeface="Arial "/>
                <a:cs typeface="Tahoma" panose="020B0604030504040204" pitchFamily="34" charset="0"/>
              </a:rPr>
              <a:t>The damage concentrated at the upper floor levels </a:t>
            </a:r>
          </a:p>
          <a:p>
            <a:r>
              <a:rPr lang="en-CA" altLang="en-US" sz="2600" dirty="0" smtClean="0">
                <a:solidFill>
                  <a:srgbClr val="002060"/>
                </a:solidFill>
                <a:latin typeface="Arial "/>
                <a:cs typeface="Tahoma" panose="020B0604030504040204" pitchFamily="34" charset="0"/>
              </a:rPr>
              <a:t>The building had concrete floors and timber truss roof</a:t>
            </a:r>
          </a:p>
          <a:p>
            <a:r>
              <a:rPr lang="en-CA" altLang="en-US" sz="2600" dirty="0" smtClean="0">
                <a:latin typeface="Arial "/>
                <a:cs typeface="Tahoma" panose="020B0604030504040204" pitchFamily="34" charset="0"/>
              </a:rPr>
              <a:t>The same building suffered severe in-plane damage </a:t>
            </a:r>
          </a:p>
          <a:p>
            <a:endParaRPr lang="en-CA" altLang="en-US" sz="2800" dirty="0" smtClean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12971" y="5418667"/>
            <a:ext cx="4764662" cy="67710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1900" b="1" dirty="0"/>
              <a:t>Earthquake ground shaking perpendicular to the longitudinal wall axis</a:t>
            </a:r>
          </a:p>
        </p:txBody>
      </p:sp>
    </p:spTree>
    <p:extLst>
      <p:ext uri="{BB962C8B-B14F-4D97-AF65-F5344CB8AC3E}">
        <p14:creationId xmlns:p14="http://schemas.microsoft.com/office/powerpoint/2010/main" val="1667115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356" y="0"/>
            <a:ext cx="8818126" cy="760464"/>
          </a:xfrm>
        </p:spPr>
        <p:txBody>
          <a:bodyPr>
            <a:normAutofit/>
          </a:bodyPr>
          <a:lstStyle/>
          <a:p>
            <a:pPr algn="ctr"/>
            <a:r>
              <a:rPr lang="en-CA" altLang="en-US" sz="3500" dirty="0">
                <a:solidFill>
                  <a:schemeClr val="tx1"/>
                </a:solidFill>
                <a:latin typeface="Arial Black" panose="020B0A04020102020204" pitchFamily="34" charset="0"/>
                <a:cs typeface="Tahoma" panose="020B0604030504040204" pitchFamily="34" charset="0"/>
              </a:rPr>
              <a:t>Out-of-Plane Wall Failure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29</a:t>
            </a:fld>
            <a:endParaRPr lang="en-US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33068"/>
            <a:ext cx="10607040" cy="5406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2299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19"/>
          <p:cNvSpPr>
            <a:spLocks noGrp="1" noChangeArrowheads="1"/>
          </p:cNvSpPr>
          <p:nvPr>
            <p:ph type="title"/>
          </p:nvPr>
        </p:nvSpPr>
        <p:spPr>
          <a:xfrm>
            <a:off x="891299" y="42724"/>
            <a:ext cx="8722404" cy="764446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CA" altLang="en-US" sz="3500" dirty="0">
                <a:solidFill>
                  <a:schemeClr val="tx1"/>
                </a:solidFill>
                <a:latin typeface="Arial Black" panose="020B0A04020102020204" pitchFamily="34" charset="0"/>
                <a:cs typeface="Tahoma" panose="020B0604030504040204" pitchFamily="34" charset="0"/>
              </a:rPr>
              <a:t>Tie-Column Failure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3730" name="Rectangle 6"/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1pPr>
            <a:lvl2pPr marL="818285" indent="-314725" eaLnBrk="0" hangingPunct="0"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2pPr>
            <a:lvl3pPr marL="1258900" indent="-251780" eaLnBrk="0" hangingPunct="0"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3pPr>
            <a:lvl4pPr marL="1762460" indent="-251780" eaLnBrk="0" hangingPunct="0"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4pPr>
            <a:lvl5pPr marL="2266020" indent="-251780" eaLnBrk="0" hangingPunct="0"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5pPr>
            <a:lvl6pPr marL="2769580" indent="-251780" eaLnBrk="0" fontAlgn="base" hangingPunct="0">
              <a:spcBef>
                <a:spcPct val="0"/>
              </a:spcBef>
              <a:spcAft>
                <a:spcPct val="0"/>
              </a:spcAft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6pPr>
            <a:lvl7pPr marL="3273141" indent="-251780" eaLnBrk="0" fontAlgn="base" hangingPunct="0">
              <a:spcBef>
                <a:spcPct val="0"/>
              </a:spcBef>
              <a:spcAft>
                <a:spcPct val="0"/>
              </a:spcAft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7pPr>
            <a:lvl8pPr marL="3776701" indent="-251780" eaLnBrk="0" fontAlgn="base" hangingPunct="0">
              <a:spcBef>
                <a:spcPct val="0"/>
              </a:spcBef>
              <a:spcAft>
                <a:spcPct val="0"/>
              </a:spcAft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8pPr>
            <a:lvl9pPr marL="4280261" indent="-251780" eaLnBrk="0" fontAlgn="base" hangingPunct="0">
              <a:spcBef>
                <a:spcPct val="0"/>
              </a:spcBef>
              <a:spcAft>
                <a:spcPct val="0"/>
              </a:spcAft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defRPr/>
            </a:pPr>
            <a:fld id="{E850CDD1-CA3C-4DB1-A4C7-F76102B844CC}" type="slidenum">
              <a:rPr lang="en-US" altLang="en-US" sz="1542">
                <a:solidFill>
                  <a:schemeClr val="tx1"/>
                </a:solidFill>
                <a:latin typeface="Times New Roman" panose="02020603050405020304" pitchFamily="18" charset="0"/>
              </a:rPr>
              <a:pPr eaLnBrk="1" hangingPunct="1">
                <a:defRPr/>
              </a:pPr>
              <a:t>30</a:t>
            </a:fld>
            <a:endParaRPr lang="en-US" altLang="en-US" sz="1542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9318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319" y="2430093"/>
            <a:ext cx="6378363" cy="4364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89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9895" y="1474963"/>
            <a:ext cx="3169949" cy="4142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3190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160" y="1441799"/>
            <a:ext cx="2853478" cy="3718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270" name="Freeform 14"/>
          <p:cNvSpPr>
            <a:spLocks/>
          </p:cNvSpPr>
          <p:nvPr/>
        </p:nvSpPr>
        <p:spPr bwMode="auto">
          <a:xfrm>
            <a:off x="2713292" y="3150992"/>
            <a:ext cx="1325329" cy="1043828"/>
          </a:xfrm>
          <a:custGeom>
            <a:avLst/>
            <a:gdLst/>
            <a:ahLst/>
            <a:cxnLst>
              <a:cxn ang="0">
                <a:pos x="490" y="433"/>
              </a:cxn>
              <a:cxn ang="0">
                <a:pos x="477" y="338"/>
              </a:cxn>
              <a:cxn ang="0">
                <a:pos x="455" y="252"/>
              </a:cxn>
              <a:cxn ang="0">
                <a:pos x="428" y="175"/>
              </a:cxn>
              <a:cxn ang="0">
                <a:pos x="393" y="109"/>
              </a:cxn>
              <a:cxn ang="0">
                <a:pos x="351" y="58"/>
              </a:cxn>
              <a:cxn ang="0">
                <a:pos x="306" y="21"/>
              </a:cxn>
              <a:cxn ang="0">
                <a:pos x="258" y="3"/>
              </a:cxn>
              <a:cxn ang="0">
                <a:pos x="209" y="3"/>
              </a:cxn>
              <a:cxn ang="0">
                <a:pos x="161" y="23"/>
              </a:cxn>
              <a:cxn ang="0">
                <a:pos x="118" y="61"/>
              </a:cxn>
              <a:cxn ang="0">
                <a:pos x="81" y="113"/>
              </a:cxn>
              <a:cxn ang="0">
                <a:pos x="48" y="180"/>
              </a:cxn>
              <a:cxn ang="0">
                <a:pos x="25" y="257"/>
              </a:cxn>
              <a:cxn ang="0">
                <a:pos x="9" y="345"/>
              </a:cxn>
              <a:cxn ang="0">
                <a:pos x="0" y="439"/>
              </a:cxn>
              <a:cxn ang="0">
                <a:pos x="2" y="539"/>
              </a:cxn>
              <a:cxn ang="0">
                <a:pos x="15" y="633"/>
              </a:cxn>
              <a:cxn ang="0">
                <a:pos x="38" y="720"/>
              </a:cxn>
              <a:cxn ang="0">
                <a:pos x="66" y="797"/>
              </a:cxn>
              <a:cxn ang="0">
                <a:pos x="99" y="862"/>
              </a:cxn>
              <a:cxn ang="0">
                <a:pos x="141" y="913"/>
              </a:cxn>
              <a:cxn ang="0">
                <a:pos x="186" y="950"/>
              </a:cxn>
              <a:cxn ang="0">
                <a:pos x="234" y="968"/>
              </a:cxn>
              <a:cxn ang="0">
                <a:pos x="283" y="968"/>
              </a:cxn>
              <a:cxn ang="0">
                <a:pos x="331" y="949"/>
              </a:cxn>
              <a:cxn ang="0">
                <a:pos x="374" y="911"/>
              </a:cxn>
              <a:cxn ang="0">
                <a:pos x="411" y="858"/>
              </a:cxn>
              <a:cxn ang="0">
                <a:pos x="444" y="793"/>
              </a:cxn>
              <a:cxn ang="0">
                <a:pos x="467" y="714"/>
              </a:cxn>
              <a:cxn ang="0">
                <a:pos x="483" y="626"/>
              </a:cxn>
              <a:cxn ang="0">
                <a:pos x="492" y="532"/>
              </a:cxn>
            </a:cxnLst>
            <a:rect l="0" t="0" r="r" b="b"/>
            <a:pathLst>
              <a:path w="492" h="971">
                <a:moveTo>
                  <a:pt x="492" y="482"/>
                </a:moveTo>
                <a:lnTo>
                  <a:pt x="490" y="433"/>
                </a:lnTo>
                <a:lnTo>
                  <a:pt x="483" y="385"/>
                </a:lnTo>
                <a:lnTo>
                  <a:pt x="477" y="338"/>
                </a:lnTo>
                <a:lnTo>
                  <a:pt x="467" y="294"/>
                </a:lnTo>
                <a:lnTo>
                  <a:pt x="455" y="252"/>
                </a:lnTo>
                <a:lnTo>
                  <a:pt x="442" y="213"/>
                </a:lnTo>
                <a:lnTo>
                  <a:pt x="428" y="175"/>
                </a:lnTo>
                <a:lnTo>
                  <a:pt x="409" y="140"/>
                </a:lnTo>
                <a:lnTo>
                  <a:pt x="393" y="109"/>
                </a:lnTo>
                <a:lnTo>
                  <a:pt x="372" y="81"/>
                </a:lnTo>
                <a:lnTo>
                  <a:pt x="351" y="58"/>
                </a:lnTo>
                <a:lnTo>
                  <a:pt x="329" y="37"/>
                </a:lnTo>
                <a:lnTo>
                  <a:pt x="306" y="21"/>
                </a:lnTo>
                <a:lnTo>
                  <a:pt x="283" y="9"/>
                </a:lnTo>
                <a:lnTo>
                  <a:pt x="258" y="3"/>
                </a:lnTo>
                <a:lnTo>
                  <a:pt x="234" y="0"/>
                </a:lnTo>
                <a:lnTo>
                  <a:pt x="209" y="3"/>
                </a:lnTo>
                <a:lnTo>
                  <a:pt x="184" y="11"/>
                </a:lnTo>
                <a:lnTo>
                  <a:pt x="161" y="23"/>
                </a:lnTo>
                <a:lnTo>
                  <a:pt x="139" y="40"/>
                </a:lnTo>
                <a:lnTo>
                  <a:pt x="118" y="61"/>
                </a:lnTo>
                <a:lnTo>
                  <a:pt x="97" y="84"/>
                </a:lnTo>
                <a:lnTo>
                  <a:pt x="81" y="113"/>
                </a:lnTo>
                <a:lnTo>
                  <a:pt x="64" y="144"/>
                </a:lnTo>
                <a:lnTo>
                  <a:pt x="48" y="180"/>
                </a:lnTo>
                <a:lnTo>
                  <a:pt x="35" y="216"/>
                </a:lnTo>
                <a:lnTo>
                  <a:pt x="25" y="257"/>
                </a:lnTo>
                <a:lnTo>
                  <a:pt x="15" y="299"/>
                </a:lnTo>
                <a:lnTo>
                  <a:pt x="9" y="345"/>
                </a:lnTo>
                <a:lnTo>
                  <a:pt x="2" y="391"/>
                </a:lnTo>
                <a:lnTo>
                  <a:pt x="0" y="439"/>
                </a:lnTo>
                <a:lnTo>
                  <a:pt x="0" y="489"/>
                </a:lnTo>
                <a:lnTo>
                  <a:pt x="2" y="539"/>
                </a:lnTo>
                <a:lnTo>
                  <a:pt x="9" y="586"/>
                </a:lnTo>
                <a:lnTo>
                  <a:pt x="15" y="633"/>
                </a:lnTo>
                <a:lnTo>
                  <a:pt x="25" y="678"/>
                </a:lnTo>
                <a:lnTo>
                  <a:pt x="38" y="720"/>
                </a:lnTo>
                <a:lnTo>
                  <a:pt x="50" y="759"/>
                </a:lnTo>
                <a:lnTo>
                  <a:pt x="66" y="797"/>
                </a:lnTo>
                <a:lnTo>
                  <a:pt x="83" y="831"/>
                </a:lnTo>
                <a:lnTo>
                  <a:pt x="99" y="862"/>
                </a:lnTo>
                <a:lnTo>
                  <a:pt x="120" y="890"/>
                </a:lnTo>
                <a:lnTo>
                  <a:pt x="141" y="913"/>
                </a:lnTo>
                <a:lnTo>
                  <a:pt x="163" y="934"/>
                </a:lnTo>
                <a:lnTo>
                  <a:pt x="186" y="950"/>
                </a:lnTo>
                <a:lnTo>
                  <a:pt x="209" y="962"/>
                </a:lnTo>
                <a:lnTo>
                  <a:pt x="234" y="968"/>
                </a:lnTo>
                <a:lnTo>
                  <a:pt x="258" y="971"/>
                </a:lnTo>
                <a:lnTo>
                  <a:pt x="283" y="968"/>
                </a:lnTo>
                <a:lnTo>
                  <a:pt x="308" y="961"/>
                </a:lnTo>
                <a:lnTo>
                  <a:pt x="331" y="949"/>
                </a:lnTo>
                <a:lnTo>
                  <a:pt x="353" y="932"/>
                </a:lnTo>
                <a:lnTo>
                  <a:pt x="374" y="911"/>
                </a:lnTo>
                <a:lnTo>
                  <a:pt x="395" y="887"/>
                </a:lnTo>
                <a:lnTo>
                  <a:pt x="411" y="858"/>
                </a:lnTo>
                <a:lnTo>
                  <a:pt x="428" y="827"/>
                </a:lnTo>
                <a:lnTo>
                  <a:pt x="444" y="793"/>
                </a:lnTo>
                <a:lnTo>
                  <a:pt x="457" y="755"/>
                </a:lnTo>
                <a:lnTo>
                  <a:pt x="467" y="714"/>
                </a:lnTo>
                <a:lnTo>
                  <a:pt x="477" y="672"/>
                </a:lnTo>
                <a:lnTo>
                  <a:pt x="483" y="626"/>
                </a:lnTo>
                <a:lnTo>
                  <a:pt x="490" y="581"/>
                </a:lnTo>
                <a:lnTo>
                  <a:pt x="492" y="532"/>
                </a:lnTo>
                <a:lnTo>
                  <a:pt x="492" y="482"/>
                </a:lnTo>
                <a:close/>
              </a:path>
            </a:pathLst>
          </a:custGeom>
          <a:noFill/>
          <a:ln w="38100" cap="flat">
            <a:solidFill>
              <a:srgbClr val="FF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CA" sz="1983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6272" name="Freeform 16"/>
          <p:cNvSpPr>
            <a:spLocks/>
          </p:cNvSpPr>
          <p:nvPr/>
        </p:nvSpPr>
        <p:spPr bwMode="auto">
          <a:xfrm>
            <a:off x="7144603" y="3537859"/>
            <a:ext cx="1117263" cy="1127754"/>
          </a:xfrm>
          <a:custGeom>
            <a:avLst/>
            <a:gdLst/>
            <a:ahLst/>
            <a:cxnLst>
              <a:cxn ang="0">
                <a:pos x="490" y="433"/>
              </a:cxn>
              <a:cxn ang="0">
                <a:pos x="477" y="338"/>
              </a:cxn>
              <a:cxn ang="0">
                <a:pos x="455" y="252"/>
              </a:cxn>
              <a:cxn ang="0">
                <a:pos x="428" y="175"/>
              </a:cxn>
              <a:cxn ang="0">
                <a:pos x="393" y="109"/>
              </a:cxn>
              <a:cxn ang="0">
                <a:pos x="351" y="58"/>
              </a:cxn>
              <a:cxn ang="0">
                <a:pos x="306" y="21"/>
              </a:cxn>
              <a:cxn ang="0">
                <a:pos x="258" y="3"/>
              </a:cxn>
              <a:cxn ang="0">
                <a:pos x="209" y="3"/>
              </a:cxn>
              <a:cxn ang="0">
                <a:pos x="161" y="23"/>
              </a:cxn>
              <a:cxn ang="0">
                <a:pos x="118" y="61"/>
              </a:cxn>
              <a:cxn ang="0">
                <a:pos x="81" y="113"/>
              </a:cxn>
              <a:cxn ang="0">
                <a:pos x="48" y="180"/>
              </a:cxn>
              <a:cxn ang="0">
                <a:pos x="25" y="257"/>
              </a:cxn>
              <a:cxn ang="0">
                <a:pos x="9" y="345"/>
              </a:cxn>
              <a:cxn ang="0">
                <a:pos x="0" y="439"/>
              </a:cxn>
              <a:cxn ang="0">
                <a:pos x="2" y="539"/>
              </a:cxn>
              <a:cxn ang="0">
                <a:pos x="15" y="633"/>
              </a:cxn>
              <a:cxn ang="0">
                <a:pos x="38" y="720"/>
              </a:cxn>
              <a:cxn ang="0">
                <a:pos x="66" y="797"/>
              </a:cxn>
              <a:cxn ang="0">
                <a:pos x="99" y="862"/>
              </a:cxn>
              <a:cxn ang="0">
                <a:pos x="141" y="913"/>
              </a:cxn>
              <a:cxn ang="0">
                <a:pos x="186" y="950"/>
              </a:cxn>
              <a:cxn ang="0">
                <a:pos x="234" y="968"/>
              </a:cxn>
              <a:cxn ang="0">
                <a:pos x="283" y="968"/>
              </a:cxn>
              <a:cxn ang="0">
                <a:pos x="331" y="949"/>
              </a:cxn>
              <a:cxn ang="0">
                <a:pos x="374" y="911"/>
              </a:cxn>
              <a:cxn ang="0">
                <a:pos x="411" y="858"/>
              </a:cxn>
              <a:cxn ang="0">
                <a:pos x="444" y="793"/>
              </a:cxn>
              <a:cxn ang="0">
                <a:pos x="467" y="714"/>
              </a:cxn>
              <a:cxn ang="0">
                <a:pos x="483" y="626"/>
              </a:cxn>
              <a:cxn ang="0">
                <a:pos x="492" y="532"/>
              </a:cxn>
            </a:cxnLst>
            <a:rect l="0" t="0" r="r" b="b"/>
            <a:pathLst>
              <a:path w="492" h="971">
                <a:moveTo>
                  <a:pt x="492" y="482"/>
                </a:moveTo>
                <a:lnTo>
                  <a:pt x="490" y="433"/>
                </a:lnTo>
                <a:lnTo>
                  <a:pt x="483" y="385"/>
                </a:lnTo>
                <a:lnTo>
                  <a:pt x="477" y="338"/>
                </a:lnTo>
                <a:lnTo>
                  <a:pt x="467" y="294"/>
                </a:lnTo>
                <a:lnTo>
                  <a:pt x="455" y="252"/>
                </a:lnTo>
                <a:lnTo>
                  <a:pt x="442" y="213"/>
                </a:lnTo>
                <a:lnTo>
                  <a:pt x="428" y="175"/>
                </a:lnTo>
                <a:lnTo>
                  <a:pt x="409" y="140"/>
                </a:lnTo>
                <a:lnTo>
                  <a:pt x="393" y="109"/>
                </a:lnTo>
                <a:lnTo>
                  <a:pt x="372" y="81"/>
                </a:lnTo>
                <a:lnTo>
                  <a:pt x="351" y="58"/>
                </a:lnTo>
                <a:lnTo>
                  <a:pt x="329" y="37"/>
                </a:lnTo>
                <a:lnTo>
                  <a:pt x="306" y="21"/>
                </a:lnTo>
                <a:lnTo>
                  <a:pt x="283" y="9"/>
                </a:lnTo>
                <a:lnTo>
                  <a:pt x="258" y="3"/>
                </a:lnTo>
                <a:lnTo>
                  <a:pt x="234" y="0"/>
                </a:lnTo>
                <a:lnTo>
                  <a:pt x="209" y="3"/>
                </a:lnTo>
                <a:lnTo>
                  <a:pt x="184" y="11"/>
                </a:lnTo>
                <a:lnTo>
                  <a:pt x="161" y="23"/>
                </a:lnTo>
                <a:lnTo>
                  <a:pt x="139" y="40"/>
                </a:lnTo>
                <a:lnTo>
                  <a:pt x="118" y="61"/>
                </a:lnTo>
                <a:lnTo>
                  <a:pt x="97" y="84"/>
                </a:lnTo>
                <a:lnTo>
                  <a:pt x="81" y="113"/>
                </a:lnTo>
                <a:lnTo>
                  <a:pt x="64" y="144"/>
                </a:lnTo>
                <a:lnTo>
                  <a:pt x="48" y="180"/>
                </a:lnTo>
                <a:lnTo>
                  <a:pt x="35" y="216"/>
                </a:lnTo>
                <a:lnTo>
                  <a:pt x="25" y="257"/>
                </a:lnTo>
                <a:lnTo>
                  <a:pt x="15" y="299"/>
                </a:lnTo>
                <a:lnTo>
                  <a:pt x="9" y="345"/>
                </a:lnTo>
                <a:lnTo>
                  <a:pt x="2" y="391"/>
                </a:lnTo>
                <a:lnTo>
                  <a:pt x="0" y="439"/>
                </a:lnTo>
                <a:lnTo>
                  <a:pt x="0" y="489"/>
                </a:lnTo>
                <a:lnTo>
                  <a:pt x="2" y="539"/>
                </a:lnTo>
                <a:lnTo>
                  <a:pt x="9" y="586"/>
                </a:lnTo>
                <a:lnTo>
                  <a:pt x="15" y="633"/>
                </a:lnTo>
                <a:lnTo>
                  <a:pt x="25" y="678"/>
                </a:lnTo>
                <a:lnTo>
                  <a:pt x="38" y="720"/>
                </a:lnTo>
                <a:lnTo>
                  <a:pt x="50" y="759"/>
                </a:lnTo>
                <a:lnTo>
                  <a:pt x="66" y="797"/>
                </a:lnTo>
                <a:lnTo>
                  <a:pt x="83" y="831"/>
                </a:lnTo>
                <a:lnTo>
                  <a:pt x="99" y="862"/>
                </a:lnTo>
                <a:lnTo>
                  <a:pt x="120" y="890"/>
                </a:lnTo>
                <a:lnTo>
                  <a:pt x="141" y="913"/>
                </a:lnTo>
                <a:lnTo>
                  <a:pt x="163" y="934"/>
                </a:lnTo>
                <a:lnTo>
                  <a:pt x="186" y="950"/>
                </a:lnTo>
                <a:lnTo>
                  <a:pt x="209" y="962"/>
                </a:lnTo>
                <a:lnTo>
                  <a:pt x="234" y="968"/>
                </a:lnTo>
                <a:lnTo>
                  <a:pt x="258" y="971"/>
                </a:lnTo>
                <a:lnTo>
                  <a:pt x="283" y="968"/>
                </a:lnTo>
                <a:lnTo>
                  <a:pt x="308" y="961"/>
                </a:lnTo>
                <a:lnTo>
                  <a:pt x="331" y="949"/>
                </a:lnTo>
                <a:lnTo>
                  <a:pt x="353" y="932"/>
                </a:lnTo>
                <a:lnTo>
                  <a:pt x="374" y="911"/>
                </a:lnTo>
                <a:lnTo>
                  <a:pt x="395" y="887"/>
                </a:lnTo>
                <a:lnTo>
                  <a:pt x="411" y="858"/>
                </a:lnTo>
                <a:lnTo>
                  <a:pt x="428" y="827"/>
                </a:lnTo>
                <a:lnTo>
                  <a:pt x="444" y="793"/>
                </a:lnTo>
                <a:lnTo>
                  <a:pt x="457" y="755"/>
                </a:lnTo>
                <a:lnTo>
                  <a:pt x="467" y="714"/>
                </a:lnTo>
                <a:lnTo>
                  <a:pt x="477" y="672"/>
                </a:lnTo>
                <a:lnTo>
                  <a:pt x="483" y="626"/>
                </a:lnTo>
                <a:lnTo>
                  <a:pt x="490" y="581"/>
                </a:lnTo>
                <a:lnTo>
                  <a:pt x="492" y="532"/>
                </a:lnTo>
                <a:lnTo>
                  <a:pt x="492" y="482"/>
                </a:lnTo>
                <a:close/>
              </a:path>
            </a:pathLst>
          </a:custGeom>
          <a:noFill/>
          <a:ln w="38100" cap="flat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endParaRPr lang="en-CA" sz="1983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75801422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237066"/>
            <a:ext cx="8818126" cy="646841"/>
          </a:xfrm>
        </p:spPr>
        <p:txBody>
          <a:bodyPr>
            <a:normAutofit/>
          </a:bodyPr>
          <a:lstStyle/>
          <a:p>
            <a:pPr algn="ctr"/>
            <a:r>
              <a:rPr lang="en-NZ" altLang="en-US" sz="3500" dirty="0">
                <a:solidFill>
                  <a:schemeClr val="tx1"/>
                </a:solidFill>
                <a:latin typeface="Arial Black" panose="020B0A04020102020204" pitchFamily="34" charset="0"/>
                <a:cs typeface="Tahoma" panose="020B0604030504040204" pitchFamily="34" charset="0"/>
              </a:rPr>
              <a:t>Buckling of a RC </a:t>
            </a:r>
            <a:r>
              <a:rPr lang="en-NZ" altLang="en-US" sz="3500" dirty="0" smtClean="0">
                <a:solidFill>
                  <a:schemeClr val="tx1"/>
                </a:solidFill>
                <a:latin typeface="Arial Black" panose="020B0A04020102020204" pitchFamily="34" charset="0"/>
                <a:cs typeface="Tahoma" panose="020B0604030504040204" pitchFamily="34" charset="0"/>
              </a:rPr>
              <a:t>Tie-Column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31</a:t>
            </a:fld>
            <a:endParaRPr lang="en-US"/>
          </a:p>
        </p:txBody>
      </p:sp>
      <p:pic>
        <p:nvPicPr>
          <p:cNvPr id="5" name="Picture 1" descr="DSCN3632"/>
          <p:cNvPicPr>
            <a:picLocks noChangeAspect="1" noChangeArrowheads="1"/>
          </p:cNvPicPr>
          <p:nvPr/>
        </p:nvPicPr>
        <p:blipFill>
          <a:blip r:embed="rId2">
            <a:lum brigh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83975"/>
            <a:ext cx="5943600" cy="5230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DSCN3630"/>
          <p:cNvPicPr>
            <a:picLocks noChangeAspect="1" noChangeArrowheads="1"/>
          </p:cNvPicPr>
          <p:nvPr/>
        </p:nvPicPr>
        <p:blipFill>
          <a:blip r:embed="rId3">
            <a:lum brigh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229" y="1526029"/>
            <a:ext cx="4023360" cy="49465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536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725" y="0"/>
            <a:ext cx="8897237" cy="681422"/>
          </a:xfrm>
        </p:spPr>
        <p:txBody>
          <a:bodyPr>
            <a:normAutofit/>
          </a:bodyPr>
          <a:lstStyle/>
          <a:p>
            <a:pPr algn="ctr"/>
            <a:r>
              <a:rPr lang="en-CA" altLang="en-US" sz="3500" dirty="0">
                <a:solidFill>
                  <a:schemeClr val="tx1"/>
                </a:solidFill>
                <a:latin typeface="Arial Black" panose="020B0A04020102020204" pitchFamily="34" charset="0"/>
                <a:cs typeface="Tahoma" panose="020B0604030504040204" pitchFamily="34" charset="0"/>
              </a:rPr>
              <a:t>Shear Failure of RC Tie-Columns 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725" y="1382111"/>
            <a:ext cx="10021795" cy="503193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32</a:t>
            </a:fld>
            <a:endParaRPr lang="en-US"/>
          </a:p>
        </p:txBody>
      </p:sp>
      <p:pic>
        <p:nvPicPr>
          <p:cNvPr id="5" name="Picture 1" descr="DSCN4458"/>
          <p:cNvPicPr>
            <a:picLocks noChangeAspect="1" noChangeArrowheads="1"/>
          </p:cNvPicPr>
          <p:nvPr/>
        </p:nvPicPr>
        <p:blipFill>
          <a:blip r:embed="rId2">
            <a:lum brigh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" y="1643752"/>
            <a:ext cx="6691205" cy="512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 descr="DSCN4459"/>
          <p:cNvPicPr>
            <a:picLocks noChangeAspect="1" noChangeArrowheads="1"/>
          </p:cNvPicPr>
          <p:nvPr/>
        </p:nvPicPr>
        <p:blipFill>
          <a:blip r:embed="rId3">
            <a:lum brigh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9497" y="1079697"/>
            <a:ext cx="3979023" cy="6035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3659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915" y="101515"/>
            <a:ext cx="8818126" cy="1204819"/>
          </a:xfrm>
        </p:spPr>
        <p:txBody>
          <a:bodyPr>
            <a:normAutofit/>
          </a:bodyPr>
          <a:lstStyle/>
          <a:p>
            <a:pPr algn="ctr"/>
            <a:r>
              <a:rPr lang="en-CA" altLang="en-US" sz="35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Tie-beam-to-tie-column joints</a:t>
            </a:r>
            <a:br>
              <a:rPr lang="en-CA" altLang="en-US" sz="35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33</a:t>
            </a:fld>
            <a:endParaRPr lang="en-US"/>
          </a:p>
        </p:txBody>
      </p:sp>
      <p:pic>
        <p:nvPicPr>
          <p:cNvPr id="4" name="Picture 1" descr="j 9 const misc DSCN378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915" y="1849146"/>
            <a:ext cx="48768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j 9 const miscDSCN378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7987" y="1460355"/>
            <a:ext cx="4689964" cy="5577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val 5"/>
          <p:cNvSpPr/>
          <p:nvPr/>
        </p:nvSpPr>
        <p:spPr>
          <a:xfrm>
            <a:off x="1466421" y="3200400"/>
            <a:ext cx="1107446" cy="108714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573867" y="3743973"/>
            <a:ext cx="3769354" cy="1845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811867" y="6022044"/>
            <a:ext cx="5925466" cy="57335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smtClean="0">
                <a:solidFill>
                  <a:schemeClr val="tx1"/>
                </a:solidFill>
              </a:rPr>
              <a:t>Inadequate anchorage of tie-beam reinforcement</a:t>
            </a:r>
            <a:endParaRPr lang="en-US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6634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103969"/>
            <a:ext cx="8818126" cy="578286"/>
          </a:xfrm>
        </p:spPr>
        <p:txBody>
          <a:bodyPr>
            <a:normAutofit/>
          </a:bodyPr>
          <a:lstStyle/>
          <a:p>
            <a:pPr algn="ctr"/>
            <a:r>
              <a:rPr lang="en-CA" altLang="en-US" sz="35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Tie-beam-to-tie-column joints</a:t>
            </a:r>
            <a:endParaRPr lang="en-US" sz="35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34</a:t>
            </a:fld>
            <a:endParaRPr lang="en-US"/>
          </a:p>
        </p:txBody>
      </p:sp>
      <p:pic>
        <p:nvPicPr>
          <p:cNvPr id="4" name="Picture 1" descr="Ceero DSCN3591 (1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910" y="1475937"/>
            <a:ext cx="4945063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Ceero DSCN3591 (2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2973" y="1399737"/>
            <a:ext cx="488315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2431621" y="6465186"/>
            <a:ext cx="5052912" cy="57335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smtClean="0">
                <a:solidFill>
                  <a:schemeClr val="tx1"/>
                </a:solidFill>
              </a:rPr>
              <a:t>Due to Poor reinforcements detailing</a:t>
            </a:r>
            <a:endParaRPr lang="en-US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7877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907" y="321733"/>
            <a:ext cx="8818126" cy="681423"/>
          </a:xfrm>
        </p:spPr>
        <p:txBody>
          <a:bodyPr>
            <a:normAutofit fontScale="90000"/>
          </a:bodyPr>
          <a:lstStyle/>
          <a:p>
            <a:r>
              <a:rPr lang="en-CA" altLang="en-US" sz="44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Tie-beam-to-tie-column joints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35</a:t>
            </a:fld>
            <a:endParaRPr lang="en-US"/>
          </a:p>
        </p:txBody>
      </p:sp>
      <p:pic>
        <p:nvPicPr>
          <p:cNvPr id="4" name="Picture 3" descr="P70844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907" y="1079697"/>
            <a:ext cx="9261886" cy="6035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2662394" y="6333903"/>
            <a:ext cx="5052912" cy="57335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smtClean="0">
                <a:solidFill>
                  <a:schemeClr val="tx1"/>
                </a:solidFill>
              </a:rPr>
              <a:t>Absence of of ties in joint Area</a:t>
            </a:r>
            <a:endParaRPr lang="en-US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9850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-229055"/>
            <a:ext cx="9505154" cy="1883688"/>
          </a:xfrm>
        </p:spPr>
        <p:txBody>
          <a:bodyPr>
            <a:normAutofit/>
          </a:bodyPr>
          <a:lstStyle/>
          <a:p>
            <a:pPr algn="ctr"/>
            <a:r>
              <a:rPr lang="en-CA" altLang="en-US" sz="3500" dirty="0" smtClean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Absence of Confining </a:t>
            </a:r>
            <a:r>
              <a:rPr lang="en-CA" altLang="en-US" sz="3500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elements </a:t>
            </a:r>
            <a:r>
              <a:rPr lang="en-CA" altLang="en-US" sz="3500" dirty="0" smtClean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/>
            </a:r>
            <a:br>
              <a:rPr lang="en-CA" altLang="en-US" sz="3500" dirty="0" smtClean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</a:br>
            <a:r>
              <a:rPr lang="en-CA" altLang="en-US" sz="3500" dirty="0" smtClean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around openings</a:t>
            </a:r>
            <a:r>
              <a:rPr lang="en-CA" altLang="en-US" sz="35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CA" altLang="en-US" sz="35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5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36</a:t>
            </a:fld>
            <a:endParaRPr lang="en-US"/>
          </a:p>
        </p:txBody>
      </p:sp>
      <p:pic>
        <p:nvPicPr>
          <p:cNvPr id="4" name="Picture 1" descr="DSCN4410"/>
          <p:cNvPicPr>
            <a:picLocks noChangeAspect="1" noChangeArrowheads="1"/>
          </p:cNvPicPr>
          <p:nvPr/>
        </p:nvPicPr>
        <p:blipFill>
          <a:blip r:embed="rId2">
            <a:lum brigh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845" y="1460355"/>
            <a:ext cx="5181600" cy="548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DSCN44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2712" y="1460355"/>
            <a:ext cx="4279900" cy="548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7676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556" y="-112833"/>
            <a:ext cx="8817233" cy="1717388"/>
          </a:xfrm>
        </p:spPr>
        <p:txBody>
          <a:bodyPr>
            <a:normAutofit/>
          </a:bodyPr>
          <a:lstStyle/>
          <a:p>
            <a:pPr algn="ctr"/>
            <a:r>
              <a:rPr lang="en-NZ" sz="3500" dirty="0">
                <a:solidFill>
                  <a:schemeClr val="tx1"/>
                </a:solidFill>
                <a:latin typeface="Arial Black" panose="020B0A04020102020204" pitchFamily="34" charset="0"/>
                <a:ea typeface="Tahoma" pitchFamily="34" charset="0"/>
                <a:cs typeface="Tahoma" pitchFamily="34" charset="0"/>
              </a:rPr>
              <a:t>In-Plane Shear Cracking – the Effect of Confinement</a:t>
            </a:r>
            <a:r>
              <a:rPr lang="en-US" sz="3500" b="1" dirty="0">
                <a:solidFill>
                  <a:schemeClr val="tx1"/>
                </a:solidFill>
                <a:latin typeface="Arial Black" panose="020B0A04020102020204" pitchFamily="34" charset="0"/>
              </a:rPr>
              <a:t/>
            </a:r>
            <a:br>
              <a:rPr lang="en-US" sz="3500" b="1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37</a:t>
            </a:fld>
            <a:endParaRPr lang="en-US"/>
          </a:p>
        </p:txBody>
      </p:sp>
      <p:pic>
        <p:nvPicPr>
          <p:cNvPr id="5" name="Picture 3" descr="DSCN234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9110" y="1298296"/>
            <a:ext cx="5260975" cy="4405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8" descr="DSCN2337.JPG"/>
          <p:cNvPicPr>
            <a:picLocks noChangeAspect="1"/>
          </p:cNvPicPr>
          <p:nvPr/>
        </p:nvPicPr>
        <p:blipFill>
          <a:blip r:embed="rId4">
            <a:lum brigh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636" y="1472127"/>
            <a:ext cx="5105400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Group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5723137"/>
              </p:ext>
            </p:extLst>
          </p:nvPr>
        </p:nvGraphicFramePr>
        <p:xfrm>
          <a:off x="316178" y="5529777"/>
          <a:ext cx="10372460" cy="1280160"/>
        </p:xfrm>
        <a:graphic>
          <a:graphicData uri="http://schemas.openxmlformats.org/drawingml/2006/table">
            <a:tbl>
              <a:tblPr/>
              <a:tblGrid>
                <a:gridCol w="517022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20223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713410">
                <a:tc>
                  <a:txBody>
                    <a:bodyPr/>
                    <a:lstStyle/>
                    <a:p>
                      <a:pPr marL="457200" marR="0" lvl="0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NZ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  <a:p>
                      <a:pPr marL="457200" marR="0" lvl="0" indent="-4572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N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 Unconfined openings </a:t>
                      </a:r>
                    </a:p>
                    <a:p>
                      <a:pPr marL="457200" marR="0" lvl="0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N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   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NZ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Confined openings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1419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220185"/>
            <a:ext cx="9585160" cy="626482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Key Causes  of Damages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38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57200" y="1642533"/>
            <a:ext cx="9804400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ct val="0"/>
              </a:spcBef>
              <a:buSzPct val="140000"/>
              <a:buFont typeface="Arial" panose="020B0604020202020204" pitchFamily="34" charset="0"/>
              <a:buChar char="•"/>
            </a:pPr>
            <a:r>
              <a:rPr lang="en-CA" altLang="en-US" sz="2600" dirty="0">
                <a:solidFill>
                  <a:srgbClr val="002060"/>
                </a:solidFill>
                <a:latin typeface="Arial "/>
              </a:rPr>
              <a:t>Inadequate </a:t>
            </a:r>
            <a:r>
              <a:rPr lang="en-NZ" altLang="en-US" sz="2600" dirty="0">
                <a:solidFill>
                  <a:srgbClr val="002060"/>
                </a:solidFill>
                <a:latin typeface="Arial "/>
              </a:rPr>
              <a:t>wall density </a:t>
            </a:r>
          </a:p>
          <a:p>
            <a:pPr marL="285750" indent="-285750">
              <a:spcBef>
                <a:spcPct val="0"/>
              </a:spcBef>
              <a:buSzPct val="140000"/>
              <a:buFont typeface="Arial" panose="020B0604020202020204" pitchFamily="34" charset="0"/>
              <a:buChar char="•"/>
            </a:pPr>
            <a:endParaRPr lang="en-NZ" altLang="en-US" sz="2600" dirty="0">
              <a:solidFill>
                <a:srgbClr val="002060"/>
              </a:solidFill>
              <a:latin typeface="Arial "/>
            </a:endParaRPr>
          </a:p>
          <a:p>
            <a:pPr marL="285750" indent="-285750">
              <a:spcBef>
                <a:spcPct val="0"/>
              </a:spcBef>
              <a:buSzPct val="140000"/>
              <a:buFont typeface="Arial" panose="020B0604020202020204" pitchFamily="34" charset="0"/>
              <a:buChar char="•"/>
            </a:pPr>
            <a:endParaRPr lang="en-CA" altLang="en-US" sz="2600" dirty="0" smtClean="0">
              <a:solidFill>
                <a:schemeClr val="accent5"/>
              </a:solidFill>
              <a:latin typeface="Arial "/>
            </a:endParaRPr>
          </a:p>
          <a:p>
            <a:pPr marL="285750" indent="-285750">
              <a:spcBef>
                <a:spcPct val="0"/>
              </a:spcBef>
              <a:buSzPct val="140000"/>
              <a:buFont typeface="Arial" panose="020B0604020202020204" pitchFamily="34" charset="0"/>
              <a:buChar char="•"/>
            </a:pPr>
            <a:r>
              <a:rPr lang="en-CA" altLang="en-US" sz="2600" dirty="0" smtClean="0">
                <a:latin typeface="Arial "/>
              </a:rPr>
              <a:t>Poor </a:t>
            </a:r>
            <a:r>
              <a:rPr lang="en-CA" altLang="en-US" sz="2600" dirty="0">
                <a:latin typeface="Arial "/>
              </a:rPr>
              <a:t>quality of masonry materials and construction</a:t>
            </a:r>
          </a:p>
          <a:p>
            <a:pPr marL="285750" indent="-285750">
              <a:spcBef>
                <a:spcPct val="0"/>
              </a:spcBef>
              <a:buSzPct val="140000"/>
              <a:buFont typeface="Arial" panose="020B0604020202020204" pitchFamily="34" charset="0"/>
              <a:buChar char="•"/>
            </a:pPr>
            <a:endParaRPr lang="en-CA" altLang="en-US" sz="2600" dirty="0">
              <a:solidFill>
                <a:schemeClr val="accent5"/>
              </a:solidFill>
              <a:latin typeface="Arial "/>
            </a:endParaRPr>
          </a:p>
          <a:p>
            <a:pPr marL="285750" indent="-285750">
              <a:spcBef>
                <a:spcPct val="0"/>
              </a:spcBef>
              <a:buSzPct val="140000"/>
              <a:buFont typeface="Arial" panose="020B0604020202020204" pitchFamily="34" charset="0"/>
              <a:buChar char="•"/>
            </a:pPr>
            <a:endParaRPr lang="en-CA" altLang="en-US" sz="2600" dirty="0" smtClean="0">
              <a:solidFill>
                <a:srgbClr val="000000"/>
              </a:solidFill>
              <a:latin typeface="Arial "/>
            </a:endParaRPr>
          </a:p>
          <a:p>
            <a:pPr marL="285750" indent="-285750">
              <a:spcBef>
                <a:spcPct val="0"/>
              </a:spcBef>
              <a:buSzPct val="140000"/>
              <a:buFont typeface="Arial" panose="020B0604020202020204" pitchFamily="34" charset="0"/>
              <a:buChar char="•"/>
            </a:pPr>
            <a:r>
              <a:rPr lang="en-CA" altLang="en-US" sz="2600" dirty="0" smtClean="0">
                <a:solidFill>
                  <a:srgbClr val="002060"/>
                </a:solidFill>
                <a:latin typeface="Arial "/>
              </a:rPr>
              <a:t>Inadequate </a:t>
            </a:r>
            <a:r>
              <a:rPr lang="en-CA" altLang="en-US" sz="2600" dirty="0">
                <a:solidFill>
                  <a:srgbClr val="002060"/>
                </a:solidFill>
                <a:latin typeface="Arial "/>
              </a:rPr>
              <a:t>detailing of reinforcement in confining elements</a:t>
            </a:r>
          </a:p>
          <a:p>
            <a:pPr marL="285750" indent="-285750">
              <a:spcBef>
                <a:spcPct val="0"/>
              </a:spcBef>
              <a:buSzPct val="140000"/>
              <a:buFont typeface="Arial" panose="020B0604020202020204" pitchFamily="34" charset="0"/>
              <a:buChar char="•"/>
            </a:pPr>
            <a:endParaRPr lang="en-CA" altLang="en-US" sz="2600" dirty="0">
              <a:solidFill>
                <a:srgbClr val="000000"/>
              </a:solidFill>
              <a:latin typeface="Arial "/>
            </a:endParaRPr>
          </a:p>
          <a:p>
            <a:pPr marL="285750" indent="-285750">
              <a:spcBef>
                <a:spcPct val="0"/>
              </a:spcBef>
              <a:buSzPct val="140000"/>
              <a:buFont typeface="Arial" panose="020B0604020202020204" pitchFamily="34" charset="0"/>
              <a:buChar char="•"/>
            </a:pPr>
            <a:endParaRPr lang="en-CA" altLang="en-US" sz="2600" dirty="0" smtClean="0">
              <a:solidFill>
                <a:schemeClr val="accent5"/>
              </a:solidFill>
              <a:latin typeface="Arial "/>
            </a:endParaRPr>
          </a:p>
          <a:p>
            <a:pPr marL="285750" indent="-285750">
              <a:spcBef>
                <a:spcPct val="0"/>
              </a:spcBef>
              <a:buSzPct val="140000"/>
              <a:buFont typeface="Arial" panose="020B0604020202020204" pitchFamily="34" charset="0"/>
              <a:buChar char="•"/>
            </a:pPr>
            <a:r>
              <a:rPr lang="en-CA" altLang="en-US" sz="2600" dirty="0" smtClean="0">
                <a:latin typeface="Arial "/>
              </a:rPr>
              <a:t>Absence </a:t>
            </a:r>
            <a:r>
              <a:rPr lang="en-CA" altLang="en-US" sz="2600" dirty="0">
                <a:latin typeface="Arial "/>
              </a:rPr>
              <a:t>of confining elements at openings</a:t>
            </a:r>
          </a:p>
          <a:p>
            <a:pPr>
              <a:spcBef>
                <a:spcPct val="0"/>
              </a:spcBef>
              <a:buFont typeface="Calibri" panose="020F0502020204030204" pitchFamily="34" charset="0"/>
              <a:buAutoNum type="arabicPeriod"/>
            </a:pPr>
            <a:endParaRPr lang="en-CA" altLang="en-US" b="1" dirty="0">
              <a:latin typeface="Arial "/>
            </a:endParaRPr>
          </a:p>
        </p:txBody>
      </p:sp>
    </p:spTree>
    <p:extLst>
      <p:ext uri="{BB962C8B-B14F-4D97-AF65-F5344CB8AC3E}">
        <p14:creationId xmlns:p14="http://schemas.microsoft.com/office/powerpoint/2010/main" val="1850360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0"/>
            <a:ext cx="9230081" cy="1354665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Construction Guideline for CM Construction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39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761067" y="4314669"/>
            <a:ext cx="94318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 defTabSz="1043367"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3000" b="1" dirty="0">
                <a:solidFill>
                  <a:srgbClr val="002060"/>
                </a:solidFill>
                <a:latin typeface="Arial "/>
              </a:rPr>
              <a:t>Architectural Guideline</a:t>
            </a:r>
          </a:p>
          <a:p>
            <a:pPr marL="457200" indent="-457200" algn="just" defTabSz="1043367">
              <a:buSzPct val="140000"/>
              <a:buFont typeface="Arial" panose="020B0604020202020204" pitchFamily="34" charset="0"/>
              <a:buChar char="•"/>
              <a:defRPr/>
            </a:pPr>
            <a:endParaRPr lang="en-US" sz="3000" b="1" dirty="0">
              <a:latin typeface="Arial "/>
            </a:endParaRPr>
          </a:p>
          <a:p>
            <a:pPr marL="457200" indent="-457200" algn="just" defTabSz="1043367">
              <a:buSzPct val="140000"/>
              <a:buFont typeface="Arial" panose="020B0604020202020204" pitchFamily="34" charset="0"/>
              <a:buChar char="•"/>
              <a:defRPr/>
            </a:pPr>
            <a:endParaRPr lang="en-US" sz="3000" b="1" dirty="0" smtClean="0">
              <a:latin typeface="Arial "/>
            </a:endParaRPr>
          </a:p>
          <a:p>
            <a:pPr marL="457200" indent="-457200" algn="just" defTabSz="1043367">
              <a:buSzPct val="140000"/>
              <a:buFont typeface="Arial" panose="020B0604020202020204" pitchFamily="34" charset="0"/>
              <a:buChar char="•"/>
              <a:defRPr/>
            </a:pPr>
            <a:r>
              <a:rPr lang="en-US" sz="3000" b="1" dirty="0" smtClean="0">
                <a:latin typeface="Arial "/>
              </a:rPr>
              <a:t>Construction </a:t>
            </a:r>
            <a:r>
              <a:rPr lang="en-US" sz="3000" b="1" dirty="0">
                <a:latin typeface="Arial "/>
              </a:rPr>
              <a:t>Guideline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6178" y="2203554"/>
            <a:ext cx="9622301" cy="1323439"/>
          </a:xfrm>
          <a:prstGeom prst="rect">
            <a:avLst/>
          </a:prstGeom>
          <a:solidFill>
            <a:srgbClr val="FF0000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 </a:t>
            </a:r>
            <a:r>
              <a:rPr lang="en-US" sz="4000" dirty="0" smtClean="0">
                <a:latin typeface="Arial "/>
              </a:rPr>
              <a:t>N</a:t>
            </a:r>
            <a:r>
              <a:rPr lang="en-US" sz="4000" dirty="0" smtClean="0">
                <a:latin typeface="Arial "/>
              </a:rPr>
              <a:t>on-engineered Building</a:t>
            </a:r>
          </a:p>
          <a:p>
            <a:pPr algn="ctr"/>
            <a:r>
              <a:rPr lang="en-US" sz="4000" dirty="0" smtClean="0">
                <a:latin typeface="Arial "/>
              </a:rPr>
              <a:t>(Inspection form is for One </a:t>
            </a:r>
            <a:r>
              <a:rPr lang="en-US" sz="4000" dirty="0" err="1" smtClean="0">
                <a:latin typeface="Arial "/>
              </a:rPr>
              <a:t>storey</a:t>
            </a:r>
            <a:r>
              <a:rPr lang="en-US" sz="4000" dirty="0" smtClean="0">
                <a:latin typeface="Arial "/>
              </a:rPr>
              <a:t> only)</a:t>
            </a:r>
            <a:endParaRPr lang="en-US" sz="4000" dirty="0">
              <a:latin typeface="Arial "/>
            </a:endParaRPr>
          </a:p>
        </p:txBody>
      </p:sp>
    </p:spTree>
    <p:extLst>
      <p:ext uri="{BB962C8B-B14F-4D97-AF65-F5344CB8AC3E}">
        <p14:creationId xmlns:p14="http://schemas.microsoft.com/office/powerpoint/2010/main" val="3557965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40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972316" y="3502716"/>
            <a:ext cx="6532558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defTabSz="1043367">
              <a:buSzPct val="140000"/>
              <a:defRPr/>
            </a:pPr>
            <a:r>
              <a:rPr lang="en-US" sz="4500" b="1" dirty="0">
                <a:solidFill>
                  <a:srgbClr val="002060"/>
                </a:solidFill>
                <a:latin typeface="Arial "/>
              </a:rPr>
              <a:t>Architectural Guideline</a:t>
            </a:r>
          </a:p>
        </p:txBody>
      </p:sp>
    </p:spTree>
    <p:extLst>
      <p:ext uri="{BB962C8B-B14F-4D97-AF65-F5344CB8AC3E}">
        <p14:creationId xmlns:p14="http://schemas.microsoft.com/office/powerpoint/2010/main" val="4280257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356" y="-323031"/>
            <a:ext cx="8818126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b="1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Symmetrical wall</a:t>
            </a:r>
            <a:endParaRPr lang="en-US" sz="35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41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5" y="1726987"/>
            <a:ext cx="10163331" cy="4542551"/>
          </a:xfrm>
          <a:prstGeom prst="rect">
            <a:avLst/>
          </a:prstGeom>
        </p:spPr>
      </p:pic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378357" y="5734316"/>
            <a:ext cx="4362976" cy="430887"/>
          </a:xfrm>
          <a:prstGeom prst="rect">
            <a:avLst/>
          </a:prstGeom>
          <a:solidFill>
            <a:srgbClr val="FFC000"/>
          </a:solidFill>
          <a:ln w="38100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CA" sz="22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 "/>
              </a:rPr>
              <a:t>Inadequate plan  :   layout</a:t>
            </a:r>
            <a:endParaRPr lang="en-CA" sz="2200" b="1" dirty="0">
              <a:effectLst>
                <a:outerShdw blurRad="38100" dist="38100" dir="2700000" algn="tl">
                  <a:srgbClr val="FFFFFF"/>
                </a:outerShdw>
              </a:effectLst>
              <a:latin typeface="Arial 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6130577" y="5734317"/>
            <a:ext cx="3592874" cy="430887"/>
          </a:xfrm>
          <a:prstGeom prst="rect">
            <a:avLst/>
          </a:prstGeom>
          <a:solidFill>
            <a:srgbClr val="FFC000"/>
          </a:solidFill>
          <a:ln w="38100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CA" sz="22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"/>
              </a:rPr>
              <a:t>A</a:t>
            </a:r>
            <a:r>
              <a:rPr lang="en-CA" sz="22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 "/>
              </a:rPr>
              <a:t>dequate shape</a:t>
            </a:r>
            <a:endParaRPr lang="en-CA" sz="2200" b="1" dirty="0">
              <a:effectLst>
                <a:outerShdw blurRad="38100" dist="38100" dir="2700000" algn="tl">
                  <a:srgbClr val="FFFFFF"/>
                </a:outerShdw>
              </a:effectLst>
              <a:latin typeface="Arial 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230330" y="914938"/>
            <a:ext cx="909366" cy="861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5000" b="1" dirty="0">
                <a:solidFill>
                  <a:srgbClr val="FF0000"/>
                </a:solidFill>
                <a:sym typeface="Symbol" panose="05050102010706020507" pitchFamily="18" charset="2"/>
              </a:rPr>
              <a:t></a:t>
            </a:r>
            <a:endParaRPr lang="en-US" sz="5000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66421" y="914938"/>
            <a:ext cx="815572" cy="861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5000" dirty="0" smtClean="0">
                <a:solidFill>
                  <a:srgbClr val="FF0000"/>
                </a:solidFill>
              </a:rPr>
              <a:t>X</a:t>
            </a:r>
            <a:endParaRPr lang="en-US" sz="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743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37894"/>
            <a:ext cx="8818126" cy="608064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Regular Building Plan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42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2532" b="11930"/>
          <a:stretch/>
        </p:blipFill>
        <p:spPr>
          <a:xfrm>
            <a:off x="316178" y="1532498"/>
            <a:ext cx="9578353" cy="3522690"/>
          </a:xfrm>
          <a:prstGeom prst="rect">
            <a:avLst/>
          </a:prstGeom>
        </p:spPr>
      </p:pic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891299" y="5250801"/>
            <a:ext cx="2683291" cy="369332"/>
          </a:xfrm>
          <a:prstGeom prst="rect">
            <a:avLst/>
          </a:prstGeom>
          <a:solidFill>
            <a:srgbClr val="FFC000"/>
          </a:solidFill>
          <a:ln w="38100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CA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ahoma" charset="0"/>
              </a:rPr>
              <a:t>Irregular</a:t>
            </a:r>
            <a:endParaRPr lang="en-CA" b="1" dirty="0">
              <a:effectLst>
                <a:outerShdw blurRad="38100" dist="38100" dir="2700000" algn="tl">
                  <a:srgbClr val="FFFFFF"/>
                </a:outerShdw>
              </a:effectLst>
              <a:latin typeface="Tahoma" charset="0"/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6495985" y="5300491"/>
            <a:ext cx="3089258" cy="369332"/>
          </a:xfrm>
          <a:prstGeom prst="rect">
            <a:avLst/>
          </a:prstGeom>
          <a:solidFill>
            <a:srgbClr val="FFC000"/>
          </a:solidFill>
          <a:ln w="38100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CA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Tahoma" charset="0"/>
              </a:rPr>
              <a:t>Symmetrical</a:t>
            </a:r>
            <a:endParaRPr lang="en-CA" b="1" dirty="0">
              <a:effectLst>
                <a:outerShdw blurRad="38100" dist="38100" dir="2700000" algn="tl">
                  <a:srgbClr val="FFFFFF"/>
                </a:outerShdw>
              </a:effectLst>
              <a:latin typeface="Tahoma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585931" y="1065541"/>
            <a:ext cx="909366" cy="861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5000" b="1" dirty="0">
                <a:solidFill>
                  <a:srgbClr val="FF0000"/>
                </a:solidFill>
                <a:sym typeface="Symbol" panose="05050102010706020507" pitchFamily="18" charset="2"/>
              </a:rPr>
              <a:t></a:t>
            </a:r>
            <a:endParaRPr lang="en-US" sz="50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74163" y="1065541"/>
            <a:ext cx="1121482" cy="861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5000" dirty="0" smtClean="0">
                <a:solidFill>
                  <a:srgbClr val="FF0000"/>
                </a:solidFill>
              </a:rPr>
              <a:t>X</a:t>
            </a:r>
            <a:endParaRPr lang="en-US" sz="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15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70" y="-336648"/>
            <a:ext cx="9369689" cy="1323352"/>
          </a:xfrm>
        </p:spPr>
        <p:txBody>
          <a:bodyPr>
            <a:noAutofit/>
          </a:bodyPr>
          <a:lstStyle/>
          <a:p>
            <a:pPr algn="ctr"/>
            <a:r>
              <a:rPr lang="en-US" sz="3500" b="1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Plan Shape : </a:t>
            </a:r>
            <a:br>
              <a:rPr lang="en-US" sz="3500" b="1" dirty="0" smtClean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3500" b="1" dirty="0" smtClean="0">
                <a:solidFill>
                  <a:schemeClr val="tx1"/>
                </a:solidFill>
                <a:latin typeface="Arial "/>
              </a:rPr>
              <a:t>Length-to-width ratio less than 3 times</a:t>
            </a:r>
            <a:endParaRPr lang="en-US" sz="3500" dirty="0">
              <a:solidFill>
                <a:schemeClr val="tx1"/>
              </a:solidFill>
              <a:latin typeface="Arial 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43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b="12416"/>
          <a:stretch/>
        </p:blipFill>
        <p:spPr>
          <a:xfrm>
            <a:off x="943798" y="1801312"/>
            <a:ext cx="9152937" cy="3683976"/>
          </a:xfrm>
          <a:prstGeom prst="rect">
            <a:avLst/>
          </a:prstGeom>
        </p:spPr>
      </p:pic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908635" y="5485288"/>
            <a:ext cx="4284134" cy="369332"/>
          </a:xfrm>
          <a:prstGeom prst="rect">
            <a:avLst/>
          </a:prstGeom>
          <a:solidFill>
            <a:srgbClr val="FFC000"/>
          </a:solidFill>
          <a:ln w="38100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CA" b="1" dirty="0" smtClean="0">
                <a:latin typeface="Tahoma" charset="0"/>
              </a:rPr>
              <a:t>Poorly  proportioned plan</a:t>
            </a:r>
            <a:endParaRPr lang="en-CA" b="1" dirty="0">
              <a:latin typeface="Tahoma" charset="0"/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6017207" y="5339373"/>
            <a:ext cx="3866147" cy="369332"/>
          </a:xfrm>
          <a:prstGeom prst="rect">
            <a:avLst/>
          </a:prstGeom>
          <a:solidFill>
            <a:srgbClr val="FFC000"/>
          </a:solidFill>
          <a:ln w="38100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CA" b="1" dirty="0" smtClean="0">
                <a:latin typeface="Arial "/>
              </a:rPr>
              <a:t>Well proportioned plan</a:t>
            </a:r>
            <a:endParaRPr lang="en-CA" b="1" dirty="0">
              <a:latin typeface="Arial 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712540" y="1160406"/>
            <a:ext cx="909366" cy="861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5000" b="1" dirty="0">
                <a:solidFill>
                  <a:srgbClr val="FF0000"/>
                </a:solidFill>
                <a:sym typeface="Symbol" panose="05050102010706020507" pitchFamily="18" charset="2"/>
              </a:rPr>
              <a:t></a:t>
            </a:r>
            <a:endParaRPr lang="en-US" sz="50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46136" y="1308248"/>
            <a:ext cx="1121482" cy="861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5000" dirty="0" smtClean="0">
                <a:solidFill>
                  <a:srgbClr val="FF0000"/>
                </a:solidFill>
              </a:rPr>
              <a:t>X</a:t>
            </a:r>
            <a:endParaRPr lang="en-US" sz="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3230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756" y="241155"/>
            <a:ext cx="9044268" cy="1460355"/>
          </a:xfrm>
        </p:spPr>
        <p:txBody>
          <a:bodyPr>
            <a:noAutofit/>
          </a:bodyPr>
          <a:lstStyle/>
          <a:p>
            <a:pPr algn="ctr"/>
            <a:r>
              <a:rPr lang="en-US" sz="3500" b="1" dirty="0">
                <a:solidFill>
                  <a:schemeClr val="tx1"/>
                </a:solidFill>
                <a:latin typeface="Arial Black" panose="020B0A04020102020204" pitchFamily="34" charset="0"/>
              </a:rPr>
              <a:t>Walls should be continuous up the building height</a:t>
            </a:r>
            <a:br>
              <a:rPr lang="en-US" sz="3500" b="1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44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499" y="2024385"/>
            <a:ext cx="9516532" cy="4104542"/>
          </a:xfrm>
          <a:prstGeom prst="rect">
            <a:avLst/>
          </a:prstGeom>
        </p:spPr>
      </p:pic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1013229" y="5375165"/>
            <a:ext cx="3014913" cy="430887"/>
          </a:xfrm>
          <a:prstGeom prst="rect">
            <a:avLst/>
          </a:prstGeom>
          <a:solidFill>
            <a:srgbClr val="FFC000"/>
          </a:solidFill>
          <a:ln w="38100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CA" sz="22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Load path not clear</a:t>
            </a:r>
            <a:endParaRPr lang="en-CA" sz="2200" b="1" dirty="0">
              <a:effectLst>
                <a:outerShdw blurRad="38100" dist="38100" dir="2700000" algn="tl">
                  <a:srgbClr val="FFFFFF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6730224" y="5433263"/>
            <a:ext cx="2590800" cy="430887"/>
          </a:xfrm>
          <a:prstGeom prst="rect">
            <a:avLst/>
          </a:prstGeom>
          <a:solidFill>
            <a:srgbClr val="FFC000"/>
          </a:solidFill>
          <a:ln w="38100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CA" sz="2200" b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Load path clear</a:t>
            </a:r>
            <a:endParaRPr lang="en-CA" sz="2200" b="1" dirty="0">
              <a:effectLst>
                <a:outerShdw blurRad="38100" dist="38100" dir="2700000" algn="tl">
                  <a:srgbClr val="FFFFFF"/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570941" y="2193718"/>
            <a:ext cx="909366" cy="861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5000" b="1" dirty="0">
                <a:solidFill>
                  <a:srgbClr val="FF0000"/>
                </a:solidFill>
                <a:sym typeface="Symbol" panose="05050102010706020507" pitchFamily="18" charset="2"/>
              </a:rPr>
              <a:t></a:t>
            </a:r>
            <a:endParaRPr lang="en-US" sz="50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66421" y="2024385"/>
            <a:ext cx="839284" cy="861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5000" dirty="0" smtClean="0">
                <a:solidFill>
                  <a:srgbClr val="FF0000"/>
                </a:solidFill>
              </a:rPr>
              <a:t>X</a:t>
            </a:r>
            <a:endParaRPr lang="en-US" sz="5000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59174" y="6295037"/>
            <a:ext cx="8061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Arial "/>
              </a:rPr>
              <a:t>Wall height: 3m for Non-Designed Building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554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-320197"/>
            <a:ext cx="8818126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Opening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45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299" y="1488716"/>
            <a:ext cx="9005737" cy="3657600"/>
          </a:xfrm>
          <a:prstGeom prst="rect">
            <a:avLst/>
          </a:prstGeom>
        </p:spPr>
      </p:pic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914400" y="4436533"/>
            <a:ext cx="4250267" cy="646331"/>
          </a:xfrm>
          <a:prstGeom prst="rect">
            <a:avLst/>
          </a:prstGeom>
          <a:solidFill>
            <a:srgbClr val="FFC000"/>
          </a:solidFill>
          <a:ln w="38100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CA" b="1" dirty="0" smtClean="0">
                <a:latin typeface="Arial "/>
              </a:rPr>
              <a:t>Poor Location of Window and door opening</a:t>
            </a:r>
            <a:endParaRPr lang="en-CA" b="1" dirty="0">
              <a:latin typeface="Arial 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5621867" y="4436533"/>
            <a:ext cx="4605867" cy="784830"/>
          </a:xfrm>
          <a:prstGeom prst="rect">
            <a:avLst/>
          </a:prstGeom>
          <a:solidFill>
            <a:srgbClr val="FFC000"/>
          </a:solidFill>
          <a:ln w="38100" algn="ctr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CA" b="1" dirty="0" smtClean="0">
                <a:latin typeface="Arial "/>
              </a:rPr>
              <a:t>Good location of window and door 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CA" b="1" dirty="0" smtClean="0">
                <a:latin typeface="Arial "/>
              </a:rPr>
              <a:t>opening</a:t>
            </a:r>
            <a:endParaRPr lang="en-CA" b="1" dirty="0">
              <a:latin typeface="Arial 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31895" y="1522612"/>
            <a:ext cx="909366" cy="861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5000" b="1" dirty="0">
                <a:solidFill>
                  <a:srgbClr val="FF0000"/>
                </a:solidFill>
                <a:sym typeface="Symbol" panose="05050102010706020507" pitchFamily="18" charset="2"/>
              </a:rPr>
              <a:t></a:t>
            </a:r>
            <a:endParaRPr lang="en-US" sz="5000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27375" y="1353279"/>
            <a:ext cx="839284" cy="861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5000" dirty="0" smtClean="0">
                <a:solidFill>
                  <a:srgbClr val="FF0000"/>
                </a:solidFill>
              </a:rPr>
              <a:t>X</a:t>
            </a:r>
            <a:endParaRPr lang="en-US" sz="50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5808133"/>
            <a:ext cx="10651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Opening Should be placed in the same same position up the building height</a:t>
            </a:r>
            <a:endParaRPr lang="en-US" sz="2400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656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423" y="-602410"/>
            <a:ext cx="8818126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Location of Confining Elements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46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38666" y="4893733"/>
            <a:ext cx="1022773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120000"/>
              <a:buFont typeface="Wingdings" panose="05000000000000000000" pitchFamily="2" charset="2"/>
              <a:buChar char="Ø"/>
            </a:pPr>
            <a:r>
              <a:rPr lang="en-US" sz="22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Vertical Spacing of tie- beam should not exceed  3m &amp; Should be at every floor</a:t>
            </a:r>
          </a:p>
          <a:p>
            <a:pPr marL="342900" indent="-342900">
              <a:buSzPct val="120000"/>
              <a:buFont typeface="Wingdings" panose="05000000000000000000" pitchFamily="2" charset="2"/>
              <a:buChar char="Ø"/>
            </a:pPr>
            <a:endParaRPr lang="en-US" sz="2200" dirty="0" smtClean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20000"/>
              <a:buFont typeface="Wingdings" panose="05000000000000000000" pitchFamily="2" charset="2"/>
              <a:buChar char="Ø"/>
            </a:pPr>
            <a:r>
              <a:rPr lang="en-US" sz="2200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Tie-columns should be placed at a maximum spacing of less than 4.5 at wall to wall intersections , free end of wall  &amp; within wall if its lengths exceed than MRS</a:t>
            </a:r>
          </a:p>
          <a:p>
            <a:pPr marL="342900" indent="-342900">
              <a:buSzPct val="120000"/>
              <a:buFont typeface="Wingdings" panose="05000000000000000000" pitchFamily="2" charset="2"/>
              <a:buChar char="Ø"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509" y="852935"/>
            <a:ext cx="8321040" cy="438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487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6049"/>
            <a:ext cx="8818126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Wall Distribution 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47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r="9669" b="30757"/>
          <a:stretch/>
        </p:blipFill>
        <p:spPr>
          <a:xfrm>
            <a:off x="583806" y="2224110"/>
            <a:ext cx="4051636" cy="24688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b="30639"/>
          <a:stretch/>
        </p:blipFill>
        <p:spPr>
          <a:xfrm>
            <a:off x="6127213" y="2046580"/>
            <a:ext cx="4045157" cy="25369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3468" y="4877656"/>
            <a:ext cx="3705630" cy="430887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Inadequate Wall Distribution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54800" y="4782291"/>
            <a:ext cx="3517570" cy="43088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Adequate Wall Distribution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95108" y="1360447"/>
            <a:ext cx="909366" cy="861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5000" b="1" dirty="0">
                <a:solidFill>
                  <a:srgbClr val="FF0000"/>
                </a:solidFill>
                <a:sym typeface="Symbol" panose="05050102010706020507" pitchFamily="18" charset="2"/>
              </a:rPr>
              <a:t></a:t>
            </a:r>
            <a:endParaRPr lang="en-US" sz="50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71982" y="1207378"/>
            <a:ext cx="839284" cy="861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5000" dirty="0" smtClean="0">
                <a:solidFill>
                  <a:srgbClr val="FF0000"/>
                </a:solidFill>
              </a:rPr>
              <a:t>X</a:t>
            </a:r>
            <a:endParaRPr lang="en-US" sz="5000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16178" y="5858932"/>
            <a:ext cx="102332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least three fully confined walls should be provided in each direction</a:t>
            </a:r>
          </a:p>
        </p:txBody>
      </p:sp>
    </p:spTree>
    <p:extLst>
      <p:ext uri="{BB962C8B-B14F-4D97-AF65-F5344CB8AC3E}">
        <p14:creationId xmlns:p14="http://schemas.microsoft.com/office/powerpoint/2010/main" val="3892681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48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457201" y="287867"/>
            <a:ext cx="9398000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043367">
              <a:defRPr/>
            </a:pPr>
            <a:r>
              <a:rPr lang="en-US" sz="3500" dirty="0" smtClean="0"/>
              <a:t> </a:t>
            </a:r>
            <a:r>
              <a:rPr lang="en-US" sz="3500" dirty="0" smtClean="0">
                <a:latin typeface="Arial Black" panose="020B0A04020102020204" pitchFamily="34" charset="0"/>
              </a:rPr>
              <a:t>Walls Density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35967" y="3025795"/>
                <a:ext cx="9199349" cy="67108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𝑾𝒂𝒍𝒍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𝑫𝒆𝒏𝒔𝒊𝒕𝒚</m:t>
                          </m:r>
                        </m:e>
                        <m:sup/>
                      </m:sSup>
                      <m:r>
                        <a:rPr lang="en-US" sz="21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𝑻𝒐𝒕𝒂𝒍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𝒔𝒆𝒄𝒕𝒊𝒐𝒏𝒂𝒍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𝑨𝒓𝒆𝒂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𝒐𝒇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𝒂𝒍𝒍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𝒘𝒂𝒍𝒍𝒔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𝒊𝒏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𝒐𝒏𝒆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𝒅𝒊𝒓𝒆𝒄𝒕𝒊𝒐𝒏</m:t>
                          </m:r>
                        </m:num>
                        <m:den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𝑺𝒖𝒎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𝒐𝒇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𝑭𝒍𝒐𝒐𝒓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𝒑𝒍𝒂𝒏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𝒂𝒓𝒆𝒂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𝒇𝒐𝒓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𝒂𝒍𝒍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𝒇𝒍𝒐𝒐𝒓𝒔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𝒊𝒏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100" b="1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𝒃𝒖𝒊𝒍𝒅𝒊𝒏𝒈</m:t>
                          </m:r>
                        </m:den>
                      </m:f>
                    </m:oMath>
                  </m:oMathPara>
                </a14:m>
                <a:endParaRPr lang="en-US" sz="2100" b="1" dirty="0">
                  <a:solidFill>
                    <a:srgbClr val="00206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967" y="3025795"/>
                <a:ext cx="9199349" cy="67108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52400" y="4239119"/>
            <a:ext cx="102108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Eurocode 8 (1996)</a:t>
            </a:r>
          </a:p>
          <a:p>
            <a:pPr marL="342900" indent="-342900">
              <a:buAutoNum type="alphaLcParenR"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At least 2% for a site with a  design ground </a:t>
            </a:r>
            <a:r>
              <a:rPr lang="en-US" sz="22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accln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up to 0.2g (corresponding to seismic zone II of India</a:t>
            </a:r>
          </a:p>
          <a:p>
            <a:pPr marL="342900" indent="-342900">
              <a:buFontTx/>
              <a:buAutoNum type="alphaLcParenR"/>
            </a:pP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At least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4%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for a site with a  design ground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accln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up to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0.3g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(corresponding to seismic zone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III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India</a:t>
            </a:r>
          </a:p>
          <a:p>
            <a:pPr marL="342900" indent="-342900">
              <a:buFontTx/>
              <a:buAutoNum type="alphaLcParenR"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At least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5%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for a site with a  design ground </a:t>
            </a:r>
            <a:r>
              <a:rPr lang="en-US" sz="2200" dirty="0" err="1">
                <a:latin typeface="Arial" panose="020B0604020202020204" pitchFamily="34" charset="0"/>
                <a:cs typeface="Arial" panose="020B0604020202020204" pitchFamily="34" charset="0"/>
              </a:rPr>
              <a:t>accln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up to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0.4g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(corresponding to seismic zone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IV </a:t>
            </a: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India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5967" y="1883858"/>
            <a:ext cx="70364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defTabSz="1043367">
              <a:buFont typeface="Wingdings" panose="05000000000000000000" pitchFamily="2" charset="2"/>
              <a:buChar char="Ø"/>
              <a:defRPr/>
            </a:pPr>
            <a:r>
              <a:rPr lang="en-US" sz="2200" b="1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least 5 % in each of two </a:t>
            </a:r>
            <a:r>
              <a:rPr lang="en-US" sz="2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orthogonal direction</a:t>
            </a:r>
          </a:p>
        </p:txBody>
      </p:sp>
    </p:spTree>
    <p:extLst>
      <p:ext uri="{BB962C8B-B14F-4D97-AF65-F5344CB8AC3E}">
        <p14:creationId xmlns:p14="http://schemas.microsoft.com/office/powerpoint/2010/main" val="644754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49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926306" y="2977400"/>
            <a:ext cx="6564618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defTabSz="1043367">
              <a:buSzPct val="140000"/>
              <a:defRPr/>
            </a:pPr>
            <a:r>
              <a:rPr lang="en-US" sz="4500" b="1" dirty="0">
                <a:solidFill>
                  <a:srgbClr val="002060"/>
                </a:solidFill>
                <a:latin typeface="Arial "/>
              </a:rPr>
              <a:t>Construction Guideline</a:t>
            </a:r>
          </a:p>
        </p:txBody>
      </p:sp>
    </p:spTree>
    <p:extLst>
      <p:ext uri="{BB962C8B-B14F-4D97-AF65-F5344CB8AC3E}">
        <p14:creationId xmlns:p14="http://schemas.microsoft.com/office/powerpoint/2010/main" val="1910803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-463992"/>
            <a:ext cx="8818126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Wall </a:t>
            </a:r>
            <a:r>
              <a:rPr lang="en-US" sz="3500" dirty="0" smtClean="0">
                <a:solidFill>
                  <a:schemeClr val="tx1"/>
                </a:solidFill>
                <a:latin typeface="Arial "/>
              </a:rPr>
              <a:t>(Constructing method)</a:t>
            </a:r>
            <a:endParaRPr lang="en-US" sz="3500" dirty="0">
              <a:solidFill>
                <a:schemeClr val="tx1"/>
              </a:solidFill>
              <a:latin typeface="Arial 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50</a:t>
            </a:fld>
            <a:endParaRPr lang="en-US"/>
          </a:p>
        </p:txBody>
      </p:sp>
      <p:pic>
        <p:nvPicPr>
          <p:cNvPr id="4" name="Picture 11" descr="DSCN34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252" y="1110241"/>
            <a:ext cx="3718997" cy="4663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0" descr="DSCN34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178" y="1933201"/>
            <a:ext cx="4231775" cy="384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75603" y="5987009"/>
            <a:ext cx="10553074" cy="914400"/>
          </a:xfrm>
          <a:prstGeom prst="rect">
            <a:avLst/>
          </a:prstGeom>
          <a:solidFill>
            <a:srgbClr val="FFC0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CA" altLang="en-US" sz="25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Toothing</a:t>
            </a:r>
            <a:r>
              <a:rPr lang="en-CA" altLang="en-US" sz="25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enhances interaction between masonry walls and RC confining elements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9685" y="1110241"/>
            <a:ext cx="68205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Wall thickness: 230 mm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232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670" y="154399"/>
            <a:ext cx="8846757" cy="730223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Tie -Column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51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56" t="1477" r="28065" b="17107"/>
          <a:stretch/>
        </p:blipFill>
        <p:spPr>
          <a:xfrm>
            <a:off x="178652" y="1079495"/>
            <a:ext cx="4347147" cy="5394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04371" y="3085196"/>
            <a:ext cx="587614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150000"/>
              <a:buFont typeface="Arial" panose="020B0604020202020204" pitchFamily="34" charset="0"/>
              <a:buChar char="•"/>
            </a:pPr>
            <a:r>
              <a:rPr lang="en-US" sz="25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Tie-column reinforcement set in the position prior to the Construction  of Foundation and wall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500" dirty="0" smtClean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SzPct val="150000"/>
              <a:buFont typeface="Arial" panose="020B0604020202020204" pitchFamily="34" charset="0"/>
              <a:buChar char="•"/>
            </a:pPr>
            <a:r>
              <a:rPr lang="en-US" sz="2500" dirty="0" smtClean="0">
                <a:latin typeface="Arial" panose="020B0604020202020204" pitchFamily="34" charset="0"/>
                <a:cs typeface="Arial" panose="020B0604020202020204" pitchFamily="34" charset="0"/>
              </a:rPr>
              <a:t>Should be Place at wall ends, intersection &amp;  Opening </a:t>
            </a:r>
          </a:p>
        </p:txBody>
      </p:sp>
    </p:spTree>
    <p:extLst>
      <p:ext uri="{BB962C8B-B14F-4D97-AF65-F5344CB8AC3E}">
        <p14:creationId xmlns:p14="http://schemas.microsoft.com/office/powerpoint/2010/main" val="1137242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1" descr="DSCN34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327" y="418435"/>
            <a:ext cx="3427311" cy="4297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995" y="-154486"/>
            <a:ext cx="10531782" cy="1137053"/>
          </a:xfrm>
        </p:spPr>
        <p:txBody>
          <a:bodyPr>
            <a:normAutofit/>
          </a:bodyPr>
          <a:lstStyle/>
          <a:p>
            <a:pPr algn="ctr"/>
            <a:r>
              <a:rPr lang="en-US" sz="3500" dirty="0">
                <a:solidFill>
                  <a:schemeClr val="tx1"/>
                </a:solidFill>
                <a:latin typeface="Arial Black" panose="020B0A04020102020204" pitchFamily="34" charset="0"/>
              </a:rPr>
              <a:t>Tie </a:t>
            </a:r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–Column </a:t>
            </a:r>
            <a:b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</a:br>
            <a:r>
              <a:rPr lang="en-US" sz="35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(Reinforcements)</a:t>
            </a:r>
            <a:endParaRPr lang="en-US" sz="35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52</a:t>
            </a:fld>
            <a:endParaRPr lang="en-US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1" t="4145" r="11004" b="12552"/>
          <a:stretch/>
        </p:blipFill>
        <p:spPr>
          <a:xfrm>
            <a:off x="316178" y="1223407"/>
            <a:ext cx="4725421" cy="34927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4069" y="4716115"/>
            <a:ext cx="981920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Tie Column Size :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230 X 230 )mm at Corner &amp; wall Section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230 X 115) mm at Opening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Longitudinal reinforcements: 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 12mm bar at corner &amp; wall section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                                             2  12mm bars at Opening</a:t>
            </a:r>
          </a:p>
          <a:p>
            <a:r>
              <a:rPr lang="en-US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sz="2000" b="1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                                        </a:t>
            </a:r>
            <a:endParaRPr lang="en-US" sz="2000" b="1" dirty="0" smtClean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Stirrups: 6 mm @ 150 c/c</a:t>
            </a:r>
          </a:p>
          <a:p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79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0"/>
            <a:ext cx="8669609" cy="727434"/>
          </a:xfrm>
        </p:spPr>
        <p:txBody>
          <a:bodyPr>
            <a:normAutofit/>
          </a:bodyPr>
          <a:lstStyle/>
          <a:p>
            <a:pPr algn="ctr"/>
            <a:r>
              <a:rPr lang="en-US" sz="3500" b="1" dirty="0" smtClean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Tie-beam</a:t>
            </a:r>
            <a:endParaRPr lang="en-US" sz="3500" b="1" dirty="0">
              <a:solidFill>
                <a:schemeClr val="tx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53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6" t="12730" r="13721" b="4483"/>
          <a:stretch/>
        </p:blipFill>
        <p:spPr>
          <a:xfrm>
            <a:off x="2134411" y="760321"/>
            <a:ext cx="6254586" cy="37490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16178" y="5356191"/>
            <a:ext cx="918209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Horizontal ties Size :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230 X </a:t>
            </a:r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150 )mm</a:t>
            </a:r>
            <a:endParaRPr lang="en-US" sz="2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 smtClean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Longitudinal </a:t>
            </a:r>
            <a:r>
              <a:rPr lang="en-US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reinforcements: 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 12mm bar at corner &amp; wall section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                                              </a:t>
            </a:r>
            <a:r>
              <a:rPr lang="en-US" sz="2000" b="1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                                         </a:t>
            </a:r>
            <a:endParaRPr lang="en-US" sz="2000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Stirrups: 6 mm @ 150 c/c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6178" y="4542248"/>
            <a:ext cx="9278912" cy="430887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200" dirty="0" smtClean="0">
                <a:latin typeface="Arial" panose="020B0604020202020204" pitchFamily="34" charset="0"/>
                <a:cs typeface="Arial" panose="020B0604020202020204" pitchFamily="34" charset="0"/>
              </a:rPr>
              <a:t>Team-Beam are constructed atop the wall of each floor level 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213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8122" y="-436017"/>
            <a:ext cx="8818126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b="1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Tie-beam</a:t>
            </a:r>
            <a:endParaRPr lang="en-US" sz="35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54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6" t="12730" r="13721" b="4483"/>
          <a:stretch/>
        </p:blipFill>
        <p:spPr>
          <a:xfrm>
            <a:off x="2239593" y="994956"/>
            <a:ext cx="5796933" cy="34747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46777" y="4808846"/>
            <a:ext cx="873238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Horizontal Size :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230 X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150 )mm</a:t>
            </a:r>
            <a:endParaRPr lang="en-US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 smtClean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Longitudinal </a:t>
            </a:r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reinforcements: 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 12mm bar at corner &amp; wall section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                                              </a:t>
            </a:r>
            <a:r>
              <a:rPr lang="en-US" b="1" dirty="0" smtClean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                                         </a:t>
            </a:r>
            <a:endParaRPr lang="en-US" b="1" dirty="0">
              <a:solidFill>
                <a:srgbClr val="7030A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Stirrups: 6 mm @ 150 c/c</a:t>
            </a:r>
          </a:p>
        </p:txBody>
      </p:sp>
    </p:spTree>
    <p:extLst>
      <p:ext uri="{BB962C8B-B14F-4D97-AF65-F5344CB8AC3E}">
        <p14:creationId xmlns:p14="http://schemas.microsoft.com/office/powerpoint/2010/main" val="622409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-418302"/>
            <a:ext cx="8805855" cy="1204819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Joint Detailing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55</a:t>
            </a:fld>
            <a:endParaRPr lang="en-US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37" t="16425" b="7757"/>
          <a:stretch/>
        </p:blipFill>
        <p:spPr bwMode="auto">
          <a:xfrm>
            <a:off x="6179096" y="1673717"/>
            <a:ext cx="4333871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3" b="18208"/>
          <a:stretch/>
        </p:blipFill>
        <p:spPr bwMode="auto">
          <a:xfrm>
            <a:off x="0" y="1582092"/>
            <a:ext cx="4545013" cy="4272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8346032" y="782312"/>
            <a:ext cx="1012354" cy="8914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5000" b="1" dirty="0">
                <a:solidFill>
                  <a:srgbClr val="FF0000"/>
                </a:solidFill>
                <a:sym typeface="Symbol" panose="05050102010706020507" pitchFamily="18" charset="2"/>
              </a:rPr>
              <a:t></a:t>
            </a:r>
            <a:endParaRPr lang="en-US" sz="50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8635" y="889729"/>
            <a:ext cx="815572" cy="861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5000" dirty="0" smtClean="0">
                <a:solidFill>
                  <a:srgbClr val="FF0000"/>
                </a:solidFill>
                <a:sym typeface="Symbol" panose="05050102010706020507" pitchFamily="18" charset="2"/>
              </a:rPr>
              <a:t></a:t>
            </a:r>
            <a:endParaRPr lang="en-US" sz="5000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21279" y="5854289"/>
            <a:ext cx="8874177" cy="861774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CA" sz="25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charset="0"/>
              </a:rPr>
              <a:t>It is preferred to place beam reinforcement  outside the </a:t>
            </a:r>
            <a:r>
              <a:rPr lang="en-CA" sz="25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charset="0"/>
              </a:rPr>
              <a:t>column reinforcement </a:t>
            </a:r>
            <a:r>
              <a:rPr lang="en-CA" sz="25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ahoma" charset="0"/>
              </a:rPr>
              <a:t>cage</a:t>
            </a:r>
          </a:p>
        </p:txBody>
      </p:sp>
    </p:spTree>
    <p:extLst>
      <p:ext uri="{BB962C8B-B14F-4D97-AF65-F5344CB8AC3E}">
        <p14:creationId xmlns:p14="http://schemas.microsoft.com/office/powerpoint/2010/main" val="263030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178" y="-617899"/>
            <a:ext cx="9232178" cy="1756931"/>
          </a:xfrm>
        </p:spPr>
        <p:txBody>
          <a:bodyPr>
            <a:normAutofit/>
          </a:bodyPr>
          <a:lstStyle/>
          <a:p>
            <a:pPr algn="ctr"/>
            <a:r>
              <a:rPr lang="en-US" sz="3500" b="1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Foundation </a:t>
            </a:r>
            <a:r>
              <a:rPr lang="en-US" sz="3500" b="1" dirty="0">
                <a:solidFill>
                  <a:schemeClr val="tx1"/>
                </a:solidFill>
                <a:latin typeface="Arial Black" panose="020B0A04020102020204" pitchFamily="34" charset="0"/>
              </a:rPr>
              <a:t>and </a:t>
            </a:r>
            <a:r>
              <a:rPr lang="en-US" sz="3500" b="1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Plinth Construction</a:t>
            </a:r>
            <a:r>
              <a:rPr lang="en-US" sz="3500" b="1" dirty="0">
                <a:solidFill>
                  <a:schemeClr val="tx1"/>
                </a:solidFill>
                <a:latin typeface="Arial Black" panose="020B0A04020102020204" pitchFamily="34" charset="0"/>
              </a:rPr>
              <a:t/>
            </a:r>
            <a:br>
              <a:rPr lang="en-US" sz="3500" b="1" dirty="0">
                <a:solidFill>
                  <a:schemeClr val="tx1"/>
                </a:solidFill>
                <a:latin typeface="Arial Black" panose="020B0A04020102020204" pitchFamily="34" charset="0"/>
              </a:rPr>
            </a:b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56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11050" y="1218006"/>
            <a:ext cx="8563253" cy="40011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2600" b="1" dirty="0" smtClean="0"/>
              <a:t> </a:t>
            </a:r>
            <a:r>
              <a:rPr lang="en-US" sz="2600" b="1" dirty="0" smtClean="0">
                <a:solidFill>
                  <a:schemeClr val="accent5"/>
                </a:solidFill>
              </a:rPr>
              <a:t>Similar as traditional masonry construction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3" t="3213" r="6574" b="10666"/>
          <a:stretch/>
        </p:blipFill>
        <p:spPr>
          <a:xfrm>
            <a:off x="5883662" y="2412109"/>
            <a:ext cx="4272151" cy="35661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8" t="8132" r="5344" b="2645"/>
          <a:stretch/>
        </p:blipFill>
        <p:spPr>
          <a:xfrm>
            <a:off x="891299" y="1984678"/>
            <a:ext cx="3305062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102964" y="6405700"/>
            <a:ext cx="4916774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Minimum  foundation depth &amp; width 900 mm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08957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882" y="269823"/>
            <a:ext cx="9183378" cy="605916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Slab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57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82" t="10991" r="8297" b="10825"/>
          <a:stretch/>
        </p:blipFill>
        <p:spPr>
          <a:xfrm>
            <a:off x="0" y="1431920"/>
            <a:ext cx="4955458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51256" y="2788169"/>
            <a:ext cx="6161608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Arial "/>
              </a:rPr>
              <a:t>Should be on uniform level</a:t>
            </a:r>
          </a:p>
          <a:p>
            <a:pPr marL="285750" indent="-285750">
              <a:buClr>
                <a:srgbClr val="002060"/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rgbClr val="002060"/>
                </a:solidFill>
                <a:latin typeface="Arial "/>
              </a:rPr>
              <a:t>Minimum thickness: 125 mm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sz="2200" dirty="0" smtClean="0">
                <a:latin typeface="Arial "/>
              </a:rPr>
              <a:t>Reinforcement: 8mm bar @ 150mm c/c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r>
              <a:rPr lang="en-US" sz="2200" dirty="0" smtClean="0">
                <a:solidFill>
                  <a:srgbClr val="002060"/>
                </a:solidFill>
                <a:latin typeface="Arial "/>
              </a:rPr>
              <a:t>Minimum Cover: 15 mm</a:t>
            </a:r>
          </a:p>
          <a:p>
            <a:pPr marL="285750" indent="-285750">
              <a:buSzPct val="140000"/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307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789" y="0"/>
            <a:ext cx="8818126" cy="755114"/>
          </a:xfrm>
        </p:spPr>
        <p:txBody>
          <a:bodyPr>
            <a:normAutofit/>
          </a:bodyPr>
          <a:lstStyle/>
          <a:p>
            <a:pPr algn="ctr"/>
            <a:r>
              <a:rPr lang="en-US" sz="35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Construction Process</a:t>
            </a:r>
            <a:endParaRPr lang="en-US" sz="35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58</a:t>
            </a:fld>
            <a:endParaRPr lang="en-US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206" y="1279238"/>
            <a:ext cx="4784725" cy="390048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4882" y="1003261"/>
            <a:ext cx="4191000" cy="298291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8931" y="3986173"/>
            <a:ext cx="4191000" cy="26670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26449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89963" y="6881813"/>
            <a:ext cx="2098675" cy="50323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1pPr>
            <a:lvl2pPr marL="818285" indent="-314725" eaLnBrk="0" hangingPunct="0"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2pPr>
            <a:lvl3pPr marL="1258900" indent="-251780" eaLnBrk="0" hangingPunct="0"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3pPr>
            <a:lvl4pPr marL="1762460" indent="-251780" eaLnBrk="0" hangingPunct="0"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4pPr>
            <a:lvl5pPr marL="2266020" indent="-251780" eaLnBrk="0" hangingPunct="0"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5pPr>
            <a:lvl6pPr marL="2769580" indent="-251780" eaLnBrk="0" fontAlgn="base" hangingPunct="0">
              <a:spcBef>
                <a:spcPct val="0"/>
              </a:spcBef>
              <a:spcAft>
                <a:spcPct val="0"/>
              </a:spcAft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6pPr>
            <a:lvl7pPr marL="3273141" indent="-251780" eaLnBrk="0" fontAlgn="base" hangingPunct="0">
              <a:spcBef>
                <a:spcPct val="0"/>
              </a:spcBef>
              <a:spcAft>
                <a:spcPct val="0"/>
              </a:spcAft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7pPr>
            <a:lvl8pPr marL="3776701" indent="-251780" eaLnBrk="0" fontAlgn="base" hangingPunct="0">
              <a:spcBef>
                <a:spcPct val="0"/>
              </a:spcBef>
              <a:spcAft>
                <a:spcPct val="0"/>
              </a:spcAft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8pPr>
            <a:lvl9pPr marL="4280261" indent="-251780" eaLnBrk="0" fontAlgn="base" hangingPunct="0">
              <a:spcBef>
                <a:spcPct val="0"/>
              </a:spcBef>
              <a:spcAft>
                <a:spcPct val="0"/>
              </a:spcAft>
              <a:defRPr sz="3524">
                <a:solidFill>
                  <a:schemeClr val="hlink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B5ECD94-BD1D-4D1F-9195-CF112F6243D1}" type="slidenum">
              <a:rPr lang="en-US" altLang="en-US" sz="1542">
                <a:solidFill>
                  <a:schemeClr val="tx1"/>
                </a:solidFill>
                <a:latin typeface="Times New Roman" panose="02020603050405020304" pitchFamily="18" charset="0"/>
              </a:rPr>
              <a:pPr eaLnBrk="1" hangingPunct="1"/>
              <a:t>59</a:t>
            </a:fld>
            <a:endParaRPr lang="en-US" altLang="en-US" sz="1542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8" name="Picture 17" descr="Image 11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39" y="-1"/>
            <a:ext cx="9777360" cy="755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 descr="Image 1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39" y="-1"/>
            <a:ext cx="9777360" cy="755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19" descr="Image 13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39" y="-1"/>
            <a:ext cx="9777360" cy="755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20" descr="Image 14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39" y="-1"/>
            <a:ext cx="9777360" cy="755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21" descr="Image 15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39" y="-1"/>
            <a:ext cx="9777360" cy="755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22" descr="Image 16.jp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39" y="-1"/>
            <a:ext cx="9777360" cy="755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3" descr="Image 17.jp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39" y="-1"/>
            <a:ext cx="9777360" cy="755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4" descr="Image 18.jp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39" y="-1"/>
            <a:ext cx="9777360" cy="755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25" descr="Image 19.jp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639" y="0"/>
            <a:ext cx="9540768" cy="737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26" descr="Image 20.jpg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45" y="-1"/>
            <a:ext cx="10612993" cy="7277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9" name="Rectangle 12"/>
          <p:cNvSpPr>
            <a:spLocks noChangeArrowheads="1"/>
          </p:cNvSpPr>
          <p:nvPr/>
        </p:nvSpPr>
        <p:spPr bwMode="auto">
          <a:xfrm>
            <a:off x="21170" y="6955056"/>
            <a:ext cx="5323149" cy="51709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000" b="1" dirty="0">
                <a:latin typeface="+mn-lt"/>
              </a:rPr>
              <a:t>Confined Masonry Construction</a:t>
            </a:r>
          </a:p>
        </p:txBody>
      </p:sp>
    </p:spTree>
    <p:extLst>
      <p:ext uri="{BB962C8B-B14F-4D97-AF65-F5344CB8AC3E}">
        <p14:creationId xmlns:p14="http://schemas.microsoft.com/office/powerpoint/2010/main" val="3633549532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6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9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D8F11-E02F-4D3E-85B4-F4AEDD07F0EA}" type="slidenum">
              <a:rPr lang="en-US" smtClean="0"/>
              <a:t>60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79685" y="2653259"/>
            <a:ext cx="923394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0" dirty="0" smtClean="0">
                <a:latin typeface="Arial" panose="020B0604020202020204" pitchFamily="34" charset="0"/>
                <a:cs typeface="Arial" panose="020B0604020202020204" pitchFamily="34" charset="0"/>
              </a:rPr>
              <a:t>Thank You !</a:t>
            </a:r>
            <a:endParaRPr lang="en-US" sz="1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65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RRP Presentation Template" id="{09AD6156-CD55-44D2-85C7-41D008B04BA5}" vid="{2704C425-EB35-4A02-ABC7-D6E6E46F0F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2004</TotalTime>
  <Words>1357</Words>
  <Application>Microsoft Office PowerPoint</Application>
  <PresentationFormat>Custom</PresentationFormat>
  <Paragraphs>321</Paragraphs>
  <Slides>60</Slides>
  <Notes>8</Notes>
  <HiddenSlides>8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75" baseType="lpstr">
      <vt:lpstr>Arial</vt:lpstr>
      <vt:lpstr>Arial </vt:lpstr>
      <vt:lpstr>Arial (Body)</vt:lpstr>
      <vt:lpstr>Arial Black</vt:lpstr>
      <vt:lpstr>Calibri</vt:lpstr>
      <vt:lpstr>Calibri Light</vt:lpstr>
      <vt:lpstr>Cambria Math</vt:lpstr>
      <vt:lpstr>Century Gothic</vt:lpstr>
      <vt:lpstr>Georgia</vt:lpstr>
      <vt:lpstr>Helvetica</vt:lpstr>
      <vt:lpstr>Symbol</vt:lpstr>
      <vt:lpstr>Tahoma</vt:lpstr>
      <vt:lpstr>Times New Roman</vt:lpstr>
      <vt:lpstr>Wingdings</vt:lpstr>
      <vt:lpstr>Retrospect</vt:lpstr>
      <vt:lpstr>PowerPoint Presentation</vt:lpstr>
      <vt:lpstr>Why Confined Masonry ?</vt:lpstr>
      <vt:lpstr>Why Confined Masonry  in Nepal?</vt:lpstr>
      <vt:lpstr>An Alternative to RC Frame Construction</vt:lpstr>
      <vt:lpstr>An Alternative to Unreinforced Masonry Construction</vt:lpstr>
      <vt:lpstr>Confined Masonry and RC Frame Construction:  Performance in Recent Earthquakes</vt:lpstr>
      <vt:lpstr>Beginnings </vt:lpstr>
      <vt:lpstr>Confined Masonry  (CM) Construction)</vt:lpstr>
      <vt:lpstr>PowerPoint Presentation</vt:lpstr>
      <vt:lpstr>Components of CM</vt:lpstr>
      <vt:lpstr>PowerPoint Presentation</vt:lpstr>
      <vt:lpstr>Confining elements  (RC tie-columns and RC tie-beams)</vt:lpstr>
      <vt:lpstr>     Confining elements  (RC tie-columns and RC tie-beams)</vt:lpstr>
      <vt:lpstr>Masonry Wall</vt:lpstr>
      <vt:lpstr>Floor &amp; roof Slabs</vt:lpstr>
      <vt:lpstr>Confined Masonry versus Reinforced Masonry</vt:lpstr>
      <vt:lpstr>PowerPoint Presentation</vt:lpstr>
      <vt:lpstr>Confined Masonry versus Infilled RC frames: </vt:lpstr>
      <vt:lpstr>Confined Masonry vs RC Frames with Infills – Key Differences</vt:lpstr>
      <vt:lpstr>PowerPoint Presentation</vt:lpstr>
      <vt:lpstr> Monolithic action of a masonry wall  &amp; RC confining elements</vt:lpstr>
      <vt:lpstr>Mechanism of shear resistance </vt:lpstr>
      <vt:lpstr>Mechanism of shear resistance</vt:lpstr>
      <vt:lpstr>PowerPoint Presentation</vt:lpstr>
      <vt:lpstr>Critical Region</vt:lpstr>
      <vt:lpstr>Failure modes of Confined Masonry buildings (not well designed or constructed) </vt:lpstr>
      <vt:lpstr>In-plane shear failure of masonry wall</vt:lpstr>
      <vt:lpstr>Out-of-Plane Wall Damage</vt:lpstr>
      <vt:lpstr>Out-of-Plane Wall Failure</vt:lpstr>
      <vt:lpstr>Tie-Column Failure</vt:lpstr>
      <vt:lpstr>Buckling of a RC Tie-Column</vt:lpstr>
      <vt:lpstr>Shear Failure of RC Tie-Columns </vt:lpstr>
      <vt:lpstr>Tie-beam-to-tie-column joints </vt:lpstr>
      <vt:lpstr>Tie-beam-to-tie-column joints</vt:lpstr>
      <vt:lpstr>Tie-beam-to-tie-column joints</vt:lpstr>
      <vt:lpstr>Absence of Confining elements  around openings </vt:lpstr>
      <vt:lpstr>In-Plane Shear Cracking – the Effect of Confinement </vt:lpstr>
      <vt:lpstr>Key Causes  of Damages</vt:lpstr>
      <vt:lpstr>Construction Guideline for CM Construction</vt:lpstr>
      <vt:lpstr>PowerPoint Presentation</vt:lpstr>
      <vt:lpstr>Symmetrical wall</vt:lpstr>
      <vt:lpstr>Regular Building Plan</vt:lpstr>
      <vt:lpstr>Plan Shape :  Length-to-width ratio less than 3 times</vt:lpstr>
      <vt:lpstr>Walls should be continuous up the building height </vt:lpstr>
      <vt:lpstr>Opening</vt:lpstr>
      <vt:lpstr>Location of Confining Elements</vt:lpstr>
      <vt:lpstr>Wall Distribution </vt:lpstr>
      <vt:lpstr>PowerPoint Presentation</vt:lpstr>
      <vt:lpstr>PowerPoint Presentation</vt:lpstr>
      <vt:lpstr>Wall (Constructing method)</vt:lpstr>
      <vt:lpstr>Tie -Column</vt:lpstr>
      <vt:lpstr>Tie –Column  (Reinforcements)</vt:lpstr>
      <vt:lpstr>Tie-beam</vt:lpstr>
      <vt:lpstr>Tie-beam</vt:lpstr>
      <vt:lpstr>Joint Detailing</vt:lpstr>
      <vt:lpstr>Foundation and Plinth Construction </vt:lpstr>
      <vt:lpstr>Slab</vt:lpstr>
      <vt:lpstr>Construction Process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National Team Meeting</dc:title>
  <dc:creator>Vikas Gupta</dc:creator>
  <cp:lastModifiedBy>Laxmi Prasad Bhatta</cp:lastModifiedBy>
  <cp:revision>279</cp:revision>
  <dcterms:created xsi:type="dcterms:W3CDTF">2017-06-12T04:26:59Z</dcterms:created>
  <dcterms:modified xsi:type="dcterms:W3CDTF">2017-08-02T10:37:53Z</dcterms:modified>
</cp:coreProperties>
</file>