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3" r:id="rId3"/>
    <p:sldId id="257" r:id="rId4"/>
    <p:sldId id="258" r:id="rId5"/>
    <p:sldId id="274" r:id="rId6"/>
    <p:sldId id="268" r:id="rId7"/>
    <p:sldId id="270" r:id="rId8"/>
    <p:sldId id="275" r:id="rId9"/>
    <p:sldId id="259" r:id="rId10"/>
    <p:sldId id="260" r:id="rId11"/>
    <p:sldId id="271" r:id="rId12"/>
    <p:sldId id="261" r:id="rId13"/>
    <p:sldId id="262" r:id="rId14"/>
    <p:sldId id="263" r:id="rId15"/>
    <p:sldId id="266" r:id="rId16"/>
    <p:sldId id="264" r:id="rId17"/>
    <p:sldId id="272" r:id="rId18"/>
    <p:sldId id="26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7" d="100"/>
          <a:sy n="67" d="100"/>
        </p:scale>
        <p:origin x="-1476" y="-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50D72-4061-4102-9A64-B68EF6CD851F}" type="datetimeFigureOut">
              <a:rPr lang="en-GB" smtClean="0"/>
              <a:t>05/06/2019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26235-D783-4550-B98C-A85DB888F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605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D26235-D783-4550-B98C-A85DB888F0B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5958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ne-NP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D26235-D783-4550-B98C-A85DB888F0B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143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D26235-D783-4550-B98C-A85DB888F0B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445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6C2A-9262-4BF0-8A8D-E2C9E8C0B4D1}" type="datetimeFigureOut">
              <a:rPr lang="en-GB" smtClean="0"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0D16-54BE-472E-B003-A96C4C1E4B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450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6C2A-9262-4BF0-8A8D-E2C9E8C0B4D1}" type="datetimeFigureOut">
              <a:rPr lang="en-GB" smtClean="0"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0D16-54BE-472E-B003-A96C4C1E4B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22878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6C2A-9262-4BF0-8A8D-E2C9E8C0B4D1}" type="datetimeFigureOut">
              <a:rPr lang="en-GB" smtClean="0"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0D16-54BE-472E-B003-A96C4C1E4B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3945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6C2A-9262-4BF0-8A8D-E2C9E8C0B4D1}" type="datetimeFigureOut">
              <a:rPr lang="en-GB" smtClean="0"/>
              <a:t>05/06/2019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0D16-54BE-472E-B003-A96C4C1E4B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62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6C2A-9262-4BF0-8A8D-E2C9E8C0B4D1}" type="datetimeFigureOut">
              <a:rPr lang="en-GB" smtClean="0"/>
              <a:t>05/06/2019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0D16-54BE-472E-B003-A96C4C1E4B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152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6C2A-9262-4BF0-8A8D-E2C9E8C0B4D1}" type="datetimeFigureOut">
              <a:rPr lang="en-GB" smtClean="0"/>
              <a:t>05/06/2019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0D16-54BE-472E-B003-A96C4C1E4B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527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6C2A-9262-4BF0-8A8D-E2C9E8C0B4D1}" type="datetimeFigureOut">
              <a:rPr lang="en-GB" smtClean="0"/>
              <a:t>05/06/2019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0D16-54BE-472E-B003-A96C4C1E4B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7000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6C2A-9262-4BF0-8A8D-E2C9E8C0B4D1}" type="datetimeFigureOut">
              <a:rPr lang="en-GB" smtClean="0"/>
              <a:t>05/06/2019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0D16-54BE-472E-B003-A96C4C1E4B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327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6C2A-9262-4BF0-8A8D-E2C9E8C0B4D1}" type="datetimeFigureOut">
              <a:rPr lang="en-GB" smtClean="0"/>
              <a:t>05/06/2019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0D16-54BE-472E-B003-A96C4C1E4B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72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6C2A-9262-4BF0-8A8D-E2C9E8C0B4D1}" type="datetimeFigureOut">
              <a:rPr lang="en-GB" smtClean="0"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0D16-54BE-472E-B003-A96C4C1E4B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340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6C2A-9262-4BF0-8A8D-E2C9E8C0B4D1}" type="datetimeFigureOut">
              <a:rPr lang="en-GB" smtClean="0"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0D16-54BE-472E-B003-A96C4C1E4B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880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06C2A-9262-4BF0-8A8D-E2C9E8C0B4D1}" type="datetimeFigureOut">
              <a:rPr lang="en-GB" smtClean="0"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0D16-54BE-472E-B003-A96C4C1E4B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10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1"/>
          </a:xfrm>
        </p:spPr>
        <p:txBody>
          <a:bodyPr>
            <a:normAutofit fontScale="90000"/>
          </a:bodyPr>
          <a:lstStyle/>
          <a:p>
            <a:r>
              <a:rPr lang="ne-NP" sz="2800" dirty="0" smtClean="0"/>
              <a:t/>
            </a:r>
            <a:br>
              <a:rPr lang="ne-NP" sz="2800" dirty="0" smtClean="0"/>
            </a:br>
            <a:r>
              <a:rPr lang="ne-NP" sz="2800" dirty="0"/>
              <a:t/>
            </a:r>
            <a:br>
              <a:rPr lang="ne-NP" sz="2800" dirty="0"/>
            </a:br>
            <a:r>
              <a:rPr lang="ne-NP" sz="2800" dirty="0"/>
              <a:t/>
            </a:r>
            <a:br>
              <a:rPr lang="ne-NP" sz="2800" dirty="0"/>
            </a:br>
            <a:r>
              <a:rPr lang="ne-NP" sz="2200" dirty="0"/>
              <a:t>नेपाल </a:t>
            </a:r>
            <a:r>
              <a:rPr lang="ne-NP" sz="2200" dirty="0" smtClean="0"/>
              <a:t>सरकार</a:t>
            </a:r>
            <a:br>
              <a:rPr lang="ne-NP" sz="2200" dirty="0" smtClean="0"/>
            </a:br>
            <a:r>
              <a:rPr lang="ne-NP" sz="3100" dirty="0" smtClean="0"/>
              <a:t/>
            </a:r>
            <a:br>
              <a:rPr lang="ne-NP" sz="3100" dirty="0" smtClean="0"/>
            </a:br>
            <a:r>
              <a:rPr lang="ne-NP" sz="3100" dirty="0" smtClean="0"/>
              <a:t>  </a:t>
            </a:r>
            <a:r>
              <a:rPr lang="ne-NP" sz="2200" dirty="0" smtClean="0"/>
              <a:t>राष्ट्रिय पुनर्निमार्ण प्राधिकरण </a:t>
            </a:r>
            <a:r>
              <a:rPr lang="ne-NP" sz="2700" dirty="0" smtClean="0"/>
              <a:t/>
            </a:r>
            <a:br>
              <a:rPr lang="ne-NP" sz="2700" dirty="0" smtClean="0"/>
            </a:br>
            <a:r>
              <a:rPr lang="ne-NP" sz="2700" dirty="0" smtClean="0"/>
              <a:t>          </a:t>
            </a:r>
            <a:r>
              <a:rPr lang="ne-NP" sz="2800" dirty="0" smtClean="0"/>
              <a:t/>
            </a:r>
            <a:br>
              <a:rPr lang="ne-NP" sz="2800" dirty="0" smtClean="0"/>
            </a:br>
            <a:r>
              <a:rPr lang="en-GB" sz="2700" dirty="0" smtClean="0"/>
              <a:t>  </a:t>
            </a:r>
            <a:r>
              <a:rPr lang="ne-NP" sz="2700" dirty="0" smtClean="0"/>
              <a:t>जिल्ला आयोजना कार्यान्वयन ईकाई</a:t>
            </a:r>
            <a:r>
              <a:rPr lang="en-GB" sz="2700" dirty="0" smtClean="0"/>
              <a:t>(</a:t>
            </a:r>
            <a:r>
              <a:rPr lang="ne-NP" sz="2700" dirty="0" smtClean="0"/>
              <a:t>भवन</a:t>
            </a:r>
            <a:r>
              <a:rPr lang="en-GB" sz="2700" dirty="0" smtClean="0"/>
              <a:t>)</a:t>
            </a:r>
            <a:r>
              <a:rPr lang="ne-NP" sz="2700" dirty="0" smtClean="0"/>
              <a:t/>
            </a:r>
            <a:br>
              <a:rPr lang="ne-NP" sz="2700" dirty="0" smtClean="0"/>
            </a:br>
            <a:r>
              <a:rPr lang="en-GB" sz="2200" dirty="0" smtClean="0"/>
              <a:t/>
            </a:r>
            <a:br>
              <a:rPr lang="en-GB" sz="2200" dirty="0" smtClean="0"/>
            </a:br>
            <a:r>
              <a:rPr lang="en-GB" sz="2700" dirty="0" smtClean="0"/>
              <a:t>     </a:t>
            </a:r>
            <a:r>
              <a:rPr lang="ne-NP" sz="2700" dirty="0" smtClean="0"/>
              <a:t>सार्वजनिक सुनुवाई तथा अन्तर्त्रिया कार्यत्रम</a:t>
            </a:r>
            <a:br>
              <a:rPr lang="ne-NP" sz="2700" dirty="0" smtClean="0"/>
            </a:br>
            <a:r>
              <a:rPr lang="ne-NP" sz="2800" dirty="0" smtClean="0"/>
              <a:t/>
            </a:r>
            <a:br>
              <a:rPr lang="ne-NP" sz="2800" dirty="0" smtClean="0"/>
            </a:br>
            <a:r>
              <a:rPr lang="en-GB" sz="2700" dirty="0" smtClean="0"/>
              <a:t>   </a:t>
            </a:r>
            <a:r>
              <a:rPr lang="ne-NP" sz="2700" dirty="0" smtClean="0"/>
              <a:t>मिति</a:t>
            </a:r>
            <a:r>
              <a:rPr lang="en-GB" sz="2700" dirty="0" smtClean="0"/>
              <a:t>:</a:t>
            </a:r>
            <a:r>
              <a:rPr lang="ne-NP" sz="2700" dirty="0" smtClean="0"/>
              <a:t>२०७६ </a:t>
            </a:r>
            <a:r>
              <a:rPr lang="en-GB" sz="2700" dirty="0" smtClean="0"/>
              <a:t>– </a:t>
            </a:r>
            <a:r>
              <a:rPr lang="ne-NP" sz="2700" dirty="0" smtClean="0"/>
              <a:t>०२ </a:t>
            </a:r>
            <a:r>
              <a:rPr lang="en-GB" sz="2700" dirty="0" smtClean="0"/>
              <a:t>-</a:t>
            </a:r>
            <a:r>
              <a:rPr lang="ne-NP" sz="2700" dirty="0" smtClean="0"/>
              <a:t>२२</a:t>
            </a:r>
            <a:br>
              <a:rPr lang="ne-NP" sz="2700" dirty="0" smtClean="0"/>
            </a:br>
            <a:r>
              <a:rPr lang="ne-NP" sz="2800" dirty="0" smtClean="0"/>
              <a:t/>
            </a:r>
            <a:br>
              <a:rPr lang="ne-NP" sz="2800" dirty="0" smtClean="0"/>
            </a:br>
            <a:r>
              <a:rPr lang="ne-NP" sz="2800" dirty="0"/>
              <a:t/>
            </a:r>
            <a:br>
              <a:rPr lang="ne-NP" sz="2800" dirty="0"/>
            </a:br>
            <a:r>
              <a:rPr lang="ne-NP" sz="2800" dirty="0" smtClean="0"/>
              <a:t/>
            </a:r>
            <a:br>
              <a:rPr lang="ne-NP" sz="2800" dirty="0" smtClean="0"/>
            </a:br>
            <a:r>
              <a:rPr lang="ne-NP" sz="2800" dirty="0"/>
              <a:t/>
            </a:r>
            <a:br>
              <a:rPr lang="ne-NP" sz="2800" dirty="0"/>
            </a:br>
            <a:r>
              <a:rPr lang="ne-NP" sz="2800" dirty="0"/>
              <a:t/>
            </a:r>
            <a:br>
              <a:rPr lang="ne-NP" sz="2800" dirty="0"/>
            </a:br>
            <a:r>
              <a:rPr lang="ne-NP" sz="2800" dirty="0" smtClean="0"/>
              <a:t/>
            </a:r>
            <a:br>
              <a:rPr lang="ne-NP" sz="2800" dirty="0" smtClean="0"/>
            </a:br>
            <a:r>
              <a:rPr lang="ne-NP" sz="2800" dirty="0"/>
              <a:t/>
            </a:r>
            <a:br>
              <a:rPr lang="ne-NP" sz="2800" dirty="0"/>
            </a:br>
            <a:r>
              <a:rPr lang="ne-NP" sz="2800" dirty="0" smtClean="0"/>
              <a:t/>
            </a:r>
            <a:br>
              <a:rPr lang="ne-NP" sz="2800" dirty="0" smtClean="0"/>
            </a:br>
            <a:r>
              <a:rPr lang="ne-NP" sz="2800" dirty="0"/>
              <a:t/>
            </a:r>
            <a:br>
              <a:rPr lang="ne-NP" sz="2800" dirty="0"/>
            </a:br>
            <a:r>
              <a:rPr lang="ne-NP" sz="2000" dirty="0" smtClean="0"/>
              <a:t/>
            </a:r>
            <a:br>
              <a:rPr lang="ne-NP" sz="2000" dirty="0" smtClean="0"/>
            </a:br>
            <a:r>
              <a:rPr lang="ne-NP" sz="2000" dirty="0" smtClean="0"/>
              <a:t>      </a:t>
            </a:r>
            <a:endParaRPr lang="en-GB" sz="1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endParaRPr lang="ne-NP" dirty="0" smtClean="0"/>
          </a:p>
          <a:p>
            <a:r>
              <a:rPr lang="ne-NP" dirty="0" smtClean="0"/>
              <a:t>               </a:t>
            </a:r>
          </a:p>
          <a:p>
            <a:endParaRPr lang="ne-NP" sz="7200" dirty="0"/>
          </a:p>
          <a:p>
            <a:endParaRPr lang="ne-NP" sz="7200" b="1" dirty="0" smtClean="0"/>
          </a:p>
          <a:p>
            <a:endParaRPr lang="ne-NP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ne-NP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</a:t>
            </a:r>
            <a:r>
              <a:rPr lang="ne-NP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</a:t>
            </a:r>
            <a:endParaRPr lang="en-GB" sz="3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9" y="154553"/>
            <a:ext cx="109051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064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EDEC2A-3974-4C05-A8CB-2F00ED2019E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" y="1085088"/>
            <a:ext cx="7559040" cy="4474464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1104" y="341376"/>
            <a:ext cx="7607808" cy="609600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 marL="0" marR="0" lvl="0" indent="0" algn="ctr" defTabSz="6858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Map</a:t>
            </a:r>
            <a:r>
              <a:rPr kumimoji="0" lang="en-GB" sz="33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of </a:t>
            </a:r>
            <a:r>
              <a:rPr kumimoji="0" lang="en-GB" sz="33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Kaski</a:t>
            </a:r>
            <a:r>
              <a:rPr kumimoji="0" lang="en-GB" sz="3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district</a:t>
            </a:r>
            <a:endParaRPr kumimoji="0" lang="en-US" sz="3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47566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e-NP" sz="2400" dirty="0" smtClean="0"/>
              <a:t>निजी आवास पुननिर्माण</a:t>
            </a:r>
            <a:br>
              <a:rPr lang="ne-NP" sz="2400" dirty="0" smtClean="0"/>
            </a:br>
            <a:endParaRPr lang="en-GB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sz="5100" dirty="0" smtClean="0"/>
              <a:t>  </a:t>
            </a:r>
            <a:r>
              <a:rPr lang="ne-NP" sz="5100" dirty="0" smtClean="0"/>
              <a:t>हाल सम्म भएको प्रगति विवरण</a:t>
            </a:r>
          </a:p>
          <a:p>
            <a:pPr marL="0" indent="0">
              <a:buNone/>
            </a:pPr>
            <a:endParaRPr lang="ne-NP" sz="4500" dirty="0" smtClean="0"/>
          </a:p>
          <a:p>
            <a:pPr marL="0" indent="0">
              <a:buNone/>
            </a:pPr>
            <a:r>
              <a:rPr lang="ne-NP" sz="4500" dirty="0" smtClean="0"/>
              <a:t>  पुननिर्माण तर्फ </a:t>
            </a:r>
            <a:r>
              <a:rPr lang="en-GB" sz="4500" dirty="0" smtClean="0"/>
              <a:t>:</a:t>
            </a:r>
            <a:endParaRPr lang="ne-NP" sz="4500" dirty="0" smtClean="0"/>
          </a:p>
          <a:p>
            <a:pPr marL="0" indent="0">
              <a:buNone/>
            </a:pPr>
            <a:endParaRPr lang="ne-NP" sz="3300" dirty="0"/>
          </a:p>
          <a:p>
            <a:r>
              <a:rPr lang="en-GB" sz="3300" dirty="0" smtClean="0"/>
              <a:t> </a:t>
            </a:r>
            <a:r>
              <a:rPr lang="ne-NP" sz="3300" dirty="0" smtClean="0"/>
              <a:t>कुल पूर्णक्षति लाभग्राही संख्र्या </a:t>
            </a:r>
            <a:r>
              <a:rPr lang="en-GB" sz="3300" dirty="0" smtClean="0"/>
              <a:t>:</a:t>
            </a:r>
            <a:r>
              <a:rPr lang="ne-NP" sz="3300" dirty="0" smtClean="0"/>
              <a:t>३९५</a:t>
            </a:r>
            <a:endParaRPr lang="en-GB" sz="3300" dirty="0" smtClean="0"/>
          </a:p>
          <a:p>
            <a:pPr marL="0" indent="0">
              <a:buNone/>
            </a:pPr>
            <a:endParaRPr lang="en-GB" sz="2000" dirty="0" smtClean="0"/>
          </a:p>
          <a:p>
            <a:endParaRPr lang="ne-NP" sz="2000" dirty="0" smtClean="0"/>
          </a:p>
          <a:p>
            <a:r>
              <a:rPr lang="ne-NP" sz="2900" dirty="0" smtClean="0"/>
              <a:t>प्रथम किस्ता प्राप्त संख्या</a:t>
            </a:r>
            <a:r>
              <a:rPr lang="en-GB" sz="3400" dirty="0" smtClean="0"/>
              <a:t>: </a:t>
            </a:r>
            <a:r>
              <a:rPr lang="ne-NP" sz="3400" dirty="0" smtClean="0"/>
              <a:t>३५३</a:t>
            </a:r>
            <a:endParaRPr lang="en-GB" sz="3400" dirty="0" smtClean="0"/>
          </a:p>
          <a:p>
            <a:pPr marL="0" indent="0">
              <a:buNone/>
            </a:pPr>
            <a:endParaRPr lang="ne-NP" sz="3400" dirty="0" smtClean="0"/>
          </a:p>
          <a:p>
            <a:r>
              <a:rPr lang="ne-NP" sz="3400" dirty="0" smtClean="0"/>
              <a:t>सम्झौता गर्ने बाँकी</a:t>
            </a:r>
            <a:r>
              <a:rPr lang="en-GB" sz="3400" dirty="0" smtClean="0"/>
              <a:t>:</a:t>
            </a:r>
            <a:r>
              <a:rPr lang="ne-NP" sz="3400" dirty="0" smtClean="0"/>
              <a:t> ४२</a:t>
            </a:r>
            <a:endParaRPr lang="ne-NP" sz="3400" dirty="0"/>
          </a:p>
          <a:p>
            <a:endParaRPr lang="en-GB" sz="2000" dirty="0" smtClean="0"/>
          </a:p>
          <a:p>
            <a:r>
              <a:rPr lang="ne-NP" sz="3400" dirty="0" smtClean="0"/>
              <a:t>दोस्रो किस्ता प्राप्त </a:t>
            </a:r>
            <a:r>
              <a:rPr lang="en-GB" sz="3400" dirty="0" smtClean="0"/>
              <a:t>:</a:t>
            </a:r>
            <a:r>
              <a:rPr lang="ne-NP" sz="3400" dirty="0" smtClean="0"/>
              <a:t>१७९</a:t>
            </a:r>
            <a:endParaRPr lang="en-GB" sz="3400" dirty="0" smtClean="0"/>
          </a:p>
          <a:p>
            <a:pPr marL="0" indent="0">
              <a:buNone/>
            </a:pPr>
            <a:r>
              <a:rPr lang="en-GB" sz="2000" dirty="0" smtClean="0"/>
              <a:t> </a:t>
            </a:r>
          </a:p>
          <a:p>
            <a:r>
              <a:rPr lang="ne-NP" sz="3300" dirty="0" smtClean="0"/>
              <a:t>तेस्रो किस्ता प्राप्त </a:t>
            </a:r>
            <a:r>
              <a:rPr lang="en-GB" sz="3300" dirty="0" smtClean="0"/>
              <a:t>: </a:t>
            </a:r>
            <a:r>
              <a:rPr lang="ne-NP" sz="3300" dirty="0" smtClean="0"/>
              <a:t>७५</a:t>
            </a:r>
            <a:endParaRPr lang="en-GB" sz="3300" dirty="0" smtClean="0"/>
          </a:p>
          <a:p>
            <a:endParaRPr lang="ne-NP" sz="3300" dirty="0" smtClean="0"/>
          </a:p>
          <a:p>
            <a:r>
              <a:rPr lang="ne-NP" sz="3300" dirty="0" smtClean="0"/>
              <a:t>निर्माणाधीन घरहरु </a:t>
            </a:r>
            <a:r>
              <a:rPr lang="en-GB" sz="3300" dirty="0" smtClean="0"/>
              <a:t>: </a:t>
            </a:r>
            <a:r>
              <a:rPr lang="ne-NP" sz="3300" dirty="0" smtClean="0"/>
              <a:t>१०</a:t>
            </a:r>
            <a:endParaRPr lang="en-GB" sz="3300" dirty="0" smtClean="0"/>
          </a:p>
          <a:p>
            <a:endParaRPr lang="ne-NP" sz="1600" dirty="0" smtClean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9" y="154553"/>
            <a:ext cx="109051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6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e-NP" sz="3200" dirty="0" smtClean="0"/>
              <a:t>निजी आवास पुननिर्माण</a:t>
            </a:r>
            <a:br>
              <a:rPr lang="ne-NP" sz="3200" dirty="0" smtClean="0"/>
            </a:b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e-NP" sz="1800" dirty="0" smtClean="0"/>
          </a:p>
          <a:p>
            <a:r>
              <a:rPr lang="ne-NP" sz="1800" dirty="0" smtClean="0"/>
              <a:t>प्राविधिक आउनु अघि सम्पन घरहरुको संख्या</a:t>
            </a:r>
            <a:r>
              <a:rPr lang="en-GB" sz="1800" dirty="0" smtClean="0"/>
              <a:t>:</a:t>
            </a:r>
            <a:r>
              <a:rPr lang="ne-NP" sz="1800" dirty="0" smtClean="0"/>
              <a:t>६०</a:t>
            </a:r>
            <a:endParaRPr lang="en-GB" sz="1800" dirty="0" smtClean="0"/>
          </a:p>
          <a:p>
            <a:pPr marL="0" indent="0">
              <a:buNone/>
            </a:pPr>
            <a:r>
              <a:rPr lang="en-GB" sz="1800" dirty="0"/>
              <a:t> </a:t>
            </a:r>
            <a:endParaRPr lang="en-GB" sz="1800" dirty="0" smtClean="0"/>
          </a:p>
          <a:p>
            <a:pPr marL="0" indent="0">
              <a:buNone/>
            </a:pPr>
            <a:r>
              <a:rPr lang="en-GB" sz="1800" dirty="0"/>
              <a:t> </a:t>
            </a:r>
            <a:r>
              <a:rPr lang="en-GB" sz="1800" dirty="0" smtClean="0"/>
              <a:t>  </a:t>
            </a:r>
            <a:r>
              <a:rPr lang="ne-NP" sz="1800" dirty="0" smtClean="0"/>
              <a:t> </a:t>
            </a:r>
            <a:r>
              <a:rPr lang="en-GB" sz="1800" dirty="0" smtClean="0"/>
              <a:t>  </a:t>
            </a:r>
            <a:r>
              <a:rPr lang="ne-NP" sz="2400" dirty="0" smtClean="0"/>
              <a:t>प्रबलिकरण तर्फ</a:t>
            </a:r>
            <a:r>
              <a:rPr lang="en-GB" sz="2400" dirty="0" smtClean="0"/>
              <a:t>: </a:t>
            </a:r>
            <a:endParaRPr lang="ne-NP" sz="2400" dirty="0" smtClean="0"/>
          </a:p>
          <a:p>
            <a:pPr marL="0" indent="0">
              <a:buNone/>
            </a:pPr>
            <a:endParaRPr lang="en-GB" sz="2400" dirty="0" smtClean="0"/>
          </a:p>
          <a:p>
            <a:r>
              <a:rPr lang="ne-NP" sz="1800" dirty="0" smtClean="0"/>
              <a:t> कुल लाभग्राही संख्या </a:t>
            </a:r>
            <a:r>
              <a:rPr lang="en-GB" sz="1800" dirty="0" smtClean="0"/>
              <a:t>: </a:t>
            </a:r>
            <a:r>
              <a:rPr lang="ne-NP" sz="1800" dirty="0" smtClean="0"/>
              <a:t>१९</a:t>
            </a:r>
          </a:p>
          <a:p>
            <a:pPr marL="0" indent="0">
              <a:buNone/>
            </a:pPr>
            <a:endParaRPr lang="ne-NP" sz="1800" dirty="0" smtClean="0"/>
          </a:p>
          <a:p>
            <a:r>
              <a:rPr lang="ne-NP" sz="1800" dirty="0" smtClean="0"/>
              <a:t>पहिलो किस्ता प्राप्त संख्या </a:t>
            </a:r>
            <a:r>
              <a:rPr lang="en-GB" sz="1800" dirty="0" smtClean="0"/>
              <a:t>: </a:t>
            </a:r>
            <a:r>
              <a:rPr lang="ne-NP" sz="1800" dirty="0" smtClean="0"/>
              <a:t>१</a:t>
            </a:r>
            <a:r>
              <a:rPr lang="ne-NP" sz="1800" dirty="0"/>
              <a:t>३</a:t>
            </a:r>
            <a:endParaRPr lang="ne-NP" sz="1800" dirty="0" smtClean="0"/>
          </a:p>
          <a:p>
            <a:endParaRPr lang="ne-NP" sz="1800" dirty="0" smtClean="0"/>
          </a:p>
          <a:p>
            <a:r>
              <a:rPr lang="ne-NP" sz="1800" dirty="0" smtClean="0"/>
              <a:t>सम्झौता गर्ने बाँकी</a:t>
            </a:r>
            <a:r>
              <a:rPr lang="en-GB" sz="1800" dirty="0" smtClean="0"/>
              <a:t> </a:t>
            </a:r>
            <a:r>
              <a:rPr lang="ne-NP" sz="1800" dirty="0" smtClean="0"/>
              <a:t>संख्या </a:t>
            </a:r>
            <a:r>
              <a:rPr lang="en-GB" sz="1800" dirty="0" smtClean="0"/>
              <a:t>:</a:t>
            </a:r>
            <a:r>
              <a:rPr lang="ne-NP" sz="1800" dirty="0" smtClean="0"/>
              <a:t> </a:t>
            </a:r>
            <a:r>
              <a:rPr lang="ne-NP" sz="1800" dirty="0"/>
              <a:t>६</a:t>
            </a:r>
            <a:endParaRPr lang="ne-NP" sz="1800" dirty="0" smtClean="0"/>
          </a:p>
          <a:p>
            <a:pPr marL="0" indent="0">
              <a:buNone/>
            </a:pPr>
            <a:endParaRPr lang="ne-NP" sz="1800" dirty="0"/>
          </a:p>
          <a:p>
            <a:r>
              <a:rPr lang="ne-NP" sz="1800" dirty="0" smtClean="0"/>
              <a:t>थप गुनासो संख्या </a:t>
            </a:r>
            <a:r>
              <a:rPr lang="en-GB" sz="1800" dirty="0" smtClean="0"/>
              <a:t>: </a:t>
            </a:r>
            <a:r>
              <a:rPr lang="ne-NP" sz="1800" dirty="0" smtClean="0"/>
              <a:t>२१८</a:t>
            </a:r>
          </a:p>
          <a:p>
            <a:endParaRPr lang="en-GB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9" y="154553"/>
            <a:ext cx="109051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81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683387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pPr algn="ctr"/>
            <a:r>
              <a:rPr lang="en-GB" dirty="0" smtClean="0">
                <a:solidFill>
                  <a:schemeClr val="bg1"/>
                </a:solidFill>
              </a:rPr>
              <a:t>Tranche Update – </a:t>
            </a:r>
            <a:r>
              <a:rPr lang="en-GB" dirty="0" err="1" smtClean="0">
                <a:solidFill>
                  <a:schemeClr val="bg1"/>
                </a:solidFill>
              </a:rPr>
              <a:t>Kaski</a:t>
            </a:r>
            <a:r>
              <a:rPr lang="en-GB" dirty="0" smtClean="0">
                <a:solidFill>
                  <a:schemeClr val="bg1"/>
                </a:solidFill>
              </a:rPr>
              <a:t> District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367059"/>
              </p:ext>
            </p:extLst>
          </p:nvPr>
        </p:nvGraphicFramePr>
        <p:xfrm>
          <a:off x="251521" y="1316732"/>
          <a:ext cx="8712971" cy="4197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7">
                  <a:extLst>
                    <a:ext uri="{9D8B030D-6E8A-4147-A177-3AD203B41FA5}">
                      <a16:colId xmlns:a16="http://schemas.microsoft.com/office/drawing/2014/main" xmlns="" val="1836424992"/>
                    </a:ext>
                  </a:extLst>
                </a:gridCol>
                <a:gridCol w="974167">
                  <a:extLst>
                    <a:ext uri="{9D8B030D-6E8A-4147-A177-3AD203B41FA5}">
                      <a16:colId xmlns:a16="http://schemas.microsoft.com/office/drawing/2014/main" xmlns="" val="4011274085"/>
                    </a:ext>
                  </a:extLst>
                </a:gridCol>
                <a:gridCol w="989127"/>
                <a:gridCol w="1317034">
                  <a:extLst>
                    <a:ext uri="{9D8B030D-6E8A-4147-A177-3AD203B41FA5}">
                      <a16:colId xmlns:a16="http://schemas.microsoft.com/office/drawing/2014/main" xmlns="" val="673507372"/>
                    </a:ext>
                  </a:extLst>
                </a:gridCol>
                <a:gridCol w="1297217">
                  <a:extLst>
                    <a:ext uri="{9D8B030D-6E8A-4147-A177-3AD203B41FA5}">
                      <a16:colId xmlns:a16="http://schemas.microsoft.com/office/drawing/2014/main" xmlns="" val="1807635463"/>
                    </a:ext>
                  </a:extLst>
                </a:gridCol>
                <a:gridCol w="1076209">
                  <a:extLst>
                    <a:ext uri="{9D8B030D-6E8A-4147-A177-3AD203B41FA5}">
                      <a16:colId xmlns:a16="http://schemas.microsoft.com/office/drawing/2014/main" xmlns="" val="3427757040"/>
                    </a:ext>
                  </a:extLst>
                </a:gridCol>
                <a:gridCol w="1547050">
                  <a:extLst>
                    <a:ext uri="{9D8B030D-6E8A-4147-A177-3AD203B41FA5}">
                      <a16:colId xmlns:a16="http://schemas.microsoft.com/office/drawing/2014/main" xmlns="" val="3007321589"/>
                    </a:ext>
                  </a:extLst>
                </a:gridCol>
              </a:tblGrid>
              <a:tr h="58347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Palika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Eligible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Enrolled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r>
                        <a:rPr lang="en-US" baseline="0" dirty="0" smtClean="0"/>
                        <a:t> -</a:t>
                      </a:r>
                      <a:r>
                        <a:rPr lang="en-US" dirty="0" smtClean="0"/>
                        <a:t>Tranche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II -Tranche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III-Tranche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Non-Compliance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15787033"/>
                  </a:ext>
                </a:extLst>
              </a:tr>
              <a:tr h="58347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Pokhara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2774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2421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1153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281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331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64176030"/>
                  </a:ext>
                </a:extLst>
              </a:tr>
              <a:tr h="58347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Machhapuchhre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427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265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84720123"/>
                  </a:ext>
                </a:extLst>
              </a:tr>
              <a:tr h="583475">
                <a:tc>
                  <a:txBody>
                    <a:bodyPr/>
                    <a:lstStyle/>
                    <a:p>
                      <a:r>
                        <a:rPr lang="en-US" dirty="0" smtClean="0"/>
                        <a:t>Rupa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1222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455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238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904801"/>
                  </a:ext>
                </a:extLst>
              </a:tr>
              <a:tr h="58347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Madi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1160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512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97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58823340"/>
                  </a:ext>
                </a:extLst>
              </a:tr>
              <a:tr h="583475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</a:rPr>
                        <a:t>Annapurna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</a:rPr>
                        <a:t>395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</a:rPr>
                        <a:t>395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</a:rPr>
                        <a:t>395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</a:rPr>
                        <a:t>179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</a:rPr>
                        <a:t>74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</a:rPr>
                        <a:t>180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16500825"/>
                  </a:ext>
                </a:extLst>
              </a:tr>
              <a:tr h="583475">
                <a:tc>
                  <a:txBody>
                    <a:bodyPr/>
                    <a:lstStyle/>
                    <a:p>
                      <a:r>
                        <a:rPr lang="en-US" b="1" dirty="0" smtClean="0"/>
                        <a:t>Total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6026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5625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5625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2564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722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864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8946459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A2EAE9-F81B-43CE-AD4B-786050ABF51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40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260648"/>
            <a:ext cx="7293496" cy="432048"/>
          </a:xfrm>
        </p:spPr>
        <p:txBody>
          <a:bodyPr>
            <a:noAutofit/>
          </a:bodyPr>
          <a:lstStyle/>
          <a:p>
            <a:r>
              <a:rPr lang="ne-NP" sz="2800" dirty="0" smtClean="0"/>
              <a:t>तथ्यांक </a:t>
            </a:r>
            <a:r>
              <a:rPr lang="en-GB" sz="2800" dirty="0" smtClean="0"/>
              <a:t>: </a:t>
            </a:r>
            <a:r>
              <a:rPr lang="ne-NP" sz="2800" dirty="0" smtClean="0"/>
              <a:t>निजी आवास पुननिर्माण</a:t>
            </a:r>
            <a:endParaRPr lang="en-GB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2082042"/>
              </p:ext>
            </p:extLst>
          </p:nvPr>
        </p:nvGraphicFramePr>
        <p:xfrm>
          <a:off x="395536" y="892576"/>
          <a:ext cx="8568959" cy="59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/>
                <a:gridCol w="1296144"/>
                <a:gridCol w="936105"/>
                <a:gridCol w="864096"/>
                <a:gridCol w="792088"/>
                <a:gridCol w="1080121"/>
                <a:gridCol w="1008113"/>
                <a:gridCol w="864093"/>
                <a:gridCol w="1296151"/>
              </a:tblGrid>
              <a:tr h="1168272">
                <a:tc>
                  <a:txBody>
                    <a:bodyPr/>
                    <a:lstStyle/>
                    <a:p>
                      <a:r>
                        <a:rPr lang="ne-NP" dirty="0" smtClean="0"/>
                        <a:t>क्र् </a:t>
                      </a:r>
                      <a:r>
                        <a:rPr lang="en-GB" dirty="0" smtClean="0"/>
                        <a:t>.</a:t>
                      </a:r>
                      <a:r>
                        <a:rPr lang="ne-NP" dirty="0" smtClean="0"/>
                        <a:t>स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>
                          <a:solidFill>
                            <a:schemeClr val="bg1"/>
                          </a:solidFill>
                        </a:rPr>
                        <a:t>वडा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जम्मा प्रभावित</a:t>
                      </a:r>
                      <a:r>
                        <a:rPr lang="ne-NP" baseline="0" dirty="0" smtClean="0"/>
                        <a:t> घर संख्या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पहिलो किस्ता लिने संख्या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दोस्रो</a:t>
                      </a:r>
                      <a:r>
                        <a:rPr lang="ne-NP" baseline="0" dirty="0" smtClean="0"/>
                        <a:t> किस्ता लिने संख्या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तेस्रो</a:t>
                      </a:r>
                      <a:r>
                        <a:rPr lang="ne-NP" baseline="0" dirty="0" smtClean="0"/>
                        <a:t> किस्ता लिने संख्या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निर्माणाधिन घरको</a:t>
                      </a:r>
                      <a:r>
                        <a:rPr lang="ne-NP" baseline="0" dirty="0" smtClean="0"/>
                        <a:t> संख्या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पहिले</a:t>
                      </a:r>
                      <a:r>
                        <a:rPr lang="ne-NP" baseline="0" dirty="0" smtClean="0"/>
                        <a:t> बनेका घरहरुको संख्या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प्रबलिकरणको</a:t>
                      </a:r>
                      <a:r>
                        <a:rPr lang="ne-NP" baseline="0" dirty="0" smtClean="0"/>
                        <a:t> संख्या</a:t>
                      </a:r>
                      <a:endParaRPr lang="en-GB" dirty="0"/>
                    </a:p>
                  </a:txBody>
                  <a:tcPr/>
                </a:tc>
              </a:tr>
              <a:tr h="414968">
                <a:tc>
                  <a:txBody>
                    <a:bodyPr/>
                    <a:lstStyle/>
                    <a:p>
                      <a:r>
                        <a:rPr lang="ne-NP" dirty="0" smtClean="0"/>
                        <a:t>१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वडा</a:t>
                      </a:r>
                      <a:r>
                        <a:rPr lang="ne-NP" baseline="0" dirty="0" smtClean="0"/>
                        <a:t> नं १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४९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४९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३९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५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५</a:t>
                      </a:r>
                      <a:endParaRPr lang="en-GB" dirty="0"/>
                    </a:p>
                  </a:txBody>
                  <a:tcPr/>
                </a:tc>
              </a:tr>
              <a:tr h="361818">
                <a:tc>
                  <a:txBody>
                    <a:bodyPr/>
                    <a:lstStyle/>
                    <a:p>
                      <a:r>
                        <a:rPr lang="ne-NP" dirty="0" smtClean="0"/>
                        <a:t>२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वडा नं २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२४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२४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१४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७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७</a:t>
                      </a:r>
                      <a:endParaRPr lang="en-GB" dirty="0"/>
                    </a:p>
                  </a:txBody>
                  <a:tcPr/>
                </a:tc>
              </a:tr>
              <a:tr h="361818">
                <a:tc>
                  <a:txBody>
                    <a:bodyPr/>
                    <a:lstStyle/>
                    <a:p>
                      <a:r>
                        <a:rPr lang="ne-NP" dirty="0" smtClean="0"/>
                        <a:t>३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वडा नं ३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३६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३५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३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1818">
                <a:tc>
                  <a:txBody>
                    <a:bodyPr/>
                    <a:lstStyle/>
                    <a:p>
                      <a:r>
                        <a:rPr lang="ne-NP" dirty="0" smtClean="0"/>
                        <a:t>४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वडा नं ४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२१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२१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१४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४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५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५</a:t>
                      </a:r>
                      <a:endParaRPr lang="en-GB" dirty="0"/>
                    </a:p>
                  </a:txBody>
                  <a:tcPr/>
                </a:tc>
              </a:tr>
              <a:tr h="361818">
                <a:tc>
                  <a:txBody>
                    <a:bodyPr/>
                    <a:lstStyle/>
                    <a:p>
                      <a:r>
                        <a:rPr lang="ne-NP" dirty="0" smtClean="0"/>
                        <a:t>५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वडा नं ५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५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361818">
                <a:tc>
                  <a:txBody>
                    <a:bodyPr/>
                    <a:lstStyle/>
                    <a:p>
                      <a:r>
                        <a:rPr lang="ne-NP" dirty="0" smtClean="0"/>
                        <a:t>६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वडा नं ६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६४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६०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३४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१५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३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४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361818">
                <a:tc>
                  <a:txBody>
                    <a:bodyPr/>
                    <a:lstStyle/>
                    <a:p>
                      <a:r>
                        <a:rPr lang="ne-NP" dirty="0" smtClean="0"/>
                        <a:t>७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वडा</a:t>
                      </a:r>
                      <a:r>
                        <a:rPr lang="ne-NP" baseline="0" dirty="0" smtClean="0"/>
                        <a:t> नं ७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९७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८७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२३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५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१७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</a:t>
                      </a:r>
                      <a:endParaRPr lang="en-GB" dirty="0"/>
                    </a:p>
                  </a:txBody>
                  <a:tcPr/>
                </a:tc>
              </a:tr>
              <a:tr h="361818">
                <a:tc>
                  <a:txBody>
                    <a:bodyPr/>
                    <a:lstStyle/>
                    <a:p>
                      <a:r>
                        <a:rPr lang="ne-NP" dirty="0" smtClean="0"/>
                        <a:t>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वडा नं</a:t>
                      </a:r>
                      <a:r>
                        <a:rPr lang="ne-NP" baseline="0" dirty="0" smtClean="0"/>
                        <a:t> 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१९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१२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३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४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५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1818">
                <a:tc>
                  <a:txBody>
                    <a:bodyPr/>
                    <a:lstStyle/>
                    <a:p>
                      <a:r>
                        <a:rPr lang="ne-NP" dirty="0" smtClean="0"/>
                        <a:t>९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वडा नं ९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१२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१२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५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६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1818">
                <a:tc>
                  <a:txBody>
                    <a:bodyPr/>
                    <a:lstStyle/>
                    <a:p>
                      <a:r>
                        <a:rPr lang="ne-NP" dirty="0" smtClean="0"/>
                        <a:t>१०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वडा नं १०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२९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१७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६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४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1818">
                <a:tc>
                  <a:txBody>
                    <a:bodyPr/>
                    <a:lstStyle/>
                    <a:p>
                      <a:r>
                        <a:rPr lang="ne-NP" dirty="0" smtClean="0"/>
                        <a:t>११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वडा नं ११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३६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२५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६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जम्मा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३९५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३६४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१७९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७५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२३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६८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१९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072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52" y="121285"/>
            <a:ext cx="8278368" cy="939419"/>
          </a:xfrm>
          <a:solidFill>
            <a:srgbClr val="92D050"/>
          </a:solidFill>
        </p:spPr>
        <p:txBody>
          <a:bodyPr/>
          <a:lstStyle/>
          <a:p>
            <a:r>
              <a:rPr lang="en-US" sz="2800" b="1" dirty="0" smtClean="0"/>
              <a:t>Progress summary sheet of Non-Compliances file</a:t>
            </a:r>
            <a:endParaRPr lang="en-US" sz="2800" b="1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6240387"/>
              </p:ext>
            </p:extLst>
          </p:nvPr>
        </p:nvGraphicFramePr>
        <p:xfrm>
          <a:off x="179512" y="2132856"/>
          <a:ext cx="8784976" cy="1697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298"/>
                <a:gridCol w="1492934"/>
                <a:gridCol w="864096"/>
                <a:gridCol w="656504"/>
                <a:gridCol w="633984"/>
                <a:gridCol w="1024128"/>
                <a:gridCol w="1011936"/>
                <a:gridCol w="646176"/>
                <a:gridCol w="1859920"/>
              </a:tblGrid>
              <a:tr h="475488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SN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RM/M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35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lang="ne-NP" sz="1350" b="0" i="0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350" b="0" i="0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File  Received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35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 Pass Files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35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Hold Files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35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Correction Needed Files</a:t>
                      </a:r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Progress after  correction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245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Pass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Correction  needed</a:t>
                      </a:r>
                      <a:endParaRPr lang="en-US" dirty="0"/>
                    </a:p>
                  </a:txBody>
                  <a:tcPr/>
                </a:tc>
              </a:tr>
              <a:tr h="58149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Annapurna </a:t>
                      </a:r>
                      <a:r>
                        <a:rPr lang="en-US" sz="1600" b="1" dirty="0" smtClean="0">
                          <a:solidFill>
                            <a:schemeClr val="tx1"/>
                          </a:solidFill>
                        </a:rPr>
                        <a:t>RM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193</a:t>
                      </a: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126</a:t>
                      </a: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180</a:t>
                      </a: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28575" marR="28575" marT="0" marB="0"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A2EAE9-F81B-43CE-AD4B-786050ABF51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09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184" y="121285"/>
            <a:ext cx="8607552" cy="939419"/>
          </a:xfrm>
          <a:solidFill>
            <a:srgbClr val="92D050"/>
          </a:solidFill>
        </p:spPr>
        <p:txBody>
          <a:bodyPr>
            <a:normAutofit fontScale="90000"/>
          </a:bodyPr>
          <a:lstStyle/>
          <a:p>
            <a:r>
              <a:rPr lang="en-US" sz="2800" b="1" dirty="0" smtClean="0"/>
              <a:t>Non compliance houses(Before reaching technical manpower in site):</a:t>
            </a:r>
            <a:endParaRPr lang="en-US" sz="2800" b="1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02336" y="1231392"/>
          <a:ext cx="8436864" cy="3641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710"/>
                <a:gridCol w="3054746"/>
                <a:gridCol w="2194724"/>
                <a:gridCol w="1795684"/>
              </a:tblGrid>
              <a:tr h="546595">
                <a:tc>
                  <a:txBody>
                    <a:bodyPr/>
                    <a:lstStyle/>
                    <a:p>
                      <a:r>
                        <a:rPr lang="en-US" dirty="0" smtClean="0"/>
                        <a:t>SN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RM/M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# Building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Remarks</a:t>
                      </a:r>
                      <a:endParaRPr lang="en-US" dirty="0"/>
                    </a:p>
                  </a:txBody>
                  <a:tcPr/>
                </a:tc>
              </a:tr>
              <a:tr h="33122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b="1" dirty="0" err="1">
                          <a:solidFill>
                            <a:srgbClr val="000000"/>
                          </a:solidFill>
                        </a:rPr>
                        <a:t>Machhapuchhre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="1" dirty="0" smtClean="0">
                          <a:solidFill>
                            <a:srgbClr val="000000"/>
                          </a:solidFill>
                        </a:rPr>
                        <a:t>RM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b="1" dirty="0" smtClean="0">
                          <a:solidFill>
                            <a:srgbClr val="000000"/>
                          </a:solidFill>
                        </a:rPr>
                        <a:t>94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/>
                </a:tc>
              </a:tr>
              <a:tr h="53149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Rupa </a:t>
                      </a:r>
                      <a:r>
                        <a:rPr lang="en-US" b="1" dirty="0" smtClean="0">
                          <a:solidFill>
                            <a:srgbClr val="000000"/>
                          </a:solidFill>
                        </a:rPr>
                        <a:t>RM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b="1" dirty="0" smtClean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/>
                </a:tc>
              </a:tr>
              <a:tr h="53149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b="1" dirty="0" err="1">
                          <a:solidFill>
                            <a:srgbClr val="000000"/>
                          </a:solidFill>
                        </a:rPr>
                        <a:t>Madi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="1" dirty="0" smtClean="0">
                          <a:solidFill>
                            <a:srgbClr val="000000"/>
                          </a:solidFill>
                        </a:rPr>
                        <a:t>RM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b="1" dirty="0" smtClean="0">
                          <a:solidFill>
                            <a:srgbClr val="000000"/>
                          </a:solidFill>
                        </a:rPr>
                        <a:t>53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/>
                </a:tc>
              </a:tr>
              <a:tr h="62070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Annapurna </a:t>
                      </a:r>
                      <a:r>
                        <a:rPr lang="en-US" sz="2000" b="1" dirty="0" smtClean="0">
                          <a:solidFill>
                            <a:srgbClr val="FF0000"/>
                          </a:solidFill>
                        </a:rPr>
                        <a:t>RM</a:t>
                      </a:r>
                      <a:endParaRPr 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000" b="1" dirty="0" smtClean="0">
                          <a:solidFill>
                            <a:srgbClr val="FF0000"/>
                          </a:solidFill>
                        </a:rPr>
                        <a:t>70</a:t>
                      </a:r>
                      <a:endParaRPr 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endParaRPr lang="en-US" sz="2000" b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/>
                </a:tc>
              </a:tr>
              <a:tr h="53149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28575" marR="28575" marT="0" marB="0" anchor="b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b="1">
                          <a:solidFill>
                            <a:srgbClr val="000000"/>
                          </a:solidFill>
                        </a:rPr>
                        <a:t>Pokhara</a:t>
                      </a: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b="1" dirty="0" smtClean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b="1" dirty="0" smtClean="0">
                          <a:solidFill>
                            <a:srgbClr val="000000"/>
                          </a:solidFill>
                        </a:rPr>
                        <a:t>Data collection ongoing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marL="28575" marR="28575" marT="0" marB="0"/>
                </a:tc>
              </a:tr>
              <a:tr h="531497">
                <a:tc>
                  <a:txBody>
                    <a:bodyPr/>
                    <a:lstStyle/>
                    <a:p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Total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344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A2EAE9-F81B-43CE-AD4B-786050ABF51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982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समस्याहरु </a:t>
            </a:r>
            <a:r>
              <a:rPr lang="en-GB" dirty="0" smtClean="0"/>
              <a:t>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ne-NP" sz="2000" dirty="0" smtClean="0"/>
              <a:t>प्राविधिक आउनु अगाडिनै बनेका घरहरु निजि  आवास पुननिर्माणको कार्यबिधि अनुरुप नहनु</a:t>
            </a:r>
          </a:p>
          <a:p>
            <a:endParaRPr lang="ne-NP" sz="2000" dirty="0" smtClean="0"/>
          </a:p>
          <a:p>
            <a:r>
              <a:rPr lang="ne-NP" sz="2000" dirty="0" smtClean="0"/>
              <a:t>प्रबलिकरणमा परेका लाभग्रहीहरुको कार्यविधि समयमा प्रकाशन </a:t>
            </a:r>
            <a:r>
              <a:rPr lang="ne-NP" sz="2000" dirty="0" smtClean="0"/>
              <a:t>नहुनु</a:t>
            </a:r>
            <a:endParaRPr lang="ne-NP" sz="2000" dirty="0" smtClean="0"/>
          </a:p>
          <a:p>
            <a:pPr marL="0" indent="0">
              <a:buNone/>
            </a:pPr>
            <a:endParaRPr lang="ne-NP" sz="2000" dirty="0" smtClean="0"/>
          </a:p>
          <a:p>
            <a:r>
              <a:rPr lang="ne-NP" sz="2000" dirty="0" smtClean="0"/>
              <a:t>एलानी जग्गमा बनेका घरहरु </a:t>
            </a:r>
          </a:p>
          <a:p>
            <a:endParaRPr lang="ne-NP" sz="2000" dirty="0" smtClean="0"/>
          </a:p>
          <a:p>
            <a:r>
              <a:rPr lang="ne-NP" sz="2000" dirty="0" smtClean="0"/>
              <a:t>भौगोलिक विकटता </a:t>
            </a:r>
            <a:r>
              <a:rPr lang="en-GB" sz="2000" dirty="0" smtClean="0"/>
              <a:t>,</a:t>
            </a:r>
            <a:r>
              <a:rPr lang="ne-NP" sz="2000" dirty="0" smtClean="0"/>
              <a:t>यातायातको असुविधा</a:t>
            </a:r>
            <a:r>
              <a:rPr lang="en-GB" sz="2000" dirty="0" smtClean="0"/>
              <a:t> </a:t>
            </a:r>
            <a:r>
              <a:rPr lang="ne-NP" sz="2000" dirty="0" smtClean="0"/>
              <a:t>र गरिवी</a:t>
            </a:r>
          </a:p>
          <a:p>
            <a:pPr marL="0" indent="0">
              <a:buNone/>
            </a:pPr>
            <a:endParaRPr lang="ne-NP" sz="2000" dirty="0" smtClean="0"/>
          </a:p>
          <a:p>
            <a:r>
              <a:rPr lang="ne-NP" sz="2000" dirty="0" smtClean="0"/>
              <a:t>जोखिम बस्ती स्थानान्तरण गर्न नसक्नु</a:t>
            </a:r>
          </a:p>
          <a:p>
            <a:pPr marL="0" indent="0">
              <a:buNone/>
            </a:pPr>
            <a:endParaRPr lang="en-GB" sz="2000" dirty="0" smtClean="0"/>
          </a:p>
          <a:p>
            <a:r>
              <a:rPr lang="ne-NP" sz="2000" dirty="0" smtClean="0"/>
              <a:t>पुननिर्माणबाट प्रबलिकरणमा र प्रबलिकरणबाट पुननिर्माणमा सार्ने कार्यबिधि समयमा प्रकाशन नहुनु</a:t>
            </a:r>
          </a:p>
          <a:p>
            <a:endParaRPr lang="ne-NP" sz="2000" dirty="0" smtClean="0"/>
          </a:p>
          <a:p>
            <a:endParaRPr lang="en-GB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9" y="154553"/>
            <a:ext cx="109051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0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लक्ष्यहरु </a:t>
            </a:r>
            <a:r>
              <a:rPr lang="en-GB" dirty="0" smtClean="0"/>
              <a:t>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ne-NP" sz="1800" dirty="0" smtClean="0"/>
              <a:t>यस गाँउपालिका भित्र अब बन्ने नयाँ निजी आवासहरु भुकम्प</a:t>
            </a:r>
          </a:p>
          <a:p>
            <a:pPr marL="0" indent="0">
              <a:buNone/>
            </a:pPr>
            <a:r>
              <a:rPr lang="en-GB" sz="1800" dirty="0" smtClean="0"/>
              <a:t>  </a:t>
            </a:r>
            <a:r>
              <a:rPr lang="ne-NP" sz="1800" dirty="0" smtClean="0"/>
              <a:t> प्रतिरोधात्मक बनाउने</a:t>
            </a:r>
            <a:endParaRPr lang="en-GB" sz="1800" dirty="0" smtClean="0"/>
          </a:p>
          <a:p>
            <a:pPr marL="0" indent="0">
              <a:buNone/>
            </a:pPr>
            <a:endParaRPr lang="en-GB" sz="1800" dirty="0" smtClean="0"/>
          </a:p>
          <a:p>
            <a:r>
              <a:rPr lang="ne-NP" sz="1800" dirty="0" smtClean="0"/>
              <a:t>कार्यविधि कार्यप्रकृया विषयमा जानकारी गराई शिघ्र अनुदान प्राप्त प्रकृयालाई जोड दिने</a:t>
            </a:r>
            <a:endParaRPr lang="en-GB" sz="1800" dirty="0"/>
          </a:p>
          <a:p>
            <a:pPr marL="0" indent="0">
              <a:buNone/>
            </a:pPr>
            <a:endParaRPr lang="ne-NP" sz="1800" dirty="0" smtClean="0"/>
          </a:p>
          <a:p>
            <a:r>
              <a:rPr lang="ne-NP" sz="1800" dirty="0" smtClean="0"/>
              <a:t>प्राविधिक आउनु पहिलै बनेका घरहरुलाई स्थानीय तहमा मनिटरिङ्ग टिमको समिति बनाई त्यसमा केही सुधार गरि अनुदान किस्ता दिन विशेष पहल गर्ने</a:t>
            </a:r>
          </a:p>
          <a:p>
            <a:pPr marL="0" indent="0">
              <a:buNone/>
            </a:pPr>
            <a:endParaRPr lang="en-GB" sz="1800" dirty="0" smtClean="0"/>
          </a:p>
          <a:p>
            <a:r>
              <a:rPr lang="ne-NP" sz="1800" dirty="0" smtClean="0"/>
              <a:t>यस गाँउपालिका भित्र अब बन्ने घरहरु र कुनै पनि भवन संरचनाको  नक्सा पास अनिवार्य गर्ने</a:t>
            </a:r>
          </a:p>
          <a:p>
            <a:endParaRPr lang="ne-NP" sz="1800" dirty="0" smtClean="0"/>
          </a:p>
          <a:p>
            <a:r>
              <a:rPr lang="ne-NP" sz="1800" dirty="0" smtClean="0"/>
              <a:t>हरेक वडा </a:t>
            </a:r>
            <a:r>
              <a:rPr lang="en-GB" sz="1800" dirty="0" smtClean="0"/>
              <a:t>–</a:t>
            </a:r>
            <a:r>
              <a:rPr lang="ne-NP" sz="1800" dirty="0" smtClean="0"/>
              <a:t>वडामा प्राविधिक कर्मचारीको ब्यवस्या गर्ने </a:t>
            </a:r>
          </a:p>
          <a:p>
            <a:pPr marL="0" indent="0">
              <a:buNone/>
            </a:pPr>
            <a:endParaRPr lang="ne-NP" sz="1800" dirty="0" smtClean="0"/>
          </a:p>
          <a:p>
            <a:r>
              <a:rPr lang="ne-NP" sz="1800" dirty="0" smtClean="0"/>
              <a:t>एकृकित बस्तीको विकाससँगै पर्यटन व्यवसायलाई टेवा पुराउने</a:t>
            </a:r>
          </a:p>
          <a:p>
            <a:endParaRPr lang="en-GB" sz="1800" dirty="0" smtClean="0"/>
          </a:p>
          <a:p>
            <a:endParaRPr lang="ne-NP" sz="1800" dirty="0" smtClean="0"/>
          </a:p>
          <a:p>
            <a:endParaRPr lang="en-GB" sz="2000" dirty="0" smtClean="0">
              <a:cs typeface="+mj-cs"/>
            </a:endParaRPr>
          </a:p>
          <a:p>
            <a:endParaRPr lang="en-GB" sz="2000" dirty="0" smtClean="0"/>
          </a:p>
          <a:p>
            <a:endParaRPr lang="ne-NP" sz="2400" dirty="0" smtClean="0"/>
          </a:p>
          <a:p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9" y="154553"/>
            <a:ext cx="109051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646811"/>
          </a:xfrm>
          <a:solidFill>
            <a:srgbClr val="92D05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Correction photos: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A2EAE9-F81B-43CE-AD4B-786050ABF51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2050" name="Picture 2" descr="D:\NRA Documents-2018\Field visit photos-NRA\June-2019\Annapurna\IMG-4389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8757" y="1081913"/>
            <a:ext cx="2535132" cy="2526919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443" y="1255776"/>
            <a:ext cx="2471381" cy="24749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83" y="3839620"/>
            <a:ext cx="2602714" cy="2556932"/>
          </a:xfrm>
          <a:prstGeom prst="rect">
            <a:avLst/>
          </a:prstGeom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16224" y="3828288"/>
            <a:ext cx="2487168" cy="2423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10656" y="3816096"/>
            <a:ext cx="2450593" cy="247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341033" y="1085088"/>
            <a:ext cx="2462359" cy="253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161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208" y="40253"/>
            <a:ext cx="8229600" cy="1143000"/>
          </a:xfrm>
        </p:spPr>
        <p:txBody>
          <a:bodyPr>
            <a:normAutofit/>
          </a:bodyPr>
          <a:lstStyle/>
          <a:p>
            <a:r>
              <a:rPr lang="ne-NP" dirty="0" smtClean="0"/>
              <a:t>ब्लकका घरहरु</a:t>
            </a:r>
            <a:endParaRPr lang="en-GB" sz="22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81" y="1628799"/>
            <a:ext cx="4361920" cy="4465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628800"/>
            <a:ext cx="4499992" cy="44658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9" y="154553"/>
            <a:ext cx="1090518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70917" y="2204864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j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67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ne-NP" sz="3200" dirty="0" smtClean="0"/>
              <a:t>प्राविधिक आउनु पहिलै बनेका घरहरु</a:t>
            </a:r>
            <a:endParaRPr lang="en-GB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9" y="1700808"/>
            <a:ext cx="3816424" cy="442535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700808"/>
            <a:ext cx="3888432" cy="44644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9" y="154553"/>
            <a:ext cx="109051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97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e-NP" sz="3200" dirty="0" smtClean="0"/>
              <a:t>प्राविधिक आए पछि बनेका घरहरु</a:t>
            </a:r>
            <a:endParaRPr lang="en-GB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22" y="1988840"/>
            <a:ext cx="4023078" cy="413732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060848"/>
            <a:ext cx="3672408" cy="40324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9" y="404664"/>
            <a:ext cx="109051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9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1" y="1600200"/>
            <a:ext cx="4104456" cy="452596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700808"/>
            <a:ext cx="4248472" cy="43924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9" y="154553"/>
            <a:ext cx="109051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03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e-NP" sz="3200" dirty="0" smtClean="0"/>
              <a:t> ७ दिने डकर्मी तालिम </a:t>
            </a:r>
            <a:endParaRPr lang="en-GB" sz="3200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1268761"/>
            <a:ext cx="4128460" cy="4320480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268760"/>
            <a:ext cx="3960440" cy="43924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9" y="154553"/>
            <a:ext cx="109051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7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012571"/>
          </a:xfrm>
          <a:solidFill>
            <a:srgbClr val="92D050"/>
          </a:solidFill>
        </p:spPr>
        <p:txBody>
          <a:bodyPr>
            <a:normAutofit fontScale="90000"/>
          </a:bodyPr>
          <a:lstStyle/>
          <a:p>
            <a:r>
              <a:rPr lang="en-US" b="1" dirty="0" smtClean="0"/>
              <a:t>Completion certificate achieved by House owner in Rupa RM: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A2EAE9-F81B-43CE-AD4B-786050ABF51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85216" y="1447673"/>
            <a:ext cx="7900415" cy="4351338"/>
          </a:xfrm>
        </p:spPr>
      </p:pic>
    </p:spTree>
    <p:extLst>
      <p:ext uri="{BB962C8B-B14F-4D97-AF65-F5344CB8AC3E}">
        <p14:creationId xmlns:p14="http://schemas.microsoft.com/office/powerpoint/2010/main" val="1742673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e-NP" dirty="0" smtClean="0"/>
          </a:p>
          <a:p>
            <a:endParaRPr lang="ne-NP" dirty="0"/>
          </a:p>
          <a:p>
            <a:endParaRPr lang="ne-NP" dirty="0" smtClean="0"/>
          </a:p>
          <a:p>
            <a:pPr marL="0" indent="0">
              <a:buNone/>
            </a:pPr>
            <a:r>
              <a:rPr lang="ne-NP" dirty="0" smtClean="0"/>
              <a:t> </a:t>
            </a:r>
            <a:r>
              <a:rPr lang="en-GB" dirty="0" smtClean="0"/>
              <a:t>“</a:t>
            </a:r>
            <a:r>
              <a:rPr lang="ne-NP" dirty="0" smtClean="0"/>
              <a:t> अब बन्ने घर अझ बलियो र बलियो बनाउँ</a:t>
            </a:r>
            <a:r>
              <a:rPr lang="en-GB" dirty="0" smtClean="0"/>
              <a:t>”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     </a:t>
            </a:r>
            <a:r>
              <a:rPr lang="ne-NP" dirty="0" smtClean="0"/>
              <a:t>       </a:t>
            </a:r>
            <a:r>
              <a:rPr lang="en-GB" dirty="0" smtClean="0"/>
              <a:t> </a:t>
            </a:r>
            <a:r>
              <a:rPr lang="ne-NP" dirty="0" smtClean="0"/>
              <a:t>धन्यवाद</a:t>
            </a:r>
            <a:endParaRPr lang="en-GB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9" y="154553"/>
            <a:ext cx="109051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8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</TotalTime>
  <Words>555</Words>
  <Application>Microsoft Office PowerPoint</Application>
  <PresentationFormat>On-screen Show (4:3)</PresentationFormat>
  <Paragraphs>317</Paragraphs>
  <Slides>18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   नेपाल सरकार    राष्ट्रिय पुनर्निमार्ण प्राधिकरण               जिल्ला आयोजना कार्यान्वयन ईकाई(भवन)       सार्वजनिक सुनुवाई तथा अन्तर्त्रिया कार्यत्रम     मिति:२०७६ – ०२ -२२                 </vt:lpstr>
      <vt:lpstr>PowerPoint Presentation</vt:lpstr>
      <vt:lpstr>निजी आवास पुननिर्माण </vt:lpstr>
      <vt:lpstr>निजी आवास पुननिर्माण </vt:lpstr>
      <vt:lpstr>Tranche Update – Kaski District</vt:lpstr>
      <vt:lpstr>तथ्यांक : निजी आवास पुननिर्माण</vt:lpstr>
      <vt:lpstr>Progress summary sheet of Non-Compliances file</vt:lpstr>
      <vt:lpstr>Non compliance houses(Before reaching technical manpower in site):</vt:lpstr>
      <vt:lpstr>समस्याहरु :</vt:lpstr>
      <vt:lpstr>लक्ष्यहरु :</vt:lpstr>
      <vt:lpstr>Correction photos:</vt:lpstr>
      <vt:lpstr>ब्लकका घरहरु</vt:lpstr>
      <vt:lpstr>प्राविधिक आउनु पहिलै बनेका घरहरु</vt:lpstr>
      <vt:lpstr>प्राविधिक आए पछि बनेका घरहरु</vt:lpstr>
      <vt:lpstr>PowerPoint Presentation</vt:lpstr>
      <vt:lpstr> ७ दिने डकर्मी तालिम </vt:lpstr>
      <vt:lpstr>Completion certificate achieved by House owner in Rupa RM: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राष्ट्रिय पुनर्निमार्ण प्राधिकरण           अन्नपूर्ण गाँउपालिका ,कास्की</dc:title>
  <dc:creator>Windows User</dc:creator>
  <cp:lastModifiedBy>Windows User</cp:lastModifiedBy>
  <cp:revision>96</cp:revision>
  <dcterms:created xsi:type="dcterms:W3CDTF">2019-01-08T09:06:39Z</dcterms:created>
  <dcterms:modified xsi:type="dcterms:W3CDTF">2019-06-05T06:19:22Z</dcterms:modified>
</cp:coreProperties>
</file>